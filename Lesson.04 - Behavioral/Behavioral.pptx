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310" r:id="rId2"/>
    <p:sldId id="256" r:id="rId3"/>
    <p:sldId id="269" r:id="rId4"/>
    <p:sldId id="273" r:id="rId5"/>
    <p:sldId id="345" r:id="rId6"/>
    <p:sldId id="311" r:id="rId7"/>
    <p:sldId id="265" r:id="rId8"/>
    <p:sldId id="302" r:id="rId9"/>
    <p:sldId id="303" r:id="rId10"/>
    <p:sldId id="312" r:id="rId11"/>
    <p:sldId id="346" r:id="rId12"/>
    <p:sldId id="291" r:id="rId13"/>
    <p:sldId id="347" r:id="rId14"/>
    <p:sldId id="313" r:id="rId15"/>
    <p:sldId id="292" r:id="rId16"/>
    <p:sldId id="348" r:id="rId17"/>
    <p:sldId id="314" r:id="rId18"/>
    <p:sldId id="349" r:id="rId19"/>
    <p:sldId id="276" r:id="rId20"/>
    <p:sldId id="350" r:id="rId21"/>
    <p:sldId id="315" r:id="rId22"/>
    <p:sldId id="288" r:id="rId23"/>
    <p:sldId id="307" r:id="rId24"/>
    <p:sldId id="368" r:id="rId25"/>
    <p:sldId id="316" r:id="rId26"/>
    <p:sldId id="352" r:id="rId27"/>
    <p:sldId id="293" r:id="rId28"/>
    <p:sldId id="351" r:id="rId29"/>
    <p:sldId id="317" r:id="rId30"/>
    <p:sldId id="294" r:id="rId31"/>
    <p:sldId id="337" r:id="rId32"/>
    <p:sldId id="333" r:id="rId33"/>
    <p:sldId id="334" r:id="rId34"/>
    <p:sldId id="335" r:id="rId35"/>
    <p:sldId id="336" r:id="rId36"/>
    <p:sldId id="318" r:id="rId37"/>
    <p:sldId id="353" r:id="rId38"/>
    <p:sldId id="295" r:id="rId39"/>
    <p:sldId id="354" r:id="rId40"/>
    <p:sldId id="319" r:id="rId41"/>
    <p:sldId id="296" r:id="rId42"/>
    <p:sldId id="320" r:id="rId43"/>
    <p:sldId id="321" r:id="rId44"/>
    <p:sldId id="355" r:id="rId45"/>
    <p:sldId id="282" r:id="rId46"/>
    <p:sldId id="356" r:id="rId47"/>
    <p:sldId id="322" r:id="rId48"/>
    <p:sldId id="283" r:id="rId49"/>
    <p:sldId id="304" r:id="rId50"/>
    <p:sldId id="369" r:id="rId51"/>
    <p:sldId id="370" r:id="rId52"/>
    <p:sldId id="323" r:id="rId53"/>
    <p:sldId id="357" r:id="rId54"/>
    <p:sldId id="297" r:id="rId55"/>
    <p:sldId id="358" r:id="rId56"/>
    <p:sldId id="324" r:id="rId57"/>
    <p:sldId id="298" r:id="rId58"/>
    <p:sldId id="325" r:id="rId59"/>
    <p:sldId id="326" r:id="rId60"/>
    <p:sldId id="327" r:id="rId61"/>
    <p:sldId id="359" r:id="rId62"/>
    <p:sldId id="289" r:id="rId63"/>
    <p:sldId id="360" r:id="rId64"/>
    <p:sldId id="328" r:id="rId65"/>
    <p:sldId id="290" r:id="rId66"/>
    <p:sldId id="308" r:id="rId67"/>
    <p:sldId id="309" r:id="rId68"/>
    <p:sldId id="329" r:id="rId69"/>
    <p:sldId id="361" r:id="rId70"/>
    <p:sldId id="284" r:id="rId71"/>
    <p:sldId id="362" r:id="rId72"/>
    <p:sldId id="330" r:id="rId73"/>
    <p:sldId id="285" r:id="rId74"/>
    <p:sldId id="331" r:id="rId75"/>
    <p:sldId id="363" r:id="rId76"/>
    <p:sldId id="299" r:id="rId77"/>
    <p:sldId id="364" r:id="rId78"/>
    <p:sldId id="332" r:id="rId79"/>
    <p:sldId id="300" r:id="rId80"/>
    <p:sldId id="338" r:id="rId81"/>
    <p:sldId id="339" r:id="rId82"/>
    <p:sldId id="340" r:id="rId83"/>
    <p:sldId id="365" r:id="rId84"/>
    <p:sldId id="286" r:id="rId85"/>
    <p:sldId id="366" r:id="rId86"/>
    <p:sldId id="341" r:id="rId87"/>
    <p:sldId id="287" r:id="rId88"/>
    <p:sldId id="342" r:id="rId89"/>
    <p:sldId id="343" r:id="rId90"/>
    <p:sldId id="344" r:id="rId91"/>
    <p:sldId id="367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8"/>
    <p:restoredTop sz="94556"/>
  </p:normalViewPr>
  <p:slideViewPr>
    <p:cSldViewPr snapToGrid="0">
      <p:cViewPr varScale="1">
        <p:scale>
          <a:sx n="97" d="100"/>
          <a:sy n="97" d="100"/>
        </p:scale>
        <p:origin x="2560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9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8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8EF1-3828-C470-6C9F-2A1B5B03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4A398-6F93-DCA9-63A3-6F88CD6DD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736FA-FEDA-4906-76B5-A9E10415F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55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62955-2AC6-7450-DB76-E5F8503C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D6841-E615-3A27-9706-2909C673B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B49CE-712F-0A18-DFBC-225C11C7E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8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20B3-D766-91CB-2C10-75726A7F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869E9-D1EB-8332-2C1B-855981919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8F8FA-B755-EAD2-33BD-1C728087C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3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94C7-F1B2-91D8-774E-EE35A5A4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486B3-9D1A-50AC-AC2E-95F74C835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0F6A6-6246-E7FA-7E1B-7DC24CB4C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32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4499-F2CB-487D-9F59-21EE3258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885A3-9A73-9106-6347-68C4F7ED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45BE-A95D-EE0C-C233-9C81E879C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24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4D568-A21B-8DF1-12AE-D25F7469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4D49E-FBEE-8A9E-2475-B6549492B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B5F3C-6B6D-C928-3C68-474686E97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12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23B4-D62C-F8D4-9A73-5B00574C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AC4AB-74A3-06B9-1941-667836E80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26430-0B80-89E5-C079-44EF5DA6C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1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3CE8-D5BE-8991-D0C8-7AA3D79B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678D9-6CD0-131F-A848-234E7F723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545C0-3E29-ABB9-9E0D-D0796EA4E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04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0C19-7DAF-BA82-B740-090C8DAC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7E8C4-0CF6-B092-21E2-E58561B39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03A1D-C30D-340F-F73D-8BBB2A3C2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52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70BAC-7A1D-443D-EAB1-157F27CB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A0940-9DBE-EEA5-CEEA-4540236E3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DE7C8-E595-4D48-1F14-0EB62D340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D265-3DA0-BC8B-239F-6F1852AF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50DA8-0A9A-54AC-2FD1-F1D0F4266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89D56-4386-C821-F775-F3DCF712E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56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E0A3-EDB2-DE9B-DC56-96E2E24A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26599-C320-231D-781E-32A8DE0D0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A8397-7331-5EB3-E78E-378BE78BE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89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6CDF-1374-CB49-36B4-B75F3632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C36E7-76B8-00DC-C55A-379BED6F8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8720D-4BF4-BB59-0B33-CC9FB720C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54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E8E5-E45E-21F0-90DF-E3939FB7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2ECB1-369A-9620-370B-0F86957A0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FBCAA-DD22-00F4-124F-8FE211889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37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779B-FB34-1D35-92C1-2CD1D1D5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E24A7-98A3-BAD8-2FA8-50DCFEADB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040F8-5A7A-2BDB-6030-ECF3C0F6D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02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F6D3-4AB2-7003-D9B0-F0D77797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80C5E-DA71-D6B5-4745-71232FFA2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AA488-C003-28A4-0CF5-80129E94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10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2F6F-2228-C243-D2AF-4331E17B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18FA8-6C38-3457-AD5C-5C2B2446A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63680-235A-6777-A2CC-DB43FE6CA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54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1FDB-E884-EBC0-60F7-1938988C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4FD00-9926-D69A-FA2B-0991FA17A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D834-C62A-2208-E0C1-B63965A9C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46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4E49-FE62-CEB4-131F-AE5905E9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E1CA5-AE36-B0D4-AE09-7B0826582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D9970-E445-7DE7-E391-3F5187D9C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57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62CC-4BCC-5FC0-5AA0-1851F971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BC765-D04E-A2C8-4582-ECDD19113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3335F-A68B-9181-EB47-BD867431A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978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FE44-85ED-4CC5-BCA0-235983E3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EF784-5BDC-42D3-AA56-7EF9F3E0F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8BE58-8C6E-3B9C-0489-F465E11D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78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165A-9833-30F6-4A35-437AB59F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B9325-FE7E-1CF4-742D-0A12C4216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EA82C-1365-5963-436D-470D1F50A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51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33C7-FC2E-CC2B-DA79-DE26748E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A7AB-4581-3471-E5BA-D3724945B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B72D4-9E8A-5B4C-C005-EEE519DE5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29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DC61-E323-2B3A-A6E1-CF04380A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BBA21-B04C-14D7-B926-19CC88763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34E62-B08F-78FD-A9D9-AF536C7E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79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AA06-9F09-26C3-6BCB-3853507B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E747B-886A-24DF-59C6-10226E6A1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773A5-A872-0236-E63D-C1A6DCA36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39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011D-B97C-B989-0184-8A86BA7B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134B9-B61F-DD7C-01F9-0CEBC886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D5B9F-4C28-635F-D8EB-E9448A8FE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71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011D-B97C-B989-0184-8A86BA7B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134B9-B61F-DD7C-01F9-0CEBC886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D5B9F-4C28-635F-D8EB-E9448A8FE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71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E0DC-8642-CFF5-E859-140EA6CF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3F61A-5019-E9E4-017D-E48C89858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47E26-41E8-3E74-9373-DCF508A5D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452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2DDA-1E28-044B-A09D-18BD81A0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515D0-4DF0-6F85-F542-CCD3D1BAF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F0B1D-791C-0101-1490-A0DDADE9C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831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82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1E4A-5921-7D90-EB4E-A96F64D7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42BDC-74EC-C165-B36A-B8DD8380D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20E54-263F-3611-A3E5-1C0D796FB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700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CF7A-CF96-3005-1105-792AE8DB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D1049-1EED-C4FD-FE8B-268C5D661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9B783-23E4-CBE7-2272-C291288DD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9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AAFC-5F03-CB40-AC6F-DCF781259CC0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E74-F84F-2F49-817E-7AD7821B4812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087C-6986-E643-AC79-862F629382B4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042F-1C95-FA46-80C0-6BF6A503664F}" type="datetime1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FAEC-0A62-7B44-A404-7D10A8658018}" type="datetime1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3E1B-4649-434F-A8AA-5323D9512AFE}" type="datetime1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D0FA8-6191-2C41-BC90-728B21CC5EAC}" type="datetime1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CB18-6E3C-F143-9456-2C9A26A6814A}" type="datetime1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EF99A-6EDD-9640-BE89-A37AE9A3D1DB}" type="datetime1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3558-906A-6F4D-AF01-C618380BD710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BE17C-88A9-164B-BB9B-81844C82315A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59E2D-6F61-AA4B-A477-D0C2FE7E1E91}" type="datetime1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Design Patterns - Behavioral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design-patterns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4324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Behavioral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830783"/>
            <a:ext cx="325762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Behavioral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Introduction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Chain Of Responsibility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Command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Interpreter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Iterator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Mediator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Memento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Observer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531B0-DD98-5500-2123-8887EB47391C}"/>
              </a:ext>
            </a:extLst>
          </p:cNvPr>
          <p:cNvSpPr txBox="1"/>
          <p:nvPr/>
        </p:nvSpPr>
        <p:spPr>
          <a:xfrm>
            <a:off x="453975" y="5842551"/>
            <a:ext cx="5315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https://refactoring.guru/design-patterns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88C336-B9C2-65FA-E2D7-9CD769F275ED}"/>
              </a:ext>
            </a:extLst>
          </p:cNvPr>
          <p:cNvSpPr txBox="1"/>
          <p:nvPr/>
        </p:nvSpPr>
        <p:spPr>
          <a:xfrm>
            <a:off x="6096000" y="830783"/>
            <a:ext cx="2662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...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State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Strategy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Template Method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Visitor</a:t>
            </a:r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9431-0747-E672-DA0A-346E9755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B9424-4AA7-68A0-7899-7AEC7E70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FABF4-527F-5EBC-4921-FEEE6B1217C6}"/>
              </a:ext>
            </a:extLst>
          </p:cNvPr>
          <p:cNvSpPr txBox="1"/>
          <p:nvPr/>
        </p:nvSpPr>
        <p:spPr>
          <a:xfrm>
            <a:off x="535709" y="194055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BC1CA-ADAD-7F8A-6BBA-C76A92C21551}"/>
              </a:ext>
            </a:extLst>
          </p:cNvPr>
          <p:cNvSpPr txBox="1"/>
          <p:nvPr/>
        </p:nvSpPr>
        <p:spPr>
          <a:xfrm>
            <a:off x="535709" y="751344"/>
            <a:ext cx="1081809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patterns defines algorithms and responsibilities between objects, and the communication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Request to a chain of candidate objects capable to handle such request (Chain Of Responsibility)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Create a dependency publish/listen between objects (Observer)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Loose coupling among objects (Mediator)</a:t>
            </a:r>
            <a:br>
              <a:rPr lang="en-US" sz="1400" dirty="0"/>
            </a:b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Encapsulate state in objects (State)</a:t>
            </a:r>
            <a:b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Encapsulate an algorithm in an object (Strategy)</a:t>
            </a:r>
            <a:b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Encapsulate request in objects (Command)</a:t>
            </a:r>
            <a:b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Abstraction of an algorithm (Template Method)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Capture and externalize an object's internal state so it can be restored later (Memento)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 hierarchy of operations on classes (Interpreter)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Encapsulate behavior in objects (Visitor)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Abstract objects access in an aggregate (Iterator)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433C0-A18A-DA63-AA6D-E2CBD585FB44}"/>
              </a:ext>
            </a:extLst>
          </p:cNvPr>
          <p:cNvSpPr txBox="1"/>
          <p:nvPr/>
        </p:nvSpPr>
        <p:spPr>
          <a:xfrm rot="16200000">
            <a:off x="179527" y="1943856"/>
            <a:ext cx="1317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Object</a:t>
            </a:r>
            <a:br>
              <a:rPr lang="en-US" sz="1200" b="1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200" b="1">
                <a:solidFill>
                  <a:schemeClr val="accent2">
                    <a:lumMod val="50000"/>
                  </a:schemeClr>
                </a:solidFill>
              </a:rPr>
              <a:t>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1268B-69F0-7A88-E2AF-DCB56BE20FAD}"/>
              </a:ext>
            </a:extLst>
          </p:cNvPr>
          <p:cNvSpPr txBox="1"/>
          <p:nvPr/>
        </p:nvSpPr>
        <p:spPr>
          <a:xfrm rot="16200000">
            <a:off x="432770" y="3459533"/>
            <a:ext cx="995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chemeClr val="accent6">
                    <a:lumMod val="50000"/>
                  </a:schemeClr>
                </a:solidFill>
              </a:rPr>
              <a:t>Algorithmic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77550-F731-0866-0C3F-BF5A14297A02}"/>
              </a:ext>
            </a:extLst>
          </p:cNvPr>
          <p:cNvSpPr txBox="1"/>
          <p:nvPr/>
        </p:nvSpPr>
        <p:spPr>
          <a:xfrm rot="16200000">
            <a:off x="262625" y="5111153"/>
            <a:ext cx="1151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chemeClr val="tx2">
                    <a:lumMod val="90000"/>
                    <a:lumOff val="10000"/>
                  </a:schemeClr>
                </a:solidFill>
              </a:rPr>
              <a:t>Data Access /</a:t>
            </a:r>
            <a:br>
              <a:rPr lang="en-US" sz="12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sz="1200" b="1">
                <a:solidFill>
                  <a:schemeClr val="tx2">
                    <a:lumMod val="90000"/>
                    <a:lumOff val="10000"/>
                  </a:schemeClr>
                </a:solidFill>
              </a:rPr>
              <a:t>Traversal</a:t>
            </a:r>
          </a:p>
        </p:txBody>
      </p:sp>
    </p:spTree>
    <p:extLst>
      <p:ext uri="{BB962C8B-B14F-4D97-AF65-F5344CB8AC3E}">
        <p14:creationId xmlns:p14="http://schemas.microsoft.com/office/powerpoint/2010/main" val="271694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  <p:bldP spid="2" grpId="0"/>
      <p:bldP spid="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351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 Of Responsibility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1B8DA-4F18-0DF6-FE88-DC94FD62E225}"/>
              </a:ext>
            </a:extLst>
          </p:cNvPr>
          <p:cNvSpPr txBox="1"/>
          <p:nvPr/>
        </p:nvSpPr>
        <p:spPr>
          <a:xfrm>
            <a:off x="535708" y="993913"/>
            <a:ext cx="1091416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a support desk: a customer opens a ticket, but nobody knows in advance which employee will solve it. A naive implementation couples the </a:t>
            </a:r>
            <a:r>
              <a:rPr lang="en-US" b="1" dirty="0"/>
              <a:t>sender</a:t>
            </a:r>
            <a:r>
              <a:rPr lang="en-US" dirty="0"/>
              <a:t> of a request to a </a:t>
            </a:r>
            <a:r>
              <a:rPr lang="en-US" b="1" dirty="0"/>
              <a:t>single, specific receiver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ticket.isHardware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hardwareAgent.solve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(ticket);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ticket.isBilling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billingAgent.solve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(ticket);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ticket.isLegal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legalAgent.solve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(ticket);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...                   // and every new kind of ticket forces a change here</a:t>
            </a:r>
          </a:p>
          <a:p>
            <a:endParaRPr lang="en-US" dirty="0"/>
          </a:p>
          <a:p>
            <a:r>
              <a:rPr lang="en-US" dirty="0"/>
              <a:t>This design has three defects: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Tight coupling </a:t>
            </a:r>
            <a:r>
              <a:rPr lang="en-US" dirty="0"/>
              <a:t>— the client must know, at compile time, exactly which object will handle each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Violation of Open/Closed </a:t>
            </a:r>
            <a:r>
              <a:rPr lang="en-US" dirty="0"/>
              <a:t>— adding a new kind of handler (or a new ticket type) requires modifying the client's dispatch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flexibility at runtime </a:t>
            </a:r>
            <a:r>
              <a:rPr lang="en-US" dirty="0"/>
              <a:t>— the routing rules are hard-coded; they cannot be reconfigured, reordered, or extended without redeployment.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A70D-3904-71A0-CD87-B93DABEE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2AB82-9302-FD42-9C36-017519E8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70C99-BF97-B5E3-8C0E-DEC9933BEAE2}"/>
              </a:ext>
            </a:extLst>
          </p:cNvPr>
          <p:cNvSpPr txBox="1"/>
          <p:nvPr/>
        </p:nvSpPr>
        <p:spPr>
          <a:xfrm>
            <a:off x="535709" y="194055"/>
            <a:ext cx="330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 Of Responsibility - Usage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FC2AA-0217-5C51-8329-0DC5EBD5F454}"/>
              </a:ext>
            </a:extLst>
          </p:cNvPr>
          <p:cNvSpPr txBox="1"/>
          <p:nvPr/>
        </p:nvSpPr>
        <p:spPr>
          <a:xfrm>
            <a:off x="535709" y="1063983"/>
            <a:ext cx="1081809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sender shouldn't know which receiver handles the request - decouples producer from consumer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objects are potentially able to handle a request, and you don't want to hard-code </a:t>
            </a:r>
            <a:r>
              <a:rPr lang="en-US" sz="1600" i="1" dirty="0"/>
              <a:t>if A then B else C </a:t>
            </a:r>
            <a:r>
              <a:rPr lang="en-US" sz="1600" dirty="0"/>
              <a:t>logic in one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set of handlers, or their order, must change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routing is simple and 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must guarantee the request is handled, and can't tolerate silent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Only ever one handler will exist / handle</a:t>
            </a:r>
          </a:p>
        </p:txBody>
      </p:sp>
    </p:spTree>
    <p:extLst>
      <p:ext uri="{BB962C8B-B14F-4D97-AF65-F5344CB8AC3E}">
        <p14:creationId xmlns:p14="http://schemas.microsoft.com/office/powerpoint/2010/main" val="129318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7661-59A1-860E-9A91-E4978318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F906A-FE0E-2F05-B65F-1A811815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2FE28-35AF-C478-FC64-8CC5EA7E5211}"/>
              </a:ext>
            </a:extLst>
          </p:cNvPr>
          <p:cNvSpPr txBox="1"/>
          <p:nvPr/>
        </p:nvSpPr>
        <p:spPr>
          <a:xfrm>
            <a:off x="535709" y="194055"/>
            <a:ext cx="4159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 Of Responsibility – Class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C66ABB-2003-A9E4-3BAB-EB6893A1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7" y="651403"/>
            <a:ext cx="6919105" cy="555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3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18734-748B-B76A-617B-471A8358DFBF}"/>
              </a:ext>
            </a:extLst>
          </p:cNvPr>
          <p:cNvSpPr txBox="1"/>
          <p:nvPr/>
        </p:nvSpPr>
        <p:spPr>
          <a:xfrm>
            <a:off x="468085" y="326572"/>
            <a:ext cx="3645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Chain Of Responsibility – Main concept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0B7B8-1545-C531-0D24-E6BCFBB36067}"/>
              </a:ext>
            </a:extLst>
          </p:cNvPr>
          <p:cNvSpPr txBox="1"/>
          <p:nvPr/>
        </p:nvSpPr>
        <p:spPr>
          <a:xfrm>
            <a:off x="468085" y="821428"/>
            <a:ext cx="3396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Handler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Handler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setNext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(Handler handler);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Object handle(Request request);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E8318-9A54-AE3B-C501-731E92A0BB19}"/>
              </a:ext>
            </a:extLst>
          </p:cNvPr>
          <p:cNvSpPr txBox="1"/>
          <p:nvPr/>
        </p:nvSpPr>
        <p:spPr>
          <a:xfrm>
            <a:off x="468085" y="1943978"/>
            <a:ext cx="5112297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AbstractHandler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Handler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Handler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Handler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setNext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(Handler handler)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this.nextHandler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handler;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handler;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Object handle(Request request)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nextHandler.handle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(request);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null;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3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AE3A-8F6F-1538-4335-2C19C184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2DAB6-2C03-5CB6-EA55-7A16CB77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DF75D-A1F2-4A87-3734-FF6BB097C12F}"/>
              </a:ext>
            </a:extLst>
          </p:cNvPr>
          <p:cNvSpPr txBox="1"/>
          <p:nvPr/>
        </p:nvSpPr>
        <p:spPr>
          <a:xfrm>
            <a:off x="468085" y="326572"/>
            <a:ext cx="5251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Chain Of Responsibility – Ticketing System – Base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D9535-088F-4093-C348-CBA2F879615F}"/>
              </a:ext>
            </a:extLst>
          </p:cNvPr>
          <p:cNvSpPr txBox="1"/>
          <p:nvPr/>
        </p:nvSpPr>
        <p:spPr>
          <a:xfrm>
            <a:off x="468085" y="858200"/>
            <a:ext cx="46474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Ticket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Severity { BASIC, INTERMEDIATE, ADVANCED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int      id;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  description;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Severity severity;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constructor + getters ...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7C3C9-29B8-8EC8-C2F0-E2BB7263A3F5}"/>
              </a:ext>
            </a:extLst>
          </p:cNvPr>
          <p:cNvSpPr txBox="1"/>
          <p:nvPr/>
        </p:nvSpPr>
        <p:spPr>
          <a:xfrm>
            <a:off x="468085" y="2290165"/>
            <a:ext cx="564770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final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handler)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this.nextHandler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handler;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handler;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final void handle(Ticket ticket)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canHandle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(ticket))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process(ticket);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("[%s] Cannot handle %s. Escalating...%n",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ticket.getSeverity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nextHandler.handle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(ticket);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"[%s] End of chain! Ticket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unresolved.%n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abstract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canHandle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(Ticket ticket);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abstract void    process  (Ticket ticket);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371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23DD-688A-AEAC-1838-E0137EB6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CC67E-3E3A-9C27-0CB6-71C1CF94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3FF26-7A21-FC90-3C0A-6C85A204E1E2}"/>
              </a:ext>
            </a:extLst>
          </p:cNvPr>
          <p:cNvSpPr txBox="1"/>
          <p:nvPr/>
        </p:nvSpPr>
        <p:spPr>
          <a:xfrm>
            <a:off x="468085" y="326572"/>
            <a:ext cx="5105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Chain Of Responsibility – Ticketing System - Consumers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CE9ED-AA1A-E53E-FCCE-46A58A395D7A}"/>
              </a:ext>
            </a:extLst>
          </p:cNvPr>
          <p:cNvSpPr txBox="1"/>
          <p:nvPr/>
        </p:nvSpPr>
        <p:spPr>
          <a:xfrm>
            <a:off x="468085" y="1028343"/>
            <a:ext cx="526297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Level1Support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Level1Support() { super("Level-1 Support");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canHandle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(Ticket 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t.getSeverity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==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Ticket.Severity.BASIC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process(Ticket 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("[%s] RESOLVED → %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Level2Support → INTERMEDIATE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Level3Support → ADVANCED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DA665-4891-F519-5635-224CC1E38B7F}"/>
              </a:ext>
            </a:extLst>
          </p:cNvPr>
          <p:cNvSpPr txBox="1"/>
          <p:nvPr/>
        </p:nvSpPr>
        <p:spPr>
          <a:xfrm>
            <a:off x="468085" y="3955693"/>
            <a:ext cx="56477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level1 = new Level1Support();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level2 = new Level2Support();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SupportHandler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level3 = new Level3Support();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level1.setNext(level2).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(level3);   // fluent chain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level1.handle(new Ticket(101, "Password reset",         BASIC));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level1.handle(new Ticket(102, "App crashes on login",   INTERMEDIATE));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level1.handle(new Ticket(103, "Database cluster down",  ADVANCED));</a:t>
            </a:r>
          </a:p>
        </p:txBody>
      </p:sp>
    </p:spTree>
    <p:extLst>
      <p:ext uri="{BB962C8B-B14F-4D97-AF65-F5344CB8AC3E}">
        <p14:creationId xmlns:p14="http://schemas.microsoft.com/office/powerpoint/2010/main" val="174615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A409-9175-B011-93E3-5A5504C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DC9F2-115F-8620-54D9-0762C83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02C7E-3196-6FE0-8A81-9252988F682E}"/>
              </a:ext>
            </a:extLst>
          </p:cNvPr>
          <p:cNvSpPr txBox="1"/>
          <p:nvPr/>
        </p:nvSpPr>
        <p:spPr>
          <a:xfrm>
            <a:off x="2806798" y="3105834"/>
            <a:ext cx="6578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Chain Of Responsibility – Logger</a:t>
            </a:r>
          </a:p>
        </p:txBody>
      </p:sp>
    </p:spTree>
    <p:extLst>
      <p:ext uri="{BB962C8B-B14F-4D97-AF65-F5344CB8AC3E}">
        <p14:creationId xmlns:p14="http://schemas.microsoft.com/office/powerpoint/2010/main" val="280910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63F2-3228-6A9D-BA64-6B35A26C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3BEFF-690F-A0C0-6665-5D3B3542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4AABE-195A-AFD3-16AF-AD85A4E97621}"/>
              </a:ext>
            </a:extLst>
          </p:cNvPr>
          <p:cNvSpPr txBox="1"/>
          <p:nvPr/>
        </p:nvSpPr>
        <p:spPr>
          <a:xfrm>
            <a:off x="535709" y="194055"/>
            <a:ext cx="410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 Of Responsibility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88B24-22B4-800F-9D3A-5A2FF68AE51B}"/>
              </a:ext>
            </a:extLst>
          </p:cNvPr>
          <p:cNvSpPr txBox="1"/>
          <p:nvPr/>
        </p:nvSpPr>
        <p:spPr>
          <a:xfrm>
            <a:off x="535709" y="957263"/>
            <a:ext cx="1128005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Decouples sender from receiver</a:t>
            </a:r>
            <a:r>
              <a:rPr lang="en-US" dirty="0"/>
              <a:t>: the client knows only the chain's entry point; handlers know only their own rule and the abstract </a:t>
            </a:r>
            <a:r>
              <a:rPr lang="en-US" i="1" dirty="0"/>
              <a:t>next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Open/Closed</a:t>
            </a:r>
            <a:r>
              <a:rPr lang="en-US" dirty="0"/>
              <a:t>: new handler types can be added, removed, or reordered at runtime without modifying existing classes or the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Single Responsibility</a:t>
            </a:r>
            <a:r>
              <a:rPr lang="en-US" dirty="0"/>
              <a:t>: each concrete handler encapsulates exactly one handling rule.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routing</a:t>
            </a:r>
            <a:r>
              <a:rPr lang="en-US" dirty="0"/>
              <a:t>: chains can be configured per deployment, per tenant, or per request.</a:t>
            </a:r>
          </a:p>
          <a:p>
            <a:endParaRPr lang="en-US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Unpredictable propagation</a:t>
            </a:r>
            <a:r>
              <a:rPr lang="en-US" dirty="0"/>
              <a:t>: a request may travel through many handlers before being handled (or never), which makes debugging and performance analysis harder than with direct dispatch.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guarantee of handling</a:t>
            </a:r>
            <a:r>
              <a:rPr lang="en-US" dirty="0"/>
              <a:t>: unless a terminal policy exists, requests can silently fall off the end of the chain. </a:t>
            </a:r>
            <a:r>
              <a:rPr lang="en-US" b="1" dirty="0">
                <a:solidFill>
                  <a:srgbClr val="FF0000"/>
                </a:solidFill>
              </a:rPr>
              <a:t>Always</a:t>
            </a:r>
            <a:r>
              <a:rPr lang="en-US" dirty="0"/>
              <a:t> define an explicit end-of-chain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Chain construction is a separate concern</a:t>
            </a:r>
            <a:r>
              <a:rPr lang="en-US" dirty="0"/>
              <a:t>: someone must build and maintain the chain; a mis-ordered chain (e.g., rate limiter before auth) changes system behavior subtly.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 for high-frequency, deep chains</a:t>
            </a:r>
            <a:r>
              <a:rPr lang="en-US" dirty="0"/>
              <a:t>: recursion per link adds overhead; for very hot paths a direct dispatch table may be preferable.</a:t>
            </a:r>
          </a:p>
        </p:txBody>
      </p:sp>
    </p:spTree>
    <p:extLst>
      <p:ext uri="{BB962C8B-B14F-4D97-AF65-F5344CB8AC3E}">
        <p14:creationId xmlns:p14="http://schemas.microsoft.com/office/powerpoint/2010/main" val="16369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E31E-CE28-4868-ADD1-CEA45F2B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27AA8-725C-7514-FAED-EFBD2B18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9E8F1-03F7-76EA-CD63-314B717B398D}"/>
              </a:ext>
            </a:extLst>
          </p:cNvPr>
          <p:cNvSpPr txBox="1"/>
          <p:nvPr/>
        </p:nvSpPr>
        <p:spPr>
          <a:xfrm>
            <a:off x="535709" y="194055"/>
            <a:ext cx="2108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2EA14-7C20-1D6C-B599-13D5C2C98E08}"/>
              </a:ext>
            </a:extLst>
          </p:cNvPr>
          <p:cNvSpPr txBox="1"/>
          <p:nvPr/>
        </p:nvSpPr>
        <p:spPr>
          <a:xfrm>
            <a:off x="535709" y="957263"/>
            <a:ext cx="10915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a one-to-many dependency between objects so that when one object changes state, all its dependents are notified and updated automatically.</a:t>
            </a:r>
          </a:p>
          <a:p>
            <a:endParaRPr lang="en-US" dirty="0"/>
          </a:p>
          <a:p>
            <a:r>
              <a:rPr lang="en-US" dirty="0"/>
              <a:t>Without the pattern, a class whose state matters to many other classes must explicitly call each dependent.</a:t>
            </a:r>
          </a:p>
          <a:p>
            <a:endParaRPr lang="en-US" dirty="0"/>
          </a:p>
          <a:p>
            <a:r>
              <a:rPr lang="en-US" dirty="0"/>
              <a:t>This creates: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Tight coupling</a:t>
            </a:r>
            <a:r>
              <a:rPr lang="en-US" dirty="0"/>
              <a:t>: the Subject knows every concrete observer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Rigidity</a:t>
            </a:r>
            <a:r>
              <a:rPr lang="en-US" dirty="0"/>
              <a:t>: adding a new dependent requires modifying the Subject (violates Open/Closed)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Duplication</a:t>
            </a:r>
            <a:r>
              <a:rPr lang="en-US" dirty="0"/>
              <a:t>: the "who must be informed" logic is scattered.</a:t>
            </a:r>
          </a:p>
        </p:txBody>
      </p:sp>
    </p:spTree>
    <p:extLst>
      <p:ext uri="{BB962C8B-B14F-4D97-AF65-F5344CB8AC3E}">
        <p14:creationId xmlns:p14="http://schemas.microsoft.com/office/powerpoint/2010/main" val="7957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3071-B1E6-FC7C-7423-A49A351A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B068A-4AA5-F33B-B783-8584EC8D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99D17C-B6D5-D473-725C-6BEE2198CAC3}"/>
              </a:ext>
            </a:extLst>
          </p:cNvPr>
          <p:cNvSpPr txBox="1"/>
          <p:nvPr/>
        </p:nvSpPr>
        <p:spPr>
          <a:xfrm>
            <a:off x="535709" y="194055"/>
            <a:ext cx="189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Observer -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BFC01-BFE7-EB0B-6832-6218435D91DB}"/>
              </a:ext>
            </a:extLst>
          </p:cNvPr>
          <p:cNvSpPr txBox="1"/>
          <p:nvPr/>
        </p:nvSpPr>
        <p:spPr>
          <a:xfrm>
            <a:off x="535709" y="904957"/>
            <a:ext cx="10818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One-to-many dependency with unknown dependents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set of observers changes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i="1" dirty="0"/>
              <a:t>what changed</a:t>
            </a:r>
            <a:r>
              <a:rPr lang="en-US" sz="1600" dirty="0"/>
              <a:t> and the </a:t>
            </a:r>
            <a:r>
              <a:rPr lang="en-US" sz="1600" i="1" dirty="0"/>
              <a:t>how to react</a:t>
            </a:r>
            <a:r>
              <a:rPr lang="en-US" sz="1600" dirty="0"/>
              <a:t> are genuinely separate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Broadcast semantics are desirable: one state change must inform any number of receivers, and you don't care about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exactly one 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Observers must be notified in a guaranteed order and you need to know when all of them finished before proceeding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transactional / all-or-nothing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Many-to-many interactions with complex routing rules</a:t>
            </a:r>
          </a:p>
        </p:txBody>
      </p:sp>
    </p:spTree>
    <p:extLst>
      <p:ext uri="{BB962C8B-B14F-4D97-AF65-F5344CB8AC3E}">
        <p14:creationId xmlns:p14="http://schemas.microsoft.com/office/powerpoint/2010/main" val="420269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198A-C36B-C38E-F087-894E4C5B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27062-3F96-3EB5-75B6-778CC315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AD374-5789-8E68-15A7-53EE20903A42}"/>
              </a:ext>
            </a:extLst>
          </p:cNvPr>
          <p:cNvSpPr txBox="1"/>
          <p:nvPr/>
        </p:nvSpPr>
        <p:spPr>
          <a:xfrm>
            <a:off x="535709" y="194055"/>
            <a:ext cx="2750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Observer – 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82585-BC16-4EC2-614B-5FE8B5FE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7" y="2119789"/>
            <a:ext cx="11544385" cy="26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6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B849-C97F-03E8-5BF4-DAB92A7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6F65A-42E6-C70C-32F7-53DFFB97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3364F-0A1E-CF61-BD9B-E0DF37CCEB71}"/>
              </a:ext>
            </a:extLst>
          </p:cNvPr>
          <p:cNvSpPr txBox="1"/>
          <p:nvPr/>
        </p:nvSpPr>
        <p:spPr>
          <a:xfrm>
            <a:off x="468085" y="326572"/>
            <a:ext cx="2174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Observer – The Pattern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9FA88-1DF3-E8FC-2CAD-7155B8F8BAEF}"/>
              </a:ext>
            </a:extLst>
          </p:cNvPr>
          <p:cNvSpPr txBox="1"/>
          <p:nvPr/>
        </p:nvSpPr>
        <p:spPr>
          <a:xfrm>
            <a:off x="474747" y="3961229"/>
            <a:ext cx="25619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BEWARE OF INDIRECT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COUPLING!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r>
              <a:rPr lang="en-US" sz="1400" dirty="0"/>
              <a:t>Too many observers can cause</a:t>
            </a:r>
            <a:br>
              <a:rPr lang="en-US" sz="1400" dirty="0"/>
            </a:br>
            <a:r>
              <a:rPr lang="en-US" sz="1400" dirty="0"/>
              <a:t>undesired effects!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(a.k.a. </a:t>
            </a:r>
            <a:r>
              <a:rPr lang="en-US" sz="1400" i="1" dirty="0"/>
              <a:t>notification storms</a:t>
            </a:r>
            <a:r>
              <a:rPr lang="en-US" sz="1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C92CB-4DA8-5241-E09F-0A37215F3ABC}"/>
              </a:ext>
            </a:extLst>
          </p:cNvPr>
          <p:cNvSpPr txBox="1"/>
          <p:nvPr/>
        </p:nvSpPr>
        <p:spPr>
          <a:xfrm>
            <a:off x="474747" y="1943845"/>
            <a:ext cx="30844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Observer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update();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F3525-CCAC-DE33-8390-C12E59593202}"/>
              </a:ext>
            </a:extLst>
          </p:cNvPr>
          <p:cNvSpPr txBox="1"/>
          <p:nvPr/>
        </p:nvSpPr>
        <p:spPr>
          <a:xfrm>
            <a:off x="4038600" y="926385"/>
            <a:ext cx="767865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Subject {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List&lt;Observer&gt; observers = new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Registers an observer so it receives change notifications. */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attach(Observer observer)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(observer != null &amp;&amp; !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observers.contains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(observer))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observers.add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(observer);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Unregisters an observer; it will no longer receive notifications. */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detach(Observer observer)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observers.remove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(observer);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Notifies all registered observers.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Called by the concrete subject when its state changes. */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notifyObservers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Iterate over a copy so that observers can safely attach/detach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during notification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(Observer observer : new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&lt;&gt;(observers))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observer.update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getObserverCount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observers.size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244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0C6C4-A560-211B-49D5-0A1AE8BA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BF60C-517E-B81E-E11B-FB5C5363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BD0DF-7E92-D948-CB4D-91323D214FC8}"/>
              </a:ext>
            </a:extLst>
          </p:cNvPr>
          <p:cNvSpPr txBox="1"/>
          <p:nvPr/>
        </p:nvSpPr>
        <p:spPr>
          <a:xfrm>
            <a:off x="468085" y="326572"/>
            <a:ext cx="25951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Observer – Weather Station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701A7-E423-2B02-DD1A-8552D113006C}"/>
              </a:ext>
            </a:extLst>
          </p:cNvPr>
          <p:cNvSpPr txBox="1"/>
          <p:nvPr/>
        </p:nvSpPr>
        <p:spPr>
          <a:xfrm>
            <a:off x="468085" y="901148"/>
            <a:ext cx="418255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Subject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float temperature;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float humidity;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float pressure;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Simulates a new reading from the sensors. */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setMeasurements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float temperature, float humidity, float pressure)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this.temperature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temperature;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this.humidity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humidity;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this.pressure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pressure;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notifyObservers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float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getTemperature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temperature;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float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getHumidity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   { return humidity;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float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getPressure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   { return pressure;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5EB77-DC9B-8515-524C-C0DA517F0688}"/>
              </a:ext>
            </a:extLst>
          </p:cNvPr>
          <p:cNvSpPr txBox="1"/>
          <p:nvPr/>
        </p:nvSpPr>
        <p:spPr>
          <a:xfrm>
            <a:off x="5955989" y="495849"/>
            <a:ext cx="5767926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CurrentConditionsDisplay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Observer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float temperature;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float humidity;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CurrentConditionsDisplay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weatherData.attach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(this); // self-registration idiom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update()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this.temperature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weatherData.getTemperature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 // pull the new state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this.humidity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weatherData.getHumidity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display();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display()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CurrentConditions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 temp=%.1f F, humidity=%.1f%%%n",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temperature, humidity);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8119B-6411-6827-044B-5328C019E394}"/>
              </a:ext>
            </a:extLst>
          </p:cNvPr>
          <p:cNvSpPr txBox="1"/>
          <p:nvPr/>
        </p:nvSpPr>
        <p:spPr>
          <a:xfrm>
            <a:off x="468085" y="3909526"/>
            <a:ext cx="6043642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WeatherMain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("=== Example 1: Weather Station ===");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CurrentConditionsDisplay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current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CurrentConditionsDisplay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weatherData.setMeasurements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(80.0f, 75.0f, 30.2f);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we see the current instance printing on screen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Detach one observer: it stops receiving notifications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weatherData.detach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(stats);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("--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StatisticsDisplay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detached --");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weatherData.setMeasurements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(81.0f, 65.0f, 30.1f); // no print here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5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D05D-B88E-CED3-CA7E-EBF609E4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BEFC-DE02-1A58-22FD-3B01DD3E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49842-9C88-656F-01E0-65E632279D86}"/>
              </a:ext>
            </a:extLst>
          </p:cNvPr>
          <p:cNvSpPr txBox="1"/>
          <p:nvPr/>
        </p:nvSpPr>
        <p:spPr>
          <a:xfrm>
            <a:off x="3577297" y="3105834"/>
            <a:ext cx="5037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Observer – Stock market</a:t>
            </a:r>
          </a:p>
        </p:txBody>
      </p:sp>
    </p:spTree>
    <p:extLst>
      <p:ext uri="{BB962C8B-B14F-4D97-AF65-F5344CB8AC3E}">
        <p14:creationId xmlns:p14="http://schemas.microsoft.com/office/powerpoint/2010/main" val="3919942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9856-DF03-C1D6-F6F4-60E18DC4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E2369-4E08-C84B-27E3-A811B004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896AA-39E3-E7F1-4B68-CD10928D996C}"/>
              </a:ext>
            </a:extLst>
          </p:cNvPr>
          <p:cNvSpPr txBox="1"/>
          <p:nvPr/>
        </p:nvSpPr>
        <p:spPr>
          <a:xfrm>
            <a:off x="535709" y="194055"/>
            <a:ext cx="270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8EFA8-CDC3-C7F5-34FB-3B84EBCD7608}"/>
              </a:ext>
            </a:extLst>
          </p:cNvPr>
          <p:cNvSpPr txBox="1"/>
          <p:nvPr/>
        </p:nvSpPr>
        <p:spPr>
          <a:xfrm>
            <a:off x="535709" y="957263"/>
            <a:ext cx="112800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Abstraction between the Subject and its observers: they do not know each other's concrete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</a:t>
            </a:r>
            <a:r>
              <a:rPr lang="en-US" dirty="0" err="1"/>
              <a:t>ConcreteObservers</a:t>
            </a:r>
            <a:r>
              <a:rPr lang="en-US" dirty="0"/>
              <a:t> can be introduced without changing existing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broadcast communication without the Subject specifying receivers one by one.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Unknown update timing</a:t>
            </a:r>
            <a:r>
              <a:rPr lang="en-US" dirty="0"/>
              <a:t>: the Subject does not know in what order or at what moment observers react; an observer may see a </a:t>
            </a:r>
            <a:r>
              <a:rPr lang="en-US" i="1" dirty="0"/>
              <a:t>partially updated</a:t>
            </a:r>
            <a:r>
              <a:rPr lang="en-US" dirty="0"/>
              <a:t>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leaks</a:t>
            </a:r>
            <a:r>
              <a:rPr lang="en-US" dirty="0"/>
              <a:t>: if the Subject holds strong references and observers never detach, they are never garbage-collected (classic problem with inner-class listeners in 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Cascading updates / infinite loops</a:t>
            </a:r>
            <a:r>
              <a:rPr lang="en-US" dirty="0"/>
              <a:t>: an observer that modifies its own Subject can trigger re-notification - guard against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notifying many observers synchronously on the changing thread can be expensive - consider batching or asynchronous dispatch.</a:t>
            </a:r>
          </a:p>
        </p:txBody>
      </p:sp>
    </p:spTree>
    <p:extLst>
      <p:ext uri="{BB962C8B-B14F-4D97-AF65-F5344CB8AC3E}">
        <p14:creationId xmlns:p14="http://schemas.microsoft.com/office/powerpoint/2010/main" val="282981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53B7-F0F1-582F-6781-4CF4EDB7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8A85D-3940-8BFF-1251-2075ACA6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20434-5803-86DC-A5BD-ADAD52A3036A}"/>
              </a:ext>
            </a:extLst>
          </p:cNvPr>
          <p:cNvSpPr txBox="1"/>
          <p:nvPr/>
        </p:nvSpPr>
        <p:spPr>
          <a:xfrm>
            <a:off x="535709" y="194055"/>
            <a:ext cx="2083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Mediator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65B07-4C86-DEE6-F1E7-336413781C73}"/>
              </a:ext>
            </a:extLst>
          </p:cNvPr>
          <p:cNvSpPr txBox="1"/>
          <p:nvPr/>
        </p:nvSpPr>
        <p:spPr>
          <a:xfrm>
            <a:off x="535709" y="724039"/>
            <a:ext cx="113249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a system has </a:t>
            </a:r>
            <a:r>
              <a:rPr lang="en-US" i="1" dirty="0"/>
              <a:t>n</a:t>
            </a:r>
            <a:r>
              <a:rPr lang="en-US" dirty="0"/>
              <a:t> objects that must interact (users in a chat room, traders at an exchange, fields in a form).</a:t>
            </a:r>
          </a:p>
          <a:p>
            <a:endParaRPr lang="en-US" dirty="0"/>
          </a:p>
          <a:p>
            <a:r>
              <a:rPr lang="en-US" dirty="0"/>
              <a:t>The naive solutions all fail: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Direct references</a:t>
            </a:r>
            <a:r>
              <a:rPr lang="en-US" dirty="0"/>
              <a:t>: each object holds references to all the others</a:t>
            </a:r>
            <a:br>
              <a:rPr lang="en-US" dirty="0"/>
            </a:br>
            <a:r>
              <a:rPr lang="en-US" dirty="0"/>
              <a:t>The dependency graph becomes a complete graph: </a:t>
            </a:r>
            <a:r>
              <a:rPr lang="en-US" i="1" dirty="0"/>
              <a:t>n·(n−1)/2</a:t>
            </a:r>
            <a:r>
              <a:rPr lang="en-US" dirty="0"/>
              <a:t> references. Adding one participant touches </a:t>
            </a:r>
            <a:r>
              <a:rPr lang="en-US" b="1" dirty="0"/>
              <a:t>every</a:t>
            </a:r>
            <a:br>
              <a:rPr lang="en-US" dirty="0"/>
            </a:br>
            <a:r>
              <a:rPr lang="en-US" dirty="0"/>
              <a:t>existing one; every change ripples through the whole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Shared global state</a:t>
            </a:r>
            <a:r>
              <a:rPr lang="en-US" dirty="0"/>
              <a:t>: (static registry, singleton) objects still couple to each other </a:t>
            </a:r>
            <a:r>
              <a:rPr lang="en-US" b="1" dirty="0"/>
              <a:t>through</a:t>
            </a:r>
            <a:r>
              <a:rPr lang="en-US" dirty="0"/>
              <a:t> the global</a:t>
            </a:r>
            <a:br>
              <a:rPr lang="en-US" dirty="0"/>
            </a:br>
            <a:r>
              <a:rPr lang="en-US" dirty="0"/>
              <a:t>object; there is no single place where the interaction rules live, so the rules are duplicated and inconsistent.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"manager" object that everyone calls ad hoc</a:t>
            </a:r>
            <a:r>
              <a:rPr lang="en-US" dirty="0"/>
              <a:t>: the manager accumulates </a:t>
            </a:r>
            <a:r>
              <a:rPr lang="en-US" i="1" dirty="0"/>
              <a:t>if (other </a:t>
            </a:r>
            <a:r>
              <a:rPr lang="en-US" i="1" dirty="0" err="1"/>
              <a:t>instanceof</a:t>
            </a:r>
            <a:r>
              <a:rPr lang="en-US" i="1" dirty="0"/>
              <a:t> X)</a:t>
            </a:r>
            <a:r>
              <a:rPr lang="en-US" dirty="0"/>
              <a:t> spaghetti; the </a:t>
            </a:r>
            <a:r>
              <a:rPr lang="en-US" i="1" dirty="0"/>
              <a:t>participants</a:t>
            </a:r>
            <a:r>
              <a:rPr lang="en-US" dirty="0"/>
              <a:t> still know about each other's types, so nothing is really decoupled.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root cause in all three cases: the knowledge of </a:t>
            </a:r>
            <a:r>
              <a:rPr lang="en-US" i="1" dirty="0"/>
              <a:t>how these objects interact</a:t>
            </a:r>
            <a:r>
              <a:rPr lang="en-US" dirty="0"/>
              <a:t> is scattered across the participants themselves.</a:t>
            </a:r>
          </a:p>
          <a:p>
            <a:endParaRPr lang="en-US" dirty="0"/>
          </a:p>
          <a:p>
            <a:r>
              <a:rPr lang="en-US" b="1" dirty="0"/>
              <a:t>Solution</a:t>
            </a:r>
            <a:r>
              <a:rPr lang="en-US" dirty="0"/>
              <a:t>: introduce a dedicated object — the </a:t>
            </a:r>
            <a:r>
              <a:rPr lang="en-US" b="1" dirty="0"/>
              <a:t>Mediator</a:t>
            </a:r>
            <a:r>
              <a:rPr lang="en-US" dirty="0"/>
              <a:t> — that </a:t>
            </a:r>
            <a:r>
              <a:rPr lang="en-US" i="1" dirty="0"/>
              <a:t>owns</a:t>
            </a:r>
            <a:r>
              <a:rPr lang="en-US" dirty="0"/>
              <a:t> the interaction logic: each participant (</a:t>
            </a:r>
            <a:r>
              <a:rPr lang="en-US" i="1" dirty="0"/>
              <a:t>Colleague</a:t>
            </a:r>
            <a:r>
              <a:rPr lang="en-US" dirty="0"/>
              <a:t>) knows only its mediator, sends it requests, and reacts to events the mediator propagates; no colleague ever references another colleague directly.</a:t>
            </a:r>
          </a:p>
        </p:txBody>
      </p:sp>
    </p:spTree>
    <p:extLst>
      <p:ext uri="{BB962C8B-B14F-4D97-AF65-F5344CB8AC3E}">
        <p14:creationId xmlns:p14="http://schemas.microsoft.com/office/powerpoint/2010/main" val="201983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2D7C-677B-77B8-0D35-B4A48A518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DFA83-AB03-29D0-0F21-43D68813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48EBD-B1E7-A022-3C86-81EE635009BE}"/>
              </a:ext>
            </a:extLst>
          </p:cNvPr>
          <p:cNvSpPr txBox="1"/>
          <p:nvPr/>
        </p:nvSpPr>
        <p:spPr>
          <a:xfrm>
            <a:off x="535709" y="194055"/>
            <a:ext cx="186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Mediator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C5953-DB3E-E0CC-C1C1-4028B3359004}"/>
              </a:ext>
            </a:extLst>
          </p:cNvPr>
          <p:cNvSpPr txBox="1"/>
          <p:nvPr/>
        </p:nvSpPr>
        <p:spPr>
          <a:xfrm>
            <a:off x="535709" y="821635"/>
            <a:ext cx="814133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objects interact through a small set of well-defined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Colleagues are reusable / generic on their 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interaction policy changes independently of the 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add or remove participants without modifying existing ones (OCP)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direct references is a maintenance burden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a single audit / logging / policy checkpoint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two objects interact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interaction graph is dense and every pair has unique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Colleagues are tightly coupled by design and will never be reused elsewhere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mediator</a:t>
            </a:r>
            <a:r>
              <a:rPr lang="en-US" dirty="0"/>
              <a:t> would need to reach into colleagues' internals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interaction is purely one-directional broadcast with no coordination logic</a:t>
            </a:r>
          </a:p>
        </p:txBody>
      </p:sp>
    </p:spTree>
    <p:extLst>
      <p:ext uri="{BB962C8B-B14F-4D97-AF65-F5344CB8AC3E}">
        <p14:creationId xmlns:p14="http://schemas.microsoft.com/office/powerpoint/2010/main" val="201795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1A19-64B0-66C6-B89C-A24585A6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7192B-9600-1E72-38B8-A398B5C0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6838A-D26A-A260-33CB-E8C724E4A4BB}"/>
              </a:ext>
            </a:extLst>
          </p:cNvPr>
          <p:cNvSpPr txBox="1"/>
          <p:nvPr/>
        </p:nvSpPr>
        <p:spPr>
          <a:xfrm>
            <a:off x="535709" y="194055"/>
            <a:ext cx="272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Mediator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D84306-15B7-ECB8-F491-A48C86F2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890" y="378721"/>
            <a:ext cx="4345081" cy="59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51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67EB-BA2A-C4BC-6634-511D08E9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7FF6E-D397-B655-DCE5-1D3D3C87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57D58-61B2-92C8-A449-A30F7A9349C2}"/>
              </a:ext>
            </a:extLst>
          </p:cNvPr>
          <p:cNvSpPr txBox="1"/>
          <p:nvPr/>
        </p:nvSpPr>
        <p:spPr>
          <a:xfrm>
            <a:off x="468085" y="326572"/>
            <a:ext cx="2307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Mediator – Base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D3A9C-7D1E-C6B7-3DE7-4E360B974C59}"/>
              </a:ext>
            </a:extLst>
          </p:cNvPr>
          <p:cNvSpPr txBox="1"/>
          <p:nvPr/>
        </p:nvSpPr>
        <p:spPr>
          <a:xfrm>
            <a:off x="468085" y="777766"/>
            <a:ext cx="38779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Mediator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notify(Colleague sender, String 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C0EE8-845D-78C2-E10E-CFC9A81FA3EB}"/>
              </a:ext>
            </a:extLst>
          </p:cNvPr>
          <p:cNvSpPr txBox="1"/>
          <p:nvPr/>
        </p:nvSpPr>
        <p:spPr>
          <a:xfrm>
            <a:off x="448300" y="1644115"/>
            <a:ext cx="5416868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Colleague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Mediator mediator;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setMediator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(Mediator mediator)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this.mediator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mediator;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Colleagues NEVER hold references to other Colleagues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Sends a request to the mediator.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final void notify(String 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(mediator == null)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IllegalStateException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("No mediator attached");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mediator.notify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(this, 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Reacts to an event propagated by the mediator.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F9393-F522-69B0-3A2D-9B8CA8AA82DB}"/>
              </a:ext>
            </a:extLst>
          </p:cNvPr>
          <p:cNvSpPr txBox="1"/>
          <p:nvPr/>
        </p:nvSpPr>
        <p:spPr>
          <a:xfrm>
            <a:off x="468085" y="4972676"/>
            <a:ext cx="410881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ConcreteColleague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Colleague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reacting to: " + 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189EA-DA35-DA13-D326-1E687E66EED3}"/>
              </a:ext>
            </a:extLst>
          </p:cNvPr>
          <p:cNvSpPr txBox="1"/>
          <p:nvPr/>
        </p:nvSpPr>
        <p:spPr>
          <a:xfrm>
            <a:off x="6096000" y="665126"/>
            <a:ext cx="5647700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AbstractMediator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Mediator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List&lt;Colleague&gt; colleagues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addColleague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 colleague)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(!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colleagues.contains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(colleague))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colleagues.add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colleagues.size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List&lt;Colleague&gt;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otherColleagues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 sender)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List&lt;Colleague&gt; others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&lt;&gt;(colleagues);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others.remove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(sender);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others;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removeColleague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 colleague)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colleagues.remove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List&lt;Colleague&gt;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getColleagues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Collections.unmodifiableList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(colleagues);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Broadcasts the event to every colleague except the sender.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notify(Colleague sender, String 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(Colleague c 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otherColleagues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(sender))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098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A19D-524E-12E8-EC82-7DE28FA6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97749-A760-4E82-7583-19B12AD7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ED522-D923-6588-64EC-DE5E16A56E6B}"/>
              </a:ext>
            </a:extLst>
          </p:cNvPr>
          <p:cNvSpPr txBox="1"/>
          <p:nvPr/>
        </p:nvSpPr>
        <p:spPr>
          <a:xfrm>
            <a:off x="468085" y="326572"/>
            <a:ext cx="2726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Mediator – Air Traffic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86BB5-3CD8-A14C-6629-FB0F2939C04C}"/>
              </a:ext>
            </a:extLst>
          </p:cNvPr>
          <p:cNvSpPr txBox="1"/>
          <p:nvPr/>
        </p:nvSpPr>
        <p:spPr>
          <a:xfrm>
            <a:off x="468085" y="843677"/>
            <a:ext cx="5416868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Aircraft extends Colleague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callsign;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landed = false;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Aircraft(String callsign)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this.callsign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callsign;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getCallsign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callsign;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requestLanding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notify("LAND"); // only way out: to the mediator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switch (event)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"CLEARED":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landed = true;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(callsign + ": cleared to land.");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"HOLD":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callsign + ": holding, stay on course.");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default: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callsign + ": unknown event " + event);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landed;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4FF52-80F6-A4A5-CDFF-C3FB68B59CEE}"/>
              </a:ext>
            </a:extLst>
          </p:cNvPr>
          <p:cNvSpPr txBox="1"/>
          <p:nvPr/>
        </p:nvSpPr>
        <p:spPr>
          <a:xfrm>
            <a:off x="6500506" y="374848"/>
            <a:ext cx="54996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Tower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AbstractMediator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register(Aircraft a)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a.setMediator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notify(Colleague sender, String event)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Aircraft req = (Aircraft) sender;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LAND".equals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(event))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addColleague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(req);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"[Tower]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req.getCallsign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 in queue ("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 waiting).");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colleagueCount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== 0)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("[Tower] runway clear, no traffic.");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Aircraft next = (Aircraft)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getColleagues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().get(0);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removeColleague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(next);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(Colleague c 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getColleagues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("HOLD");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"[Tower] clearing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next.getCallsign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 to land.");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next.onEvent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("CLEARED");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4344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A5CD-3098-E921-6B4A-6010895B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3F3B3-A595-E1F1-D7CD-F97946009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6BACAD-9AC5-7BC8-0310-8035D880BDAC}"/>
              </a:ext>
            </a:extLst>
          </p:cNvPr>
          <p:cNvSpPr txBox="1"/>
          <p:nvPr/>
        </p:nvSpPr>
        <p:spPr>
          <a:xfrm>
            <a:off x="468085" y="326572"/>
            <a:ext cx="2726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Mediator – Air Traffic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C1D03-FC5A-DDDC-227E-E27E65004D33}"/>
              </a:ext>
            </a:extLst>
          </p:cNvPr>
          <p:cNvSpPr txBox="1"/>
          <p:nvPr/>
        </p:nvSpPr>
        <p:spPr>
          <a:xfrm>
            <a:off x="468085" y="927652"/>
            <a:ext cx="669285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("=== Tower / Aircraft (Mediator) ===");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Tower tower = new Tower();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Aircraft a1 = new Aircraft("DAL101");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Aircraft a2 = new Aircraft("UAL202");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Aircraft a3 = new Aircraft("BAW303");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tower.register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(a1);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tower.register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(a2);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tower.register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(a3);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("\n-- Three aircraft request landing --");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a1.requestLanding();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a2.requestLanding();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a3.requestLanding();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("\n-- Tower clears them one at a time --");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tower.clearNext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tower.clearNext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tower.clearNext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6903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FDCA4-0C41-7F38-95A9-19AC75C0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F5F59-1414-B939-49EB-0B076B84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FD967-37F1-48D5-275A-8302E7FE8576}"/>
              </a:ext>
            </a:extLst>
          </p:cNvPr>
          <p:cNvSpPr txBox="1"/>
          <p:nvPr/>
        </p:nvSpPr>
        <p:spPr>
          <a:xfrm>
            <a:off x="3553412" y="3105834"/>
            <a:ext cx="5085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Mediator – Chat program</a:t>
            </a:r>
          </a:p>
        </p:txBody>
      </p:sp>
    </p:spTree>
    <p:extLst>
      <p:ext uri="{BB962C8B-B14F-4D97-AF65-F5344CB8AC3E}">
        <p14:creationId xmlns:p14="http://schemas.microsoft.com/office/powerpoint/2010/main" val="1561679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3EAD-5556-5CB5-7FA7-4354D57E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18D27-9A6A-C197-2D41-52D0D7C9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A1C52-AF79-6D99-65BB-1919164CEDC0}"/>
              </a:ext>
            </a:extLst>
          </p:cNvPr>
          <p:cNvSpPr txBox="1"/>
          <p:nvPr/>
        </p:nvSpPr>
        <p:spPr>
          <a:xfrm>
            <a:off x="535709" y="194055"/>
            <a:ext cx="2675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Mediator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8E0A3F-2D44-5D9B-5642-BB028DD064FC}"/>
              </a:ext>
            </a:extLst>
          </p:cNvPr>
          <p:cNvSpPr txBox="1"/>
          <p:nvPr/>
        </p:nvSpPr>
        <p:spPr>
          <a:xfrm>
            <a:off x="662610" y="861391"/>
            <a:ext cx="113173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Loose coupling</a:t>
            </a:r>
            <a:r>
              <a:rPr lang="en-US" dirty="0"/>
              <a:t>: colleagues depend only on the mediator interface; the dependency graph is a star, not a complete graph </a:t>
            </a:r>
            <a:r>
              <a:rPr lang="en-US" i="1" dirty="0"/>
              <a:t>(n+1 vs. n·(n−1)/2)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Single point of coordination</a:t>
            </a:r>
            <a:r>
              <a:rPr lang="en-US" dirty="0"/>
              <a:t>: interaction rules live in one class — easier to understand, test, and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Open/Closed at the interaction level</a:t>
            </a:r>
            <a:r>
              <a:rPr lang="en-US" dirty="0"/>
              <a:t>: new participants are added without touching existing colleagues.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Substitutable policies</a:t>
            </a:r>
            <a:r>
              <a:rPr lang="en-US" dirty="0"/>
              <a:t>: the same colleagues can be coordinated by different mediators (broadcast vs. moderated; matching vs. auction).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Simplifies complex interactions</a:t>
            </a:r>
            <a:r>
              <a:rPr lang="en-US" dirty="0"/>
              <a:t>: multi-party rules (matching, cross-validation) become ordinary method bodies instead of scattered </a:t>
            </a:r>
            <a:r>
              <a:rPr lang="en-US" i="1" dirty="0"/>
              <a:t>if/</a:t>
            </a:r>
            <a:r>
              <a:rPr lang="en-US" i="1" dirty="0" err="1"/>
              <a:t>instanceof</a:t>
            </a:r>
            <a:r>
              <a:rPr lang="en-US" dirty="0"/>
              <a:t> spaghetti.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Disadvantages: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Mediator bloat </a:t>
            </a:r>
            <a:r>
              <a:rPr lang="en-US" dirty="0"/>
              <a:t>(</a:t>
            </a:r>
            <a:r>
              <a:rPr lang="en-US" i="1" dirty="0"/>
              <a:t>god object</a:t>
            </a:r>
            <a:r>
              <a:rPr lang="en-US" dirty="0"/>
              <a:t>): if </a:t>
            </a:r>
            <a:r>
              <a:rPr lang="en-US" i="1" dirty="0"/>
              <a:t>everything</a:t>
            </a:r>
            <a:r>
              <a:rPr lang="en-US" dirty="0"/>
              <a:t> is pushed into the mediator, it becomes a new coupling hotspot — now O(n) instead of O(n²), and hard to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Runtime indirection</a:t>
            </a:r>
            <a:r>
              <a:rPr lang="en-US" dirty="0"/>
              <a:t>: a request travels colleague → mediator → colleague; the flow is less obvious than a direct call (mitigated by good naming and sequence diagrams).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Concurrency</a:t>
            </a:r>
            <a:r>
              <a:rPr lang="en-US" dirty="0"/>
              <a:t>: if colleagues raise events from different threads, the mediator's state (registry, order book) needs explicit synchronization — the pattern does not solve thread safety for you.</a:t>
            </a:r>
          </a:p>
        </p:txBody>
      </p:sp>
    </p:spTree>
    <p:extLst>
      <p:ext uri="{BB962C8B-B14F-4D97-AF65-F5344CB8AC3E}">
        <p14:creationId xmlns:p14="http://schemas.microsoft.com/office/powerpoint/2010/main" val="425521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1717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B3207-AEAB-4CB3-67F8-8C0494D7E993}"/>
              </a:ext>
            </a:extLst>
          </p:cNvPr>
          <p:cNvSpPr txBox="1"/>
          <p:nvPr/>
        </p:nvSpPr>
        <p:spPr>
          <a:xfrm>
            <a:off x="535710" y="768626"/>
            <a:ext cx="112719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an object whose behavior depends on one or more internal conditions (a light that is red/green/yellow, a document that is draft/review/approved, an order that is pending/paid/shipped).</a:t>
            </a:r>
          </a:p>
          <a:p>
            <a:endParaRPr lang="en-US" dirty="0"/>
          </a:p>
          <a:p>
            <a:r>
              <a:rPr lang="en-US" dirty="0"/>
              <a:t>The naive implementation suffers from: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Conditional statements dependent on state</a:t>
            </a:r>
            <a:r>
              <a:rPr lang="en-US" dirty="0"/>
              <a:t>: every method contains </a:t>
            </a:r>
            <a:r>
              <a:rPr lang="en-US" i="1" dirty="0"/>
              <a:t>if (state == X) ... else if (state == Y) ...</a:t>
            </a:r>
            <a:r>
              <a:rPr lang="en-US" dirty="0"/>
              <a:t> blocks. Adding a new state means touching </a:t>
            </a:r>
            <a:r>
              <a:rPr lang="en-US" b="1" dirty="0"/>
              <a:t>every</a:t>
            </a:r>
            <a:r>
              <a:rPr lang="en-US" dirty="0"/>
              <a:t> method — the class violates the Open/Closed Principle.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States and transitions scattered across methods</a:t>
            </a:r>
            <a:r>
              <a:rPr lang="en-US" dirty="0"/>
              <a:t>: there is no single place where you can see </a:t>
            </a:r>
            <a:r>
              <a:rPr lang="en-US" i="1" dirty="0"/>
              <a:t>from state A, event E leads to state B</a:t>
            </a:r>
            <a:r>
              <a:rPr lang="en-US" dirty="0"/>
              <a:t>. The transition logic is implicit and easy to get wrong (e.g., forgetting that a delivered order cannot be cancelled).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Impossible or awkward to represent states as objects</a:t>
            </a:r>
            <a:r>
              <a:rPr lang="en-US" dirty="0"/>
              <a:t>: when the same object must exhibit different behaviors in different states — until you separate the behavior into dedicated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State-specific sub-behaviors</a:t>
            </a:r>
            <a:r>
              <a:rPr lang="en-US" dirty="0"/>
              <a:t>: often each state needs its own auxiliary logic (validation, side effects, logging). With conditionals this logic is interleaved with unrelated code; with State it lives inside the state class that owns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Solution: instead of encoding </a:t>
            </a:r>
            <a:r>
              <a:rPr lang="en-US" i="1" dirty="0"/>
              <a:t>what to do</a:t>
            </a:r>
            <a:r>
              <a:rPr lang="en-US" dirty="0"/>
              <a:t> as a function of a state variable scattered through </a:t>
            </a:r>
            <a:r>
              <a:rPr lang="en-US" i="1" dirty="0"/>
              <a:t>if/else</a:t>
            </a:r>
            <a:r>
              <a:rPr lang="en-US" dirty="0"/>
              <a:t> or </a:t>
            </a:r>
            <a:r>
              <a:rPr lang="en-US" i="1" dirty="0"/>
              <a:t>switch</a:t>
            </a:r>
            <a:r>
              <a:rPr lang="en-US" dirty="0"/>
              <a:t> statements, </a:t>
            </a:r>
            <a:r>
              <a:rPr lang="en-US" b="1" dirty="0"/>
              <a:t>you promote each state to a first-class object</a:t>
            </a:r>
            <a:r>
              <a:rPr lang="en-US" dirty="0"/>
              <a:t>. The context delegates every request to the current state object, and it is the state object itself that decides what happens — including whether (and to which) state the system transitions next.</a:t>
            </a:r>
          </a:p>
        </p:txBody>
      </p:sp>
    </p:spTree>
    <p:extLst>
      <p:ext uri="{BB962C8B-B14F-4D97-AF65-F5344CB8AC3E}">
        <p14:creationId xmlns:p14="http://schemas.microsoft.com/office/powerpoint/2010/main" val="40516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8FBF-0ADC-08AE-AC5A-2D856FD1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0A59A-0225-0BF3-9C19-7ABE6A2E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DC20F-95EE-CF6F-5F30-9325A7EA673D}"/>
              </a:ext>
            </a:extLst>
          </p:cNvPr>
          <p:cNvSpPr txBox="1"/>
          <p:nvPr/>
        </p:nvSpPr>
        <p:spPr>
          <a:xfrm>
            <a:off x="535709" y="194055"/>
            <a:ext cx="1502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044B3-6DF6-F3A2-8377-527FE7F19F47}"/>
              </a:ext>
            </a:extLst>
          </p:cNvPr>
          <p:cNvSpPr txBox="1"/>
          <p:nvPr/>
        </p:nvSpPr>
        <p:spPr>
          <a:xfrm>
            <a:off x="535709" y="781879"/>
            <a:ext cx="113382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 varies significantly per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Transitions are event-driven and non-trivial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enforce valid transitions - Illegal transitions should be loud failures, not silent no-ops; this is testable and self-documenting.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states will be added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states (2–3) with simple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States are pure data flags with no distinct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"state" is chosen by the client, not by internal transitions</a:t>
            </a:r>
          </a:p>
        </p:txBody>
      </p:sp>
    </p:spTree>
    <p:extLst>
      <p:ext uri="{BB962C8B-B14F-4D97-AF65-F5344CB8AC3E}">
        <p14:creationId xmlns:p14="http://schemas.microsoft.com/office/powerpoint/2010/main" val="57163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2504-3532-0876-2610-1667D6FC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5799C-735A-5DE5-FAFE-DA73A97A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48B17-8324-E552-6D6E-5CA461CF6BE9}"/>
              </a:ext>
            </a:extLst>
          </p:cNvPr>
          <p:cNvSpPr txBox="1"/>
          <p:nvPr/>
        </p:nvSpPr>
        <p:spPr>
          <a:xfrm>
            <a:off x="535709" y="194055"/>
            <a:ext cx="2358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0D7632-CF59-CBED-E9E6-37EDE2FC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06" y="194055"/>
            <a:ext cx="5754788" cy="616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45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015F-24A6-20C7-48A6-BE2893DC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077AC-52A0-2830-B449-220E5355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0270D7-35A7-367A-3B41-9F1F949947E0}"/>
              </a:ext>
            </a:extLst>
          </p:cNvPr>
          <p:cNvSpPr txBox="1"/>
          <p:nvPr/>
        </p:nvSpPr>
        <p:spPr>
          <a:xfrm>
            <a:off x="468085" y="326572"/>
            <a:ext cx="1822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The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9C11F-D7B7-3C64-23FA-5CCE31F537D3}"/>
              </a:ext>
            </a:extLst>
          </p:cNvPr>
          <p:cNvSpPr txBox="1"/>
          <p:nvPr/>
        </p:nvSpPr>
        <p:spPr>
          <a:xfrm>
            <a:off x="468085" y="901148"/>
            <a:ext cx="272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State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handle(Context context);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F5CA3-AFF5-EA4E-DBE1-FC93AAFDCBDF}"/>
              </a:ext>
            </a:extLst>
          </p:cNvPr>
          <p:cNvSpPr txBox="1"/>
          <p:nvPr/>
        </p:nvSpPr>
        <p:spPr>
          <a:xfrm>
            <a:off x="468085" y="1845056"/>
            <a:ext cx="564770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Context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   // called BY state objects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("Transition: %s → %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newState.getName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this.currentState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request() {                  // called BY clients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currentState.handle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(this);           // pure delegation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E0B4D-8256-3F3B-3588-294D4DA5A689}"/>
              </a:ext>
            </a:extLst>
          </p:cNvPr>
          <p:cNvSpPr txBox="1"/>
          <p:nvPr/>
        </p:nvSpPr>
        <p:spPr>
          <a:xfrm>
            <a:off x="468085" y="4173959"/>
            <a:ext cx="641714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ConcreteStateA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State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handle(Context context)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Executing logic...");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context.setState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ConcreteStateB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   // triggers its own replacement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EEB1-6AD1-8436-14A0-8ED8BEE3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B1CAC-E639-509A-6BC8-3C9D7DB5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533A85-FD36-EA20-5B64-094413C2295A}"/>
              </a:ext>
            </a:extLst>
          </p:cNvPr>
          <p:cNvSpPr txBox="1"/>
          <p:nvPr/>
        </p:nvSpPr>
        <p:spPr>
          <a:xfrm>
            <a:off x="468085" y="326572"/>
            <a:ext cx="3743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Order processing – State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4AD92-CCD1-96F4-5622-8BC171328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665126"/>
            <a:ext cx="7772400" cy="565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79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D5F8-4072-FD79-3D84-C452D10B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0A897-CF1C-9448-AE14-7FC44FCC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B4FC2-66B9-66AE-F875-1AB8EE69E42A}"/>
              </a:ext>
            </a:extLst>
          </p:cNvPr>
          <p:cNvSpPr txBox="1"/>
          <p:nvPr/>
        </p:nvSpPr>
        <p:spPr>
          <a:xfrm>
            <a:off x="468085" y="326572"/>
            <a:ext cx="5806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Order Processing – The state interface and the consumer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2E067-F3B8-EA10-11F9-92FF5CB9DAD6}"/>
              </a:ext>
            </a:extLst>
          </p:cNvPr>
          <p:cNvSpPr txBox="1"/>
          <p:nvPr/>
        </p:nvSpPr>
        <p:spPr>
          <a:xfrm>
            <a:off x="468085" y="2305615"/>
            <a:ext cx="53399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pay(Order order,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process(Order order);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ship(Order order,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deliver(Order order);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cancel(Order order, String reason);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45ADB-52EC-B9F7-CEA4-7036C472A453}"/>
              </a:ext>
            </a:extLst>
          </p:cNvPr>
          <p:cNvSpPr txBox="1"/>
          <p:nvPr/>
        </p:nvSpPr>
        <p:spPr>
          <a:xfrm>
            <a:off x="6274418" y="612843"/>
            <a:ext cx="566693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Order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final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DateTimeFormatter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FMT =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DateTimeFormatter.ofPattern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HH:mm:ss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double      total;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List&lt;String&gt;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Order(String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total)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this.total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= total;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this.currentState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log("Order created — total: $"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String.format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("%.2f", total));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[Order %s] Created. Total: $%.2f  State: %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total,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Operations (delegate to current state) ────────────────────────────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pay(String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currentState.pay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(this,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process()              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currentState.process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(this);       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ship(String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currentState.ship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(this,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deliver()              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currentState.deliver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(this);       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cancel(String reason)  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currentState.cancel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(this, reason);    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State transition (called by state objects) ────────────────────────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this.currentState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Accessors ─────────────────────────────────────────────────────────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{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getTotal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 { return total;         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{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{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showStatus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[Order %s] Status: %-12s  Total: $%.2f  Terminal: %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b%n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currentState.getName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(), total,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874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CB8E-8839-BA23-3F47-FC3C8008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5BC0B-E68C-3855-6B3B-DFDB75F7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983659-112E-44EF-80A7-5D9ACC5E436F}"/>
              </a:ext>
            </a:extLst>
          </p:cNvPr>
          <p:cNvSpPr txBox="1"/>
          <p:nvPr/>
        </p:nvSpPr>
        <p:spPr>
          <a:xfrm>
            <a:off x="468085" y="326572"/>
            <a:ext cx="3688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Order Processing – The states - 1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63CB3-BD67-18B3-1085-3EA73AF9BD93}"/>
              </a:ext>
            </a:extLst>
          </p:cNvPr>
          <p:cNvSpPr txBox="1"/>
          <p:nvPr/>
        </p:nvSpPr>
        <p:spPr>
          <a:xfrm>
            <a:off x="468085" y="942535"/>
            <a:ext cx="450956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pay(Order order,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("Payment received: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("[NEW] Payment accepted: %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paymentRef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cancel(Order order, String reason)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("Cancelled (no charge): " + reason);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("[NEW] Cancelled: %s (no charge)%n", reason);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CancelledState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process(Order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("[NEW] Pay first.");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ship(Order o, String t)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("[NEW] Pay and process first.");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deliver(Order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("[NEW] Not yet shipped.");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{ return "NEW";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{ return false;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94267-4A68-78EB-CD64-03F4B2208B47}"/>
              </a:ext>
            </a:extLst>
          </p:cNvPr>
          <p:cNvSpPr txBox="1"/>
          <p:nvPr/>
        </p:nvSpPr>
        <p:spPr>
          <a:xfrm>
            <a:off x="5588000" y="326572"/>
            <a:ext cx="4083169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CancelledState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pay(Order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("[CANCELLED] Order is cancelled.");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process(Order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("[CANCELLED] Order is cancelled.");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ship(Order o, String t)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("[CANCELLED] Order is cancelled.");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deliver(Order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("[CANCELLED] Order is cancelled.");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cancel(Order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("[CANCELLED] Already cancelled.");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"CANCELLED";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true;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4495B-8DB6-0681-73BC-33FCC8C79B56}"/>
              </a:ext>
            </a:extLst>
          </p:cNvPr>
          <p:cNvSpPr txBox="1"/>
          <p:nvPr/>
        </p:nvSpPr>
        <p:spPr>
          <a:xfrm>
            <a:off x="5588000" y="3341461"/>
            <a:ext cx="4875053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DeliveredState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pay(Order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("[DELIVERED] Order already completed.");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process(Order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("[DELIVERED] Order already completed.");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ship(Order o, String t)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("[DELIVERED] Order already completed.");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deliver(Order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("[DELIVERED] Already delivered.");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cancel(Order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("[DELIVERED] Cannot cancel — already delivered”)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"DELIVERED";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true;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868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8A05-B04F-347A-B268-A1A8E7FB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9ABB4-5706-2852-CCE2-C323B73F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5A2D0-9E2F-C549-2AE8-35870B405E7F}"/>
              </a:ext>
            </a:extLst>
          </p:cNvPr>
          <p:cNvSpPr txBox="1"/>
          <p:nvPr/>
        </p:nvSpPr>
        <p:spPr>
          <a:xfrm>
            <a:off x="468085" y="326572"/>
            <a:ext cx="3688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Order Processing – The states - 2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7542D-B9AE-50D5-6FB9-E94618C72320}"/>
              </a:ext>
            </a:extLst>
          </p:cNvPr>
          <p:cNvSpPr txBox="1"/>
          <p:nvPr/>
        </p:nvSpPr>
        <p:spPr>
          <a:xfrm>
            <a:off x="468085" y="965200"/>
            <a:ext cx="487505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process(Order order)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("Order entered processing/fulfilment queue");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("[PAID] Order queued for processing/fulfilment.");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ProcessingState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cancel(Order order, String reason)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("Cancelled (refund issued): " + reason);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("[PAID] Cancelled: %s  (refund: $%.2f)%n",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reason,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order.getTotal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CancelledState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pay(Order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("[PAID] Already paid.");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ship(Order o, String t)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("[PAID] Process order first.");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deliver(Order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("[PAID] Not yet shipped.");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"PAID";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return false;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FD7C6-79AE-58C3-44F5-D0944D2AAEAF}"/>
              </a:ext>
            </a:extLst>
          </p:cNvPr>
          <p:cNvSpPr txBox="1"/>
          <p:nvPr/>
        </p:nvSpPr>
        <p:spPr>
          <a:xfrm>
            <a:off x="5343138" y="2506612"/>
            <a:ext cx="554510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ProcessingState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ship(Order order,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("Shipped — tracking: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  [PROCESSING]  Shipped. Tracking: %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cancel(Order order, String reason)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("[PROCESSING]  Cannot cancel — items already being packed.");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pay(Order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("[PROCESSING]  Already paid.");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process(Order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("[PROCESSING]  Already processing.");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deliver(Order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("[PROCESSING]  Not yet shipped.");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{ return "PROCESSING";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{ return false;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945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6314-4D07-BE4A-2CFA-52344BC6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923BE-528A-F1B3-C67B-37A9E9EE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714AE-5BCC-7A48-0F68-1E2E1F2BF579}"/>
              </a:ext>
            </a:extLst>
          </p:cNvPr>
          <p:cNvSpPr txBox="1"/>
          <p:nvPr/>
        </p:nvSpPr>
        <p:spPr>
          <a:xfrm>
            <a:off x="468085" y="326572"/>
            <a:ext cx="491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State – Order Processing – The states – 3 - Application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5FF98-708B-4164-C537-9FF1A1EEFE00}"/>
              </a:ext>
            </a:extLst>
          </p:cNvPr>
          <p:cNvSpPr txBox="1"/>
          <p:nvPr/>
        </p:nvSpPr>
        <p:spPr>
          <a:xfrm>
            <a:off x="468085" y="1066800"/>
            <a:ext cx="432682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deliver(Order order)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order.log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("Delivered. Tracking was: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[SHIPPED] Delivered! (was tracking: %s)%n",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trackingCode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order.setState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DeliveredState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cancel(Order order, String reason)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[SHIPPED] Cannot cancel — package is in transit.");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pay(Order o, String r)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("[SHIPPED]     Already paid.");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process(Order o)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("[SHIPPED]     Already processed.");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ship(Order o, String t)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("[SHIPPED]     Already shipped.”);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  { return "SHIPPED";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{ return false;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70690-FB63-97CB-FDF3-2FFF344348CB}"/>
              </a:ext>
            </a:extLst>
          </p:cNvPr>
          <p:cNvSpPr txBox="1"/>
          <p:nvPr/>
        </p:nvSpPr>
        <p:spPr>
          <a:xfrm>
            <a:off x="6096000" y="534498"/>
            <a:ext cx="499688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OrderDemo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Scenario 1: Happy path ─────────────────────────────────────────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("Scenario 1: Happy path — full lifecycle");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Order o1 = new Order("ORD-001", 149.99);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o1.pay("PAY-REF-ABC123");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o1.process();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o1.ship("DHL-9876543210");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o1.deliver();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o1.showStatus();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o1.printAuditLog();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Scenario 2: Cancelled before payment ──────────────────────────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("Scenario 2: Cancel before payment (no charge)");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Order o2 = new Order("ORD-002", 59.90);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o2.cancel("Customer changed mind");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o2.pay("PAY-LATE");   // rejected — already cancelled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o2.showStatus();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Scenario 3: Cancelled after payment ───────────────────────────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("Scenario 3: Cancel after payment (refund issued)");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Order o3 = new Order("ORD-003", 299.00);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o3.pay("PAY-REF-XYZ789");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o3.cancel("Item out of stock");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o3.showStatus();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Scenario 4: Attempt invalid operations ─────────────────────────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("Scenario 4: Invalid operation attempts");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Order o4 = new Order("ORD-004", 75.00);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o4.ship("EARLY-SHIP");     // rejected — not paid yet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o4.pay("PAY-OK");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o4.ship("EARLY-SHIP-2");   // rejected — not processed yet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o4.process();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o4.cancel("Too late?");    // rejected — already processing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o4.ship("UPS-555");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o4.cancel("In transit");   // rejected — already shipped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o4.deliver();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o4.cancel("After delivery"); // rejected — terminal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o4.showStatus();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019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9337-C19C-84F8-10C4-A920902C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D3985-ECAB-19D1-CB1D-F36DBA83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E6301-1964-B6F8-BA62-C08C67D9AE6B}"/>
              </a:ext>
            </a:extLst>
          </p:cNvPr>
          <p:cNvSpPr txBox="1"/>
          <p:nvPr/>
        </p:nvSpPr>
        <p:spPr>
          <a:xfrm>
            <a:off x="6644096" y="3105833"/>
            <a:ext cx="3907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State – Traffic Light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D7233-C6CE-F725-2308-32E8BEBA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96" y="507999"/>
            <a:ext cx="4427057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38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E11A-6F98-108B-1924-D0011930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9DB1E-7B38-68B9-0528-363C98B3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30A87-8442-D1BA-8C7B-38803E70CC9B}"/>
              </a:ext>
            </a:extLst>
          </p:cNvPr>
          <p:cNvSpPr txBox="1"/>
          <p:nvPr/>
        </p:nvSpPr>
        <p:spPr>
          <a:xfrm>
            <a:off x="535709" y="194055"/>
            <a:ext cx="230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2B7D3-BA0E-6FE2-AFB1-5F7BD16248CC}"/>
              </a:ext>
            </a:extLst>
          </p:cNvPr>
          <p:cNvSpPr txBox="1"/>
          <p:nvPr/>
        </p:nvSpPr>
        <p:spPr>
          <a:xfrm>
            <a:off x="437322" y="914400"/>
            <a:ext cx="104029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Encapsulates state-specific behavior</a:t>
            </a:r>
            <a:r>
              <a:rPr lang="en-US" dirty="0"/>
              <a:t>: each state's logic lives in one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Makes states and transitions explicit</a:t>
            </a:r>
            <a:r>
              <a:rPr lang="en-US" dirty="0"/>
              <a:t>: the set of states is the set of concrete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States are substitutable objects</a:t>
            </a:r>
            <a:r>
              <a:rPr lang="en-US" dirty="0"/>
              <a:t>: think about testing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Easy to extend</a:t>
            </a:r>
            <a:r>
              <a:rPr lang="en-US" dirty="0"/>
              <a:t>: adding a state = adding one class, no need to touch other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Avoids a huge conditional object</a:t>
            </a:r>
            <a:r>
              <a:rPr lang="en-US" dirty="0"/>
              <a:t>: the alternative — one class with a state field and giant conditionals — grows quadratically with the number of states ×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Many small classes</a:t>
            </a:r>
            <a:r>
              <a:rPr lang="en-US" dirty="0"/>
              <a:t>: A 5-state machine means 5+ classes plus interface/context; for trivially simple state logic this can feel like overkill (rule of thumb: use State when behavior </a:t>
            </a:r>
            <a:r>
              <a:rPr lang="en-US" i="1" dirty="0"/>
              <a:t>differs</a:t>
            </a:r>
            <a:r>
              <a:rPr lang="en-US" dirty="0"/>
              <a:t> per state, not merely the 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Coupling risk</a:t>
            </a:r>
            <a:r>
              <a:rPr lang="en-US" dirty="0"/>
              <a:t>: if states hold context references - circular dependencies and harder reuse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data access</a:t>
            </a:r>
            <a:r>
              <a:rPr lang="en-US" dirty="0"/>
              <a:t>: passing everything as parameters can make state method signatures bloated</a:t>
            </a:r>
          </a:p>
        </p:txBody>
      </p:sp>
    </p:spTree>
    <p:extLst>
      <p:ext uri="{BB962C8B-B14F-4D97-AF65-F5344CB8AC3E}">
        <p14:creationId xmlns:p14="http://schemas.microsoft.com/office/powerpoint/2010/main" val="70250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9391-D2F9-BE40-CAE6-FF0860A6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44A50-4F8E-2DC8-4BDD-229BC8B6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C008B-1096-2FEC-9B63-979AD11C3BFC}"/>
              </a:ext>
            </a:extLst>
          </p:cNvPr>
          <p:cNvSpPr txBox="1"/>
          <p:nvPr/>
        </p:nvSpPr>
        <p:spPr>
          <a:xfrm>
            <a:off x="535709" y="194055"/>
            <a:ext cx="200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Strategy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E1CA7-570C-F4F1-8BA3-212BABE9D8BA}"/>
              </a:ext>
            </a:extLst>
          </p:cNvPr>
          <p:cNvSpPr txBox="1"/>
          <p:nvPr/>
        </p:nvSpPr>
        <p:spPr>
          <a:xfrm>
            <a:off x="535709" y="755374"/>
            <a:ext cx="1125872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a </a:t>
            </a:r>
            <a:r>
              <a:rPr lang="en-US" i="1" dirty="0" err="1"/>
              <a:t>TextFormatter</a:t>
            </a:r>
            <a:r>
              <a:rPr lang="en-US" dirty="0"/>
              <a:t> must support left, center, and right alignment:</a:t>
            </a:r>
          </a:p>
          <a:p>
            <a:endParaRPr lang="en-US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String format(String text, int width)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switch (alignment) {                 // alignment is an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or int field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LEFT:  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padRight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(text, width);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CENTER: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padBoth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(text, width);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RIGHT:  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padLeft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(text, width);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  <a:p>
            <a:r>
              <a:rPr lang="en-US" dirty="0"/>
              <a:t>Problems with this approach: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Combinatorial explosion</a:t>
            </a:r>
            <a:r>
              <a:rPr lang="en-US" dirty="0"/>
              <a:t>: if the class also varies by another dimension (e.g., font style), every combination needs its own subclass or a nested conditional — the classic "class explosion" warning from </a:t>
            </a:r>
            <a:r>
              <a:rPr lang="en-US" dirty="0" err="1"/>
              <a:t>GoF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Closed for extension</a:t>
            </a:r>
            <a:r>
              <a:rPr lang="en-US" dirty="0"/>
              <a:t>: adding a new algorithm (justified alignment, quicksort, loyalty discount) requires </a:t>
            </a:r>
            <a:r>
              <a:rPr lang="en-US" i="1" dirty="0"/>
              <a:t>modifying</a:t>
            </a:r>
            <a:r>
              <a:rPr lang="en-US" dirty="0"/>
              <a:t> existing code — a violation of the Open/Closed Principle.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Testing difficulty</a:t>
            </a:r>
            <a:r>
              <a:rPr lang="en-US" dirty="0"/>
              <a:t>: all branches live in one class; each branch must be tested through the whole class.</a:t>
            </a:r>
          </a:p>
          <a:p>
            <a:endParaRPr lang="en-US" dirty="0"/>
          </a:p>
          <a:p>
            <a:r>
              <a:rPr lang="en-US" dirty="0"/>
              <a:t>Solution: extract the varying behavior into its own hierarchy of classes that share a common interface. The original class (the </a:t>
            </a:r>
            <a:r>
              <a:rPr lang="en-US" i="1" dirty="0"/>
              <a:t>Context</a:t>
            </a:r>
            <a:r>
              <a:rPr lang="en-US" dirty="0"/>
              <a:t>) keeps a reference to that interface and delegates to it. The algorithm can now vary independently of the Context and of the client.</a:t>
            </a:r>
          </a:p>
        </p:txBody>
      </p:sp>
    </p:spTree>
    <p:extLst>
      <p:ext uri="{BB962C8B-B14F-4D97-AF65-F5344CB8AC3E}">
        <p14:creationId xmlns:p14="http://schemas.microsoft.com/office/powerpoint/2010/main" val="146212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35E1-4628-FF29-E04D-7035727F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DE5F5-1D4F-5A36-8429-81F6258C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B1F71-CDB6-736C-77B7-23FE9F1CE9B3}"/>
              </a:ext>
            </a:extLst>
          </p:cNvPr>
          <p:cNvSpPr txBox="1"/>
          <p:nvPr/>
        </p:nvSpPr>
        <p:spPr>
          <a:xfrm>
            <a:off x="535709" y="194055"/>
            <a:ext cx="99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EF634-84B1-EE3F-16B2-399023994938}"/>
              </a:ext>
            </a:extLst>
          </p:cNvPr>
          <p:cNvSpPr txBox="1"/>
          <p:nvPr/>
        </p:nvSpPr>
        <p:spPr>
          <a:xfrm>
            <a:off x="535709" y="967409"/>
            <a:ext cx="667836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have a family of interchangeable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algorithm must be swappable at runtime (testing too)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algorithms will be added without modifying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only two (or three) options and they will never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"algorithms" are really just parameter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strategies share heavy mutable state with the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Selecting the strategy is itself complex and context-dependent</a:t>
            </a:r>
          </a:p>
        </p:txBody>
      </p:sp>
    </p:spTree>
    <p:extLst>
      <p:ext uri="{BB962C8B-B14F-4D97-AF65-F5344CB8AC3E}">
        <p14:creationId xmlns:p14="http://schemas.microsoft.com/office/powerpoint/2010/main" val="269644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E4E8-6BA3-0A95-977A-561B2C78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EE995-F6B6-B8BC-44E1-E442BD49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29B65-E532-1C25-C223-40E2BACED03B}"/>
              </a:ext>
            </a:extLst>
          </p:cNvPr>
          <p:cNvSpPr txBox="1"/>
          <p:nvPr/>
        </p:nvSpPr>
        <p:spPr>
          <a:xfrm>
            <a:off x="535709" y="194055"/>
            <a:ext cx="2648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Strategy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E1212-5E9A-90B8-EAD7-5B7886E9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27" y="649580"/>
            <a:ext cx="8021145" cy="555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19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11B1-22D8-7E97-F679-94A4971F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DA876-20D1-8126-2398-F83BE8EA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C220C-318E-5F74-F85D-68782B22C45D}"/>
              </a:ext>
            </a:extLst>
          </p:cNvPr>
          <p:cNvSpPr txBox="1"/>
          <p:nvPr/>
        </p:nvSpPr>
        <p:spPr>
          <a:xfrm>
            <a:off x="468085" y="326572"/>
            <a:ext cx="515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Strategy – Payment system – Interface and implementers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DFE95-83BA-C958-61F1-C91947108456}"/>
              </a:ext>
            </a:extLst>
          </p:cNvPr>
          <p:cNvSpPr txBox="1"/>
          <p:nvPr/>
        </p:nvSpPr>
        <p:spPr>
          <a:xfrm>
            <a:off x="468085" y="900545"/>
            <a:ext cx="47724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pay(double amount, String currency);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C14A0-E522-5341-9975-ADABA1E6EDCE}"/>
              </a:ext>
            </a:extLst>
          </p:cNvPr>
          <p:cNvSpPr txBox="1"/>
          <p:nvPr/>
        </p:nvSpPr>
        <p:spPr>
          <a:xfrm>
            <a:off x="468085" y="1736128"/>
            <a:ext cx="5876930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BankTransferPayment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accountHolder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BankTransferPayment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accountHolder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pay(double amount, String currency)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… 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BEBDD-B4EC-5FC6-0607-9D449D816684}"/>
              </a:ext>
            </a:extLst>
          </p:cNvPr>
          <p:cNvSpPr txBox="1"/>
          <p:nvPr/>
        </p:nvSpPr>
        <p:spPr>
          <a:xfrm>
            <a:off x="5902036" y="3552147"/>
            <a:ext cx="4942379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BitcoinPayment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walletAddress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BitcoinPayment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walletAddress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pay(double amount, String currency)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89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A793-31D0-B6FA-1FD6-7CC7A817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48FBD-DDAC-BB8C-32EF-4313CC9E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D3BF4-F5ED-8A21-8580-EE934C1D73CC}"/>
              </a:ext>
            </a:extLst>
          </p:cNvPr>
          <p:cNvSpPr txBox="1"/>
          <p:nvPr/>
        </p:nvSpPr>
        <p:spPr>
          <a:xfrm>
            <a:off x="468085" y="326572"/>
            <a:ext cx="3718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Strategy – Payment system – 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AD13E-F74F-2759-7748-47E2A771929F}"/>
              </a:ext>
            </a:extLst>
          </p:cNvPr>
          <p:cNvSpPr txBox="1"/>
          <p:nvPr/>
        </p:nvSpPr>
        <p:spPr>
          <a:xfrm>
            <a:off x="5818908" y="3819820"/>
            <a:ext cx="5791970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PaymentDemo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processor = new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new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BitcoinPayment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(”…"));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processor.processPayment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(299.00);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processor.setStrategy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BankTransferPayment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("Alice Mueller GmbH",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"DE89370400440532013000", "COBADEFFXXX"));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processor.processPayment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(4_750.00);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D3E31-91B0-D5BE-C17E-BB9E62A632C5}"/>
              </a:ext>
            </a:extLst>
          </p:cNvPr>
          <p:cNvSpPr txBox="1"/>
          <p:nvPr/>
        </p:nvSpPr>
        <p:spPr>
          <a:xfrm>
            <a:off x="468085" y="942109"/>
            <a:ext cx="511229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strategy;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strategy, …)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= strategy;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this.defaultCurrency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currency;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strategy)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this.strategy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strategy;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amount)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(amount,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defaultCurrency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amount, String currency) {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ok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strategy.pay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(amount, currency);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(ok)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ok;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65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7858-C1C8-707E-4BFA-0FECE52A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764A3-FA9D-9684-C8B2-86A1E817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847C6-C919-FC0F-8789-AC5821850F50}"/>
              </a:ext>
            </a:extLst>
          </p:cNvPr>
          <p:cNvSpPr txBox="1"/>
          <p:nvPr/>
        </p:nvSpPr>
        <p:spPr>
          <a:xfrm>
            <a:off x="4288998" y="3105834"/>
            <a:ext cx="3614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Strategy – Sorting</a:t>
            </a:r>
          </a:p>
        </p:txBody>
      </p:sp>
    </p:spTree>
    <p:extLst>
      <p:ext uri="{BB962C8B-B14F-4D97-AF65-F5344CB8AC3E}">
        <p14:creationId xmlns:p14="http://schemas.microsoft.com/office/powerpoint/2010/main" val="845769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DF2A-52F3-CB52-3DEA-46F2C358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78169-303B-73F8-F605-0AC2CB4A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40EFE-B415-8D5E-7218-D44F131C00F7}"/>
              </a:ext>
            </a:extLst>
          </p:cNvPr>
          <p:cNvSpPr txBox="1"/>
          <p:nvPr/>
        </p:nvSpPr>
        <p:spPr>
          <a:xfrm>
            <a:off x="535709" y="194055"/>
            <a:ext cx="259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Strategy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49E20-50DD-98DA-8966-83A85BC1A0AF}"/>
              </a:ext>
            </a:extLst>
          </p:cNvPr>
          <p:cNvSpPr txBox="1"/>
          <p:nvPr/>
        </p:nvSpPr>
        <p:spPr>
          <a:xfrm>
            <a:off x="437322" y="914400"/>
            <a:ext cx="104029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Runtime flexibility</a:t>
            </a:r>
            <a:r>
              <a:rPr lang="en-US" dirty="0"/>
              <a:t>: the algorithm can be changed at runtime (if the Context exposes a setter) without recompiling or modifying the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conditional branching</a:t>
            </a:r>
            <a:r>
              <a:rPr lang="en-US" dirty="0"/>
              <a:t>: each strategy is a self-contained class — easy to unit-test in isolation.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Reuse across levels</a:t>
            </a:r>
            <a:r>
              <a:rPr lang="en-US" dirty="0"/>
              <a:t>: the same operation interface can be implemented at different levels of detail.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State-based alternative</a:t>
            </a:r>
            <a:r>
              <a:rPr lang="en-US" dirty="0"/>
              <a:t>: instead of passing data from Context to Strategy, the Context can pass </a:t>
            </a:r>
            <a:r>
              <a:rPr lang="en-US" i="1" dirty="0"/>
              <a:t>itself</a:t>
            </a:r>
            <a:r>
              <a:rPr lang="en-US" dirty="0"/>
              <a:t> to the strategy, letting strategies share state through callbacks.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client must know which </a:t>
            </a:r>
            <a:r>
              <a:rPr lang="en-US" i="1" dirty="0" err="1"/>
              <a:t>ConcreteStrategy</a:t>
            </a:r>
            <a:r>
              <a:rPr lang="en-US" dirty="0"/>
              <a:t> to instantiate — knowledge of the concrete classes is required somewhere (often in a factory or config).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objects than an </a:t>
            </a:r>
            <a:r>
              <a:rPr lang="en-US" i="1" dirty="0"/>
              <a:t>if/else</a:t>
            </a:r>
            <a:r>
              <a:rPr lang="en-US" dirty="0"/>
              <a:t> chain (mitigated by reusing singletons for stateless strategies, or by lazy creation).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Communication between Context and Strategy can be awkward when the algorithm needs many pieces of context data (long parameter lists, or giving the strategy a back-reference to the Context).</a:t>
            </a:r>
          </a:p>
        </p:txBody>
      </p:sp>
    </p:spTree>
    <p:extLst>
      <p:ext uri="{BB962C8B-B14F-4D97-AF65-F5344CB8AC3E}">
        <p14:creationId xmlns:p14="http://schemas.microsoft.com/office/powerpoint/2010/main" val="46748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D688-6AD6-EF41-FF97-4ED4A4A34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6E1CF-FECD-FDDE-DA74-4A3555F3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37982-E824-3CF3-BF2E-B07C5D3B98C6}"/>
              </a:ext>
            </a:extLst>
          </p:cNvPr>
          <p:cNvSpPr txBox="1"/>
          <p:nvPr/>
        </p:nvSpPr>
        <p:spPr>
          <a:xfrm>
            <a:off x="535709" y="194055"/>
            <a:ext cx="2256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9F6A9-98FD-3967-6D9C-34D764322617}"/>
              </a:ext>
            </a:extLst>
          </p:cNvPr>
          <p:cNvSpPr txBox="1"/>
          <p:nvPr/>
        </p:nvSpPr>
        <p:spPr>
          <a:xfrm>
            <a:off x="535709" y="887896"/>
            <a:ext cx="111394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assume we’re developing UI actions for our widgets.</a:t>
            </a:r>
          </a:p>
          <a:p>
            <a:endParaRPr lang="en-US" dirty="0"/>
          </a:p>
          <a:p>
            <a:r>
              <a:rPr lang="en-US" dirty="0"/>
              <a:t>Without the pattern, a UI button (or any </a:t>
            </a:r>
            <a:r>
              <a:rPr lang="en-US" i="1" dirty="0"/>
              <a:t>sender</a:t>
            </a:r>
            <a:r>
              <a:rPr lang="en-US" dirty="0"/>
              <a:t>) is hard-wired to a concrete service class: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sender</a:t>
            </a:r>
            <a:r>
              <a:rPr lang="en-US" dirty="0"/>
              <a:t> (button, menu entry, event handler) must know the </a:t>
            </a:r>
            <a:r>
              <a:rPr lang="en-US" i="1" dirty="0"/>
              <a:t>receiver's</a:t>
            </a:r>
            <a:r>
              <a:rPr lang="en-US" dirty="0"/>
              <a:t> concrete type → tight coupling.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cannot change </a:t>
            </a:r>
            <a:r>
              <a:rPr lang="en-US" i="1" dirty="0"/>
              <a:t>what</a:t>
            </a:r>
            <a:r>
              <a:rPr lang="en-US" dirty="0"/>
              <a:t> a button does without changing the button's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cannot queue, batch, log, or reverse requests, because a request is just a method call — it has no identity in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Solution: introduce an intermediate object that </a:t>
            </a:r>
            <a:r>
              <a:rPr lang="en-US" b="1" dirty="0"/>
              <a:t>represents</a:t>
            </a:r>
            <a:r>
              <a:rPr lang="en-US" dirty="0"/>
              <a:t> the request. The sender only knows the abstract </a:t>
            </a:r>
            <a:r>
              <a:rPr lang="en-US" i="1" dirty="0"/>
              <a:t>Command</a:t>
            </a:r>
            <a:r>
              <a:rPr lang="en-US" dirty="0"/>
              <a:t> type; the receiver only knows how to do its job; and the concrete command is the small adapter that binds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153307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8C9C-9CB3-D25C-606C-5ADE94A5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110E9-96CA-9F5B-2960-6CBF7086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704E3-7483-EDF4-A829-C9606AFFD258}"/>
              </a:ext>
            </a:extLst>
          </p:cNvPr>
          <p:cNvSpPr txBox="1"/>
          <p:nvPr/>
        </p:nvSpPr>
        <p:spPr>
          <a:xfrm>
            <a:off x="535709" y="194055"/>
            <a:ext cx="204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D975B-FB3B-D062-3B63-B51A04F8EA03}"/>
              </a:ext>
            </a:extLst>
          </p:cNvPr>
          <p:cNvSpPr txBox="1"/>
          <p:nvPr/>
        </p:nvSpPr>
        <p:spPr>
          <a:xfrm>
            <a:off x="535709" y="954157"/>
            <a:ext cx="1133040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Decoupling Requester from Executor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Undo / Redo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Queuing, Logging, or Deferred Execution, or Transactional / Composite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parameterize with different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call is simple and direct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need for Undo, Queuing, Logging, or Deferred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actually need Strategy, not Command – in Command the invocation lifecycle matters (queue, undo, log), in</a:t>
            </a:r>
            <a:br>
              <a:rPr lang="en-US" dirty="0"/>
            </a:br>
            <a:r>
              <a:rPr lang="en-US" dirty="0"/>
              <a:t>Strategy the computation itself matters (different algorithms for the same problem)</a:t>
            </a:r>
          </a:p>
        </p:txBody>
      </p:sp>
    </p:spTree>
    <p:extLst>
      <p:ext uri="{BB962C8B-B14F-4D97-AF65-F5344CB8AC3E}">
        <p14:creationId xmlns:p14="http://schemas.microsoft.com/office/powerpoint/2010/main" val="184274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8DFF-631F-2B3D-A902-D3417F62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AAAD3-EB2A-7009-3071-F1507E2A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611A0-A852-AB3F-C30E-E1F457ACBD87}"/>
              </a:ext>
            </a:extLst>
          </p:cNvPr>
          <p:cNvSpPr txBox="1"/>
          <p:nvPr/>
        </p:nvSpPr>
        <p:spPr>
          <a:xfrm>
            <a:off x="535709" y="194055"/>
            <a:ext cx="289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3AB64D-A45D-FDD9-CC2D-E2977D55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583" y="371186"/>
            <a:ext cx="2794834" cy="59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63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244D-09FA-5F6A-11D7-0657C5F6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B7E39-FAEE-E1C6-1B82-5D8AB685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93E7D-809A-1DC1-5FA8-41E442F773D2}"/>
              </a:ext>
            </a:extLst>
          </p:cNvPr>
          <p:cNvSpPr txBox="1"/>
          <p:nvPr/>
        </p:nvSpPr>
        <p:spPr>
          <a:xfrm>
            <a:off x="468085" y="326572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 – Base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85CBF-104A-B3D2-8C69-539E1E6A94F4}"/>
              </a:ext>
            </a:extLst>
          </p:cNvPr>
          <p:cNvSpPr txBox="1"/>
          <p:nvPr/>
        </p:nvSpPr>
        <p:spPr>
          <a:xfrm>
            <a:off x="468085" y="830317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Command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execute();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undo(); // optional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F1BFE-DAB1-AD3C-18B5-4525F44F8286}"/>
              </a:ext>
            </a:extLst>
          </p:cNvPr>
          <p:cNvSpPr txBox="1"/>
          <p:nvPr/>
        </p:nvSpPr>
        <p:spPr>
          <a:xfrm>
            <a:off x="468085" y="1703394"/>
            <a:ext cx="51090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Receiver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details)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("[Receiver]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— %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 details);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D699B-CED6-D29B-D6EB-E889C7FDE732}"/>
              </a:ext>
            </a:extLst>
          </p:cNvPr>
          <p:cNvSpPr txBox="1"/>
          <p:nvPr/>
        </p:nvSpPr>
        <p:spPr>
          <a:xfrm>
            <a:off x="468085" y="3486812"/>
            <a:ext cx="62632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Receiver receiver;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  params;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(Receiver receiver, String params)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this.receiver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receiver;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this.params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= params;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execute() {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receiver.actionA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(params);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void undo()    {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receiver.actionB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("reverse: " + params);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A5FAE8-7839-9A69-790D-E80EF7154FF2}"/>
              </a:ext>
            </a:extLst>
          </p:cNvPr>
          <p:cNvSpPr txBox="1"/>
          <p:nvPr/>
        </p:nvSpPr>
        <p:spPr>
          <a:xfrm>
            <a:off x="6731338" y="326572"/>
            <a:ext cx="50321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Invoker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Command command;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(Command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press()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("[Invoker] triggered");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command.execute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 // no knowledge of Receiver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5AEDB-9660-2795-A761-2AA05FD9567D}"/>
              </a:ext>
            </a:extLst>
          </p:cNvPr>
          <p:cNvSpPr txBox="1"/>
          <p:nvPr/>
        </p:nvSpPr>
        <p:spPr>
          <a:xfrm>
            <a:off x="6731338" y="2413337"/>
            <a:ext cx="47243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Receiver receiver = new Receiver();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Command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(receiver, "start");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Invoker invoker = new Invoker();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invoker.setCommand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invoker.press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8830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BC050-E295-E4FF-A888-3B6A811C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5A468-38F9-68A5-96A3-E955E09C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095A5-04C4-EE02-456D-620FBA9B6872}"/>
              </a:ext>
            </a:extLst>
          </p:cNvPr>
          <p:cNvSpPr txBox="1"/>
          <p:nvPr/>
        </p:nvSpPr>
        <p:spPr>
          <a:xfrm>
            <a:off x="468085" y="326572"/>
            <a:ext cx="4110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 – Light – Receiver and commands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C6F47-C039-362E-0974-6E4B4733376E}"/>
              </a:ext>
            </a:extLst>
          </p:cNvPr>
          <p:cNvSpPr txBox="1"/>
          <p:nvPr/>
        </p:nvSpPr>
        <p:spPr>
          <a:xfrm>
            <a:off x="468085" y="887895"/>
            <a:ext cx="418255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Light { // THE RECEIVER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on = false;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true;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("Light is ON");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false;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("Light is OFF");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A2902-A7A4-5790-FC72-5B6EA5ED3928}"/>
              </a:ext>
            </a:extLst>
          </p:cNvPr>
          <p:cNvSpPr txBox="1"/>
          <p:nvPr/>
        </p:nvSpPr>
        <p:spPr>
          <a:xfrm>
            <a:off x="6096000" y="332091"/>
            <a:ext cx="567014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Light light;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 light)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this.light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light;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execute()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light.turnOn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undo()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light.turnOff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// the opposite of "on" is "off"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ABAF7-A76E-A302-FD65-28ADC5800EE3}"/>
              </a:ext>
            </a:extLst>
          </p:cNvPr>
          <p:cNvSpPr txBox="1"/>
          <p:nvPr/>
        </p:nvSpPr>
        <p:spPr>
          <a:xfrm>
            <a:off x="6096000" y="3314835"/>
            <a:ext cx="539121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TurnOffCommand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Light light;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TurnOffCommand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 light)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this.light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light;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execute()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light.turnOff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undo()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light.turnOn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// the opposite of "off" is "on"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18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4201-1663-154C-6594-DBD6F939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FFE64-9B02-18B3-A7D4-3D7EACA1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CC1C62-8C69-66FA-D7BE-E70CEFB0B06E}"/>
              </a:ext>
            </a:extLst>
          </p:cNvPr>
          <p:cNvSpPr txBox="1"/>
          <p:nvPr/>
        </p:nvSpPr>
        <p:spPr>
          <a:xfrm>
            <a:off x="468085" y="326572"/>
            <a:ext cx="34247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 – Light – Macro command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8B63C-F63C-7F6E-0853-506F89DE8041}"/>
              </a:ext>
            </a:extLst>
          </p:cNvPr>
          <p:cNvSpPr txBox="1"/>
          <p:nvPr/>
        </p:nvSpPr>
        <p:spPr>
          <a:xfrm>
            <a:off x="468085" y="1007165"/>
            <a:ext cx="619913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MacroCommand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Command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Command[] commands;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MacroCommand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(Command... commands)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this.commands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commands;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execute()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(Command c : commands)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c.execute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undo()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undo in REVERSE order, like a stack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commands.length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commands[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].undo();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39AC6-E040-A224-EEF0-0A6F07C5DA49}"/>
              </a:ext>
            </a:extLst>
          </p:cNvPr>
          <p:cNvSpPr txBox="1"/>
          <p:nvPr/>
        </p:nvSpPr>
        <p:spPr>
          <a:xfrm>
            <a:off x="7686260" y="2838435"/>
            <a:ext cx="2701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DPs do this recall?</a:t>
            </a:r>
          </a:p>
        </p:txBody>
      </p:sp>
    </p:spTree>
    <p:extLst>
      <p:ext uri="{BB962C8B-B14F-4D97-AF65-F5344CB8AC3E}">
        <p14:creationId xmlns:p14="http://schemas.microsoft.com/office/powerpoint/2010/main" val="209322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E9B5-ACF4-AA77-44F6-CDF946EB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A5F5B-BD84-6A30-8E1E-2BC87AEF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955B2-E116-9F0F-FA07-5389B6C35B98}"/>
              </a:ext>
            </a:extLst>
          </p:cNvPr>
          <p:cNvSpPr txBox="1"/>
          <p:nvPr/>
        </p:nvSpPr>
        <p:spPr>
          <a:xfrm>
            <a:off x="468085" y="326572"/>
            <a:ext cx="3515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 – Light – Invoker and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12475-A9FA-18BA-406B-CD5FCC2B8C84}"/>
              </a:ext>
            </a:extLst>
          </p:cNvPr>
          <p:cNvSpPr txBox="1"/>
          <p:nvPr/>
        </p:nvSpPr>
        <p:spPr>
          <a:xfrm>
            <a:off x="468085" y="980661"/>
            <a:ext cx="50193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 // THE INVOKER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Command slot; // one button = one slot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(Command c)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this.slot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c;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pressButton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slot.execute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pressUndo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slot.undo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1C484-DFED-E6E6-2FE6-A487A4815FE6}"/>
              </a:ext>
            </a:extLst>
          </p:cNvPr>
          <p:cNvSpPr txBox="1"/>
          <p:nvPr/>
        </p:nvSpPr>
        <p:spPr>
          <a:xfrm>
            <a:off x="5487408" y="665126"/>
            <a:ext cx="65069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Light light = new Light();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--- Basic usage: one button, one command 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remote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remote.setCommand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remote.pressButton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// -&gt; Light is 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remote.pressUndo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 // -&gt; Light is OFF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("-----");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--- Macro usage: ONE button does SEVERAL things 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“turn off, turn on, then turn off, then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turn on again” as a single action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Command macro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MacroCommand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TurnOffCommand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TurnOffCommand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TurnOnCommand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(light)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remote.setCommand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(macro);  // the button now holds the macro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remote.pressButton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// runs all four in order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remote.pressUndo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 // undoes all four, in reverse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639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1172-57BB-564E-C8D4-C5C57122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F2789-DAF7-5DDE-F03A-FA86A74B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F1A9E-443C-FA44-677A-0A0DC6453669}"/>
              </a:ext>
            </a:extLst>
          </p:cNvPr>
          <p:cNvSpPr txBox="1"/>
          <p:nvPr/>
        </p:nvSpPr>
        <p:spPr>
          <a:xfrm>
            <a:off x="3731410" y="3105834"/>
            <a:ext cx="4729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Command – Job queue</a:t>
            </a:r>
          </a:p>
        </p:txBody>
      </p:sp>
    </p:spTree>
    <p:extLst>
      <p:ext uri="{BB962C8B-B14F-4D97-AF65-F5344CB8AC3E}">
        <p14:creationId xmlns:p14="http://schemas.microsoft.com/office/powerpoint/2010/main" val="4164796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F9CC-1168-A95A-192A-436E684E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30B69-82D5-7C5A-7827-BC696536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4541B-DC66-5295-72F8-BB2B91E1160F}"/>
              </a:ext>
            </a:extLst>
          </p:cNvPr>
          <p:cNvSpPr txBox="1"/>
          <p:nvPr/>
        </p:nvSpPr>
        <p:spPr>
          <a:xfrm>
            <a:off x="535709" y="194055"/>
            <a:ext cx="2848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39688-2386-78EA-7E7B-3B08694421B4}"/>
              </a:ext>
            </a:extLst>
          </p:cNvPr>
          <p:cNvSpPr txBox="1"/>
          <p:nvPr/>
        </p:nvSpPr>
        <p:spPr>
          <a:xfrm>
            <a:off x="535709" y="724039"/>
            <a:ext cx="108081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Decoupling of sender and receiver</a:t>
            </a:r>
            <a:r>
              <a:rPr lang="en-US" dirty="0"/>
              <a:t>: the invoker depends only on the </a:t>
            </a:r>
            <a:r>
              <a:rPr lang="en-US" i="1" dirty="0"/>
              <a:t>Command</a:t>
            </a:r>
            <a:r>
              <a:rPr lang="en-US" dirty="0"/>
              <a:t> interface; the receiver never hears about the invoker. Either side can evolve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Parameterizing clients with requests</a:t>
            </a:r>
            <a:r>
              <a:rPr lang="en-US" dirty="0"/>
              <a:t>: a UI slot holds a </a:t>
            </a:r>
            <a:r>
              <a:rPr lang="en-US" i="1" dirty="0"/>
              <a:t>Command</a:t>
            </a:r>
            <a:r>
              <a:rPr lang="en-US" dirty="0"/>
              <a:t>; swapping behavior means installing a different object — no code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Queuing and batching of requests</a:t>
            </a:r>
            <a:r>
              <a:rPr lang="en-US" dirty="0"/>
              <a:t>: </a:t>
            </a:r>
            <a:r>
              <a:rPr lang="en-US" i="1" dirty="0"/>
              <a:t>Commands</a:t>
            </a:r>
            <a:r>
              <a:rPr lang="en-US" dirty="0"/>
              <a:t> are objects → they can sit in a queue (decoupling in </a:t>
            </a:r>
            <a:r>
              <a:rPr lang="en-US" i="1" dirty="0"/>
              <a:t>time</a:t>
            </a:r>
            <a:r>
              <a:rPr lang="en-US" dirty="0"/>
              <a:t>: request made at T, executed at </a:t>
            </a:r>
            <a:r>
              <a:rPr lang="en-US" dirty="0" err="1"/>
              <a:t>T+n</a:t>
            </a:r>
            <a:r>
              <a:rPr lang="en-US" dirty="0"/>
              <a:t>) or be grouped into a macro/composite command.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Undo/redo for free-</a:t>
            </a:r>
            <a:r>
              <a:rPr lang="en-US" b="1" dirty="0" err="1"/>
              <a:t>ish</a:t>
            </a:r>
            <a:r>
              <a:rPr lang="en-US" dirty="0"/>
              <a:t>: because the request object survives after execution, an invoker can keep a history stack and call </a:t>
            </a:r>
            <a:r>
              <a:rPr lang="en-US" i="1" dirty="0"/>
              <a:t>undo()/execute()</a:t>
            </a:r>
            <a:r>
              <a:rPr lang="en-US" dirty="0"/>
              <a:t> again. The command stores whatever state it needs to reverse itself (a lightweight Memento).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Transactional commands</a:t>
            </a:r>
            <a:r>
              <a:rPr lang="en-US" dirty="0"/>
              <a:t>: a macro can execute several commands as one unit, with reverse-order undo.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More classes</a:t>
            </a:r>
            <a:r>
              <a:rPr lang="en-US" dirty="0"/>
              <a:t>: every request becomes a class; for trivial one-shot calls this is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complexity</a:t>
            </a:r>
            <a:r>
              <a:rPr lang="en-US" dirty="0"/>
              <a:t>: the indirection layer (command object between sender and receiver) is harder to follow in small systems — the pattern pays off when requests need to be stored, queued, logged, or reversed.</a:t>
            </a:r>
          </a:p>
        </p:txBody>
      </p:sp>
    </p:spTree>
    <p:extLst>
      <p:ext uri="{BB962C8B-B14F-4D97-AF65-F5344CB8AC3E}">
        <p14:creationId xmlns:p14="http://schemas.microsoft.com/office/powerpoint/2010/main" val="240137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303B-B2F9-E4B2-8A1C-727DC97C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7BE2E-66FD-ADE4-EBF3-8CA98C1B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E654C-7ECC-7CFC-9BBB-F5826D350FCB}"/>
              </a:ext>
            </a:extLst>
          </p:cNvPr>
          <p:cNvSpPr txBox="1"/>
          <p:nvPr/>
        </p:nvSpPr>
        <p:spPr>
          <a:xfrm>
            <a:off x="535709" y="194055"/>
            <a:ext cx="292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Template Method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B4F8C-1BE3-81BE-119D-C6CA6C2485D3}"/>
              </a:ext>
            </a:extLst>
          </p:cNvPr>
          <p:cNvSpPr txBox="1"/>
          <p:nvPr/>
        </p:nvSpPr>
        <p:spPr>
          <a:xfrm>
            <a:off x="535709" y="914400"/>
            <a:ext cx="108876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Many algorithms share a </a:t>
            </a:r>
            <a:r>
              <a:rPr lang="en-US" i="1" dirty="0"/>
              <a:t>fixed high-level structure</a:t>
            </a:r>
            <a:r>
              <a:rPr lang="en-US" dirty="0"/>
              <a:t> composed of invariant steps that must always execute in a specific order, but include </a:t>
            </a:r>
            <a:r>
              <a:rPr lang="en-US" i="1" dirty="0"/>
              <a:t>variable sub-steps</a:t>
            </a:r>
            <a:r>
              <a:rPr lang="en-US" dirty="0"/>
              <a:t> that differ based on context or requirements.</a:t>
            </a:r>
          </a:p>
          <a:p>
            <a:endParaRPr lang="en-US" dirty="0"/>
          </a:p>
          <a:p>
            <a:r>
              <a:rPr lang="en-US" dirty="0"/>
              <a:t>Without a mechanism to enforce this structure while permitting customization: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 implement these algorithms separately in multiple classes → </a:t>
            </a:r>
            <a:r>
              <a:rPr lang="en-US" b="1" dirty="0"/>
              <a:t>code duplication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algorithm's integrity is not enforced → </a:t>
            </a:r>
            <a:r>
              <a:rPr lang="en-US" b="1" dirty="0"/>
              <a:t>inconsistent implementations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new variants requires understanding the entire algorithm → </a:t>
            </a:r>
            <a:r>
              <a:rPr lang="en-US" b="1" dirty="0"/>
              <a:t>maintenance burden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dirty="0"/>
              <a:t>Solution: provides a </a:t>
            </a:r>
            <a:r>
              <a:rPr lang="en-US" b="1" dirty="0"/>
              <a:t>skeleton</a:t>
            </a:r>
            <a:r>
              <a:rPr lang="en-US" dirty="0"/>
              <a:t> in a base class that outlines the algorithm's invariant sequence, deferring the variable sub-steps to subclasses for redefinition without altering the overall flow. This ensures consistency in the algorithm's execution while allowing flexibility for specialized behaviors.</a:t>
            </a:r>
          </a:p>
        </p:txBody>
      </p:sp>
    </p:spTree>
    <p:extLst>
      <p:ext uri="{BB962C8B-B14F-4D97-AF65-F5344CB8AC3E}">
        <p14:creationId xmlns:p14="http://schemas.microsoft.com/office/powerpoint/2010/main" val="254693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51F2-166C-135D-3AE1-CFAA30C1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66D78-9116-4968-495F-0B4E69A0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D36CF-06B9-D77A-3280-C4B293ED2D77}"/>
              </a:ext>
            </a:extLst>
          </p:cNvPr>
          <p:cNvSpPr txBox="1"/>
          <p:nvPr/>
        </p:nvSpPr>
        <p:spPr>
          <a:xfrm>
            <a:off x="535709" y="194055"/>
            <a:ext cx="191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Template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EC755-EF92-8EA3-FF1D-CAEA670A01B1}"/>
              </a:ext>
            </a:extLst>
          </p:cNvPr>
          <p:cNvSpPr txBox="1"/>
          <p:nvPr/>
        </p:nvSpPr>
        <p:spPr>
          <a:xfrm>
            <a:off x="410817" y="914400"/>
            <a:ext cx="113438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skeleton, variable details: the algorithm's sequence of steps is invariant, but individual steps differ across implementations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enforce a protocol: the base class guarantees that certain steps always happen (e.g., resource acquisition before work, cleanup after). Subclasses cannot skip or reorder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Shared code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algorithm structure itself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swapping of behavior is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 inheritance hierarchy is emerging: Template Method works best when the hierarchy is linear and shallow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combine multiple variants</a:t>
            </a:r>
          </a:p>
        </p:txBody>
      </p:sp>
    </p:spTree>
    <p:extLst>
      <p:ext uri="{BB962C8B-B14F-4D97-AF65-F5344CB8AC3E}">
        <p14:creationId xmlns:p14="http://schemas.microsoft.com/office/powerpoint/2010/main" val="83509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E7FA-094D-C702-C9E0-88672B62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0A917-25C6-A516-7214-FD1B4B2B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45A6F-1FF8-93ED-1013-C6CF2CBB6A5C}"/>
              </a:ext>
            </a:extLst>
          </p:cNvPr>
          <p:cNvSpPr txBox="1"/>
          <p:nvPr/>
        </p:nvSpPr>
        <p:spPr>
          <a:xfrm>
            <a:off x="535709" y="194055"/>
            <a:ext cx="356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Template Method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E27FCE-85AD-9D2E-BF12-CE11239B2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622300"/>
            <a:ext cx="32766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969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6A7B6-292E-444C-F0A1-866BEAF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7F9B0-7446-38B4-81D8-E7B12D14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12FF0-3227-5677-B161-D8C7E829A951}"/>
              </a:ext>
            </a:extLst>
          </p:cNvPr>
          <p:cNvSpPr txBox="1"/>
          <p:nvPr/>
        </p:nvSpPr>
        <p:spPr>
          <a:xfrm>
            <a:off x="468085" y="326572"/>
            <a:ext cx="4617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Template Method – Cafeteria – Abstract base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88744-2CC5-9F7A-76C7-99EB60DC9F37}"/>
              </a:ext>
            </a:extLst>
          </p:cNvPr>
          <p:cNvSpPr txBox="1"/>
          <p:nvPr/>
        </p:nvSpPr>
        <p:spPr>
          <a:xfrm>
            <a:off x="468085" y="781387"/>
            <a:ext cx="626325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HotBeverage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THE TEMPLATE METHOD — sequence is fixed, individual steps vary.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final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prepareRecipe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boilWater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brew();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pourInCup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customerWantsCondiments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Concrete steps — invariant across all beverages 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boilWater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pourInCup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Abstract steps — each beverage brews and adds differently ─────────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Step 2: Brew the beverage (steep tea, drip coffee, heat chocolate …)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abstract void brew();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Step 4: Add condiments (milk, sugar, cream, marshmallows …)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abstract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Hooks 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Hook: override to suppress condiments (e.g. when user says "black").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customerWantsCondiments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true;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Human-readable name used in the "ready" message.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5237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B4A9-E18E-6690-106B-BB4CAFC8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98EE9-F1AA-D2C5-E627-39BBE59F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79AEB9-F1DB-BB84-B727-150B92B6136B}"/>
              </a:ext>
            </a:extLst>
          </p:cNvPr>
          <p:cNvSpPr txBox="1"/>
          <p:nvPr/>
        </p:nvSpPr>
        <p:spPr>
          <a:xfrm>
            <a:off x="468085" y="326572"/>
            <a:ext cx="3911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Template Method – Cafeteria – Subclasses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DBD2-3DE7-B29F-CACD-4D471050AD9E}"/>
              </a:ext>
            </a:extLst>
          </p:cNvPr>
          <p:cNvSpPr txBox="1"/>
          <p:nvPr/>
        </p:nvSpPr>
        <p:spPr>
          <a:xfrm>
            <a:off x="468085" y="858982"/>
            <a:ext cx="618630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HotChocolate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HotBeverage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Override the shared concrete step — chocolate uses milk, not water.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boilWater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brew()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"Hot Chocolate with Cream";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51CB5-C874-86D5-190B-F4B2960AC415}"/>
              </a:ext>
            </a:extLst>
          </p:cNvPr>
          <p:cNvSpPr txBox="1"/>
          <p:nvPr/>
        </p:nvSpPr>
        <p:spPr>
          <a:xfrm>
            <a:off x="5871031" y="3022608"/>
            <a:ext cx="5570756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Tea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HotBeverage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brew()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customerWantsCondiments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→ inherited true — lemon always added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"Tea with Lemon";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250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4BA1-9D21-B4D3-2119-7CA794F6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1C237-C39B-8C55-8ECE-0CBA49B3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D52EF-99D9-A982-EEB0-945FC42409C6}"/>
              </a:ext>
            </a:extLst>
          </p:cNvPr>
          <p:cNvSpPr txBox="1"/>
          <p:nvPr/>
        </p:nvSpPr>
        <p:spPr>
          <a:xfrm>
            <a:off x="468085" y="326572"/>
            <a:ext cx="3900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Template Method – Cafeteria –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F5AE4-78BC-764F-1890-444E0B316D07}"/>
              </a:ext>
            </a:extLst>
          </p:cNvPr>
          <p:cNvSpPr txBox="1"/>
          <p:nvPr/>
        </p:nvSpPr>
        <p:spPr>
          <a:xfrm>
            <a:off x="468085" y="1172383"/>
            <a:ext cx="7808548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BeverageDemo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HotBeverage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[] orders =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Tea(),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Coffee(true),    // with milk &amp; sugar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Coffee(false),   // black — condiment hook returns false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HotChocolate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HotBeverage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beverage : orders)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("%n─── Preparing: %-30s ───%n",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beverage.getName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beverage.prepareRecipe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49029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0970-C7AE-9401-F2AB-9F58C1A9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8BD14-781C-8095-B2E9-D70EC86D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E4AF8-C894-612C-ADFF-3D2E96B69CF0}"/>
              </a:ext>
            </a:extLst>
          </p:cNvPr>
          <p:cNvSpPr txBox="1"/>
          <p:nvPr/>
        </p:nvSpPr>
        <p:spPr>
          <a:xfrm>
            <a:off x="2460100" y="3105834"/>
            <a:ext cx="7271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Template Method –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3348652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04AD-4E45-1856-2797-9B15C6CE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CD994-547E-1BF4-2614-C73BB60B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B9416-CAD6-9D49-8E10-8B109EE50CA8}"/>
              </a:ext>
            </a:extLst>
          </p:cNvPr>
          <p:cNvSpPr txBox="1"/>
          <p:nvPr/>
        </p:nvSpPr>
        <p:spPr>
          <a:xfrm>
            <a:off x="535709" y="194055"/>
            <a:ext cx="351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Template Method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C28BF-CBE8-3587-D8EC-47CD19488AA5}"/>
              </a:ext>
            </a:extLst>
          </p:cNvPr>
          <p:cNvSpPr txBox="1"/>
          <p:nvPr/>
        </p:nvSpPr>
        <p:spPr>
          <a:xfrm>
            <a:off x="535709" y="724039"/>
            <a:ext cx="10808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Code reuse</a:t>
            </a:r>
            <a:r>
              <a:rPr lang="en-US" dirty="0"/>
              <a:t>: common algorithm logic is implemented once in the abstract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Consistency</a:t>
            </a:r>
            <a:r>
              <a:rPr lang="en-US" dirty="0"/>
              <a:t>: all subclasses follow the same algorithm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Controlled extension</a:t>
            </a:r>
            <a:r>
              <a:rPr lang="en-US" dirty="0"/>
              <a:t>: subclasses can only customize designated points, not the overall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Open-Closed Principle</a:t>
            </a:r>
            <a:r>
              <a:rPr lang="en-US" dirty="0"/>
              <a:t>: new variants are added via new subclasses without modifying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Encapsulation</a:t>
            </a:r>
            <a:r>
              <a:rPr lang="en-US" dirty="0"/>
              <a:t>: the algorithm's internal structure is hidden; clients see only the template method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extra class per variant</a:t>
            </a:r>
            <a:r>
              <a:rPr lang="en-US" dirty="0"/>
              <a:t>: each algorithm step variation requires a new subclass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Backward references</a:t>
            </a:r>
            <a:r>
              <a:rPr lang="en-US" dirty="0"/>
              <a:t>: the abstract class may need to reference subclass state (via </a:t>
            </a:r>
            <a:r>
              <a:rPr lang="en-US" i="1" dirty="0"/>
              <a:t>this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Limited runtime flexibility</a:t>
            </a:r>
            <a:r>
              <a:rPr lang="en-US" dirty="0"/>
              <a:t>: variants are fixed at compile time; cannot swap algorithms dynamically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Hierarchy depth</a:t>
            </a:r>
            <a:r>
              <a:rPr lang="en-US" dirty="0"/>
              <a:t>: deep hierarchies can make the pattern hard to maintain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Liskov</a:t>
            </a:r>
            <a:r>
              <a:rPr lang="en-US" b="1" dirty="0"/>
              <a:t> Substitution risk</a:t>
            </a:r>
            <a:r>
              <a:rPr lang="en-US" dirty="0"/>
              <a:t>: If a subclass cannot fully honor the template's contract, LSP is violated</a:t>
            </a:r>
          </a:p>
        </p:txBody>
      </p:sp>
    </p:spTree>
    <p:extLst>
      <p:ext uri="{BB962C8B-B14F-4D97-AF65-F5344CB8AC3E}">
        <p14:creationId xmlns:p14="http://schemas.microsoft.com/office/powerpoint/2010/main" val="73507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6CA6-729B-474F-2B9D-E4CCD74D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BEFD9-D5A5-4BFA-ECDE-C169AABA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2D1E7-FAAF-6E3F-BB79-B918711C078D}"/>
              </a:ext>
            </a:extLst>
          </p:cNvPr>
          <p:cNvSpPr txBox="1"/>
          <p:nvPr/>
        </p:nvSpPr>
        <p:spPr>
          <a:xfrm>
            <a:off x="535709" y="194055"/>
            <a:ext cx="2146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Memento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B0287-27E6-758A-0C9E-E77F52A9DD69}"/>
              </a:ext>
            </a:extLst>
          </p:cNvPr>
          <p:cNvSpPr txBox="1"/>
          <p:nvPr/>
        </p:nvSpPr>
        <p:spPr>
          <a:xfrm>
            <a:off x="357810" y="861392"/>
            <a:ext cx="10840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a text editor must support </a:t>
            </a:r>
            <a:r>
              <a:rPr lang="en-US" i="1" dirty="0"/>
              <a:t>Undo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Why naive solution fails: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keeps copies of the state: (</a:t>
            </a:r>
            <a:r>
              <a:rPr lang="en-US" i="1" dirty="0"/>
              <a:t>String </a:t>
            </a:r>
            <a:r>
              <a:rPr lang="en-US" i="1" dirty="0" err="1"/>
              <a:t>oldText</a:t>
            </a:r>
            <a:r>
              <a:rPr lang="en-US" i="1" dirty="0"/>
              <a:t> = </a:t>
            </a:r>
            <a:r>
              <a:rPr lang="en-US" i="1" dirty="0" err="1"/>
              <a:t>editor.getText</a:t>
            </a:r>
            <a:r>
              <a:rPr lang="en-US" i="1" dirty="0"/>
              <a:t>()</a:t>
            </a:r>
            <a:r>
              <a:rPr lang="en-US" dirty="0"/>
              <a:t>): the client must know the </a:t>
            </a:r>
            <a:r>
              <a:rPr lang="en-US" b="1" dirty="0"/>
              <a:t>internal representation of the editor</a:t>
            </a:r>
            <a:r>
              <a:rPr lang="en-US" dirty="0"/>
              <a:t> → encapsulation broken; every client duplicates that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Editor exposes a public </a:t>
            </a:r>
            <a:r>
              <a:rPr lang="en-US" i="1" dirty="0" err="1"/>
              <a:t>getState</a:t>
            </a:r>
            <a:r>
              <a:rPr lang="en-US" i="1" dirty="0"/>
              <a:t>()/</a:t>
            </a:r>
            <a:r>
              <a:rPr lang="en-US" i="1" dirty="0" err="1"/>
              <a:t>setState</a:t>
            </a:r>
            <a:r>
              <a:rPr lang="en-US" i="1" dirty="0"/>
              <a:t>()</a:t>
            </a:r>
            <a:r>
              <a:rPr lang="en-US" dirty="0"/>
              <a:t> pair: any object can read </a:t>
            </a:r>
            <a:r>
              <a:rPr lang="en-US" b="1" dirty="0"/>
              <a:t>and tamper with</a:t>
            </a:r>
            <a:r>
              <a:rPr lang="en-US" dirty="0"/>
              <a:t> the internal state → invariants can be violated from outside.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computes an </a:t>
            </a:r>
            <a:r>
              <a:rPr lang="en-US" i="1" dirty="0"/>
              <a:t>inverse operation</a:t>
            </a:r>
            <a:r>
              <a:rPr lang="en-US" dirty="0"/>
              <a:t> (delete what was typed): works only for trivial, invertible operations; impossible for complex or multi-step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Solution: move the knowledge of </a:t>
            </a:r>
            <a:r>
              <a:rPr lang="en-US" i="1" dirty="0"/>
              <a:t>how to snapshot and restore</a:t>
            </a:r>
            <a:r>
              <a:rPr lang="en-US" dirty="0"/>
              <a:t> </a:t>
            </a:r>
            <a:r>
              <a:rPr lang="en-US" b="1" dirty="0"/>
              <a:t>inside the object itself</a:t>
            </a:r>
            <a:r>
              <a:rPr lang="en-US" dirty="0"/>
              <a:t>, while letting other objects </a:t>
            </a:r>
            <a:r>
              <a:rPr lang="en-US" i="1" dirty="0"/>
              <a:t>store</a:t>
            </a:r>
            <a:r>
              <a:rPr lang="en-US" dirty="0"/>
              <a:t> the snapshot without being able to </a:t>
            </a:r>
            <a:r>
              <a:rPr lang="en-US" i="1" dirty="0"/>
              <a:t>read or modify</a:t>
            </a:r>
            <a:r>
              <a:rPr lang="en-US" dirty="0"/>
              <a:t> it.</a:t>
            </a:r>
          </a:p>
        </p:txBody>
      </p:sp>
    </p:spTree>
    <p:extLst>
      <p:ext uri="{BB962C8B-B14F-4D97-AF65-F5344CB8AC3E}">
        <p14:creationId xmlns:p14="http://schemas.microsoft.com/office/powerpoint/2010/main" val="363027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D94E-7D2D-E7D3-B79D-C5B423BA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CD791-B0A7-316D-AFBA-94C5105D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BB8DD-9215-E0C2-6429-4A9B0F1A1E7D}"/>
              </a:ext>
            </a:extLst>
          </p:cNvPr>
          <p:cNvSpPr txBox="1"/>
          <p:nvPr/>
        </p:nvSpPr>
        <p:spPr>
          <a:xfrm>
            <a:off x="535709" y="194055"/>
            <a:ext cx="1932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Memento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FBFEE-75DB-5123-7C01-3D911759A354}"/>
              </a:ext>
            </a:extLst>
          </p:cNvPr>
          <p:cNvSpPr txBox="1"/>
          <p:nvPr/>
        </p:nvSpPr>
        <p:spPr>
          <a:xfrm>
            <a:off x="535709" y="848139"/>
            <a:ext cx="113382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undo/redo with full state fidelity: the user action is complex, multi-step, or touches many fields — reconstructing </a:t>
            </a:r>
            <a:r>
              <a:rPr lang="en-US" sz="1600" i="1" dirty="0"/>
              <a:t>the previous state </a:t>
            </a:r>
            <a:r>
              <a:rPr lang="en-US" sz="1600" dirty="0"/>
              <a:t>from a log of operations would be fragile or impossible.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must preserve encapsulation while allowing snapshots: the internal state is private, invariants are non-trivial (e.g. balance ≥ 0, graph connectivity), and you cannot safely expose a public getter that returns a mutable copy.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named checkpoints (save slots, milestones)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transactional rollback in 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state is a simple value type (or already immutable)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can undo by applying an inverse operation (Command pattern)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partial or granular undo: Memento is all-or-nothing per snapshot</a:t>
            </a:r>
          </a:p>
        </p:txBody>
      </p:sp>
    </p:spTree>
    <p:extLst>
      <p:ext uri="{BB962C8B-B14F-4D97-AF65-F5344CB8AC3E}">
        <p14:creationId xmlns:p14="http://schemas.microsoft.com/office/powerpoint/2010/main" val="30190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B230-1B8E-3FC3-9CB6-43E7A49C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DF284-BB44-D3C5-90F0-CAD9CF4D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7E476-16FE-92F3-8188-B2D58D9A82F2}"/>
              </a:ext>
            </a:extLst>
          </p:cNvPr>
          <p:cNvSpPr txBox="1"/>
          <p:nvPr/>
        </p:nvSpPr>
        <p:spPr>
          <a:xfrm>
            <a:off x="535709" y="194055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Memento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F05DC-831C-681D-048D-93C7AE29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698500"/>
            <a:ext cx="76962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480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DE93-21EF-BCE4-5407-B2C72504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88CD9-E1D3-E809-3D17-4552ECA2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0ED0B8-72DA-BC9D-3764-CAA49078B5FC}"/>
              </a:ext>
            </a:extLst>
          </p:cNvPr>
          <p:cNvSpPr txBox="1"/>
          <p:nvPr/>
        </p:nvSpPr>
        <p:spPr>
          <a:xfrm>
            <a:off x="468085" y="326572"/>
            <a:ext cx="2206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Memento – The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9508B-C882-738A-8E9B-0CCCEFAB862C}"/>
              </a:ext>
            </a:extLst>
          </p:cNvPr>
          <p:cNvSpPr txBox="1"/>
          <p:nvPr/>
        </p:nvSpPr>
        <p:spPr>
          <a:xfrm>
            <a:off x="468085" y="848140"/>
            <a:ext cx="618630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Package-private class — Caretaker in another package cannot access fields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class Memento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state;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Memento(String state) { // package-private constructor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state;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package-private getter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state;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"Memento[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"]";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FBB23-1A2F-0C11-CD7F-AA0718E795D6}"/>
              </a:ext>
            </a:extLst>
          </p:cNvPr>
          <p:cNvSpPr txBox="1"/>
          <p:nvPr/>
        </p:nvSpPr>
        <p:spPr>
          <a:xfrm>
            <a:off x="468085" y="3604591"/>
            <a:ext cx="541686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Originator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state;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Memento save() { // creates snapshot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Memento(state); // uses pkg-private constructor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restore(Memento m) { // restores from snapshot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m.getState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// uses pkg-private getter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CC91F-6848-8F70-C9A9-C65264219DAC}"/>
              </a:ext>
            </a:extLst>
          </p:cNvPr>
          <p:cNvSpPr txBox="1"/>
          <p:nvPr/>
        </p:nvSpPr>
        <p:spPr>
          <a:xfrm>
            <a:off x="6096000" y="2231169"/>
            <a:ext cx="480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Caretaker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List&lt;Memento&gt; history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stores opaque token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save()  {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history.add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originator.save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undo()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Memento m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- 1);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returns opaque token — cannot read it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originator.restore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(m);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102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DF053-C13B-FD7B-5016-6CED1346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FC169-EE2D-8041-3D55-C581636A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94AA81-6E57-AB16-634A-0833EFF3BDA7}"/>
              </a:ext>
            </a:extLst>
          </p:cNvPr>
          <p:cNvSpPr txBox="1"/>
          <p:nvPr/>
        </p:nvSpPr>
        <p:spPr>
          <a:xfrm>
            <a:off x="468085" y="326572"/>
            <a:ext cx="3542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Memento – Text Editor – The Originator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B7A32-31AC-D270-CCE7-07985F9E6BEF}"/>
              </a:ext>
            </a:extLst>
          </p:cNvPr>
          <p:cNvSpPr txBox="1"/>
          <p:nvPr/>
        </p:nvSpPr>
        <p:spPr>
          <a:xfrm>
            <a:off x="468085" y="843677"/>
            <a:ext cx="6571030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TextEditor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StringBuilder content   = new StringBuilder();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Inner Memento ────────────────────────────────────────────────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final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final String  content;    // ← PRIVATE — outer class can access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final int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 //   inner class fields directly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final Instant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private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content, 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this.content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= content;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this.savedAt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Instant.now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NARROW interface — ONLY this is public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getLabel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"Snapshot at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"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content.length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")";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Originator operations ────────────────────────────────────────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save()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content.toString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restore(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m)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this.content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= new StringBuilder(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m.content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 // accesses private field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m.cursorPos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        // accesses private field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036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58D9-4309-EA41-8C32-2D99392D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1594B-72D7-FDF9-2CBE-56CB0493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62F75-D771-F330-2BA5-3F9489AB0162}"/>
              </a:ext>
            </a:extLst>
          </p:cNvPr>
          <p:cNvSpPr txBox="1"/>
          <p:nvPr/>
        </p:nvSpPr>
        <p:spPr>
          <a:xfrm>
            <a:off x="468085" y="326572"/>
            <a:ext cx="3525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Memento – Text Editor – The Caretaker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6D70B-501C-A10F-798C-E8A45D1C251B}"/>
              </a:ext>
            </a:extLst>
          </p:cNvPr>
          <p:cNvSpPr txBox="1"/>
          <p:nvPr/>
        </p:nvSpPr>
        <p:spPr>
          <a:xfrm>
            <a:off x="468085" y="874643"/>
            <a:ext cx="64171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EditorHistory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Deque&lt;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TextEditor.EditorMemento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undoStack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Deque&lt;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TextEditor.EditorMemento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redoStack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Called BEFORE each editing operation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snapshot()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undoStack.push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editor.save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redoStack.clear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 // ← new edit always clears redo branch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undo()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undoStack.isEmpty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 return false;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redoStack.push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editor.save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       // save current for redo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editor.restore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undoStack.pop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true;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redo()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redoStack.isEmpty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 return false;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undoStack.push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editor.save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       // save current for undo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editor.restore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redoStack.pop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true;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1C282-6473-4A86-A6F1-1BE5788C8EC9}"/>
              </a:ext>
            </a:extLst>
          </p:cNvPr>
          <p:cNvSpPr txBox="1"/>
          <p:nvPr/>
        </p:nvSpPr>
        <p:spPr>
          <a:xfrm>
            <a:off x="6096000" y="3890476"/>
            <a:ext cx="587853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TextEditor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editor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TextEditor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EditorHistory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history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EditorHistory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(editor);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history.snapshot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("Hello, World!");   // save before typing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history.snapshot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Welcome to Java.");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history.snapshot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editor.replaceFirst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("World", "Universe");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history.snapshot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editor.backspace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editor.show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("Current");    // "Hello, Universe! Welcome to Jav"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history.undo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editor.show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("Undo 1");  // restore before backspace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history.undo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editor.show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("Undo 2");  // restore before replace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history.redo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editor.show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("Redo 1");  // re-apply replace</a:t>
            </a:r>
          </a:p>
        </p:txBody>
      </p:sp>
    </p:spTree>
    <p:extLst>
      <p:ext uri="{BB962C8B-B14F-4D97-AF65-F5344CB8AC3E}">
        <p14:creationId xmlns:p14="http://schemas.microsoft.com/office/powerpoint/2010/main" val="381209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61DE-9A05-0D23-25B5-BD20B8B9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EC597-5254-40C9-6FC9-D859B491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E4148-83C5-1CFB-9E76-E3030E4EC325}"/>
              </a:ext>
            </a:extLst>
          </p:cNvPr>
          <p:cNvSpPr txBox="1"/>
          <p:nvPr/>
        </p:nvSpPr>
        <p:spPr>
          <a:xfrm>
            <a:off x="3740611" y="3105834"/>
            <a:ext cx="4710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Memento – Game save</a:t>
            </a:r>
          </a:p>
        </p:txBody>
      </p:sp>
    </p:spTree>
    <p:extLst>
      <p:ext uri="{BB962C8B-B14F-4D97-AF65-F5344CB8AC3E}">
        <p14:creationId xmlns:p14="http://schemas.microsoft.com/office/powerpoint/2010/main" val="23463759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B948-293F-486B-F59E-1BA82E5C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5110B0-FBEA-B9DD-C23D-1EF0C93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51F10-9971-F196-7C25-85E948CDB7E5}"/>
              </a:ext>
            </a:extLst>
          </p:cNvPr>
          <p:cNvSpPr txBox="1"/>
          <p:nvPr/>
        </p:nvSpPr>
        <p:spPr>
          <a:xfrm>
            <a:off x="535709" y="194055"/>
            <a:ext cx="273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Memento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E77E9-ECE4-D8D2-208D-5E4194A9F7D6}"/>
              </a:ext>
            </a:extLst>
          </p:cNvPr>
          <p:cNvSpPr txBox="1"/>
          <p:nvPr/>
        </p:nvSpPr>
        <p:spPr>
          <a:xfrm>
            <a:off x="535709" y="909569"/>
            <a:ext cx="108081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Encapsulation is preserved</a:t>
            </a:r>
            <a:r>
              <a:rPr lang="en-US" dirty="0"/>
              <a:t>: state knowledge stays inside the originator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Snapshots are immutable</a:t>
            </a:r>
            <a:r>
              <a:rPr lang="en-US" dirty="0"/>
              <a:t>: no accidental mutation, safe to share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caretaker is fully pluggable </a:t>
            </a:r>
            <a:r>
              <a:rPr lang="en-US" dirty="0"/>
              <a:t>(stack / map / list / disk), without touching originator or memento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Naturally supports undo, redo, multiple histories, and time-travel restore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Every snapshot copies state</a:t>
            </a:r>
            <a:r>
              <a:rPr lang="en-US" dirty="0"/>
              <a:t>, so long sessions with large objects can be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originator </a:t>
            </a:r>
            <a:r>
              <a:rPr lang="en-US" b="1" dirty="0"/>
              <a:t>must guarantee its state is </a:t>
            </a:r>
            <a:r>
              <a:rPr lang="en-US" b="1" i="1" dirty="0"/>
              <a:t>consistent</a:t>
            </a:r>
            <a:r>
              <a:rPr lang="en-US" b="1" dirty="0"/>
              <a:t> at snapshot time </a:t>
            </a:r>
            <a:r>
              <a:rPr lang="en-US" dirty="0"/>
              <a:t>(no half-applied transactions)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state contains references to mutable objects, the memento </a:t>
            </a:r>
            <a:r>
              <a:rPr lang="en-US" b="1" dirty="0"/>
              <a:t>must deep-copy them</a:t>
            </a:r>
            <a:r>
              <a:rPr lang="en-US" dirty="0"/>
              <a:t>, otherwise the </a:t>
            </a:r>
            <a:r>
              <a:rPr lang="en-US" i="1" dirty="0"/>
              <a:t>immutable</a:t>
            </a:r>
            <a:r>
              <a:rPr lang="en-US" dirty="0"/>
              <a:t> snapshot can change</a:t>
            </a:r>
          </a:p>
        </p:txBody>
      </p:sp>
    </p:spTree>
    <p:extLst>
      <p:ext uri="{BB962C8B-B14F-4D97-AF65-F5344CB8AC3E}">
        <p14:creationId xmlns:p14="http://schemas.microsoft.com/office/powerpoint/2010/main" val="303729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A5F6-F666-8A4A-3A4D-24C9ECD2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D4BB67-20B8-2735-B3E3-05E9DAE4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58F0C-84BC-1BEE-CE15-B1465B16A496}"/>
              </a:ext>
            </a:extLst>
          </p:cNvPr>
          <p:cNvSpPr txBox="1"/>
          <p:nvPr/>
        </p:nvSpPr>
        <p:spPr>
          <a:xfrm>
            <a:off x="535709" y="194055"/>
            <a:ext cx="225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Interpreter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3B00A-2798-3CBE-5D8C-F36F4CD2B511}"/>
              </a:ext>
            </a:extLst>
          </p:cNvPr>
          <p:cNvSpPr txBox="1"/>
          <p:nvPr/>
        </p:nvSpPr>
        <p:spPr>
          <a:xfrm>
            <a:off x="397565" y="834887"/>
            <a:ext cx="112245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 problem occurs very frequently, it can be represented as a sentence in a simple </a:t>
            </a:r>
            <a:r>
              <a:rPr lang="en-US" b="1" dirty="0"/>
              <a:t>Domain-Specific Language</a:t>
            </a:r>
            <a:r>
              <a:rPr lang="en-US" dirty="0"/>
              <a:t> (DSL).</a:t>
            </a:r>
          </a:p>
          <a:p>
            <a:endParaRPr lang="en-US" dirty="0"/>
          </a:p>
          <a:p>
            <a:r>
              <a:rPr lang="en-US" dirty="0"/>
              <a:t>Hard-wiring all possible expressions directly into application code is: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Inflexible</a:t>
            </a:r>
            <a:r>
              <a:rPr lang="en-US" dirty="0"/>
              <a:t>: commits the class to particular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Unmaintainable</a:t>
            </a:r>
            <a:r>
              <a:rPr lang="en-US" dirty="0"/>
              <a:t>: impossible to specify new expressions without modifying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Violates OCP</a:t>
            </a:r>
            <a:r>
              <a:rPr lang="en-US" dirty="0"/>
              <a:t>: classes are open for modification but not closed for extension</a:t>
            </a:r>
          </a:p>
          <a:p>
            <a:endParaRPr lang="en-US" dirty="0"/>
          </a:p>
          <a:p>
            <a:r>
              <a:rPr lang="en-US" dirty="0"/>
              <a:t>The Interpreter pattern solves this by: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Defining a grammar for the language via an </a:t>
            </a:r>
            <a:r>
              <a:rPr lang="en-US" i="1" dirty="0"/>
              <a:t>Expression</a:t>
            </a:r>
            <a:r>
              <a:rPr lang="en-US" dirty="0"/>
              <a:t> class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Representing each sentence as an </a:t>
            </a:r>
            <a:r>
              <a:rPr lang="en-US" b="1" dirty="0"/>
              <a:t>Abstract Syntax Tree </a:t>
            </a:r>
            <a:r>
              <a:rPr lang="en-US" dirty="0"/>
              <a:t>(AST) of </a:t>
            </a:r>
            <a:r>
              <a:rPr lang="en-US" i="1" dirty="0"/>
              <a:t>Expression</a:t>
            </a:r>
            <a:r>
              <a:rPr lang="en-US" dirty="0"/>
              <a:t>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Interpreting a sentence by calling </a:t>
            </a:r>
            <a:r>
              <a:rPr lang="en-US" i="1" dirty="0"/>
              <a:t>interpret()</a:t>
            </a:r>
            <a:r>
              <a:rPr lang="en-US" dirty="0"/>
              <a:t> on the root of the AST</a:t>
            </a:r>
          </a:p>
        </p:txBody>
      </p:sp>
    </p:spTree>
    <p:extLst>
      <p:ext uri="{BB962C8B-B14F-4D97-AF65-F5344CB8AC3E}">
        <p14:creationId xmlns:p14="http://schemas.microsoft.com/office/powerpoint/2010/main" val="58073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B17C-89C2-E92F-6F08-8529F6B6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86164-F643-8F09-9D8D-930C8AB1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63613-A7D5-35FE-BB9F-0CB2EEB5A86C}"/>
              </a:ext>
            </a:extLst>
          </p:cNvPr>
          <p:cNvSpPr txBox="1"/>
          <p:nvPr/>
        </p:nvSpPr>
        <p:spPr>
          <a:xfrm>
            <a:off x="535709" y="194055"/>
            <a:ext cx="203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Interpreter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00CA1-54DE-11F2-288C-049CCA85B24C}"/>
              </a:ext>
            </a:extLst>
          </p:cNvPr>
          <p:cNvSpPr txBox="1"/>
          <p:nvPr/>
        </p:nvSpPr>
        <p:spPr>
          <a:xfrm>
            <a:off x="535709" y="1007165"/>
            <a:ext cx="11182164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grammar is simple</a:t>
            </a:r>
            <a:r>
              <a:rPr lang="en-US" dirty="0"/>
              <a:t>: the pattern's overhead (one class per symbol) is justified only for small grammars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add new expression types without modifying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AST structure must be interpreted in multiple contexts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You're building a DSL, rule engine, or query language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grammar is complex</a:t>
            </a:r>
            <a:r>
              <a:rPr lang="en-US" dirty="0"/>
              <a:t>: many rules, precedence, ambiguity =&gt; use a parser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You only need one fixed expression</a:t>
            </a:r>
            <a:r>
              <a:rPr lang="en-US" dirty="0"/>
              <a:t>: just write the logic directly, the pattern adds indirection with no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You need error recovery / partial parsing</a:t>
            </a:r>
            <a:r>
              <a:rPr lang="en-US" dirty="0"/>
              <a:t>: the Interpreter pattern has no such machinery</a:t>
            </a:r>
          </a:p>
        </p:txBody>
      </p:sp>
    </p:spTree>
    <p:extLst>
      <p:ext uri="{BB962C8B-B14F-4D97-AF65-F5344CB8AC3E}">
        <p14:creationId xmlns:p14="http://schemas.microsoft.com/office/powerpoint/2010/main" val="200390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AABB-DD14-DACF-AEFE-58A64E0C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1982E-474C-767C-1966-623A8CE6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EB606-AC46-F09C-94E2-DA87B1A2E314}"/>
              </a:ext>
            </a:extLst>
          </p:cNvPr>
          <p:cNvSpPr txBox="1"/>
          <p:nvPr/>
        </p:nvSpPr>
        <p:spPr>
          <a:xfrm>
            <a:off x="535709" y="194055"/>
            <a:ext cx="28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Interpreter – Class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F772A6-D587-9960-C27B-BF0E5C99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836" y="817112"/>
            <a:ext cx="7772400" cy="52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92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08CA-FC3E-2280-4F71-5BC5505B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69C1F-A4A2-E452-5206-FE90838C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0D6FE-7121-868A-A178-EFC5AF661085}"/>
              </a:ext>
            </a:extLst>
          </p:cNvPr>
          <p:cNvSpPr txBox="1"/>
          <p:nvPr/>
        </p:nvSpPr>
        <p:spPr>
          <a:xfrm>
            <a:off x="468085" y="326572"/>
            <a:ext cx="3206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Interpreter – Evaluate expressions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CC18C-3A57-068F-AB6B-A49E48785918}"/>
              </a:ext>
            </a:extLst>
          </p:cNvPr>
          <p:cNvSpPr txBox="1"/>
          <p:nvPr/>
        </p:nvSpPr>
        <p:spPr>
          <a:xfrm>
            <a:off x="468085" y="819806"/>
            <a:ext cx="3108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Expression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   interpret(Context context);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9B521-4B46-5EAD-DFA9-58514C79FE14}"/>
              </a:ext>
            </a:extLst>
          </p:cNvPr>
          <p:cNvSpPr txBox="1"/>
          <p:nvPr/>
        </p:nvSpPr>
        <p:spPr>
          <a:xfrm>
            <a:off x="468085" y="1682372"/>
            <a:ext cx="40318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Context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Map&lt;String, Integer&gt; variables =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new HashMap&lt;&gt;();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assign(String name, int value)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variables.put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(name, value);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 lookup(String name)     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variables.get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(name);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1EE64-9E70-7979-DA22-8E0DD63632A3}"/>
              </a:ext>
            </a:extLst>
          </p:cNvPr>
          <p:cNvSpPr txBox="1"/>
          <p:nvPr/>
        </p:nvSpPr>
        <p:spPr>
          <a:xfrm>
            <a:off x="468085" y="3341997"/>
            <a:ext cx="43396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 implements Expression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interpret(Context context)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context.lookup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6D2C2-35DC-7B61-98C4-80814EA59865}"/>
              </a:ext>
            </a:extLst>
          </p:cNvPr>
          <p:cNvSpPr txBox="1"/>
          <p:nvPr/>
        </p:nvSpPr>
        <p:spPr>
          <a:xfrm>
            <a:off x="5774859" y="328155"/>
            <a:ext cx="57246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NTE implements Expression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left;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right;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interpret(Context context)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left.interpret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(context)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right.interpret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(context);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"("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left.toFormula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 +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right.toFormula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")";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E6B1-B862-0626-69D4-B3F8C970E56B}"/>
              </a:ext>
            </a:extLst>
          </p:cNvPr>
          <p:cNvSpPr txBox="1"/>
          <p:nvPr/>
        </p:nvSpPr>
        <p:spPr>
          <a:xfrm>
            <a:off x="5774859" y="2942896"/>
            <a:ext cx="48782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Context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Context();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ctx.assign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("x", 10);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ctx.assign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("y", 4);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ctx.assign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("z", 3);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 AST for:  (x + y) + z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NonTerminal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(+)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   /          \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NonTerminal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(+)    Terminal(z)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    /        \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Terminal(x)  Terminal(y)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x  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TerminalExpression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("x");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y  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TerminalExpression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("y");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z  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TerminalExpression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("z");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root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NonTerminalExpression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NonTerminalExpression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(x, y), z);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root.toFormula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        // ((x + y) + z)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root.interpret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));     // 17</a:t>
            </a:r>
          </a:p>
        </p:txBody>
      </p:sp>
    </p:spTree>
    <p:extLst>
      <p:ext uri="{BB962C8B-B14F-4D97-AF65-F5344CB8AC3E}">
        <p14:creationId xmlns:p14="http://schemas.microsoft.com/office/powerpoint/2010/main" val="16957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2AB4-6436-F5CD-0AD1-605D4B57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8436C-B933-D5E7-5A28-5FA21594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229CB-6FA7-D783-757C-F6A72242A0DF}"/>
              </a:ext>
            </a:extLst>
          </p:cNvPr>
          <p:cNvSpPr txBox="1"/>
          <p:nvPr/>
        </p:nvSpPr>
        <p:spPr>
          <a:xfrm>
            <a:off x="3120089" y="3105834"/>
            <a:ext cx="5951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Interpreter – Roman Numeral</a:t>
            </a:r>
          </a:p>
        </p:txBody>
      </p:sp>
    </p:spTree>
    <p:extLst>
      <p:ext uri="{BB962C8B-B14F-4D97-AF65-F5344CB8AC3E}">
        <p14:creationId xmlns:p14="http://schemas.microsoft.com/office/powerpoint/2010/main" val="39093975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8865-9103-3D2B-768E-DC3E7AE5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6B257-8262-9C08-A3F3-ADC8526A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825EA-ED48-6A7C-51E9-58367A9D7BF0}"/>
              </a:ext>
            </a:extLst>
          </p:cNvPr>
          <p:cNvSpPr txBox="1"/>
          <p:nvPr/>
        </p:nvSpPr>
        <p:spPr>
          <a:xfrm>
            <a:off x="535709" y="194055"/>
            <a:ext cx="284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Interpreter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268B5-E628-55DA-ADD8-04E79F55DC5F}"/>
              </a:ext>
            </a:extLst>
          </p:cNvPr>
          <p:cNvSpPr txBox="1"/>
          <p:nvPr/>
        </p:nvSpPr>
        <p:spPr>
          <a:xfrm>
            <a:off x="535709" y="909569"/>
            <a:ext cx="108081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Easy to extend</a:t>
            </a:r>
            <a:r>
              <a:rPr lang="en-US" dirty="0"/>
              <a:t>: adding a new expression type requires only a new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Composability</a:t>
            </a:r>
            <a:r>
              <a:rPr lang="en-US" dirty="0"/>
              <a:t>: new sentences in the language can be built by composing existing terminal and non-terminal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Simple structure per rule</a:t>
            </a:r>
            <a:r>
              <a:rPr lang="en-US" dirty="0"/>
              <a:t>: each production rule maps to exactly one class with a single </a:t>
            </a:r>
            <a:r>
              <a:rPr lang="en-US" i="1" dirty="0"/>
              <a:t>interpret()</a:t>
            </a:r>
            <a:r>
              <a:rPr lang="en-US" dirty="0"/>
              <a:t> method, this keeps each unit small, focused, and trivially testable in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Natural recursive-descent fit</a:t>
            </a:r>
            <a:r>
              <a:rPr lang="en-US" dirty="0"/>
              <a:t>: the pattern mirrors how a human reads a grammar: each non-terminal "knows" how to interpret its children recursively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external dependencies</a:t>
            </a:r>
            <a:r>
              <a:rPr lang="en-US" dirty="0"/>
              <a:t>: implemented in the language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explosion</a:t>
            </a:r>
            <a:r>
              <a:rPr lang="en-US" dirty="0"/>
              <a:t>: one class per terminal symbol + one per non-terminal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Poor performance and high memory overhead</a:t>
            </a:r>
            <a:r>
              <a:rPr lang="en-US" dirty="0"/>
              <a:t>: tree-walking through virtual interfaces calls, slower than generated parsers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Tight coupling to the grammar shape</a:t>
            </a:r>
            <a:r>
              <a:rPr lang="en-US" dirty="0"/>
              <a:t>: if the fundamental structure of the language changes, many node classes must be restructured</a:t>
            </a:r>
          </a:p>
        </p:txBody>
      </p:sp>
    </p:spTree>
    <p:extLst>
      <p:ext uri="{BB962C8B-B14F-4D97-AF65-F5344CB8AC3E}">
        <p14:creationId xmlns:p14="http://schemas.microsoft.com/office/powerpoint/2010/main" val="103793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0D0C-0F8E-EB25-E7FF-56319A82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DE11A-845A-E59C-A167-3DDC166C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EBD68-94D2-B4A7-B204-119C6DEF32E1}"/>
              </a:ext>
            </a:extLst>
          </p:cNvPr>
          <p:cNvSpPr txBox="1"/>
          <p:nvPr/>
        </p:nvSpPr>
        <p:spPr>
          <a:xfrm>
            <a:off x="535709" y="194055"/>
            <a:ext cx="182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Visitor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22102-C7A2-F1B9-F58E-76504C03976D}"/>
              </a:ext>
            </a:extLst>
          </p:cNvPr>
          <p:cNvSpPr txBox="1"/>
          <p:nvPr/>
        </p:nvSpPr>
        <p:spPr>
          <a:xfrm>
            <a:off x="535709" y="781878"/>
            <a:ext cx="105431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have a stable class hierarchy modeling an object structure (an AST, a shape catalog, a document tree), and over time you need more and more operations on it: </a:t>
            </a:r>
            <a:r>
              <a:rPr lang="en-US" i="1" dirty="0"/>
              <a:t>evaluate, print, serialize, validate, count, render…</a:t>
            </a:r>
          </a:p>
          <a:p>
            <a:endParaRPr lang="en-US" dirty="0"/>
          </a:p>
          <a:p>
            <a:r>
              <a:rPr lang="en-US" dirty="0"/>
              <a:t>If each operation is implemented as a method of the element classes, then: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</a:t>
            </a:r>
            <a:r>
              <a:rPr lang="en-US" b="1" dirty="0"/>
              <a:t>new operation</a:t>
            </a:r>
            <a:r>
              <a:rPr lang="en-US" dirty="0"/>
              <a:t> forces modification of </a:t>
            </a:r>
            <a:r>
              <a:rPr lang="en-US" b="1" dirty="0"/>
              <a:t>every concrete element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 logic (e.g., "how to serialize") gets scattered across many unrelated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element classes degenerate into </a:t>
            </a:r>
            <a:r>
              <a:rPr lang="en-US" i="1" dirty="0"/>
              <a:t>god classes</a:t>
            </a:r>
            <a:r>
              <a:rPr lang="en-US" dirty="0"/>
              <a:t> that know too much about every 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Solution: split the design into two independent hierarchies: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object structure</a:t>
            </a:r>
            <a:r>
              <a:rPr lang="en-US" dirty="0"/>
              <a:t>: the </a:t>
            </a:r>
            <a:r>
              <a:rPr lang="en-US" i="1" dirty="0"/>
              <a:t>Element</a:t>
            </a:r>
            <a:r>
              <a:rPr lang="en-US" dirty="0"/>
              <a:t> hierarchy. Stable; it knows nothing about operations except how to </a:t>
            </a:r>
            <a:r>
              <a:rPr lang="en-US" i="1" dirty="0"/>
              <a:t>welcome</a:t>
            </a:r>
            <a:r>
              <a:rPr lang="en-US" dirty="0"/>
              <a:t> a visitor.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operations:</a:t>
            </a:r>
            <a:r>
              <a:rPr lang="en-US" dirty="0"/>
              <a:t> the </a:t>
            </a:r>
            <a:r>
              <a:rPr lang="en-US" i="1" dirty="0"/>
              <a:t>Visitor</a:t>
            </a:r>
            <a:r>
              <a:rPr lang="en-US" dirty="0"/>
              <a:t> hierarchy. Each concrete visitor implements exactly one operation, with </a:t>
            </a:r>
            <a:r>
              <a:rPr lang="en-US" b="1" dirty="0"/>
              <a:t>one method per concrete element type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9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AFC2-540F-8AB5-1082-CB3F5137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6541A-7D98-A29E-999C-6FDA75C89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2CA76-C463-0787-1AF4-CE074A1C4BE3}"/>
              </a:ext>
            </a:extLst>
          </p:cNvPr>
          <p:cNvSpPr txBox="1"/>
          <p:nvPr/>
        </p:nvSpPr>
        <p:spPr>
          <a:xfrm>
            <a:off x="535709" y="194055"/>
            <a:ext cx="1614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Visitor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E0E94-E7A3-E938-1F7A-1600C1240B82}"/>
              </a:ext>
            </a:extLst>
          </p:cNvPr>
          <p:cNvSpPr txBox="1"/>
          <p:nvPr/>
        </p:nvSpPr>
        <p:spPr>
          <a:xfrm>
            <a:off x="535709" y="674400"/>
            <a:ext cx="1102018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have a complex object structure (tree, graph, composite) that is relatively stable in terms of its element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many different operations on that same structure, and new ones keep appearing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to </a:t>
            </a:r>
            <a:r>
              <a:rPr lang="en-US" sz="1600" b="1" dirty="0"/>
              <a:t>separate traversal policy from per-node behavior</a:t>
            </a:r>
            <a:r>
              <a:rPr lang="en-US" sz="1600" dirty="0"/>
              <a:t>: the visitor owns the walk, elements only expose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Operations are read-heavy (or at least don't restructure the tree).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element hierarchy changes frequently (new types added/removed often): very new concrete element forces a new </a:t>
            </a:r>
            <a:r>
              <a:rPr lang="en-US" sz="1600" i="1" dirty="0"/>
              <a:t>visit(...) </a:t>
            </a:r>
            <a:r>
              <a:rPr lang="en-US" sz="1600" dirty="0"/>
              <a:t>method in every existing visitor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are only a few operations (1–3): the ceremony of defining </a:t>
            </a:r>
            <a:r>
              <a:rPr lang="en-US" sz="1600" i="1" dirty="0"/>
              <a:t>Element</a:t>
            </a:r>
            <a:r>
              <a:rPr lang="en-US" sz="1600" dirty="0"/>
              <a:t>, </a:t>
            </a:r>
            <a:r>
              <a:rPr lang="en-US" sz="1600" i="1" dirty="0"/>
              <a:t>Visitor</a:t>
            </a:r>
            <a:r>
              <a:rPr lang="en-US" sz="1600" dirty="0"/>
              <a:t>, and multiple </a:t>
            </a:r>
            <a:r>
              <a:rPr lang="en-US" sz="1600" i="1" dirty="0" err="1"/>
              <a:t>ConcreteVisitor</a:t>
            </a:r>
            <a:r>
              <a:rPr lang="en-US" sz="1600" dirty="0"/>
              <a:t> classes outweighs the benefit, just add the methods directly on the element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structure is flat or very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Operations </a:t>
            </a:r>
            <a:r>
              <a:rPr lang="en-US" sz="1600" b="1" dirty="0"/>
              <a:t>need to mutate the structure during traversal</a:t>
            </a:r>
          </a:p>
        </p:txBody>
      </p:sp>
    </p:spTree>
    <p:extLst>
      <p:ext uri="{BB962C8B-B14F-4D97-AF65-F5344CB8AC3E}">
        <p14:creationId xmlns:p14="http://schemas.microsoft.com/office/powerpoint/2010/main" val="32405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37DA-A7F5-D7F8-8E1F-FEE682FF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F962F-00BB-F6A5-812B-CA4A593EC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B4BF0-DE58-3F97-F8DB-3554B42A7565}"/>
              </a:ext>
            </a:extLst>
          </p:cNvPr>
          <p:cNvSpPr txBox="1"/>
          <p:nvPr/>
        </p:nvSpPr>
        <p:spPr>
          <a:xfrm>
            <a:off x="535709" y="194055"/>
            <a:ext cx="247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Visitor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F942A-603E-ADC7-D976-62C34404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656" y="235149"/>
            <a:ext cx="5214688" cy="612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940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08CA-FC3E-2280-4F71-5BC5505B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69C1F-A4A2-E452-5206-FE90838C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0D6FE-7121-868A-A178-EFC5AF661085}"/>
              </a:ext>
            </a:extLst>
          </p:cNvPr>
          <p:cNvSpPr txBox="1"/>
          <p:nvPr/>
        </p:nvSpPr>
        <p:spPr>
          <a:xfrm>
            <a:off x="468085" y="326572"/>
            <a:ext cx="3596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Visitor – Evaluate expressions - Visited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B4BDE-C36F-6DFC-55BD-0460BE96B286}"/>
              </a:ext>
            </a:extLst>
          </p:cNvPr>
          <p:cNvSpPr txBox="1"/>
          <p:nvPr/>
        </p:nvSpPr>
        <p:spPr>
          <a:xfrm>
            <a:off x="6487547" y="326572"/>
            <a:ext cx="48013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Expression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left;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right;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(Expression left, Expression right)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this.left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= left;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this.right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right;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Expression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getLeft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 { return left;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Expression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getRight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right;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accept(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visitor)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visitor.visit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4D552-3579-A8A0-A835-13DAAA52247A}"/>
              </a:ext>
            </a:extLst>
          </p:cNvPr>
          <p:cNvSpPr txBox="1"/>
          <p:nvPr/>
        </p:nvSpPr>
        <p:spPr>
          <a:xfrm>
            <a:off x="468085" y="2446376"/>
            <a:ext cx="49552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Expression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double value;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value)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this.value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value;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value;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accept(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visitor)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visitor.visit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String.valueOf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(value);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87A8A-F351-F078-1746-1868914D542A}"/>
              </a:ext>
            </a:extLst>
          </p:cNvPr>
          <p:cNvSpPr txBox="1"/>
          <p:nvPr/>
        </p:nvSpPr>
        <p:spPr>
          <a:xfrm>
            <a:off x="468085" y="1250177"/>
            <a:ext cx="34932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Expression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accept(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visitor);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165A5-72BE-3E88-279F-B8986355F28D}"/>
              </a:ext>
            </a:extLst>
          </p:cNvPr>
          <p:cNvSpPr txBox="1"/>
          <p:nvPr/>
        </p:nvSpPr>
        <p:spPr>
          <a:xfrm>
            <a:off x="6487547" y="3341461"/>
            <a:ext cx="441659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Expression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left;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Expression right;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(Expression left, Expression right)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this.left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= left;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this.right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right;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Expression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getLeft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 { return left;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Expression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getRight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right;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accept(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visitor)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visitor.visit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424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17A4-708B-EBBC-E4B2-0FEDFDC9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E9D5C-5170-4C07-5555-A95AE3E0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852CC-0528-3F4A-54A3-0FB4C233B88F}"/>
              </a:ext>
            </a:extLst>
          </p:cNvPr>
          <p:cNvSpPr txBox="1"/>
          <p:nvPr/>
        </p:nvSpPr>
        <p:spPr>
          <a:xfrm>
            <a:off x="468085" y="326572"/>
            <a:ext cx="3653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Visitor – Evaluate expressions - Visitors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9C08D-4275-D865-1411-955C921B1354}"/>
              </a:ext>
            </a:extLst>
          </p:cNvPr>
          <p:cNvSpPr txBox="1"/>
          <p:nvPr/>
        </p:nvSpPr>
        <p:spPr>
          <a:xfrm>
            <a:off x="468085" y="689967"/>
            <a:ext cx="2377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expr);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expr);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F001F-BFC2-2AD7-B84D-7B5290E42293}"/>
              </a:ext>
            </a:extLst>
          </p:cNvPr>
          <p:cNvSpPr txBox="1"/>
          <p:nvPr/>
        </p:nvSpPr>
        <p:spPr>
          <a:xfrm>
            <a:off x="6096000" y="855209"/>
            <a:ext cx="5179623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PrettyPrintVisitor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Deque&lt;String&gt; stack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Format: drop trailing .0 for whole numbers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v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expr.getValue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(v ==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Math.floor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(v) &amp;&amp; !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Double.isInfinite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?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String.valueOf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((long) v)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: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String.valueOf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(v));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expr.getLeft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expr.getRight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right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left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("(" + left + " + " + right + ")");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expr.getLeft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expr.getRight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right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left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("(" + left + " × " + right + ")");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Returns the fully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parenthesised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string for the last visited expression. */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stack.isEmpty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? "(empty)" :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stack.peek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reset()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stack.clear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7389E-4968-D8D0-3B91-A6EE17F4E4EA}"/>
              </a:ext>
            </a:extLst>
          </p:cNvPr>
          <p:cNvSpPr txBox="1"/>
          <p:nvPr/>
        </p:nvSpPr>
        <p:spPr>
          <a:xfrm>
            <a:off x="468085" y="1701453"/>
            <a:ext cx="499688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EvaluationVisitor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ExpressionVisitor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Deque&lt;Double&gt; stack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expr.getValue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expr.getLeft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   // pushes left value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expr.getRight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  // pushes right value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right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left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(left + right);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visit(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expr)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expr.getLeft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expr.getRight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().accept(this);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right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left 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stack.pop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stack.push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(left * right);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/**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* Returns the final result after the root expression has been visited.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* @throws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java.util.NoSuchElementException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if accept() was never called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*/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getResult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stack.peek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Reset state so the visitor can be reused for a different expression. */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reset() {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stack.clear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51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C1A5-83CA-E8DB-FF3A-B107477C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C3F7F-8DBD-0D48-8AE9-346921B4D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A77C2-2996-9720-7479-BBB58AB26BBD}"/>
              </a:ext>
            </a:extLst>
          </p:cNvPr>
          <p:cNvSpPr txBox="1"/>
          <p:nvPr/>
        </p:nvSpPr>
        <p:spPr>
          <a:xfrm>
            <a:off x="468085" y="326572"/>
            <a:ext cx="3999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Visitor – Evaluate expressions - Application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EC9C1-507E-9DC5-81F8-8D476077AAE5}"/>
              </a:ext>
            </a:extLst>
          </p:cNvPr>
          <p:cNvSpPr txBox="1"/>
          <p:nvPr/>
        </p:nvSpPr>
        <p:spPr>
          <a:xfrm>
            <a:off x="5691494" y="136525"/>
            <a:ext cx="6032421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ASTDemo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eval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EvaluationVisitor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PrettyPrintVisitor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print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PrettyPrintVisitor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Expression 1: (3 + (4 * 2)) ──────────────────────────────────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Expression e1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(3),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(4),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(2))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e1.accept(eval); e1.accept(print);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demo("(3 + (4 × 2))",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Expression 2: ((2 * 3) + (4 * 5)) ────────────────────────────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Expression e2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(2),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(3)),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(4),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(5))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e2.accept(eval); e2.accept(print);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demo("((2 × 3) + (4 × 5))",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Expression 3: deeply nested  (((1 + 2) * (3 + 4)) + 5) 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Expression e3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MultiplyExpr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(1),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(2)),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(3),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(4))),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NumberExpr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print.reset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e3.accept(eval); e3.accept(print);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demo("(((1+2)×(3+4))+5)",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eval.getResult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void demo(String label, String pretty, double result)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("%n  %-26s  pretty: %-28s  eval: %.1f%n",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label, pretty, result);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E177-73A0-FA97-8F89-1B2A5603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88ADF-5DB3-4961-F7FF-DC4668E1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22890-B876-0A5B-2AC9-4526AA6CB636}"/>
              </a:ext>
            </a:extLst>
          </p:cNvPr>
          <p:cNvSpPr txBox="1"/>
          <p:nvPr/>
        </p:nvSpPr>
        <p:spPr>
          <a:xfrm>
            <a:off x="4096927" y="3105834"/>
            <a:ext cx="3998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Visitor – Filesystem</a:t>
            </a:r>
          </a:p>
        </p:txBody>
      </p:sp>
    </p:spTree>
    <p:extLst>
      <p:ext uri="{BB962C8B-B14F-4D97-AF65-F5344CB8AC3E}">
        <p14:creationId xmlns:p14="http://schemas.microsoft.com/office/powerpoint/2010/main" val="38042576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F813-4FE8-B3D1-7D73-B5B4CB8D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A7CD2-4A72-F783-B98B-97C23117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46269-F4A9-291C-5206-3DF64E02595E}"/>
              </a:ext>
            </a:extLst>
          </p:cNvPr>
          <p:cNvSpPr txBox="1"/>
          <p:nvPr/>
        </p:nvSpPr>
        <p:spPr>
          <a:xfrm>
            <a:off x="535709" y="194055"/>
            <a:ext cx="242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Visitor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B2509-B055-3804-0223-D2B9F514EBF9}"/>
              </a:ext>
            </a:extLst>
          </p:cNvPr>
          <p:cNvSpPr txBox="1"/>
          <p:nvPr/>
        </p:nvSpPr>
        <p:spPr>
          <a:xfrm>
            <a:off x="535709" y="909569"/>
            <a:ext cx="10808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Open/Closed </a:t>
            </a:r>
            <a:r>
              <a:rPr lang="en-US" b="1" dirty="0"/>
              <a:t>with respect to operations</a:t>
            </a:r>
            <a:r>
              <a:rPr lang="en-US" dirty="0"/>
              <a:t>: new behavior = new class, zero edits to existing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 logic is </a:t>
            </a:r>
            <a:r>
              <a:rPr lang="en-US" b="1" dirty="0"/>
              <a:t>centralized</a:t>
            </a:r>
            <a:r>
              <a:rPr lang="en-US" dirty="0"/>
              <a:t> in one visitor per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Visitors can carry </a:t>
            </a:r>
            <a:r>
              <a:rPr lang="en-US" b="1" dirty="0"/>
              <a:t>state across the whole traversal</a:t>
            </a:r>
            <a:r>
              <a:rPr lang="en-US" dirty="0"/>
              <a:t> (accumulators, error lists, depth counters).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 </a:t>
            </a:r>
            <a:r>
              <a:rPr lang="en-US" b="1" dirty="0"/>
              <a:t>separation of concerns</a:t>
            </a:r>
            <a:r>
              <a:rPr lang="en-US" dirty="0"/>
              <a:t>: structure vs. behavior, clients depend only on the </a:t>
            </a:r>
            <a:r>
              <a:rPr lang="en-US" i="1" dirty="0"/>
              <a:t>Element</a:t>
            </a:r>
            <a:r>
              <a:rPr lang="en-US" dirty="0"/>
              <a:t> and </a:t>
            </a:r>
            <a:r>
              <a:rPr lang="en-US" i="1" dirty="0"/>
              <a:t>Visitor</a:t>
            </a:r>
            <a:r>
              <a:rPr lang="en-US" dirty="0"/>
              <a:t> abstractions.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 open/closed with respect to element types</a:t>
            </a:r>
            <a:r>
              <a:rPr lang="en-US" dirty="0"/>
              <a:t>: a new concrete element forces a new </a:t>
            </a:r>
            <a:r>
              <a:rPr lang="en-US" i="1" dirty="0"/>
              <a:t>visit(...)</a:t>
            </a:r>
            <a:r>
              <a:rPr lang="en-US" dirty="0"/>
              <a:t> in </a:t>
            </a:r>
            <a:r>
              <a:rPr lang="en-US" b="1" dirty="0"/>
              <a:t>every existing visitor</a:t>
            </a:r>
            <a:r>
              <a:rPr lang="en-US" dirty="0"/>
              <a:t> — and if the Visitor is an interface, the compiler will not even force it; you must remember.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Concrete visitors have </a:t>
            </a:r>
            <a:r>
              <a:rPr lang="en-US" b="1" dirty="0"/>
              <a:t>intimate knowledge</a:t>
            </a:r>
            <a:r>
              <a:rPr lang="en-US" dirty="0"/>
              <a:t> of the internal state of every concrete element → coupling; elements often need getters they would not otherwise expose (encapsulation cost).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</a:t>
            </a:r>
            <a:r>
              <a:rPr lang="en-US" i="1" dirty="0"/>
              <a:t>visit</a:t>
            </a:r>
            <a:r>
              <a:rPr lang="en-US" dirty="0"/>
              <a:t> methods </a:t>
            </a:r>
            <a:r>
              <a:rPr lang="en-US" b="1" dirty="0"/>
              <a:t>grows as </a:t>
            </a:r>
            <a:r>
              <a:rPr lang="en-US" b="1" i="1" dirty="0"/>
              <a:t>elements</a:t>
            </a:r>
            <a:r>
              <a:rPr lang="en-US" b="1" dirty="0"/>
              <a:t> × </a:t>
            </a:r>
            <a:r>
              <a:rPr lang="en-US" b="1" i="1" dirty="0"/>
              <a:t>visitors</a:t>
            </a:r>
            <a:r>
              <a:rPr lang="en-US" dirty="0"/>
              <a:t>: maintenance cost rises with both axes.</a:t>
            </a:r>
          </a:p>
        </p:txBody>
      </p:sp>
    </p:spTree>
    <p:extLst>
      <p:ext uri="{BB962C8B-B14F-4D97-AF65-F5344CB8AC3E}">
        <p14:creationId xmlns:p14="http://schemas.microsoft.com/office/powerpoint/2010/main" val="293496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1920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Iterator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74232-F57F-9A05-8883-43521659E241}"/>
              </a:ext>
            </a:extLst>
          </p:cNvPr>
          <p:cNvSpPr txBox="1"/>
          <p:nvPr/>
        </p:nvSpPr>
        <p:spPr>
          <a:xfrm>
            <a:off x="636105" y="914400"/>
            <a:ext cx="106547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client that needs to traverse a collection faces two fundamental design flaws: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Representation leakage</a:t>
            </a:r>
            <a:r>
              <a:rPr lang="en-US" dirty="0"/>
              <a:t>: if the aggregate exposes its internal structure (an array, a linked list, a tree), the client must know </a:t>
            </a:r>
            <a:r>
              <a:rPr lang="en-US" i="1" dirty="0"/>
              <a:t>how</a:t>
            </a:r>
            <a:r>
              <a:rPr lang="en-US" dirty="0"/>
              <a:t> elements are stored. Any change to the data structure breaks every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Interface bloat</a:t>
            </a:r>
            <a:r>
              <a:rPr lang="en-US" dirty="0"/>
              <a:t>: if you want multiple traversal strategies (forward, backward, in-order, breadth-first), each one becomes a method on the aggregate's interface. The aggregate grows unmanageable, and adding a new strategy requires modifying an existing class — violating the Open/Closed Principle.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Solution: extract the traversal logic into its own object and hide the representation behind a uniform </a:t>
            </a:r>
            <a:r>
              <a:rPr lang="en-US" i="1" dirty="0" err="1"/>
              <a:t>hasNext</a:t>
            </a:r>
            <a:r>
              <a:rPr lang="en-US" i="1" dirty="0"/>
              <a:t>() / next()</a:t>
            </a:r>
            <a:r>
              <a:rPr lang="en-US" dirty="0"/>
              <a:t> contract.</a:t>
            </a:r>
          </a:p>
        </p:txBody>
      </p:sp>
    </p:spTree>
    <p:extLst>
      <p:ext uri="{BB962C8B-B14F-4D97-AF65-F5344CB8AC3E}">
        <p14:creationId xmlns:p14="http://schemas.microsoft.com/office/powerpoint/2010/main" val="224033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7AEC-8383-4747-AC75-A6F09994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768F-146B-3224-5859-0911D60C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54BE0-BAA8-F3AA-1E04-45620ABF27C7}"/>
              </a:ext>
            </a:extLst>
          </p:cNvPr>
          <p:cNvSpPr txBox="1"/>
          <p:nvPr/>
        </p:nvSpPr>
        <p:spPr>
          <a:xfrm>
            <a:off x="535709" y="194055"/>
            <a:ext cx="1705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Iterator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15E3B-C052-DBA2-F6E8-AF719FE21CEE}"/>
              </a:ext>
            </a:extLst>
          </p:cNvPr>
          <p:cNvSpPr txBox="1"/>
          <p:nvPr/>
        </p:nvSpPr>
        <p:spPr>
          <a:xfrm>
            <a:off x="535709" y="889843"/>
            <a:ext cx="831214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When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aggregate has a complex internal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multiple traversal strategies over the same aggregate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to add new traversals without modifying existing code (OCP)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independent, simultaneous traversals: each iterator carries its own cursor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a uniform access interface across heterogeneous aggregates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to decouple traversal algorithms from the aggregate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aggregate has exactly one trivial traversal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random access (jump to index N): the Iterator pattern is inherently sequential</a:t>
            </a:r>
          </a:p>
        </p:txBody>
      </p:sp>
    </p:spTree>
    <p:extLst>
      <p:ext uri="{BB962C8B-B14F-4D97-AF65-F5344CB8AC3E}">
        <p14:creationId xmlns:p14="http://schemas.microsoft.com/office/powerpoint/2010/main" val="385054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BF4D6-E3C0-5839-CED3-DA364C6D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4C652-7039-F173-244C-AD45C2C4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66384-DD7F-6F29-12BB-8E9B7034AD99}"/>
              </a:ext>
            </a:extLst>
          </p:cNvPr>
          <p:cNvSpPr txBox="1"/>
          <p:nvPr/>
        </p:nvSpPr>
        <p:spPr>
          <a:xfrm>
            <a:off x="535709" y="194055"/>
            <a:ext cx="256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Iterator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22C0CF-9DF5-5999-4D08-E78DBE05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821" y="378721"/>
            <a:ext cx="5154357" cy="58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318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18734-748B-B76A-617B-471A8358DFBF}"/>
              </a:ext>
            </a:extLst>
          </p:cNvPr>
          <p:cNvSpPr txBox="1"/>
          <p:nvPr/>
        </p:nvSpPr>
        <p:spPr>
          <a:xfrm>
            <a:off x="468085" y="326572"/>
            <a:ext cx="3381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Iterator – Phonebook – The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9FF3B-F2F7-2341-8725-445BF07454AB}"/>
              </a:ext>
            </a:extLst>
          </p:cNvPr>
          <p:cNvSpPr txBox="1"/>
          <p:nvPr/>
        </p:nvSpPr>
        <p:spPr>
          <a:xfrm>
            <a:off x="6981825" y="363048"/>
            <a:ext cx="4265911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Aggregate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String[] entries;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size;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(int capacity)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this.entries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String[capacity];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this.size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add(String name, String number)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(size &gt;=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entries.length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is full");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entries[size++] = name + ": " + number;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size;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Iterator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createIterator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PhoneBookIterator(this);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Package-private access for the iterator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getEntry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(int index)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(index &lt; 0 || index &gt;= size)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IndexOutOfBoundsException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("Index: " + index);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entries[index];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getSizeInternal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size;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removeAt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(int index)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index;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&lt; size - 1;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entries[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 = entries[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size--;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7BE-61F2-23DB-8A1B-4E74B7C62DB3}"/>
              </a:ext>
            </a:extLst>
          </p:cNvPr>
          <p:cNvSpPr txBox="1"/>
          <p:nvPr/>
        </p:nvSpPr>
        <p:spPr>
          <a:xfrm>
            <a:off x="468085" y="2721114"/>
            <a:ext cx="30315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Aggregate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Iterator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createIterator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767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25E4-7768-F6A6-CE81-55D52D40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EF9F1-CA90-3DA1-29CB-FAFBFCE8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18516-0491-8985-6317-12D1E057B203}"/>
              </a:ext>
            </a:extLst>
          </p:cNvPr>
          <p:cNvSpPr txBox="1"/>
          <p:nvPr/>
        </p:nvSpPr>
        <p:spPr>
          <a:xfrm>
            <a:off x="468085" y="326572"/>
            <a:ext cx="3192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Iterator – Phonebook – The iterator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18187-9691-64F5-2D9C-6CF95E94CCB0}"/>
              </a:ext>
            </a:extLst>
          </p:cNvPr>
          <p:cNvSpPr txBox="1"/>
          <p:nvPr/>
        </p:nvSpPr>
        <p:spPr>
          <a:xfrm>
            <a:off x="468085" y="1711566"/>
            <a:ext cx="433965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Iterator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Checks if there are more elements to traverse.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@return true if the iteration has more elements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Returns the next element in the traversal.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@return the next element as Object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Object next();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Removes from the aggregate the last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 element returned by next().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remove();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3991D-C07C-6242-348B-0F7C52C4545C}"/>
              </a:ext>
            </a:extLst>
          </p:cNvPr>
          <p:cNvSpPr txBox="1"/>
          <p:nvPr/>
        </p:nvSpPr>
        <p:spPr>
          <a:xfrm>
            <a:off x="5168596" y="326572"/>
            <a:ext cx="6724918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PhoneBookIterator implements Iterator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current;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Object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PhoneBookIterator(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this.current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current 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phoneBook.getSizeInternal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Object next()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(!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java.util.NoSuchElementException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("No more elements");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phoneBook.getEntry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(current);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current++;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remove()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IllegalStateException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("next() must be called before remove()");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phoneBook.removeAt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(current - 1);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current--;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lastReturned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3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2A62-3153-21A4-2D5C-5526F84C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84CA6-73F3-4B9D-560D-BE9608AD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89B918-BBB1-9160-9A8A-693E195CDD85}"/>
              </a:ext>
            </a:extLst>
          </p:cNvPr>
          <p:cNvSpPr txBox="1"/>
          <p:nvPr/>
        </p:nvSpPr>
        <p:spPr>
          <a:xfrm>
            <a:off x="468085" y="326572"/>
            <a:ext cx="3202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Iterator – Phonebook –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F94C3-D7A5-9100-AFAB-C6108C980584}"/>
              </a:ext>
            </a:extLst>
          </p:cNvPr>
          <p:cNvSpPr txBox="1"/>
          <p:nvPr/>
        </p:nvSpPr>
        <p:spPr>
          <a:xfrm>
            <a:off x="5472113" y="326572"/>
            <a:ext cx="563006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Create the aggregate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phoneBook.add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("Alice", "555-0101");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phoneBook.add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("Bob", "555-0102");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phoneBook.add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("Charlie", "555-0103");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phoneBook.add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("Diana", "555-0104");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Create an iterator via the aggregate (client doesn't know internals)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Iterator it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phoneBook.createIterator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Traverse using only the Iterator interface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("=== Phone Book Entries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while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it.hasNext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Object entry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it.next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(entry);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Demonstrate remove()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("\\n=== Removing 'Bob' during iteration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Iterator it2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phoneBook.createIterator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while (it2.hasNext())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Object entry = it2.next();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entry.toString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startsWith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("Bob"))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it2.remove();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("Removed: " + entry);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else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("Kept:    " + entry);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Verify final state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("\\n=== Final Phone Book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Iterator it3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phoneBook.createIterator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while (it3.hasNext())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(it3.next());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09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64DB-CB2D-CF30-BDA4-D4F769FE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FC71A-3F12-FE25-885C-AB966D2E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FBA8F-594C-7CC1-25BD-84CF39650A85}"/>
              </a:ext>
            </a:extLst>
          </p:cNvPr>
          <p:cNvSpPr txBox="1"/>
          <p:nvPr/>
        </p:nvSpPr>
        <p:spPr>
          <a:xfrm>
            <a:off x="3753980" y="3105834"/>
            <a:ext cx="468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Iterator – Tree traversal</a:t>
            </a:r>
          </a:p>
        </p:txBody>
      </p:sp>
    </p:spTree>
    <p:extLst>
      <p:ext uri="{BB962C8B-B14F-4D97-AF65-F5344CB8AC3E}">
        <p14:creationId xmlns:p14="http://schemas.microsoft.com/office/powerpoint/2010/main" val="40866262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11AE-B768-5E34-CCED-894B3B51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34CAD-3B40-B906-9447-502A2422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Behavioral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E7698-0C9B-D202-6DE7-92EB13FDDAFB}"/>
              </a:ext>
            </a:extLst>
          </p:cNvPr>
          <p:cNvSpPr txBox="1"/>
          <p:nvPr/>
        </p:nvSpPr>
        <p:spPr>
          <a:xfrm>
            <a:off x="535709" y="194055"/>
            <a:ext cx="2511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Iterator – Pros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7B1B7D-D9EF-8A0C-C5EA-C7BF73CE9C2B}"/>
              </a:ext>
            </a:extLst>
          </p:cNvPr>
          <p:cNvSpPr txBox="1"/>
          <p:nvPr/>
        </p:nvSpPr>
        <p:spPr>
          <a:xfrm>
            <a:off x="535709" y="909569"/>
            <a:ext cx="10808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Simplified aggregate interface</a:t>
            </a:r>
            <a:r>
              <a:rPr lang="en-US" dirty="0"/>
              <a:t>: no traversal methods pollute the aggregate, it only stores and creates iterators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Multiple simultaneous traversals</a:t>
            </a:r>
            <a:r>
              <a:rPr lang="en-US" dirty="0"/>
              <a:t>: each iterator has independent state, two clients can iterate the same list at different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Independent extensibility</a:t>
            </a:r>
            <a:r>
              <a:rPr lang="en-US" dirty="0"/>
              <a:t>: new traversals are new classes, no modification to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Encapsulation</a:t>
            </a:r>
            <a:r>
              <a:rPr lang="en-US" dirty="0"/>
              <a:t>: the cursor is hidden inside the iterator, the client cannot corrupt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Polymorphic client code</a:t>
            </a:r>
            <a:r>
              <a:rPr lang="en-US" dirty="0"/>
              <a:t>: one </a:t>
            </a:r>
            <a:r>
              <a:rPr lang="en-US" i="1" dirty="0"/>
              <a:t>while(</a:t>
            </a:r>
            <a:r>
              <a:rPr lang="en-US" i="1" dirty="0" err="1"/>
              <a:t>it.hasNext</a:t>
            </a:r>
            <a:r>
              <a:rPr lang="en-US" i="1" dirty="0"/>
              <a:t>())</a:t>
            </a:r>
            <a:r>
              <a:rPr lang="en-US" dirty="0"/>
              <a:t> loop works for any aggregate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Disadvantages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proliferation</a:t>
            </a:r>
            <a:r>
              <a:rPr lang="en-US" dirty="0"/>
              <a:t>: each aggregate type needs its own iterator class (or a family of them)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Complexity for non-linear structures</a:t>
            </a:r>
            <a:r>
              <a:rPr lang="en-US" dirty="0"/>
              <a:t>: tree/graph iterators require stacks, queues, or recursion internally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overhead</a:t>
            </a:r>
            <a:r>
              <a:rPr lang="en-US" dirty="0"/>
              <a:t>: one object per active traversal (not a big deal, but present anyway)</a:t>
            </a:r>
          </a:p>
        </p:txBody>
      </p:sp>
    </p:spTree>
    <p:extLst>
      <p:ext uri="{BB962C8B-B14F-4D97-AF65-F5344CB8AC3E}">
        <p14:creationId xmlns:p14="http://schemas.microsoft.com/office/powerpoint/2010/main" val="82520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2597</TotalTime>
  <Words>14320</Words>
  <Application>Microsoft Macintosh PowerPoint</Application>
  <PresentationFormat>Widescreen</PresentationFormat>
  <Paragraphs>2120</Paragraphs>
  <Slides>91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6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94</cp:revision>
  <dcterms:created xsi:type="dcterms:W3CDTF">2025-02-19T20:33:39Z</dcterms:created>
  <dcterms:modified xsi:type="dcterms:W3CDTF">2026-10-10T17:08:34Z</dcterms:modified>
</cp:coreProperties>
</file>