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2" r:id="rId9"/>
    <p:sldId id="271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556"/>
  </p:normalViewPr>
  <p:slideViewPr>
    <p:cSldViewPr snapToGrid="0">
      <p:cViewPr varScale="1">
        <p:scale>
          <a:sx n="97" d="100"/>
          <a:sy n="97" d="100"/>
        </p:scale>
        <p:origin x="1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35AA-ABB7-4948-9F76-87136459D7FF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CF196-FF79-024D-9781-B4C1A3878564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A930A-7F67-9A42-BB01-70758B7F5EFD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72546-3BEE-764C-9AEC-7D7EA62426AC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D7D09-636B-5445-937F-6137C19E639A}" type="datetime1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298EE-AC28-A545-A283-F06A97B5DF88}" type="datetime1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81CEE-00A4-A345-8B07-31A683ABEAC6}" type="datetime1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75B4B-56F3-7E40-BD4F-4A74874A083B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11466-3FA5-5648-B320-02156D7863C0}" type="datetime1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FE4D8-F17F-3644-9021-646B6A276119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76071-F2DB-2A4D-889E-A19C85D9EE37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78259-0F11-214E-8B16-FF607F298094}" type="datetime1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ASE -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Advanced Software Engineering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BDC4A30-38BD-C3C6-B051-9C4C81E2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13177E-5D7E-7552-0642-FC63D6BB32ED}"/>
              </a:ext>
            </a:extLst>
          </p:cNvPr>
          <p:cNvSpPr txBox="1"/>
          <p:nvPr/>
        </p:nvSpPr>
        <p:spPr>
          <a:xfrm>
            <a:off x="4587606" y="3044279"/>
            <a:ext cx="3016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Who we are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F6C115-74A4-4FEF-D85E-CB5C9880F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472A63-C54E-043D-BE84-3CAEC60FDC54}"/>
              </a:ext>
            </a:extLst>
          </p:cNvPr>
          <p:cNvSpPr txBox="1"/>
          <p:nvPr/>
        </p:nvSpPr>
        <p:spPr>
          <a:xfrm>
            <a:off x="443659" y="365759"/>
            <a:ext cx="68294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Why Advanced Software Engineering?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AB89C-3E3C-C728-2D36-D481433FAF87}"/>
              </a:ext>
            </a:extLst>
          </p:cNvPr>
          <p:cNvSpPr txBox="1"/>
          <p:nvPr/>
        </p:nvSpPr>
        <p:spPr>
          <a:xfrm>
            <a:off x="3830007" y="3428999"/>
            <a:ext cx="42707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You’ll learn how to code better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F979F-2AF2-8199-547F-C72334D7DD47}"/>
              </a:ext>
            </a:extLst>
          </p:cNvPr>
          <p:cNvSpPr txBox="1"/>
          <p:nvPr/>
        </p:nvSpPr>
        <p:spPr>
          <a:xfrm>
            <a:off x="3519059" y="4450977"/>
            <a:ext cx="48926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... that means, how to design better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F8B0C-0CAD-2943-2E60-97D1641E33EE}"/>
              </a:ext>
            </a:extLst>
          </p:cNvPr>
          <p:cNvSpPr txBox="1"/>
          <p:nvPr/>
        </p:nvSpPr>
        <p:spPr>
          <a:xfrm>
            <a:off x="3217501" y="5472954"/>
            <a:ext cx="54957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... that means, how to understand better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4DBF5B-F4BD-A3B5-CC93-A6E73254D3B4}"/>
              </a:ext>
            </a:extLst>
          </p:cNvPr>
          <p:cNvSpPr txBox="1"/>
          <p:nvPr/>
        </p:nvSpPr>
        <p:spPr>
          <a:xfrm>
            <a:off x="2119983" y="2008258"/>
            <a:ext cx="2140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 I need this?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75753-18EC-F806-DA51-34EC58269F61}"/>
              </a:ext>
            </a:extLst>
          </p:cNvPr>
          <p:cNvSpPr txBox="1"/>
          <p:nvPr/>
        </p:nvSpPr>
        <p:spPr>
          <a:xfrm>
            <a:off x="6809250" y="1976807"/>
            <a:ext cx="30132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No, not really </a:t>
            </a:r>
            <a:r>
              <a:rPr lang="en-US" sz="2400" dirty="0">
                <a:sym typeface="Wingdings" pitchFamily="2" charset="2"/>
              </a:rPr>
              <a:t>:) ... but</a:t>
            </a:r>
            <a:endParaRPr lang="en-US" sz="240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4E671E-916D-DF92-7E3A-34FC8E892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22899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E028-2A15-9ACF-33F7-FE417157B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92B10-EC09-86CE-0DF7-81C4F316933D}"/>
              </a:ext>
            </a:extLst>
          </p:cNvPr>
          <p:cNvSpPr txBox="1"/>
          <p:nvPr/>
        </p:nvSpPr>
        <p:spPr>
          <a:xfrm>
            <a:off x="443659" y="365759"/>
            <a:ext cx="4172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What you will find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7B151-C3D8-2A19-5923-DA963BCE77C1}"/>
              </a:ext>
            </a:extLst>
          </p:cNvPr>
          <p:cNvSpPr txBox="1"/>
          <p:nvPr/>
        </p:nvSpPr>
        <p:spPr>
          <a:xfrm>
            <a:off x="1001189" y="1627551"/>
            <a:ext cx="108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B1170-EBED-FF3D-FF59-0F778C255602}"/>
              </a:ext>
            </a:extLst>
          </p:cNvPr>
          <p:cNvSpPr txBox="1"/>
          <p:nvPr/>
        </p:nvSpPr>
        <p:spPr>
          <a:xfrm>
            <a:off x="1001189" y="2640563"/>
            <a:ext cx="2137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Exercises (live)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EF35F-BE48-A62B-0003-BF8959C4BDEC}"/>
              </a:ext>
            </a:extLst>
          </p:cNvPr>
          <p:cNvSpPr txBox="1"/>
          <p:nvPr/>
        </p:nvSpPr>
        <p:spPr>
          <a:xfrm>
            <a:off x="1001189" y="3653575"/>
            <a:ext cx="2556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Personal opinions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61938-7148-FFF2-66F3-F507E37B428F}"/>
              </a:ext>
            </a:extLst>
          </p:cNvPr>
          <p:cNvSpPr txBox="1"/>
          <p:nvPr/>
        </p:nvSpPr>
        <p:spPr>
          <a:xfrm>
            <a:off x="1001189" y="4666587"/>
            <a:ext cx="2904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Experienced advises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5F6EF-CE34-06A1-B35B-81116755AA2C}"/>
              </a:ext>
            </a:extLst>
          </p:cNvPr>
          <p:cNvSpPr txBox="1"/>
          <p:nvPr/>
        </p:nvSpPr>
        <p:spPr>
          <a:xfrm>
            <a:off x="7271657" y="1627551"/>
            <a:ext cx="31963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Lessons: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Monday, 15.00 =&gt; 16.30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Wednesday, 15.00 =&gt; 16.30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Thursday, 8.00 =&gt; 9.30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1A0488-7718-CE9B-4F5C-EE7C5300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212883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ACB3-C881-C391-EDD6-7A4D8630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A70F85-6880-35FE-95FF-A67E84A6E297}"/>
              </a:ext>
            </a:extLst>
          </p:cNvPr>
          <p:cNvSpPr txBox="1"/>
          <p:nvPr/>
        </p:nvSpPr>
        <p:spPr>
          <a:xfrm>
            <a:off x="443659" y="365759"/>
            <a:ext cx="23255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We use Java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CFE49-910C-573E-5E31-E5E476D3AE28}"/>
              </a:ext>
            </a:extLst>
          </p:cNvPr>
          <p:cNvSpPr txBox="1"/>
          <p:nvPr/>
        </p:nvSpPr>
        <p:spPr>
          <a:xfrm>
            <a:off x="749397" y="1495029"/>
            <a:ext cx="9576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 need of a specific version, Java 25 LTS is enough (even lower are fine)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93EFBB-EF9C-CD28-2D3D-4E300F157078}"/>
              </a:ext>
            </a:extLst>
          </p:cNvPr>
          <p:cNvSpPr txBox="1"/>
          <p:nvPr/>
        </p:nvSpPr>
        <p:spPr>
          <a:xfrm>
            <a:off x="749397" y="2508041"/>
            <a:ext cx="2961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We’ll also use Maven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789CD-1605-2FC4-3891-E9CC769F14C5}"/>
              </a:ext>
            </a:extLst>
          </p:cNvPr>
          <p:cNvSpPr txBox="1"/>
          <p:nvPr/>
        </p:nvSpPr>
        <p:spPr>
          <a:xfrm>
            <a:off x="749397" y="3521053"/>
            <a:ext cx="105230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 need to know any additional Java framework, they won’t be allowed anyway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DF4359-ECB8-D8A5-F154-2BB6355B0491}"/>
              </a:ext>
            </a:extLst>
          </p:cNvPr>
          <p:cNvSpPr txBox="1"/>
          <p:nvPr/>
        </p:nvSpPr>
        <p:spPr>
          <a:xfrm>
            <a:off x="749396" y="4534065"/>
            <a:ext cx="4365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Some Typescript here and there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472CF3-D88D-6729-6920-29E34A01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104863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9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73640-F76E-3FAC-D4C9-4344D333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1FFB5-D5C7-523F-583D-734897AABB23}"/>
              </a:ext>
            </a:extLst>
          </p:cNvPr>
          <p:cNvSpPr txBox="1"/>
          <p:nvPr/>
        </p:nvSpPr>
        <p:spPr>
          <a:xfrm>
            <a:off x="443659" y="365759"/>
            <a:ext cx="1437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Topics!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89B70-E71A-0073-BFC6-A3026D680567}"/>
              </a:ext>
            </a:extLst>
          </p:cNvPr>
          <p:cNvSpPr txBox="1"/>
          <p:nvPr/>
        </p:nvSpPr>
        <p:spPr>
          <a:xfrm>
            <a:off x="1001189" y="1627551"/>
            <a:ext cx="4099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Today: recap about Interfaces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E7111-F67A-84B9-AD09-1BF1806B4634}"/>
              </a:ext>
            </a:extLst>
          </p:cNvPr>
          <p:cNvSpPr txBox="1"/>
          <p:nvPr/>
        </p:nvSpPr>
        <p:spPr>
          <a:xfrm>
            <a:off x="1001188" y="2582660"/>
            <a:ext cx="1770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In-depth Git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B8B23A-6512-1424-2CFD-F037314361C1}"/>
              </a:ext>
            </a:extLst>
          </p:cNvPr>
          <p:cNvSpPr txBox="1"/>
          <p:nvPr/>
        </p:nvSpPr>
        <p:spPr>
          <a:xfrm>
            <a:off x="1001188" y="4492878"/>
            <a:ext cx="196034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Type systems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Generics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Metaprogramming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Reflection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58182B-E82F-A2D7-C4B3-23BFD72EE580}"/>
              </a:ext>
            </a:extLst>
          </p:cNvPr>
          <p:cNvSpPr txBox="1"/>
          <p:nvPr/>
        </p:nvSpPr>
        <p:spPr>
          <a:xfrm>
            <a:off x="1001188" y="3537769"/>
            <a:ext cx="4443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Design Patterns: the whole story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8B82CB-FD1B-BBAB-AEC2-A7C304997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321647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468A-8AA9-6B03-B07B-77496458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3D33BF-43E9-3D87-1DBD-FCC5CC97F85F}"/>
              </a:ext>
            </a:extLst>
          </p:cNvPr>
          <p:cNvSpPr txBox="1"/>
          <p:nvPr/>
        </p:nvSpPr>
        <p:spPr>
          <a:xfrm>
            <a:off x="443659" y="365759"/>
            <a:ext cx="1437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Topics!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15D31-487B-2F6C-65ED-B74D9FB50E5E}"/>
              </a:ext>
            </a:extLst>
          </p:cNvPr>
          <p:cNvSpPr txBox="1"/>
          <p:nvPr/>
        </p:nvSpPr>
        <p:spPr>
          <a:xfrm>
            <a:off x="1001188" y="2432029"/>
            <a:ext cx="3433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Functional programming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E6F71-5770-5741-DC8B-95AF1A468431}"/>
              </a:ext>
            </a:extLst>
          </p:cNvPr>
          <p:cNvSpPr txBox="1"/>
          <p:nvPr/>
        </p:nvSpPr>
        <p:spPr>
          <a:xfrm>
            <a:off x="1001188" y="3634440"/>
            <a:ext cx="17243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Unit Testing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22AB27-8198-11F5-BC68-E16EA7C691C1}"/>
              </a:ext>
            </a:extLst>
          </p:cNvPr>
          <p:cNvSpPr txBox="1"/>
          <p:nvPr/>
        </p:nvSpPr>
        <p:spPr>
          <a:xfrm>
            <a:off x="1001188" y="4836852"/>
            <a:ext cx="3531736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Concurrent programming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Async models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Coroutines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4D9B7-6707-3096-6325-15D259D71042}"/>
              </a:ext>
            </a:extLst>
          </p:cNvPr>
          <p:cNvSpPr txBox="1"/>
          <p:nvPr/>
        </p:nvSpPr>
        <p:spPr>
          <a:xfrm>
            <a:off x="1001188" y="1419015"/>
            <a:ext cx="30949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Memory management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D79F72F-CB42-D726-70E1-059E104DF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291671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2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7708-ADEE-8356-842B-E83FC63D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5B021D-B44F-4E2C-4E8F-41B6E8A30710}"/>
              </a:ext>
            </a:extLst>
          </p:cNvPr>
          <p:cNvSpPr txBox="1"/>
          <p:nvPr/>
        </p:nvSpPr>
        <p:spPr>
          <a:xfrm>
            <a:off x="1017301" y="1997839"/>
            <a:ext cx="55755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/>
              <a:t>Communication</a:t>
            </a:r>
          </a:p>
          <a:p>
            <a:pPr algn="ctr"/>
            <a:r>
              <a:rPr lang="en-US" sz="6000" dirty="0"/>
              <a:t>&amp;</a:t>
            </a:r>
          </a:p>
          <a:p>
            <a:pPr algn="ctr"/>
            <a:r>
              <a:rPr lang="en-US" sz="6000" dirty="0"/>
              <a:t>Rules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D0EACF-8490-2EE1-335A-3A8BD9FE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5909F-3D0E-5676-EB1C-F0CB3D7BE895}"/>
              </a:ext>
            </a:extLst>
          </p:cNvPr>
          <p:cNvSpPr txBox="1"/>
          <p:nvPr/>
        </p:nvSpPr>
        <p:spPr>
          <a:xfrm>
            <a:off x="7553771" y="1582340"/>
            <a:ext cx="362092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 be afraid to speak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Availability for clarification talks</a:t>
            </a:r>
          </a:p>
        </p:txBody>
      </p:sp>
    </p:spTree>
    <p:extLst>
      <p:ext uri="{BB962C8B-B14F-4D97-AF65-F5344CB8AC3E}">
        <p14:creationId xmlns:p14="http://schemas.microsoft.com/office/powerpoint/2010/main" val="1955020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7708-ADEE-8356-842B-E83FC63D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5B021D-B44F-4E2C-4E8F-41B6E8A30710}"/>
              </a:ext>
            </a:extLst>
          </p:cNvPr>
          <p:cNvSpPr txBox="1"/>
          <p:nvPr/>
        </p:nvSpPr>
        <p:spPr>
          <a:xfrm>
            <a:off x="5676654" y="2921168"/>
            <a:ext cx="8386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AI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EAB96E-5ED3-0D37-3634-8217DAD48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</p:spTree>
    <p:extLst>
      <p:ext uri="{BB962C8B-B14F-4D97-AF65-F5344CB8AC3E}">
        <p14:creationId xmlns:p14="http://schemas.microsoft.com/office/powerpoint/2010/main" val="2301880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DF4F-7EF4-2ED7-C6EB-18281859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C590F8-03DF-E668-232A-D5E289F2E0DC}"/>
              </a:ext>
            </a:extLst>
          </p:cNvPr>
          <p:cNvSpPr txBox="1"/>
          <p:nvPr/>
        </p:nvSpPr>
        <p:spPr>
          <a:xfrm>
            <a:off x="1511708" y="2921168"/>
            <a:ext cx="20124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Exam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DC2CD3-75D8-780C-6CFE-FB99F33D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21370-BEA3-A803-8030-D7221835B30C}"/>
              </a:ext>
            </a:extLst>
          </p:cNvPr>
          <p:cNvSpPr txBox="1"/>
          <p:nvPr/>
        </p:nvSpPr>
        <p:spPr>
          <a:xfrm>
            <a:off x="7465617" y="612843"/>
            <a:ext cx="3386953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Timeline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Evaluation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How it works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What is measured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Grades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Ask me … ALWAYS!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 NOT overdo</a:t>
            </a:r>
          </a:p>
        </p:txBody>
      </p:sp>
    </p:spTree>
    <p:extLst>
      <p:ext uri="{BB962C8B-B14F-4D97-AF65-F5344CB8AC3E}">
        <p14:creationId xmlns:p14="http://schemas.microsoft.com/office/powerpoint/2010/main" val="1756045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E3D0-E6E4-A2B6-037E-4A2D124C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A42AEF-1DD9-126F-04E4-257783FA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ASE -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0A5716-57E1-ADB1-BA57-6108519D01F3}"/>
              </a:ext>
            </a:extLst>
          </p:cNvPr>
          <p:cNvSpPr txBox="1"/>
          <p:nvPr/>
        </p:nvSpPr>
        <p:spPr>
          <a:xfrm>
            <a:off x="459274" y="250371"/>
            <a:ext cx="1870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Don’t do this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CFD40B-A54E-EF90-82AE-1428D2A436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866"/>
          <a:stretch>
            <a:fillRect/>
          </a:stretch>
        </p:blipFill>
        <p:spPr>
          <a:xfrm>
            <a:off x="8153400" y="4439028"/>
            <a:ext cx="2575133" cy="13017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4B8B2B-C5F4-C5C9-11F7-910C80A655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535"/>
          <a:stretch>
            <a:fillRect/>
          </a:stretch>
        </p:blipFill>
        <p:spPr>
          <a:xfrm>
            <a:off x="8153400" y="2559048"/>
            <a:ext cx="2575132" cy="13126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797B43-9703-BE90-AC27-CC67475D75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873"/>
          <a:stretch>
            <a:fillRect/>
          </a:stretch>
        </p:blipFill>
        <p:spPr>
          <a:xfrm>
            <a:off x="8142483" y="672460"/>
            <a:ext cx="2586048" cy="13233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0A57D2-233E-03E4-0132-4477681CC8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315"/>
          <a:stretch>
            <a:fillRect/>
          </a:stretch>
        </p:blipFill>
        <p:spPr>
          <a:xfrm>
            <a:off x="459274" y="1921621"/>
            <a:ext cx="6017725" cy="306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3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230</Words>
  <Application>Microsoft Macintosh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15</cp:revision>
  <dcterms:created xsi:type="dcterms:W3CDTF">2025-02-17T20:26:07Z</dcterms:created>
  <dcterms:modified xsi:type="dcterms:W3CDTF">2026-09-28T07:26:25Z</dcterms:modified>
</cp:coreProperties>
</file>