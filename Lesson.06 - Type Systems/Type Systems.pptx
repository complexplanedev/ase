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handoutMasterIdLst>
    <p:handoutMasterId r:id="rId23"/>
  </p:handoutMasterIdLst>
  <p:sldIdLst>
    <p:sldId id="256" r:id="rId2"/>
    <p:sldId id="273" r:id="rId3"/>
    <p:sldId id="296" r:id="rId4"/>
    <p:sldId id="297" r:id="rId5"/>
    <p:sldId id="302" r:id="rId6"/>
    <p:sldId id="298" r:id="rId7"/>
    <p:sldId id="290" r:id="rId8"/>
    <p:sldId id="299" r:id="rId9"/>
    <p:sldId id="300" r:id="rId10"/>
    <p:sldId id="301" r:id="rId11"/>
    <p:sldId id="312" r:id="rId12"/>
    <p:sldId id="303" r:id="rId13"/>
    <p:sldId id="304" r:id="rId14"/>
    <p:sldId id="305" r:id="rId15"/>
    <p:sldId id="306" r:id="rId16"/>
    <p:sldId id="307" r:id="rId17"/>
    <p:sldId id="308" r:id="rId18"/>
    <p:sldId id="309" r:id="rId19"/>
    <p:sldId id="310" r:id="rId20"/>
    <p:sldId id="311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B3E8C50-9F58-5237-7C41-C721E3BAA428}" name="Di Monaco, Antonio" initials="AD" userId="S::antonio.di.monaco@sap.com::719b72b0-0350-4d19-9a7f-748728a101c7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437"/>
    <p:restoredTop sz="94615"/>
  </p:normalViewPr>
  <p:slideViewPr>
    <p:cSldViewPr snapToGrid="0">
      <p:cViewPr varScale="1">
        <p:scale>
          <a:sx n="117" d="100"/>
          <a:sy n="117" d="100"/>
        </p:scale>
        <p:origin x="1096" y="1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38100" cy="381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handoutMaster" Target="handoutMasters/handoutMaster1.xml"/><Relationship Id="rId28" Type="http://schemas.microsoft.com/office/2018/10/relationships/authors" Target="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85BD452-70C7-7D43-DE79-395EC2D5AAB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US"/>
              <a:t>Advanced Software Engineering - 1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477222D-C06B-5CD4-B200-730FB65A8EB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042657-6240-B14B-9F48-F865CB79AC7C}" type="datetimeFigureOut">
              <a:rPr lang="en-US" smtClean="0"/>
              <a:t>11/16/25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CA16D15-E1AC-47B8-BF91-C30978D1B07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Design Patterns - Creational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6759E4-6272-9520-00E8-FE3F63A8D3D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55DFA7A-FF33-C64E-B529-8BCC138EFE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301349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US"/>
              <a:t>Advanced Software Engineering - 1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6B121A-761B-2742-9D61-65348EACD743}" type="datetimeFigureOut">
              <a:rPr lang="en-US" smtClean="0"/>
              <a:t>11/16/25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Design Patterns - Creational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5659E5-EFBC-DB40-B048-B7FD703FB7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716450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- Fail early and often!</a:t>
            </a:r>
            <a:br>
              <a:rPr lang="en-US"/>
            </a:br>
            <a:br>
              <a:rPr lang="en-US"/>
            </a:br>
            <a:r>
              <a:rPr lang="en-US"/>
              <a:t>- Interfaces must be easy to use and hard to misuse</a:t>
            </a:r>
          </a:p>
        </p:txBody>
      </p:sp>
    </p:spTree>
    <p:extLst>
      <p:ext uri="{BB962C8B-B14F-4D97-AF65-F5344CB8AC3E}">
        <p14:creationId xmlns:p14="http://schemas.microsoft.com/office/powerpoint/2010/main" val="4376850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69C6D0-5512-F16D-A0CB-B72D25DE262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3212CC4-D335-C33A-9B0A-689A95B7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0D5E48-8338-AC1F-6E5F-D8999FEBFB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3A10DE-D476-574B-998E-5D43E6F5B00A}" type="datetime1">
              <a:t>11/16/25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BF1100-D604-5C2D-7C49-74A286EA26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ASE - Type Systems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1938D9-1B5A-E778-95C0-AF4682C3CC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D81C8F-CB39-4E4D-98E4-8C3FEDF751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83527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5AA693-A74F-F8E3-AD6A-0332BA4B83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E7BD10-0BF7-1F3F-59C4-F701A75502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DC3507-7FCB-4052-7D4E-E0E661B88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D90A3-1F72-E24F-8C94-737403593BA5}" type="datetime1">
              <a:t>11/16/25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4CF9F4-E7EF-D596-F08B-70C65EFF8A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ASE - Type Systems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E1335D-13AC-DE52-4FB3-F21D0F4A36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D81C8F-CB39-4E4D-98E4-8C3FEDF751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50251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1A6974-425E-2DAD-9A21-BA0796179F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801BC8-2575-E2E6-B061-F7EE5B50CD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E7BA54-9635-D484-B680-4616CD98E7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6AD66-0DBF-604F-8113-A797F5C24BC3}" type="datetime1">
              <a:t>11/16/25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5CA804-2107-34D8-E78B-2A7FFFB91E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ASE - Type Systems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8FD9B-7CDC-60DE-0DC1-06904DCB43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D81C8F-CB39-4E4D-98E4-8C3FEDF751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35908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C6372E-B1A4-D336-D790-D89C1E791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17E8D-C5B1-602E-EAC6-EB6FA3EE17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8AB62D6-18E8-14F8-E378-8E10073C87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B366E2-2C5F-9236-3F60-A87A6B3495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83AA05-BDF8-BB4D-B53B-6F1FE8A20883}" type="datetime1">
              <a:t>11/16/25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A63519-F2FC-412C-3914-030E96B37E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ASE - Type Systems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E3F7ABC-C7BA-0E16-8652-D4FB52E886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D81C8F-CB39-4E4D-98E4-8C3FEDF751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52215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A9EAA-6C94-CE7A-96FB-FF6B2F1807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842EFD-CF2B-1D2E-7819-E2EBC8E190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64380BC-743C-1D56-4519-FAAC1140ED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FE74647-A3CD-CD27-25B6-C1CB380354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BBD464C-F134-5223-06A8-93C17D00FB5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FA3B48B-CF79-443F-E609-240A9AD958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3879E3-919B-6546-9B3B-2DAC9B19D924}" type="datetime1">
              <a:t>11/16/25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1D2D30F-6B06-D928-93A9-7BFCC033B7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ASE - Type Systems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55A9A56-6E9F-7FCB-C081-AB1C0B13D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D81C8F-CB39-4E4D-98E4-8C3FEDF751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67183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2BFFED-3B7D-D363-F6D8-89AB1CD5D2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6B69165-4CDC-A611-C121-3CA7DEA955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D45909-FE3E-754B-A8C6-D4F016E0E040}" type="datetime1">
              <a:t>11/16/25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A37B45-F436-35A0-1A11-3847788ADA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ASE - Type Systems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B1E249D-E148-E80F-8FD8-12216ADDD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D81C8F-CB39-4E4D-98E4-8C3FEDF751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76218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8329C19-6C7E-FBCF-C0D3-BC2825CF72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565547-9DA7-EC4A-942D-8AC128434C90}" type="datetime1">
              <a:t>11/16/25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EF8B7D5-B148-1242-4C00-81D88102D5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ASE - Type Systems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C565B3-A8E1-6528-1396-C3E42F7151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D81C8F-CB39-4E4D-98E4-8C3FEDF751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78574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5B6B0A-0FFE-C59A-0FDB-B712E2B38C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2C6137-AB91-B024-3858-0625F2A854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472223-1D56-3876-37AB-AB827894ABD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85145A-5ACE-4F2E-8C10-D81F5A60BB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D9648-7C18-B349-A35D-F166231333F2}" type="datetime1">
              <a:t>11/16/25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D1CE9C-37C5-A4EB-2D87-B45D168BB4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ASE - Type Systems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8DA687-831D-6087-7C77-C236A471CA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D81C8F-CB39-4E4D-98E4-8C3FEDF751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48103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45D35-BDA7-8A9B-5FE8-19ED22B14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99E14BC-B1A6-7914-CA5E-3491D5093C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69EAF5-4292-2E66-1BA9-931773EEC4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FD9A49-D6E3-429F-B82D-DD18B58F5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D1D86C-49ED-DE41-9F40-5CE19EBAD86C}" type="datetime1">
              <a:t>11/16/25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A0FD04-DB58-C9EB-75F0-97413C2C5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ASE - Type Systems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B13049-D1B6-FDF7-C4FA-F1C43AC618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D81C8F-CB39-4E4D-98E4-8C3FEDF751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11242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47E8EE-477E-ECFB-0E65-CD52E05BF6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19C616-6082-E08E-4642-B87DE66B81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B289D1-5083-F77D-B918-E888FE2BD2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66E1C5-A7EF-B447-B740-861B94AAEB3F}" type="datetime1">
              <a:t>11/16/25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B9B412-8604-155E-9048-BCEAA5F805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ASE - Type Systems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DB81FC-B75F-EB66-0310-834FD5ED80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D81C8F-CB39-4E4D-98E4-8C3FEDF751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6737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44BFC86-9762-DFC3-7CD6-D3F9D73D9F7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9A56E57-9E5C-69B9-F8AE-49A68E29D5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BED425-82B9-9E5C-85DE-50375387C2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CA1054-5A68-5342-9705-1A22E7A28B0D}" type="datetime1">
              <a:t>11/16/25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3633BA-4ED4-16BD-862C-CA2CC2E394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ASE - Type Systems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1C00BD-6373-F5B3-CF96-94569E933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D81C8F-CB39-4E4D-98E4-8C3FEDF751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87021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DB6CD59-EDAF-CA69-6ACB-CAD4CEB9C4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553310-4114-A479-F299-36FC9ECFE5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F66501-C88C-FFD9-4D05-DAEFB3B8117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3DC02F-6CF8-D241-8A42-82FA977DCE90}" type="datetime1">
              <a:t>11/16/25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41AE9D-4006-22D3-9F53-03EFBB7E47B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ASE - Type Systems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D99D29-9B98-65F3-7AC9-22F3C883F3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3D81C8F-CB39-4E4D-98E4-8C3FEDF751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82975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36CC111-4FC3-7E6E-DA79-351238E3FC6C}"/>
              </a:ext>
            </a:extLst>
          </p:cNvPr>
          <p:cNvSpPr txBox="1"/>
          <p:nvPr/>
        </p:nvSpPr>
        <p:spPr>
          <a:xfrm>
            <a:off x="535709" y="1666910"/>
            <a:ext cx="3845155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Type Systems</a:t>
            </a:r>
            <a:br>
              <a:rPr lang="en-US" dirty="0"/>
            </a:br>
            <a:endParaRPr lang="en-US" dirty="0"/>
          </a:p>
          <a:p>
            <a:pPr marL="742950" lvl="1" indent="-285750">
              <a:buFontTx/>
              <a:buChar char="-"/>
            </a:pPr>
            <a:r>
              <a:rPr lang="en-US" dirty="0"/>
              <a:t>What is it and why do we care</a:t>
            </a:r>
          </a:p>
          <a:p>
            <a:pPr marL="742950" lvl="1" indent="-285750">
              <a:buFontTx/>
              <a:buChar char="-"/>
            </a:pPr>
            <a:endParaRPr lang="en-US" dirty="0"/>
          </a:p>
          <a:p>
            <a:pPr marL="742950" lvl="1" indent="-285750">
              <a:buFontTx/>
              <a:buChar char="-"/>
            </a:pPr>
            <a:r>
              <a:rPr lang="en-US" dirty="0"/>
              <a:t>Type Safety</a:t>
            </a:r>
          </a:p>
          <a:p>
            <a:pPr marL="742950" lvl="1" indent="-285750">
              <a:buFontTx/>
              <a:buChar char="-"/>
            </a:pPr>
            <a:endParaRPr lang="en-US" dirty="0"/>
          </a:p>
          <a:p>
            <a:pPr marL="742950" lvl="1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Generics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Metaprogramming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Reflection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BDAC65D-2BF1-A1DC-E10D-231A3F2AE9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ASE - Type Systems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F66554-06DA-C448-4970-80727A8BD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D81C8F-CB39-4E4D-98E4-8C3FEDF75126}" type="slidenum">
              <a:rPr lang="en-US" smtClean="0"/>
              <a:t>1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9B88B0-1855-2B75-F573-938C6C9A3F46}"/>
              </a:ext>
            </a:extLst>
          </p:cNvPr>
          <p:cNvSpPr txBox="1"/>
          <p:nvPr/>
        </p:nvSpPr>
        <p:spPr>
          <a:xfrm>
            <a:off x="535709" y="304800"/>
            <a:ext cx="821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Topics</a:t>
            </a:r>
          </a:p>
        </p:txBody>
      </p:sp>
    </p:spTree>
    <p:extLst>
      <p:ext uri="{BB962C8B-B14F-4D97-AF65-F5344CB8AC3E}">
        <p14:creationId xmlns:p14="http://schemas.microsoft.com/office/powerpoint/2010/main" val="29530138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D592D3-F30D-4DF3-492E-0C33E2517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406D104-9EDC-D46B-637B-706E48A810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ASE - Type Systems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381AA-ACD9-DFF0-0194-EDFA4AA0FD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D81C8F-CB39-4E4D-98E4-8C3FEDF75126}" type="slidenum">
              <a:rPr lang="en-US" smtClean="0"/>
              <a:t>2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894FC4-9AAE-0409-A05F-029F6B74CB3C}"/>
              </a:ext>
            </a:extLst>
          </p:cNvPr>
          <p:cNvSpPr txBox="1"/>
          <p:nvPr/>
        </p:nvSpPr>
        <p:spPr>
          <a:xfrm>
            <a:off x="535709" y="194055"/>
            <a:ext cx="15390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Type Systems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B9E2262-B327-71D3-877B-63BA2114D7A4}"/>
              </a:ext>
            </a:extLst>
          </p:cNvPr>
          <p:cNvSpPr txBox="1"/>
          <p:nvPr/>
        </p:nvSpPr>
        <p:spPr>
          <a:xfrm>
            <a:off x="397164" y="1095442"/>
            <a:ext cx="10818091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A Type System is a set of rules that assign a property called “type” to a language construct (= term).</a:t>
            </a:r>
          </a:p>
          <a:p>
            <a:endParaRPr lang="en-US"/>
          </a:p>
          <a:p>
            <a:r>
              <a:rPr lang="en-US"/>
              <a:t>That defines: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which operations can be performed on that term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in case of variables, which is the allowed range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r>
              <a:rPr lang="en-US"/>
              <a:t>Usually such system is built into compilers and interpreters, but it could be implemented in external tools (like linters).</a:t>
            </a:r>
          </a:p>
          <a:p>
            <a:endParaRPr lang="en-US"/>
          </a:p>
          <a:p>
            <a:endParaRPr lang="en-US"/>
          </a:p>
          <a:p>
            <a:r>
              <a:rPr lang="en-US"/>
              <a:t>Its goal is to reduce bugs in computer programs. </a:t>
            </a:r>
            <a:r>
              <a:rPr lang="en-US" b="1"/>
              <a:t>Never forget: the compiler knows better than you.</a:t>
            </a:r>
            <a:r>
              <a:rPr lang="en-US"/>
              <a:t> So, the more information you provide to it, the better it can help you avoid logical failures in your code.</a:t>
            </a:r>
          </a:p>
          <a:p>
            <a:endParaRPr lang="en-US"/>
          </a:p>
          <a:p>
            <a:r>
              <a:rPr lang="en-US"/>
              <a:t>Moreover, it can help you define a ”contract” (= interfaces) among parts that have to be connected in a consistent way. It can happen at run-time, of course, but the more you move to compile-time checks, the more reliable is your implementation.</a:t>
            </a:r>
          </a:p>
        </p:txBody>
      </p:sp>
    </p:spTree>
    <p:extLst>
      <p:ext uri="{BB962C8B-B14F-4D97-AF65-F5344CB8AC3E}">
        <p14:creationId xmlns:p14="http://schemas.microsoft.com/office/powerpoint/2010/main" val="3748922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621EC-23D4-205B-370A-D0DE4CE315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619930-1F7B-E349-A7E6-73F2FCB70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ASE - Type Systems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D7F1DE-744F-9833-F4D2-0982D93EE9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D81C8F-CB39-4E4D-98E4-8C3FEDF75126}" type="slidenum">
              <a:rPr lang="en-US" smtClean="0"/>
              <a:t>3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AFF6950-7C38-7731-D845-1E65CCED20B2}"/>
              </a:ext>
            </a:extLst>
          </p:cNvPr>
          <p:cNvSpPr txBox="1"/>
          <p:nvPr/>
        </p:nvSpPr>
        <p:spPr>
          <a:xfrm>
            <a:off x="535709" y="194055"/>
            <a:ext cx="1585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Type Systems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15BCF4-1ACF-0A2E-598E-BBD141985FA3}"/>
              </a:ext>
            </a:extLst>
          </p:cNvPr>
          <p:cNvSpPr txBox="1"/>
          <p:nvPr/>
        </p:nvSpPr>
        <p:spPr>
          <a:xfrm>
            <a:off x="461818" y="1071418"/>
            <a:ext cx="10525317" cy="48013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 type gives “meaning” to your information.</a:t>
            </a:r>
          </a:p>
          <a:p>
            <a:pPr marL="285750" indent="-285750">
              <a:buFont typeface="Symbol" pitchFamily="2" charset="2"/>
              <a:buChar char="Þ"/>
            </a:pPr>
            <a:r>
              <a:rPr lang="en-US"/>
              <a:t>A string, from the CPU POV, it’s an array of bytes, with no specific meaning, it can be anything</a:t>
            </a:r>
          </a:p>
          <a:p>
            <a:pPr marL="285750" indent="-285750">
              <a:buFont typeface="Symbol" pitchFamily="2" charset="2"/>
              <a:buChar char="Þ"/>
            </a:pPr>
            <a:r>
              <a:rPr lang="en-US"/>
              <a:t>A string, from a TS POV, it’s a sequence of characters with a defined character type (= range)</a:t>
            </a:r>
          </a:p>
          <a:p>
            <a:pPr marL="285750" indent="-285750">
              <a:buFont typeface="Symbol" pitchFamily="2" charset="2"/>
              <a:buChar char="Þ"/>
            </a:pPr>
            <a:endParaRPr lang="en-US"/>
          </a:p>
          <a:p>
            <a:r>
              <a:rPr lang="en-US"/>
              <a:t>Implications: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abstraction: you can think at higher level, not bothering with low-level implementation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/>
              <a:t>example: Typescript enums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documentation: type can help you document what you’re doing, according to the expressiveness</a:t>
            </a:r>
            <a:br>
              <a:rPr lang="en-US"/>
            </a:br>
            <a:r>
              <a:rPr lang="en-US"/>
              <a:t>your type system</a:t>
            </a:r>
          </a:p>
          <a:p>
            <a:pPr marL="285750" indent="-285750">
              <a:buFont typeface="Symbol" pitchFamily="2" charset="2"/>
              <a:buChar char="Þ"/>
            </a:pPr>
            <a:endParaRPr lang="en-US"/>
          </a:p>
          <a:p>
            <a:r>
              <a:rPr lang="en-US"/>
              <a:t>Types can be extended (class/interface inheritance, union types) or aggregated (class/records).</a:t>
            </a:r>
          </a:p>
          <a:p>
            <a:endParaRPr lang="en-US"/>
          </a:p>
          <a:p>
            <a:r>
              <a:rPr lang="en-US"/>
              <a:t>Types can be inferred by the type system:</a:t>
            </a:r>
          </a:p>
          <a:p>
            <a:r>
              <a:rPr lang="en-US"/>
              <a:t>	const a = True (inferred as boolean)</a:t>
            </a:r>
          </a:p>
          <a:p>
            <a:r>
              <a:rPr lang="en-US"/>
              <a:t>	auto x = 54; (integer or real?)</a:t>
            </a:r>
          </a:p>
          <a:p>
            <a:endParaRPr lang="en-US"/>
          </a:p>
          <a:p>
            <a:r>
              <a:rPr lang="en-US"/>
              <a:t>Optimization: when a compiler knows the range of a type, it can generate more optimized assembly-code</a:t>
            </a:r>
          </a:p>
        </p:txBody>
      </p:sp>
    </p:spTree>
    <p:extLst>
      <p:ext uri="{BB962C8B-B14F-4D97-AF65-F5344CB8AC3E}">
        <p14:creationId xmlns:p14="http://schemas.microsoft.com/office/powerpoint/2010/main" val="42790419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8558AD-D89D-9B72-E9B6-B054581676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F4F4F60-EF6A-28B2-DDAE-6AEEB56AD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ASE - Type Systems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E1105B-6C1A-9D1F-B2DF-7BD2A27025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D81C8F-CB39-4E4D-98E4-8C3FEDF75126}" type="slidenum">
              <a:rPr lang="en-US" smtClean="0"/>
              <a:t>4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FFEB350-7633-D1C2-18D6-ED7E6AB58D47}"/>
              </a:ext>
            </a:extLst>
          </p:cNvPr>
          <p:cNvSpPr txBox="1"/>
          <p:nvPr/>
        </p:nvSpPr>
        <p:spPr>
          <a:xfrm>
            <a:off x="535709" y="194055"/>
            <a:ext cx="2629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Type Safety - Type Check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90BFD80-96DD-CC44-4D9B-DE3A625D6D0F}"/>
              </a:ext>
            </a:extLst>
          </p:cNvPr>
          <p:cNvSpPr txBox="1"/>
          <p:nvPr/>
        </p:nvSpPr>
        <p:spPr>
          <a:xfrm>
            <a:off x="461818" y="1071418"/>
            <a:ext cx="11506804" cy="48013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Compile-time (static typing)</a:t>
            </a:r>
            <a:br>
              <a:rPr lang="en-US"/>
            </a:br>
            <a:br>
              <a:rPr lang="en-US"/>
            </a:br>
            <a:r>
              <a:rPr lang="en-US"/>
              <a:t>Type safety is checked at compile-time. So, we know that, by design, a variable with a specific type already</a:t>
            </a:r>
            <a:br>
              <a:rPr lang="en-US"/>
            </a:br>
            <a:r>
              <a:rPr lang="en-US"/>
              <a:t>satisfies some constraints that are evaluated by the compiler, so it’s a kind of limited form of program</a:t>
            </a:r>
            <a:br>
              <a:rPr lang="en-US"/>
            </a:br>
            <a:r>
              <a:rPr lang="en-US"/>
              <a:t>verification.</a:t>
            </a:r>
            <a:br>
              <a:rPr lang="en-US"/>
            </a:br>
            <a:br>
              <a:rPr lang="en-US"/>
            </a:br>
            <a:r>
              <a:rPr lang="en-US"/>
              <a:t>We don’t need additional code to implement safety checks at run-time =&gt; potentially faster</a:t>
            </a:r>
            <a:br>
              <a:rPr lang="en-US"/>
            </a:br>
            <a:br>
              <a:rPr lang="en-US"/>
            </a:br>
            <a:r>
              <a:rPr lang="en-US" b="1"/>
              <a:t>We check in advance, using types, all possible paths of a code</a:t>
            </a:r>
            <a:br>
              <a:rPr lang="en-US" b="1"/>
            </a:br>
            <a:br>
              <a:rPr lang="en-US" b="1"/>
            </a:br>
            <a:endParaRPr lang="en-US" b="1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Run-time (dynamic typing)</a:t>
            </a:r>
            <a:br>
              <a:rPr lang="en-US"/>
            </a:br>
            <a:br>
              <a:rPr lang="en-US"/>
            </a:br>
            <a:r>
              <a:rPr lang="en-US"/>
              <a:t>We use RTTI (Run Time Type Information) to evaluate the type of a specific expression/variable.</a:t>
            </a:r>
            <a:br>
              <a:rPr lang="en-US"/>
            </a:br>
            <a:br>
              <a:rPr lang="en-US"/>
            </a:br>
            <a:r>
              <a:rPr lang="en-US"/>
              <a:t>One major use is downcasting, i.e. you have a parent class A, a subclass B and C, a reference to A, and you want</a:t>
            </a:r>
            <a:br>
              <a:rPr lang="en-US"/>
            </a:br>
            <a:r>
              <a:rPr lang="en-US"/>
              <a:t>to know if the A-reference is an instance of B or C (expensive!!!)</a:t>
            </a:r>
          </a:p>
        </p:txBody>
      </p:sp>
    </p:spTree>
    <p:extLst>
      <p:ext uri="{BB962C8B-B14F-4D97-AF65-F5344CB8AC3E}">
        <p14:creationId xmlns:p14="http://schemas.microsoft.com/office/powerpoint/2010/main" val="1634325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A0AC6-D674-96B5-706C-F783A6C58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DE619F5-09EB-19CC-79B5-E8EFD5A9F6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ASE - Type Systems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EA40D3-B7AD-9EBC-5DE3-8F6EC0C017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D81C8F-CB39-4E4D-98E4-8C3FEDF75126}" type="slidenum">
              <a:rPr lang="en-US" smtClean="0"/>
              <a:t>5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254A39B-3333-0DE2-C196-81A4C64B2B9C}"/>
              </a:ext>
            </a:extLst>
          </p:cNvPr>
          <p:cNvSpPr txBox="1"/>
          <p:nvPr/>
        </p:nvSpPr>
        <p:spPr>
          <a:xfrm>
            <a:off x="535709" y="194055"/>
            <a:ext cx="19915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OOP is not for free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EAEBD40-6075-7DFC-7A28-DA75DA243BF2}"/>
              </a:ext>
            </a:extLst>
          </p:cNvPr>
          <p:cNvSpPr txBox="1"/>
          <p:nvPr/>
        </p:nvSpPr>
        <p:spPr>
          <a:xfrm>
            <a:off x="504516" y="916361"/>
            <a:ext cx="3097666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latin typeface="Courier New" panose="02070309020205020404" pitchFamily="49" charset="0"/>
                <a:cs typeface="Courier New" panose="02070309020205020404" pitchFamily="49" charset="0"/>
              </a:rPr>
              <a:t>class Base {</a:t>
            </a:r>
          </a:p>
          <a:p>
            <a:r>
              <a:rPr lang="en-US" sz="120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200" b="1">
                <a:solidFill>
                  <a:schemeClr val="bg2">
                    <a:lumMod val="9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VirtualTable* __vptr;</a:t>
            </a:r>
          </a:p>
          <a:p>
            <a:r>
              <a:rPr lang="en-US" sz="1200">
                <a:latin typeface="Courier New" panose="02070309020205020404" pitchFamily="49" charset="0"/>
                <a:cs typeface="Courier New" panose="02070309020205020404" pitchFamily="49" charset="0"/>
              </a:rPr>
              <a:t>public:</a:t>
            </a:r>
          </a:p>
          <a:p>
            <a:r>
              <a:rPr lang="en-US" sz="1200">
                <a:latin typeface="Courier New" panose="02070309020205020404" pitchFamily="49" charset="0"/>
                <a:cs typeface="Courier New" panose="02070309020205020404" pitchFamily="49" charset="0"/>
              </a:rPr>
              <a:t>  virtual void f1() {}</a:t>
            </a:r>
          </a:p>
          <a:p>
            <a:r>
              <a:rPr lang="en-US" sz="1200">
                <a:latin typeface="Courier New" panose="02070309020205020404" pitchFamily="49" charset="0"/>
                <a:cs typeface="Courier New" panose="02070309020205020404" pitchFamily="49" charset="0"/>
              </a:rPr>
              <a:t>  virtual void f2() {}</a:t>
            </a:r>
          </a:p>
          <a:p>
            <a:r>
              <a:rPr lang="en-US" sz="120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endParaRPr lang="en-US" sz="1200">
              <a:solidFill>
                <a:schemeClr val="tx1">
                  <a:lumMod val="50000"/>
                  <a:lumOff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>
                <a:latin typeface="Courier New" panose="02070309020205020404" pitchFamily="49" charset="0"/>
                <a:cs typeface="Courier New" panose="02070309020205020404" pitchFamily="49" charset="0"/>
              </a:rPr>
              <a:t>class D1 : public Base {</a:t>
            </a:r>
          </a:p>
          <a:p>
            <a:r>
              <a:rPr lang="en-US" sz="1200">
                <a:latin typeface="Courier New" panose="02070309020205020404" pitchFamily="49" charset="0"/>
                <a:cs typeface="Courier New" panose="02070309020205020404" pitchFamily="49" charset="0"/>
              </a:rPr>
              <a:t>public:</a:t>
            </a:r>
          </a:p>
          <a:p>
            <a:r>
              <a:rPr lang="en-US" sz="1200">
                <a:latin typeface="Courier New" panose="02070309020205020404" pitchFamily="49" charset="0"/>
                <a:cs typeface="Courier New" panose="02070309020205020404" pitchFamily="49" charset="0"/>
              </a:rPr>
              <a:t>  void f1() override { }</a:t>
            </a:r>
          </a:p>
          <a:p>
            <a:r>
              <a:rPr lang="en-US" sz="120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endParaRPr lang="en-US" sz="12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>
                <a:latin typeface="Courier New" panose="02070309020205020404" pitchFamily="49" charset="0"/>
                <a:cs typeface="Courier New" panose="02070309020205020404" pitchFamily="49" charset="0"/>
              </a:rPr>
              <a:t>class D2 : public Base {</a:t>
            </a:r>
          </a:p>
          <a:p>
            <a:r>
              <a:rPr lang="en-US" sz="1200">
                <a:latin typeface="Courier New" panose="02070309020205020404" pitchFamily="49" charset="0"/>
                <a:cs typeface="Courier New" panose="02070309020205020404" pitchFamily="49" charset="0"/>
              </a:rPr>
              <a:t>public:</a:t>
            </a:r>
          </a:p>
          <a:p>
            <a:r>
              <a:rPr lang="en-US" sz="1200">
                <a:latin typeface="Courier New" panose="02070309020205020404" pitchFamily="49" charset="0"/>
                <a:cs typeface="Courier New" panose="02070309020205020404" pitchFamily="49" charset="0"/>
              </a:rPr>
              <a:t>  void f2() override { }</a:t>
            </a:r>
          </a:p>
          <a:p>
            <a:r>
              <a:rPr lang="en-US" sz="120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930DCB1-02AF-0B37-A8D6-747180C0BC17}"/>
              </a:ext>
            </a:extLst>
          </p:cNvPr>
          <p:cNvSpPr/>
          <p:nvPr/>
        </p:nvSpPr>
        <p:spPr>
          <a:xfrm>
            <a:off x="7185891" y="563387"/>
            <a:ext cx="1403929" cy="951377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sz="120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Base</a:t>
            </a:r>
          </a:p>
          <a:p>
            <a:r>
              <a:rPr lang="en-US" sz="120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*__vptr;</a:t>
            </a:r>
          </a:p>
          <a:p>
            <a:r>
              <a:rPr lang="en-US" sz="120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f1() {}</a:t>
            </a:r>
          </a:p>
          <a:p>
            <a:r>
              <a:rPr lang="en-US" sz="120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f2() {}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F5A2065-538D-1044-48DF-FC36F3EFD8A6}"/>
              </a:ext>
            </a:extLst>
          </p:cNvPr>
          <p:cNvSpPr/>
          <p:nvPr/>
        </p:nvSpPr>
        <p:spPr>
          <a:xfrm>
            <a:off x="9280235" y="771205"/>
            <a:ext cx="1403929" cy="951377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sz="120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Base VTable</a:t>
            </a:r>
          </a:p>
          <a:p>
            <a:r>
              <a:rPr lang="en-US" sz="120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f1()</a:t>
            </a:r>
          </a:p>
          <a:p>
            <a:r>
              <a:rPr lang="en-US" sz="120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f2()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D109078-F411-211F-38A0-3646A148F6CE}"/>
              </a:ext>
            </a:extLst>
          </p:cNvPr>
          <p:cNvSpPr/>
          <p:nvPr/>
        </p:nvSpPr>
        <p:spPr>
          <a:xfrm>
            <a:off x="7185890" y="2439855"/>
            <a:ext cx="1644074" cy="755927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sz="120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D1</a:t>
            </a:r>
          </a:p>
          <a:p>
            <a:r>
              <a:rPr lang="en-US" sz="120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((*__vptr;))</a:t>
            </a:r>
          </a:p>
          <a:p>
            <a:r>
              <a:rPr lang="en-US" sz="120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f1() {}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26A845F-1559-2774-BFE4-CF6CD38B6761}"/>
              </a:ext>
            </a:extLst>
          </p:cNvPr>
          <p:cNvSpPr/>
          <p:nvPr/>
        </p:nvSpPr>
        <p:spPr>
          <a:xfrm>
            <a:off x="9280235" y="2612400"/>
            <a:ext cx="1403929" cy="951377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sz="120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D1 VTable</a:t>
            </a:r>
          </a:p>
          <a:p>
            <a:r>
              <a:rPr lang="en-US" sz="120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f1()</a:t>
            </a:r>
          </a:p>
          <a:p>
            <a:r>
              <a:rPr lang="en-US" sz="120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f2()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985F45-EB7D-BEA9-F030-AE9CA05A4738}"/>
              </a:ext>
            </a:extLst>
          </p:cNvPr>
          <p:cNvSpPr/>
          <p:nvPr/>
        </p:nvSpPr>
        <p:spPr>
          <a:xfrm>
            <a:off x="7185890" y="4297368"/>
            <a:ext cx="1644074" cy="755927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sz="120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D2</a:t>
            </a:r>
          </a:p>
          <a:p>
            <a:r>
              <a:rPr lang="en-US" sz="120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((*__vptr;))</a:t>
            </a:r>
          </a:p>
          <a:p>
            <a:r>
              <a:rPr lang="en-US" sz="120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f2() {}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2F3B3C-935B-7EBE-2AA8-33879BA42B6E}"/>
              </a:ext>
            </a:extLst>
          </p:cNvPr>
          <p:cNvSpPr/>
          <p:nvPr/>
        </p:nvSpPr>
        <p:spPr>
          <a:xfrm>
            <a:off x="9280235" y="4469913"/>
            <a:ext cx="1403929" cy="951377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sz="120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D2 VTable</a:t>
            </a:r>
          </a:p>
          <a:p>
            <a:r>
              <a:rPr lang="en-US" sz="120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f1()</a:t>
            </a:r>
          </a:p>
          <a:p>
            <a:r>
              <a:rPr lang="en-US" sz="120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f2()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7BF7604-D86F-58FB-31D0-922192E1508F}"/>
              </a:ext>
            </a:extLst>
          </p:cNvPr>
          <p:cNvCxnSpPr/>
          <p:nvPr/>
        </p:nvCxnSpPr>
        <p:spPr>
          <a:xfrm flipH="1">
            <a:off x="2743200" y="434109"/>
            <a:ext cx="581891" cy="6373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BE467C76-96AD-10FF-8E53-E68A139F50DE}"/>
              </a:ext>
            </a:extLst>
          </p:cNvPr>
          <p:cNvSpPr txBox="1"/>
          <p:nvPr/>
        </p:nvSpPr>
        <p:spPr>
          <a:xfrm>
            <a:off x="3325091" y="255610"/>
            <a:ext cx="271568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>
                <a:solidFill>
                  <a:srgbClr val="FF0000"/>
                </a:solidFill>
              </a:rPr>
              <a:t>implicitly added by the compiler!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BB3D82A-3723-A757-5106-8E765389275B}"/>
              </a:ext>
            </a:extLst>
          </p:cNvPr>
          <p:cNvCxnSpPr/>
          <p:nvPr/>
        </p:nvCxnSpPr>
        <p:spPr>
          <a:xfrm>
            <a:off x="8285018" y="916361"/>
            <a:ext cx="107141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9381EE1-99E6-29EA-28C2-6F10FB516FF4}"/>
              </a:ext>
            </a:extLst>
          </p:cNvPr>
          <p:cNvCxnSpPr/>
          <p:nvPr/>
        </p:nvCxnSpPr>
        <p:spPr>
          <a:xfrm flipH="1">
            <a:off x="8153400" y="1071418"/>
            <a:ext cx="1341582" cy="0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38054190-9683-E422-C7CE-BB8DDE4F31D7}"/>
              </a:ext>
            </a:extLst>
          </p:cNvPr>
          <p:cNvCxnSpPr/>
          <p:nvPr/>
        </p:nvCxnSpPr>
        <p:spPr>
          <a:xfrm flipH="1">
            <a:off x="8153400" y="1246893"/>
            <a:ext cx="1341582" cy="0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0544229-6139-D9A4-EDA5-7C6D7B406419}"/>
              </a:ext>
            </a:extLst>
          </p:cNvPr>
          <p:cNvCxnSpPr>
            <a:cxnSpLocks/>
          </p:cNvCxnSpPr>
          <p:nvPr/>
        </p:nvCxnSpPr>
        <p:spPr>
          <a:xfrm>
            <a:off x="8610600" y="2753163"/>
            <a:ext cx="74583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9DEDDB21-8C31-E745-16F3-543BA8AF5DC5}"/>
              </a:ext>
            </a:extLst>
          </p:cNvPr>
          <p:cNvCxnSpPr/>
          <p:nvPr/>
        </p:nvCxnSpPr>
        <p:spPr>
          <a:xfrm flipH="1">
            <a:off x="8153400" y="2918691"/>
            <a:ext cx="1341582" cy="0"/>
          </a:xfrm>
          <a:prstGeom prst="straightConnector1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2" name="Group 41">
            <a:extLst>
              <a:ext uri="{FF2B5EF4-FFF2-40B4-BE49-F238E27FC236}">
                <a16:creationId xmlns:a16="http://schemas.microsoft.com/office/drawing/2014/main" id="{58832AC5-768D-A1E0-5F96-90BC7B9DB097}"/>
              </a:ext>
            </a:extLst>
          </p:cNvPr>
          <p:cNvGrpSpPr/>
          <p:nvPr/>
        </p:nvGrpSpPr>
        <p:grpSpPr>
          <a:xfrm>
            <a:off x="6899564" y="1246893"/>
            <a:ext cx="2844800" cy="2484598"/>
            <a:chOff x="6899564" y="1246893"/>
            <a:chExt cx="2844800" cy="2484598"/>
          </a:xfrm>
        </p:grpSpPr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71986533-E1D2-C5F8-B837-FE8A4EB6507A}"/>
                </a:ext>
              </a:extLst>
            </p:cNvPr>
            <p:cNvCxnSpPr/>
            <p:nvPr/>
          </p:nvCxnSpPr>
          <p:spPr>
            <a:xfrm>
              <a:off x="9744364" y="3269673"/>
              <a:ext cx="0" cy="461818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71EE0274-DE9D-9EFC-E4F2-2C4AE4C1A94C}"/>
                </a:ext>
              </a:extLst>
            </p:cNvPr>
            <p:cNvCxnSpPr/>
            <p:nvPr/>
          </p:nvCxnSpPr>
          <p:spPr>
            <a:xfrm flipH="1">
              <a:off x="6899564" y="3731491"/>
              <a:ext cx="2844800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490E97B8-079E-2119-DAD0-02511D91E936}"/>
                </a:ext>
              </a:extLst>
            </p:cNvPr>
            <p:cNvCxnSpPr/>
            <p:nvPr/>
          </p:nvCxnSpPr>
          <p:spPr>
            <a:xfrm flipV="1">
              <a:off x="6899564" y="1246893"/>
              <a:ext cx="0" cy="2484598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7C2C2E6E-ACC3-B676-BBDE-52B0365F8FE1}"/>
                </a:ext>
              </a:extLst>
            </p:cNvPr>
            <p:cNvCxnSpPr/>
            <p:nvPr/>
          </p:nvCxnSpPr>
          <p:spPr>
            <a:xfrm>
              <a:off x="6899564" y="1246893"/>
              <a:ext cx="508000" cy="0"/>
            </a:xfrm>
            <a:prstGeom prst="straightConnector1">
              <a:avLst/>
            </a:prstGeom>
            <a:ln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45F18713-DE84-4E29-882D-6EFE8304890F}"/>
              </a:ext>
            </a:extLst>
          </p:cNvPr>
          <p:cNvCxnSpPr>
            <a:cxnSpLocks/>
          </p:cNvCxnSpPr>
          <p:nvPr/>
        </p:nvCxnSpPr>
        <p:spPr>
          <a:xfrm>
            <a:off x="8589820" y="4595817"/>
            <a:ext cx="74583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Elbow Connector 44">
            <a:extLst>
              <a:ext uri="{FF2B5EF4-FFF2-40B4-BE49-F238E27FC236}">
                <a16:creationId xmlns:a16="http://schemas.microsoft.com/office/drawing/2014/main" id="{6D9B570C-AECF-36DA-A4B3-BB2737DFAD01}"/>
              </a:ext>
            </a:extLst>
          </p:cNvPr>
          <p:cNvCxnSpPr/>
          <p:nvPr/>
        </p:nvCxnSpPr>
        <p:spPr>
          <a:xfrm rot="10800000">
            <a:off x="8153400" y="4802909"/>
            <a:ext cx="1341582" cy="142692"/>
          </a:xfrm>
          <a:prstGeom prst="bentConnector3">
            <a:avLst>
              <a:gd name="adj1" fmla="val 34165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7" name="Group 56">
            <a:extLst>
              <a:ext uri="{FF2B5EF4-FFF2-40B4-BE49-F238E27FC236}">
                <a16:creationId xmlns:a16="http://schemas.microsoft.com/office/drawing/2014/main" id="{91F6FB2D-D83C-F414-9117-3E795053053F}"/>
              </a:ext>
            </a:extLst>
          </p:cNvPr>
          <p:cNvGrpSpPr/>
          <p:nvPr/>
        </p:nvGrpSpPr>
        <p:grpSpPr>
          <a:xfrm>
            <a:off x="6668655" y="1039075"/>
            <a:ext cx="3592945" cy="4567398"/>
            <a:chOff x="6668655" y="1039075"/>
            <a:chExt cx="3592945" cy="4567398"/>
          </a:xfrm>
        </p:grpSpPr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956F12C5-6A2D-FB82-45D6-78C8B6FD0B87}"/>
                </a:ext>
              </a:extLst>
            </p:cNvPr>
            <p:cNvCxnSpPr/>
            <p:nvPr/>
          </p:nvCxnSpPr>
          <p:spPr>
            <a:xfrm>
              <a:off x="9982199" y="4802909"/>
              <a:ext cx="279401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7935273C-BF32-3727-09E7-C6FD61901153}"/>
                </a:ext>
              </a:extLst>
            </p:cNvPr>
            <p:cNvCxnSpPr/>
            <p:nvPr/>
          </p:nvCxnSpPr>
          <p:spPr>
            <a:xfrm>
              <a:off x="10261600" y="4802909"/>
              <a:ext cx="0" cy="803564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560264C1-D90D-1299-ABA6-443519105F2C}"/>
                </a:ext>
              </a:extLst>
            </p:cNvPr>
            <p:cNvCxnSpPr/>
            <p:nvPr/>
          </p:nvCxnSpPr>
          <p:spPr>
            <a:xfrm flipH="1">
              <a:off x="6668655" y="5606473"/>
              <a:ext cx="359294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4A7E7E61-2AD6-D174-58A9-EAED70C7F806}"/>
                </a:ext>
              </a:extLst>
            </p:cNvPr>
            <p:cNvCxnSpPr/>
            <p:nvPr/>
          </p:nvCxnSpPr>
          <p:spPr>
            <a:xfrm flipV="1">
              <a:off x="6668655" y="1039075"/>
              <a:ext cx="0" cy="4567398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1FCEFE37-952A-3F80-FE80-B3B7F41AF9A9}"/>
                </a:ext>
              </a:extLst>
            </p:cNvPr>
            <p:cNvCxnSpPr/>
            <p:nvPr/>
          </p:nvCxnSpPr>
          <p:spPr>
            <a:xfrm>
              <a:off x="6668655" y="1039075"/>
              <a:ext cx="738909" cy="0"/>
            </a:xfrm>
            <a:prstGeom prst="straightConnector1">
              <a:avLst/>
            </a:prstGeom>
            <a:ln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8" name="TextBox 57">
            <a:extLst>
              <a:ext uri="{FF2B5EF4-FFF2-40B4-BE49-F238E27FC236}">
                <a16:creationId xmlns:a16="http://schemas.microsoft.com/office/drawing/2014/main" id="{D4756C07-038E-16AA-096D-454C2348D810}"/>
              </a:ext>
            </a:extLst>
          </p:cNvPr>
          <p:cNvSpPr txBox="1"/>
          <p:nvPr/>
        </p:nvSpPr>
        <p:spPr>
          <a:xfrm>
            <a:off x="3850766" y="1246893"/>
            <a:ext cx="22311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OOP is implemented using</a:t>
            </a:r>
          </a:p>
          <a:p>
            <a:r>
              <a:rPr lang="en-US" sz="1200"/>
              <a:t>virtual tables, that allow the</a:t>
            </a:r>
          </a:p>
          <a:p>
            <a:r>
              <a:rPr lang="en-US" sz="1200"/>
              <a:t>dynamic dispatch mechanism.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1102E09-018D-3F89-33DF-7E3F842F4C16}"/>
              </a:ext>
            </a:extLst>
          </p:cNvPr>
          <p:cNvSpPr txBox="1"/>
          <p:nvPr/>
        </p:nvSpPr>
        <p:spPr>
          <a:xfrm>
            <a:off x="504516" y="4082979"/>
            <a:ext cx="202275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latin typeface="Courier New" panose="02070309020205020404" pitchFamily="49" charset="0"/>
                <a:cs typeface="Courier New" panose="02070309020205020404" pitchFamily="49" charset="0"/>
              </a:rPr>
              <a:t>D1 d1;</a:t>
            </a:r>
          </a:p>
          <a:p>
            <a:r>
              <a:rPr lang="en-US" sz="1200">
                <a:latin typeface="Courier New" panose="02070309020205020404" pitchFamily="49" charset="0"/>
                <a:cs typeface="Courier New" panose="02070309020205020404" pitchFamily="49" charset="0"/>
              </a:rPr>
              <a:t>D2 d2;</a:t>
            </a:r>
          </a:p>
          <a:p>
            <a:endParaRPr lang="en-US" sz="12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>
                <a:latin typeface="Courier New" panose="02070309020205020404" pitchFamily="49" charset="0"/>
                <a:cs typeface="Courier New" panose="02070309020205020404" pitchFamily="49" charset="0"/>
              </a:rPr>
              <a:t>Base *p1 = &amp;d1;</a:t>
            </a:r>
          </a:p>
          <a:p>
            <a:r>
              <a:rPr lang="en-US" sz="1200">
                <a:latin typeface="Courier New" panose="02070309020205020404" pitchFamily="49" charset="0"/>
                <a:cs typeface="Courier New" panose="02070309020205020404" pitchFamily="49" charset="0"/>
              </a:rPr>
              <a:t>p1-&gt;f1();</a:t>
            </a:r>
          </a:p>
          <a:p>
            <a:r>
              <a:rPr lang="en-US" sz="1200">
                <a:latin typeface="Courier New" panose="02070309020205020404" pitchFamily="49" charset="0"/>
                <a:cs typeface="Courier New" panose="02070309020205020404" pitchFamily="49" charset="0"/>
              </a:rPr>
              <a:t>p1-&gt;f2();</a:t>
            </a:r>
          </a:p>
          <a:p>
            <a:endParaRPr lang="en-US" sz="12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>
                <a:latin typeface="Courier New" panose="02070309020205020404" pitchFamily="49" charset="0"/>
                <a:cs typeface="Courier New" panose="02070309020205020404" pitchFamily="49" charset="0"/>
              </a:rPr>
              <a:t>Base p2 = d2;</a:t>
            </a:r>
          </a:p>
          <a:p>
            <a:r>
              <a:rPr lang="en-US" sz="1200">
                <a:latin typeface="Courier New" panose="02070309020205020404" pitchFamily="49" charset="0"/>
                <a:cs typeface="Courier New" panose="02070309020205020404" pitchFamily="49" charset="0"/>
              </a:rPr>
              <a:t>p2.f1();</a:t>
            </a:r>
          </a:p>
          <a:p>
            <a:r>
              <a:rPr lang="en-US" sz="1200">
                <a:latin typeface="Courier New" panose="02070309020205020404" pitchFamily="49" charset="0"/>
                <a:cs typeface="Courier New" panose="02070309020205020404" pitchFamily="49" charset="0"/>
              </a:rPr>
              <a:t>p2.f2();</a:t>
            </a:r>
          </a:p>
        </p:txBody>
      </p:sp>
      <p:grpSp>
        <p:nvGrpSpPr>
          <p:cNvPr id="70" name="Group 69">
            <a:extLst>
              <a:ext uri="{FF2B5EF4-FFF2-40B4-BE49-F238E27FC236}">
                <a16:creationId xmlns:a16="http://schemas.microsoft.com/office/drawing/2014/main" id="{EEF68258-F82B-1DAB-446F-B56497891985}"/>
              </a:ext>
            </a:extLst>
          </p:cNvPr>
          <p:cNvGrpSpPr/>
          <p:nvPr/>
        </p:nvGrpSpPr>
        <p:grpSpPr>
          <a:xfrm>
            <a:off x="2253099" y="4664409"/>
            <a:ext cx="3904626" cy="984469"/>
            <a:chOff x="2253099" y="4664409"/>
            <a:chExt cx="3904626" cy="984469"/>
          </a:xfrm>
        </p:grpSpPr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5C8A9F2E-DAF6-D9EA-008D-2DE4FA69693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62909" y="4802909"/>
              <a:ext cx="106218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A13845C2-3709-3F2C-FA71-7A81E4DF3121}"/>
                </a:ext>
              </a:extLst>
            </p:cNvPr>
            <p:cNvSpPr txBox="1"/>
            <p:nvPr/>
          </p:nvSpPr>
          <p:spPr>
            <a:xfrm>
              <a:off x="3334901" y="4664409"/>
              <a:ext cx="282282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>
                  <a:solidFill>
                    <a:schemeClr val="accent6"/>
                  </a:solidFill>
                </a:rPr>
                <a:t>We use the vptr of the derived class </a:t>
              </a:r>
              <a:r>
                <a:rPr lang="en-US" sz="1200" b="1">
                  <a:solidFill>
                    <a:schemeClr val="accent6"/>
                  </a:solidFill>
                  <a:sym typeface="Wingdings" pitchFamily="2" charset="2"/>
                </a:rPr>
                <a:t></a:t>
              </a:r>
              <a:endParaRPr lang="en-US" sz="1200" b="1">
                <a:solidFill>
                  <a:schemeClr val="accent6"/>
                </a:solidFill>
              </a:endParaRPr>
            </a:p>
          </p:txBody>
        </p:sp>
        <p:cxnSp>
          <p:nvCxnSpPr>
            <p:cNvPr id="68" name="Straight Arrow Connector 67">
              <a:extLst>
                <a:ext uri="{FF2B5EF4-FFF2-40B4-BE49-F238E27FC236}">
                  <a16:creationId xmlns:a16="http://schemas.microsoft.com/office/drawing/2014/main" id="{A89665E5-C8FC-5083-82E7-3F1D74CA03B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53099" y="5510379"/>
              <a:ext cx="106218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9D9A00CC-22AC-3C06-E037-C3059D9BD178}"/>
                </a:ext>
              </a:extLst>
            </p:cNvPr>
            <p:cNvSpPr txBox="1"/>
            <p:nvPr/>
          </p:nvSpPr>
          <p:spPr>
            <a:xfrm>
              <a:off x="3325091" y="5371879"/>
              <a:ext cx="265277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>
                  <a:solidFill>
                    <a:srgbClr val="FF0000"/>
                  </a:solidFill>
                </a:rPr>
                <a:t>We use the vptr of the base class </a:t>
              </a:r>
              <a:r>
                <a:rPr lang="en-US" sz="1200" b="1">
                  <a:solidFill>
                    <a:srgbClr val="FF0000"/>
                  </a:solidFill>
                  <a:sym typeface="Wingdings" pitchFamily="2" charset="2"/>
                </a:rPr>
                <a:t></a:t>
              </a:r>
              <a:endParaRPr lang="en-US" sz="1200" b="1">
                <a:solidFill>
                  <a:srgbClr val="FF0000"/>
                </a:solidFill>
              </a:endParaRPr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59FEC3C7-A82F-5DB3-B463-23CA579526E7}"/>
              </a:ext>
            </a:extLst>
          </p:cNvPr>
          <p:cNvGrpSpPr/>
          <p:nvPr/>
        </p:nvGrpSpPr>
        <p:grpSpPr>
          <a:xfrm>
            <a:off x="10557161" y="1514764"/>
            <a:ext cx="1566351" cy="3288145"/>
            <a:chOff x="10557161" y="1514764"/>
            <a:chExt cx="1566351" cy="3288145"/>
          </a:xfrm>
        </p:grpSpPr>
        <p:cxnSp>
          <p:nvCxnSpPr>
            <p:cNvPr id="74" name="Straight Arrow Connector 73">
              <a:extLst>
                <a:ext uri="{FF2B5EF4-FFF2-40B4-BE49-F238E27FC236}">
                  <a16:creationId xmlns:a16="http://schemas.microsoft.com/office/drawing/2014/main" id="{61BF0D51-D914-88E1-493B-F3222F4C803E}"/>
                </a:ext>
              </a:extLst>
            </p:cNvPr>
            <p:cNvCxnSpPr/>
            <p:nvPr/>
          </p:nvCxnSpPr>
          <p:spPr>
            <a:xfrm flipH="1" flipV="1">
              <a:off x="10557161" y="1514764"/>
              <a:ext cx="387930" cy="554181"/>
            </a:xfrm>
            <a:prstGeom prst="straightConnector1">
              <a:avLst/>
            </a:prstGeom>
            <a:ln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BC29F410-6A47-EC4D-3592-88912E6CBADC}"/>
                </a:ext>
              </a:extLst>
            </p:cNvPr>
            <p:cNvCxnSpPr/>
            <p:nvPr/>
          </p:nvCxnSpPr>
          <p:spPr>
            <a:xfrm flipH="1">
              <a:off x="10557161" y="2068945"/>
              <a:ext cx="387930" cy="1126837"/>
            </a:xfrm>
            <a:prstGeom prst="straightConnector1">
              <a:avLst/>
            </a:prstGeom>
            <a:ln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A858470E-EFF7-17B2-0DE2-E1F82168AB98}"/>
                </a:ext>
              </a:extLst>
            </p:cNvPr>
            <p:cNvCxnSpPr/>
            <p:nvPr/>
          </p:nvCxnSpPr>
          <p:spPr>
            <a:xfrm flipH="1">
              <a:off x="10557161" y="2068945"/>
              <a:ext cx="387930" cy="2733964"/>
            </a:xfrm>
            <a:prstGeom prst="straightConnector1">
              <a:avLst/>
            </a:prstGeom>
            <a:ln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BC62E3D2-9DFC-DAC7-1E28-E70F912E6BCB}"/>
                </a:ext>
              </a:extLst>
            </p:cNvPr>
            <p:cNvSpPr txBox="1"/>
            <p:nvPr/>
          </p:nvSpPr>
          <p:spPr>
            <a:xfrm>
              <a:off x="11083633" y="1570058"/>
              <a:ext cx="1039879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/>
                <a:t>More type information is present here, to allow dynamic casting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613852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BFCBE5-28A2-1993-442D-EA87808408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2CA99B7-91C7-65A5-B862-35EBD55527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ASE - Type Systems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67B10F-A4D0-AF6C-5E45-F9012CD1B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D81C8F-CB39-4E4D-98E4-8C3FEDF75126}" type="slidenum">
              <a:rPr lang="en-US" smtClean="0"/>
              <a:t>6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B3901A-1E1C-40CF-B088-0460EAC69B5B}"/>
              </a:ext>
            </a:extLst>
          </p:cNvPr>
          <p:cNvSpPr txBox="1"/>
          <p:nvPr/>
        </p:nvSpPr>
        <p:spPr>
          <a:xfrm>
            <a:off x="535709" y="194055"/>
            <a:ext cx="44883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Type Safety - Type Check bypass =&gt; Casting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01F541-74B4-F2D4-F7B8-547A68D0B64B}"/>
              </a:ext>
            </a:extLst>
          </p:cNvPr>
          <p:cNvSpPr txBox="1"/>
          <p:nvPr/>
        </p:nvSpPr>
        <p:spPr>
          <a:xfrm>
            <a:off x="461818" y="1071418"/>
            <a:ext cx="11648702" cy="412420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With a cast operation you enforce a Type System to disregard any assumption or infer about a type of an expression,</a:t>
            </a:r>
          </a:p>
          <a:p>
            <a:r>
              <a:rPr lang="en-US"/>
              <a:t>and forcibly accept the type you specify.</a:t>
            </a:r>
          </a:p>
          <a:p>
            <a:endParaRPr lang="en-US"/>
          </a:p>
          <a:p>
            <a:r>
              <a:rPr lang="en-US"/>
              <a:t>Apart from dynamic casting, it’s usually a bad idea, and most likely a mark of bad design/implementation, unless</a:t>
            </a:r>
            <a:br>
              <a:rPr lang="en-US"/>
            </a:br>
            <a:r>
              <a:rPr lang="en-US"/>
              <a:t>your type system offers type-safe casting.</a:t>
            </a:r>
          </a:p>
          <a:p>
            <a:endParaRPr lang="en-US"/>
          </a:p>
          <a:p>
            <a:r>
              <a:rPr lang="en-US"/>
              <a:t>Sometimes is required, though:</a:t>
            </a:r>
          </a:p>
          <a:p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you need to deal with a bad designed interface, or with a system API that implements type erasure by suppressing</a:t>
            </a:r>
            <a:br>
              <a:rPr lang="en-US"/>
            </a:br>
            <a:r>
              <a:rPr lang="en-US"/>
              <a:t>type</a:t>
            </a:r>
            <a:br>
              <a:rPr lang="en-US"/>
            </a:br>
            <a:br>
              <a:rPr lang="en-US"/>
            </a:br>
            <a:r>
              <a:rPr lang="en-US"/>
              <a:t>example: </a:t>
            </a:r>
            <a:br>
              <a:rPr lang="en-US"/>
            </a:br>
            <a:r>
              <a:rPr lang="en-US" sz="1400">
                <a:latin typeface="Courier New" panose="02070309020205020404" pitchFamily="49" charset="0"/>
                <a:cs typeface="Courier New" panose="02070309020205020404" pitchFamily="49" charset="0"/>
              </a:rPr>
              <a:t>void qsort(void *base, size_t nel, size_t width, int (*compar)(const void *, const void *));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cs typeface="Courier New" panose="02070309020205020404" pitchFamily="49" charset="0"/>
              </a:rPr>
              <a:t>you need to extend/narrow the range of your data (example, 32-bit &lt;=&gt; 64-bit integers, precision loss!!!)</a:t>
            </a:r>
          </a:p>
        </p:txBody>
      </p:sp>
    </p:spTree>
    <p:extLst>
      <p:ext uri="{BB962C8B-B14F-4D97-AF65-F5344CB8AC3E}">
        <p14:creationId xmlns:p14="http://schemas.microsoft.com/office/powerpoint/2010/main" val="3278935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341CB-0294-AED2-A768-2E3369768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7894977-9064-1913-CD98-520995AE60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ASE - Type Systems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A19CAB-6CD4-0048-0951-CA69A7176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D81C8F-CB39-4E4D-98E4-8C3FEDF75126}" type="slidenum">
              <a:rPr lang="en-US" smtClean="0"/>
              <a:t>7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4488293-57FF-0274-E9BA-14CFF38FFD6A}"/>
              </a:ext>
            </a:extLst>
          </p:cNvPr>
          <p:cNvSpPr txBox="1"/>
          <p:nvPr/>
        </p:nvSpPr>
        <p:spPr>
          <a:xfrm>
            <a:off x="535709" y="194055"/>
            <a:ext cx="10839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Generics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0FD2C4-7521-B3C1-F045-BBF6A87B776C}"/>
              </a:ext>
            </a:extLst>
          </p:cNvPr>
          <p:cNvSpPr txBox="1"/>
          <p:nvPr/>
        </p:nvSpPr>
        <p:spPr>
          <a:xfrm>
            <a:off x="535709" y="988827"/>
            <a:ext cx="101557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Generic programming allows you to write algorithms in terms of data types that will be specified later.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646236-635C-0258-9F2F-926B939192ED}"/>
              </a:ext>
            </a:extLst>
          </p:cNvPr>
          <p:cNvSpPr txBox="1"/>
          <p:nvPr/>
        </p:nvSpPr>
        <p:spPr>
          <a:xfrm>
            <a:off x="812801" y="1783361"/>
            <a:ext cx="3943708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>
                <a:latin typeface="Courier New" panose="02070309020205020404" pitchFamily="49" charset="0"/>
                <a:cs typeface="Courier New" panose="02070309020205020404" pitchFamily="49" charset="0"/>
              </a:rPr>
              <a:t>template&lt; typename T &gt; class List {</a:t>
            </a:r>
          </a:p>
          <a:p>
            <a:r>
              <a:rPr lang="en-US" sz="1400">
                <a:latin typeface="Courier New" panose="02070309020205020404" pitchFamily="49" charset="0"/>
                <a:cs typeface="Courier New" panose="02070309020205020404" pitchFamily="49" charset="0"/>
              </a:rPr>
              <a:t>  T* items;</a:t>
            </a:r>
          </a:p>
          <a:p>
            <a:r>
              <a:rPr lang="en-US" sz="1400">
                <a:latin typeface="Courier New" panose="02070309020205020404" pitchFamily="49" charset="0"/>
                <a:cs typeface="Courier New" panose="02070309020205020404" pitchFamily="49" charset="0"/>
              </a:rPr>
              <a:t>  ....</a:t>
            </a:r>
          </a:p>
          <a:p>
            <a:r>
              <a:rPr lang="en-US" sz="140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endParaRPr lang="en-US" sz="14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>
                <a:latin typeface="Courier New" panose="02070309020205020404" pitchFamily="49" charset="0"/>
                <a:cs typeface="Courier New" panose="02070309020205020404" pitchFamily="49" charset="0"/>
              </a:rPr>
              <a:t>List&lt;Button&gt; buttons;</a:t>
            </a:r>
          </a:p>
          <a:p>
            <a:r>
              <a:rPr lang="en-US" sz="1400">
                <a:latin typeface="Courier New" panose="02070309020205020404" pitchFamily="49" charset="0"/>
                <a:cs typeface="Courier New" panose="02070309020205020404" pitchFamily="49" charset="0"/>
              </a:rPr>
              <a:t>List&lt;Player&gt; players;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7C95EF-0582-C499-C822-5CA123658BF9}"/>
              </a:ext>
            </a:extLst>
          </p:cNvPr>
          <p:cNvSpPr txBox="1"/>
          <p:nvPr/>
        </p:nvSpPr>
        <p:spPr>
          <a:xfrm>
            <a:off x="6096000" y="1783361"/>
            <a:ext cx="3836307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>
                <a:latin typeface="Courier New" panose="02070309020205020404" pitchFamily="49" charset="0"/>
                <a:cs typeface="Courier New" panose="02070309020205020404" pitchFamily="49" charset="0"/>
              </a:rPr>
              <a:t>class List&lt;T&gt; {</a:t>
            </a:r>
          </a:p>
          <a:p>
            <a:r>
              <a:rPr lang="en-US" sz="1400">
                <a:latin typeface="Courier New" panose="02070309020205020404" pitchFamily="49" charset="0"/>
                <a:cs typeface="Courier New" panose="02070309020205020404" pitchFamily="49" charset="0"/>
              </a:rPr>
              <a:t>  public items: T[] = [];</a:t>
            </a:r>
          </a:p>
          <a:p>
            <a:r>
              <a:rPr lang="en-US" sz="140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  <a:br>
              <a:rPr lang="en-US" sz="1400"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sz="140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>
                <a:latin typeface="Courier New" panose="02070309020205020404" pitchFamily="49" charset="0"/>
                <a:cs typeface="Courier New" panose="02070309020205020404" pitchFamily="49" charset="0"/>
              </a:rPr>
              <a:t>const myList = new List&lt;number&gt;();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DDB2397-8B2F-C634-9768-63AF49E0C840}"/>
              </a:ext>
            </a:extLst>
          </p:cNvPr>
          <p:cNvSpPr txBox="1"/>
          <p:nvPr/>
        </p:nvSpPr>
        <p:spPr>
          <a:xfrm>
            <a:off x="2996433" y="3741898"/>
            <a:ext cx="6199133" cy="24622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>
                <a:latin typeface="Courier New" panose="02070309020205020404" pitchFamily="49" charset="0"/>
                <a:cs typeface="Courier New" panose="02070309020205020404" pitchFamily="49" charset="0"/>
              </a:rPr>
              <a:t>public class TreeNode&lt;T&gt; {</a:t>
            </a:r>
          </a:p>
          <a:p>
            <a:r>
              <a:rPr lang="en-US" sz="1400">
                <a:latin typeface="Courier New" panose="02070309020205020404" pitchFamily="49" charset="0"/>
                <a:cs typeface="Courier New" panose="02070309020205020404" pitchFamily="49" charset="0"/>
              </a:rPr>
              <a:t>  T value;</a:t>
            </a:r>
          </a:p>
          <a:p>
            <a:r>
              <a:rPr lang="en-US" sz="1400">
                <a:latin typeface="Courier New" panose="02070309020205020404" pitchFamily="49" charset="0"/>
                <a:cs typeface="Courier New" panose="02070309020205020404" pitchFamily="49" charset="0"/>
              </a:rPr>
              <a:t>  TreeNode&lt;T&gt; left, right;</a:t>
            </a:r>
          </a:p>
          <a:p>
            <a:endParaRPr lang="en-US" sz="14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>
                <a:latin typeface="Courier New" panose="02070309020205020404" pitchFamily="49" charset="0"/>
                <a:cs typeface="Courier New" panose="02070309020205020404" pitchFamily="49" charset="0"/>
              </a:rPr>
              <a:t>  public TreeNode(T v, TreeNode&lt;T&gt; l, TreeNode&lt;T&gt; r) {</a:t>
            </a:r>
          </a:p>
          <a:p>
            <a:r>
              <a:rPr lang="en-US" sz="1400">
                <a:latin typeface="Courier New" panose="02070309020205020404" pitchFamily="49" charset="0"/>
                <a:cs typeface="Courier New" panose="02070309020205020404" pitchFamily="49" charset="0"/>
              </a:rPr>
              <a:t>      this.value = v;</a:t>
            </a:r>
          </a:p>
          <a:p>
            <a:r>
              <a:rPr lang="en-US" sz="1400">
                <a:latin typeface="Courier New" panose="02070309020205020404" pitchFamily="49" charset="0"/>
                <a:cs typeface="Courier New" panose="02070309020205020404" pitchFamily="49" charset="0"/>
              </a:rPr>
              <a:t>      this.left = l;</a:t>
            </a:r>
          </a:p>
          <a:p>
            <a:r>
              <a:rPr lang="en-US" sz="1400">
                <a:latin typeface="Courier New" panose="02070309020205020404" pitchFamily="49" charset="0"/>
                <a:cs typeface="Courier New" panose="02070309020205020404" pitchFamily="49" charset="0"/>
              </a:rPr>
              <a:t>      this.right = r;</a:t>
            </a:r>
          </a:p>
          <a:p>
            <a:r>
              <a:rPr lang="en-US" sz="1400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  <a:p>
            <a:r>
              <a:rPr lang="en-US" sz="140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endParaRPr lang="en-US" sz="140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19290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0" grpId="0"/>
      <p:bldP spid="1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B43C1B-D332-3BEE-BE44-7A4BA6C666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2525E31-97E0-F6C3-70AE-24A703EF1F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ASE - Type Systems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CE7C74-47DB-A6AA-0AD8-1450E18A0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D81C8F-CB39-4E4D-98E4-8C3FEDF75126}" type="slidenum">
              <a:rPr lang="en-US" smtClean="0"/>
              <a:t>8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A5D93F5-8942-FB18-9CCE-0CD3CC4B5FFB}"/>
              </a:ext>
            </a:extLst>
          </p:cNvPr>
          <p:cNvSpPr txBox="1"/>
          <p:nvPr/>
        </p:nvSpPr>
        <p:spPr>
          <a:xfrm>
            <a:off x="535709" y="203291"/>
            <a:ext cx="28578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Generics – narrowing types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93EE7E8-3ED3-2D47-6032-D5375BF3E92C}"/>
              </a:ext>
            </a:extLst>
          </p:cNvPr>
          <p:cNvSpPr txBox="1"/>
          <p:nvPr/>
        </p:nvSpPr>
        <p:spPr>
          <a:xfrm>
            <a:off x="535709" y="988827"/>
            <a:ext cx="111475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Some languages, like Java or Javascript, allow to “restrict” the generic type to a specific subset of allowed types.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28CCB11-396D-41D1-90B1-8846183CC54B}"/>
              </a:ext>
            </a:extLst>
          </p:cNvPr>
          <p:cNvSpPr txBox="1"/>
          <p:nvPr/>
        </p:nvSpPr>
        <p:spPr>
          <a:xfrm>
            <a:off x="535709" y="1516725"/>
            <a:ext cx="985398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>
                <a:latin typeface="Courier New" panose="02070309020205020404" pitchFamily="49" charset="0"/>
                <a:cs typeface="Courier New" panose="02070309020205020404" pitchFamily="49" charset="0"/>
              </a:rPr>
              <a:t>class List&lt;T extends number | string&gt; {</a:t>
            </a:r>
          </a:p>
          <a:p>
            <a:r>
              <a:rPr lang="en-US" sz="1200">
                <a:latin typeface="Courier New" panose="02070309020205020404" pitchFamily="49" charset="0"/>
                <a:cs typeface="Courier New" panose="02070309020205020404" pitchFamily="49" charset="0"/>
              </a:rPr>
              <a:t>  public items: T[] = [];</a:t>
            </a:r>
          </a:p>
          <a:p>
            <a:r>
              <a:rPr lang="en-US" sz="120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  <a:br>
              <a:rPr lang="en-US" sz="1200"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sz="120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200">
                <a:latin typeface="Courier New" panose="02070309020205020404" pitchFamily="49" charset="0"/>
                <a:cs typeface="Courier New" panose="02070309020205020404" pitchFamily="49" charset="0"/>
              </a:rPr>
              <a:t>const myList = new List&lt;number&gt;();</a:t>
            </a:r>
          </a:p>
          <a:p>
            <a:r>
              <a:rPr lang="en-US" sz="1200">
                <a:latin typeface="Courier New" panose="02070309020205020404" pitchFamily="49" charset="0"/>
                <a:cs typeface="Courier New" panose="02070309020205020404" pitchFamily="49" charset="0"/>
              </a:rPr>
              <a:t>const myList2 = new List&lt;object&gt;(); </a:t>
            </a:r>
            <a:r>
              <a:rPr lang="en-US" sz="1200">
                <a:solidFill>
                  <a:schemeClr val="tx1">
                    <a:lumMod val="50000"/>
                    <a:lumOff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Type 'object' does not satisfy the constraint 'string | number’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DBED68-7AB4-79F5-2D16-1CE1A93FF39F}"/>
              </a:ext>
            </a:extLst>
          </p:cNvPr>
          <p:cNvSpPr txBox="1"/>
          <p:nvPr/>
        </p:nvSpPr>
        <p:spPr>
          <a:xfrm>
            <a:off x="535708" y="3078616"/>
            <a:ext cx="1008385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Some others, like C++, apply a “duck typing” approach (if it walks like a duck and quacks like a duck,</a:t>
            </a:r>
          </a:p>
          <a:p>
            <a:r>
              <a:rPr lang="en-US"/>
              <a:t>then it must be a duck!)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DB91EE-CE6D-BDAC-72BE-05BAAD2E7D85}"/>
              </a:ext>
            </a:extLst>
          </p:cNvPr>
          <p:cNvSpPr txBox="1"/>
          <p:nvPr/>
        </p:nvSpPr>
        <p:spPr>
          <a:xfrm>
            <a:off x="535708" y="4086509"/>
            <a:ext cx="4480714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>
                <a:latin typeface="Courier New" panose="02070309020205020404" pitchFamily="49" charset="0"/>
                <a:cs typeface="Courier New" panose="02070309020205020404" pitchFamily="49" charset="0"/>
              </a:rPr>
              <a:t>template&lt; typename T &gt; struct Executor {</a:t>
            </a:r>
          </a:p>
          <a:p>
            <a:r>
              <a:rPr lang="en-US" sz="1400">
                <a:latin typeface="Courier New" panose="02070309020205020404" pitchFamily="49" charset="0"/>
                <a:cs typeface="Courier New" panose="02070309020205020404" pitchFamily="49" charset="0"/>
              </a:rPr>
              <a:t>  vector&lt; T &gt; items;</a:t>
            </a:r>
          </a:p>
          <a:p>
            <a:endParaRPr lang="en-US" sz="14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>
                <a:latin typeface="Courier New" panose="02070309020205020404" pitchFamily="49" charset="0"/>
                <a:cs typeface="Courier New" panose="02070309020205020404" pitchFamily="49" charset="0"/>
              </a:rPr>
              <a:t>  void execute() {</a:t>
            </a:r>
          </a:p>
          <a:p>
            <a:r>
              <a:rPr lang="en-US" sz="1400">
                <a:latin typeface="Courier New" panose="02070309020205020404" pitchFamily="49" charset="0"/>
                <a:cs typeface="Courier New" panose="02070309020205020404" pitchFamily="49" charset="0"/>
              </a:rPr>
              <a:t>    for (auto item : items) {</a:t>
            </a:r>
          </a:p>
          <a:p>
            <a:r>
              <a:rPr lang="en-US" sz="1400">
                <a:latin typeface="Courier New" panose="02070309020205020404" pitchFamily="49" charset="0"/>
                <a:cs typeface="Courier New" panose="02070309020205020404" pitchFamily="49" charset="0"/>
              </a:rPr>
              <a:t>      item.execute();</a:t>
            </a:r>
            <a:r>
              <a:rPr lang="en-US" sz="1400">
                <a:solidFill>
                  <a:schemeClr val="tx1">
                    <a:lumMod val="50000"/>
                    <a:lumOff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// VALID!!!</a:t>
            </a:r>
          </a:p>
          <a:p>
            <a:r>
              <a:rPr lang="en-US" sz="140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r>
              <a:rPr lang="en-US" sz="1400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  <a:p>
            <a:r>
              <a:rPr lang="en-US" sz="140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5EFFD5E-F4D5-D4F9-5F2A-0136E3BA4B54}"/>
              </a:ext>
            </a:extLst>
          </p:cNvPr>
          <p:cNvSpPr txBox="1"/>
          <p:nvPr/>
        </p:nvSpPr>
        <p:spPr>
          <a:xfrm>
            <a:off x="6241503" y="3431692"/>
            <a:ext cx="5282215" cy="26314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>
                <a:latin typeface="Courier New" panose="02070309020205020404" pitchFamily="49" charset="0"/>
                <a:cs typeface="Courier New" panose="02070309020205020404" pitchFamily="49" charset="0"/>
              </a:rPr>
              <a:t>class A { };</a:t>
            </a:r>
          </a:p>
          <a:p>
            <a:endParaRPr lang="en-US" sz="11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100">
                <a:latin typeface="Courier New" panose="02070309020205020404" pitchFamily="49" charset="0"/>
                <a:cs typeface="Courier New" panose="02070309020205020404" pitchFamily="49" charset="0"/>
              </a:rPr>
              <a:t>class B {</a:t>
            </a:r>
          </a:p>
          <a:p>
            <a:r>
              <a:rPr lang="en-US" sz="1100">
                <a:latin typeface="Courier New" panose="02070309020205020404" pitchFamily="49" charset="0"/>
                <a:cs typeface="Courier New" panose="02070309020205020404" pitchFamily="49" charset="0"/>
              </a:rPr>
              <a:t>public:</a:t>
            </a:r>
          </a:p>
          <a:p>
            <a:r>
              <a:rPr lang="en-US" sz="1100">
                <a:latin typeface="Courier New" panose="02070309020205020404" pitchFamily="49" charset="0"/>
                <a:cs typeface="Courier New" panose="02070309020205020404" pitchFamily="49" charset="0"/>
              </a:rPr>
              <a:t>  void execute() { cout &lt;&lt; “Hey” &lt;&lt; endl; }</a:t>
            </a:r>
          </a:p>
          <a:p>
            <a:r>
              <a:rPr lang="en-US" sz="110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endParaRPr lang="en-US" sz="11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100">
                <a:latin typeface="Courier New" panose="02070309020205020404" pitchFamily="49" charset="0"/>
                <a:cs typeface="Courier New" panose="02070309020205020404" pitchFamily="49" charset="0"/>
              </a:rPr>
              <a:t>int main(...) {</a:t>
            </a:r>
          </a:p>
          <a:p>
            <a:r>
              <a:rPr lang="en-US" sz="1100">
                <a:latin typeface="Courier New" panose="02070309020205020404" pitchFamily="49" charset="0"/>
                <a:cs typeface="Courier New" panose="02070309020205020404" pitchFamily="49" charset="0"/>
              </a:rPr>
              <a:t>  Executor&lt; A &gt; excA;</a:t>
            </a:r>
          </a:p>
          <a:p>
            <a:r>
              <a:rPr lang="en-US" sz="1100">
                <a:latin typeface="Courier New" panose="02070309020205020404" pitchFamily="49" charset="0"/>
                <a:cs typeface="Courier New" panose="02070309020205020404" pitchFamily="49" charset="0"/>
              </a:rPr>
              <a:t>  excA.execute(); // </a:t>
            </a:r>
            <a:r>
              <a:rPr lang="en-US" sz="1100">
                <a:solidFill>
                  <a:schemeClr val="tx1">
                    <a:lumMod val="50000"/>
                    <a:lumOff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error: no member named 'execute' in 'A’</a:t>
            </a:r>
          </a:p>
          <a:p>
            <a:endParaRPr lang="en-US" sz="11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100">
                <a:latin typeface="Courier New" panose="02070309020205020404" pitchFamily="49" charset="0"/>
                <a:cs typeface="Courier New" panose="02070309020205020404" pitchFamily="49" charset="0"/>
              </a:rPr>
              <a:t>  Executor&lt; B &gt; excB;</a:t>
            </a:r>
          </a:p>
          <a:p>
            <a:r>
              <a:rPr lang="en-US" sz="1100">
                <a:latin typeface="Courier New" panose="02070309020205020404" pitchFamily="49" charset="0"/>
                <a:cs typeface="Courier New" panose="02070309020205020404" pitchFamily="49" charset="0"/>
              </a:rPr>
              <a:t>  excB.items.push_back(B());</a:t>
            </a:r>
          </a:p>
          <a:p>
            <a:r>
              <a:rPr lang="en-US" sz="1100">
                <a:latin typeface="Courier New" panose="02070309020205020404" pitchFamily="49" charset="0"/>
                <a:cs typeface="Courier New" panose="02070309020205020404" pitchFamily="49" charset="0"/>
              </a:rPr>
              <a:t>  excB.items.push_back(B());</a:t>
            </a:r>
          </a:p>
          <a:p>
            <a:r>
              <a:rPr lang="en-US" sz="1100">
                <a:latin typeface="Courier New" panose="02070309020205020404" pitchFamily="49" charset="0"/>
                <a:cs typeface="Courier New" panose="02070309020205020404" pitchFamily="49" charset="0"/>
              </a:rPr>
              <a:t>  excB.execute();</a:t>
            </a:r>
          </a:p>
        </p:txBody>
      </p:sp>
    </p:spTree>
    <p:extLst>
      <p:ext uri="{BB962C8B-B14F-4D97-AF65-F5344CB8AC3E}">
        <p14:creationId xmlns:p14="http://schemas.microsoft.com/office/powerpoint/2010/main" val="25646868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0" grpId="0"/>
      <p:bldP spid="8" grpId="0"/>
      <p:bldP spid="9" grpId="0"/>
      <p:bldP spid="1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790E74-21E5-0DF8-41A1-6BBCD9D03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7B42D3A-CD97-58E8-E9F0-A70E51664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ASE - Type Systems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7BD06F-134A-C5A5-52BD-CC0F60663B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D81C8F-CB39-4E4D-98E4-8C3FEDF75126}" type="slidenum">
              <a:rPr lang="en-US" smtClean="0"/>
              <a:t>9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9E1E363-1410-F610-4A7F-EE1590E7CD4D}"/>
              </a:ext>
            </a:extLst>
          </p:cNvPr>
          <p:cNvSpPr txBox="1"/>
          <p:nvPr/>
        </p:nvSpPr>
        <p:spPr>
          <a:xfrm>
            <a:off x="535709" y="203291"/>
            <a:ext cx="19242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Generics vs. 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4E3342-2FCE-E64D-3405-8D11CB9704B1}"/>
              </a:ext>
            </a:extLst>
          </p:cNvPr>
          <p:cNvSpPr txBox="1"/>
          <p:nvPr/>
        </p:nvSpPr>
        <p:spPr>
          <a:xfrm>
            <a:off x="878336" y="1072760"/>
            <a:ext cx="3810659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>
                <a:latin typeface="Courier New" panose="02070309020205020404" pitchFamily="49" charset="0"/>
                <a:cs typeface="Courier New" panose="02070309020205020404" pitchFamily="49" charset="0"/>
              </a:rPr>
              <a:t>template&lt; typename T &gt; class Executor {</a:t>
            </a:r>
          </a:p>
          <a:p>
            <a:r>
              <a:rPr lang="en-US" sz="1200">
                <a:latin typeface="Courier New" panose="02070309020205020404" pitchFamily="49" charset="0"/>
                <a:cs typeface="Courier New" panose="02070309020205020404" pitchFamily="49" charset="0"/>
              </a:rPr>
              <a:t>  T _item;</a:t>
            </a:r>
          </a:p>
          <a:p>
            <a:endParaRPr lang="en-US" sz="12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>
                <a:latin typeface="Courier New" panose="02070309020205020404" pitchFamily="49" charset="0"/>
                <a:cs typeface="Courier New" panose="02070309020205020404" pitchFamily="49" charset="0"/>
              </a:rPr>
              <a:t>public:</a:t>
            </a:r>
          </a:p>
          <a:p>
            <a:r>
              <a:rPr lang="en-US" sz="1200">
                <a:latin typeface="Courier New" panose="02070309020205020404" pitchFamily="49" charset="0"/>
                <a:cs typeface="Courier New" panose="02070309020205020404" pitchFamily="49" charset="0"/>
              </a:rPr>
              <a:t>  Executor(T item) {}</a:t>
            </a:r>
          </a:p>
          <a:p>
            <a:endParaRPr lang="en-US" sz="12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>
                <a:latin typeface="Courier New" panose="02070309020205020404" pitchFamily="49" charset="0"/>
                <a:cs typeface="Courier New" panose="02070309020205020404" pitchFamily="49" charset="0"/>
              </a:rPr>
              <a:t>  void execute() {</a:t>
            </a:r>
          </a:p>
          <a:p>
            <a:r>
              <a:rPr lang="en-US" sz="1200">
                <a:latin typeface="Courier New" panose="02070309020205020404" pitchFamily="49" charset="0"/>
                <a:cs typeface="Courier New" panose="02070309020205020404" pitchFamily="49" charset="0"/>
              </a:rPr>
              <a:t>    _item.execute();</a:t>
            </a:r>
            <a:endParaRPr lang="en-US" sz="1200">
              <a:solidFill>
                <a:schemeClr val="tx1">
                  <a:lumMod val="50000"/>
                  <a:lumOff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  <a:p>
            <a:endParaRPr lang="en-US" sz="12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>
                <a:latin typeface="Courier New" panose="02070309020205020404" pitchFamily="49" charset="0"/>
                <a:cs typeface="Courier New" panose="02070309020205020404" pitchFamily="49" charset="0"/>
              </a:rPr>
              <a:t>  T&amp; getItem() { return _item; }</a:t>
            </a:r>
          </a:p>
          <a:p>
            <a:r>
              <a:rPr lang="en-US" sz="120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63D140-6952-F6C6-DF5C-5ECF3FF3CD2C}"/>
              </a:ext>
            </a:extLst>
          </p:cNvPr>
          <p:cNvSpPr txBox="1"/>
          <p:nvPr/>
        </p:nvSpPr>
        <p:spPr>
          <a:xfrm>
            <a:off x="6918036" y="572623"/>
            <a:ext cx="3667992" cy="33085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>
                <a:latin typeface="Courier New" panose="02070309020205020404" pitchFamily="49" charset="0"/>
                <a:cs typeface="Courier New" panose="02070309020205020404" pitchFamily="49" charset="0"/>
              </a:rPr>
              <a:t>class A {</a:t>
            </a:r>
          </a:p>
          <a:p>
            <a:r>
              <a:rPr lang="en-US" sz="1100">
                <a:latin typeface="Courier New" panose="02070309020205020404" pitchFamily="49" charset="0"/>
                <a:cs typeface="Courier New" panose="02070309020205020404" pitchFamily="49" charset="0"/>
              </a:rPr>
              <a:t>public:</a:t>
            </a:r>
          </a:p>
          <a:p>
            <a:r>
              <a:rPr lang="en-US" sz="1100">
                <a:latin typeface="Courier New" panose="02070309020205020404" pitchFamily="49" charset="0"/>
                <a:cs typeface="Courier New" panose="02070309020205020404" pitchFamily="49" charset="0"/>
              </a:rPr>
              <a:t>  void execute() { cout &lt;&lt; “A” &lt;&lt; endl; }</a:t>
            </a:r>
          </a:p>
          <a:p>
            <a:r>
              <a:rPr lang="en-US" sz="1100">
                <a:latin typeface="Courier New" panose="02070309020205020404" pitchFamily="49" charset="0"/>
                <a:cs typeface="Courier New" panose="02070309020205020404" pitchFamily="49" charset="0"/>
              </a:rPr>
              <a:t>  void methodA() { ... }</a:t>
            </a:r>
          </a:p>
          <a:p>
            <a:r>
              <a:rPr lang="en-US" sz="110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endParaRPr lang="en-US" sz="11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100">
                <a:latin typeface="Courier New" panose="02070309020205020404" pitchFamily="49" charset="0"/>
                <a:cs typeface="Courier New" panose="02070309020205020404" pitchFamily="49" charset="0"/>
              </a:rPr>
              <a:t>class B {</a:t>
            </a:r>
          </a:p>
          <a:p>
            <a:r>
              <a:rPr lang="en-US" sz="1100">
                <a:latin typeface="Courier New" panose="02070309020205020404" pitchFamily="49" charset="0"/>
                <a:cs typeface="Courier New" panose="02070309020205020404" pitchFamily="49" charset="0"/>
              </a:rPr>
              <a:t>public:</a:t>
            </a:r>
          </a:p>
          <a:p>
            <a:r>
              <a:rPr lang="en-US" sz="1100">
                <a:latin typeface="Courier New" panose="02070309020205020404" pitchFamily="49" charset="0"/>
                <a:cs typeface="Courier New" panose="02070309020205020404" pitchFamily="49" charset="0"/>
              </a:rPr>
              <a:t>  void execute() { cout &lt;&lt; “B” &lt;&lt; endl; }</a:t>
            </a:r>
          </a:p>
          <a:p>
            <a:r>
              <a:rPr lang="en-US" sz="1100">
                <a:latin typeface="Courier New" panose="02070309020205020404" pitchFamily="49" charset="0"/>
                <a:cs typeface="Courier New" panose="02070309020205020404" pitchFamily="49" charset="0"/>
              </a:rPr>
              <a:t>  void methodB() { ... }</a:t>
            </a:r>
          </a:p>
          <a:p>
            <a:r>
              <a:rPr lang="en-US" sz="110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endParaRPr lang="en-US" sz="11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100">
                <a:latin typeface="Courier New" panose="02070309020205020404" pitchFamily="49" charset="0"/>
                <a:cs typeface="Courier New" panose="02070309020205020404" pitchFamily="49" charset="0"/>
              </a:rPr>
              <a:t>Executor&lt; A &gt; excA;</a:t>
            </a:r>
          </a:p>
          <a:p>
            <a:r>
              <a:rPr lang="en-US" sz="1100">
                <a:latin typeface="Courier New" panose="02070309020205020404" pitchFamily="49" charset="0"/>
                <a:cs typeface="Courier New" panose="02070309020205020404" pitchFamily="49" charset="0"/>
              </a:rPr>
              <a:t>excA.execute(); </a:t>
            </a:r>
            <a:r>
              <a:rPr lang="en-US" sz="1100">
                <a:solidFill>
                  <a:schemeClr val="tx1">
                    <a:lumMod val="50000"/>
                    <a:lumOff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‘A’</a:t>
            </a:r>
          </a:p>
          <a:p>
            <a:r>
              <a:rPr lang="en-US" sz="1100">
                <a:latin typeface="Courier New" panose="02070309020205020404" pitchFamily="49" charset="0"/>
                <a:cs typeface="Courier New" panose="02070309020205020404" pitchFamily="49" charset="0"/>
              </a:rPr>
              <a:t>excA.getItem().methodA();</a:t>
            </a:r>
          </a:p>
          <a:p>
            <a:endParaRPr lang="en-US" sz="11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100">
                <a:latin typeface="Courier New" panose="02070309020205020404" pitchFamily="49" charset="0"/>
                <a:cs typeface="Courier New" panose="02070309020205020404" pitchFamily="49" charset="0"/>
              </a:rPr>
              <a:t>Executor&lt; B &gt; excB;</a:t>
            </a:r>
          </a:p>
          <a:p>
            <a:r>
              <a:rPr lang="en-US" sz="1100">
                <a:latin typeface="Courier New" panose="02070309020205020404" pitchFamily="49" charset="0"/>
                <a:cs typeface="Courier New" panose="02070309020205020404" pitchFamily="49" charset="0"/>
              </a:rPr>
              <a:t>excB.execute(); </a:t>
            </a:r>
            <a:r>
              <a:rPr lang="en-US" sz="1100">
                <a:solidFill>
                  <a:schemeClr val="tx1">
                    <a:lumMod val="50000"/>
                    <a:lumOff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‘B’</a:t>
            </a:r>
          </a:p>
          <a:p>
            <a:r>
              <a:rPr lang="en-US" sz="1100">
                <a:latin typeface="Courier New" panose="02070309020205020404" pitchFamily="49" charset="0"/>
                <a:cs typeface="Courier New" panose="02070309020205020404" pitchFamily="49" charset="0"/>
              </a:rPr>
              <a:t>excB.getItem().methodB();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B2FD669-BF2B-2BEA-CD08-35AF910D79B4}"/>
              </a:ext>
            </a:extLst>
          </p:cNvPr>
          <p:cNvSpPr txBox="1"/>
          <p:nvPr/>
        </p:nvSpPr>
        <p:spPr>
          <a:xfrm>
            <a:off x="535709" y="4657120"/>
            <a:ext cx="869039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Pro: T is my type! No casting, conversion, or run-time code is required.</a:t>
            </a:r>
          </a:p>
          <a:p>
            <a:endParaRPr lang="en-US"/>
          </a:p>
          <a:p>
            <a:r>
              <a:rPr lang="en-US"/>
              <a:t>Cons: beware of code bloat! </a:t>
            </a:r>
            <a:r>
              <a:rPr lang="en-US" b="1">
                <a:solidFill>
                  <a:srgbClr val="FF0000"/>
                </a:solidFill>
              </a:rPr>
              <a:t>Executor&lt; A &gt; and Executor&lt; B &gt; are two distinct types!</a:t>
            </a:r>
          </a:p>
        </p:txBody>
      </p:sp>
    </p:spTree>
    <p:extLst>
      <p:ext uri="{BB962C8B-B14F-4D97-AF65-F5344CB8AC3E}">
        <p14:creationId xmlns:p14="http://schemas.microsoft.com/office/powerpoint/2010/main" val="28226155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1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430BBA-8987-386F-8873-285E1799C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578013F-BCDA-0AC5-FE1C-EB32F3D564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ASE - Type Systems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F7B988-6088-10D5-3AAA-6F88B11F0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D81C8F-CB39-4E4D-98E4-8C3FEDF75126}" type="slidenum">
              <a:rPr lang="en-US" smtClean="0"/>
              <a:t>10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537FB90-F60F-99E6-4445-9EEEFC6F1319}"/>
              </a:ext>
            </a:extLst>
          </p:cNvPr>
          <p:cNvSpPr txBox="1"/>
          <p:nvPr/>
        </p:nvSpPr>
        <p:spPr>
          <a:xfrm>
            <a:off x="535709" y="203291"/>
            <a:ext cx="19242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Generics vs. 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4308D64-0A9A-7B88-D0D7-D76878111179}"/>
              </a:ext>
            </a:extLst>
          </p:cNvPr>
          <p:cNvSpPr txBox="1"/>
          <p:nvPr/>
        </p:nvSpPr>
        <p:spPr>
          <a:xfrm>
            <a:off x="878336" y="1072760"/>
            <a:ext cx="3996607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>
                <a:latin typeface="Courier New" panose="02070309020205020404" pitchFamily="49" charset="0"/>
                <a:cs typeface="Courier New" panose="02070309020205020404" pitchFamily="49" charset="0"/>
              </a:rPr>
              <a:t>class Executable {</a:t>
            </a:r>
          </a:p>
          <a:p>
            <a:r>
              <a:rPr lang="en-US" sz="1200">
                <a:latin typeface="Courier New" panose="02070309020205020404" pitchFamily="49" charset="0"/>
                <a:cs typeface="Courier New" panose="02070309020205020404" pitchFamily="49" charset="0"/>
              </a:rPr>
              <a:t>  virtual void execute() = 0;</a:t>
            </a:r>
          </a:p>
          <a:p>
            <a:r>
              <a:rPr lang="en-US" sz="120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endParaRPr lang="en-US" sz="12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>
                <a:latin typeface="Courier New" panose="02070309020205020404" pitchFamily="49" charset="0"/>
                <a:cs typeface="Courier New" panose="02070309020205020404" pitchFamily="49" charset="0"/>
              </a:rPr>
              <a:t>class Executor {</a:t>
            </a:r>
          </a:p>
          <a:p>
            <a:r>
              <a:rPr lang="en-US" sz="1200">
                <a:latin typeface="Courier New" panose="02070309020205020404" pitchFamily="49" charset="0"/>
                <a:cs typeface="Courier New" panose="02070309020205020404" pitchFamily="49" charset="0"/>
              </a:rPr>
              <a:t>  Executable&amp; _item;</a:t>
            </a:r>
          </a:p>
          <a:p>
            <a:endParaRPr lang="en-US" sz="12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>
                <a:latin typeface="Courier New" panose="02070309020205020404" pitchFamily="49" charset="0"/>
                <a:cs typeface="Courier New" panose="02070309020205020404" pitchFamily="49" charset="0"/>
              </a:rPr>
              <a:t>public:</a:t>
            </a:r>
          </a:p>
          <a:p>
            <a:r>
              <a:rPr lang="en-US" sz="1200">
                <a:latin typeface="Courier New" panose="02070309020205020404" pitchFamily="49" charset="0"/>
                <a:cs typeface="Courier New" panose="02070309020205020404" pitchFamily="49" charset="0"/>
              </a:rPr>
              <a:t>  Executor(Executable&amp; item) {}</a:t>
            </a:r>
          </a:p>
          <a:p>
            <a:endParaRPr lang="en-US" sz="12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>
                <a:latin typeface="Courier New" panose="02070309020205020404" pitchFamily="49" charset="0"/>
                <a:cs typeface="Courier New" panose="02070309020205020404" pitchFamily="49" charset="0"/>
              </a:rPr>
              <a:t>  void execute() {</a:t>
            </a:r>
          </a:p>
          <a:p>
            <a:r>
              <a:rPr lang="en-US" sz="1200">
                <a:latin typeface="Courier New" panose="02070309020205020404" pitchFamily="49" charset="0"/>
                <a:cs typeface="Courier New" panose="02070309020205020404" pitchFamily="49" charset="0"/>
              </a:rPr>
              <a:t>    _item.execute();</a:t>
            </a:r>
            <a:endParaRPr lang="en-US" sz="1200">
              <a:solidFill>
                <a:schemeClr val="tx1">
                  <a:lumMod val="50000"/>
                  <a:lumOff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  <a:p>
            <a:endParaRPr lang="en-US" sz="12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>
                <a:latin typeface="Courier New" panose="02070309020205020404" pitchFamily="49" charset="0"/>
                <a:cs typeface="Courier New" panose="02070309020205020404" pitchFamily="49" charset="0"/>
              </a:rPr>
              <a:t>  Executable&amp; getItem() { return _item; }</a:t>
            </a:r>
          </a:p>
          <a:p>
            <a:r>
              <a:rPr lang="en-US" sz="120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48AB2E-3DCA-6981-0389-35C3C36EF2C6}"/>
              </a:ext>
            </a:extLst>
          </p:cNvPr>
          <p:cNvSpPr txBox="1"/>
          <p:nvPr/>
        </p:nvSpPr>
        <p:spPr>
          <a:xfrm>
            <a:off x="6918036" y="572623"/>
            <a:ext cx="4007828" cy="36471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>
                <a:latin typeface="Courier New" panose="02070309020205020404" pitchFamily="49" charset="0"/>
                <a:cs typeface="Courier New" panose="02070309020205020404" pitchFamily="49" charset="0"/>
              </a:rPr>
              <a:t>class A : public Executable {</a:t>
            </a:r>
          </a:p>
          <a:p>
            <a:r>
              <a:rPr lang="en-US" sz="1100">
                <a:latin typeface="Courier New" panose="02070309020205020404" pitchFamily="49" charset="0"/>
                <a:cs typeface="Courier New" panose="02070309020205020404" pitchFamily="49" charset="0"/>
              </a:rPr>
              <a:t>public:</a:t>
            </a:r>
          </a:p>
          <a:p>
            <a:r>
              <a:rPr lang="en-US" sz="1100">
                <a:latin typeface="Courier New" panose="02070309020205020404" pitchFamily="49" charset="0"/>
                <a:cs typeface="Courier New" panose="02070309020205020404" pitchFamily="49" charset="0"/>
              </a:rPr>
              <a:t>  void execute() { cout &lt;&lt; “A” &lt;&lt; endl; }</a:t>
            </a:r>
          </a:p>
          <a:p>
            <a:r>
              <a:rPr lang="en-US" sz="1100">
                <a:latin typeface="Courier New" panose="02070309020205020404" pitchFamily="49" charset="0"/>
                <a:cs typeface="Courier New" panose="02070309020205020404" pitchFamily="49" charset="0"/>
              </a:rPr>
              <a:t>  void methodA() { ... }</a:t>
            </a:r>
          </a:p>
          <a:p>
            <a:r>
              <a:rPr lang="en-US" sz="110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endParaRPr lang="en-US" sz="11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100">
                <a:latin typeface="Courier New" panose="02070309020205020404" pitchFamily="49" charset="0"/>
                <a:cs typeface="Courier New" panose="02070309020205020404" pitchFamily="49" charset="0"/>
              </a:rPr>
              <a:t>class B : public Executable {</a:t>
            </a:r>
          </a:p>
          <a:p>
            <a:r>
              <a:rPr lang="en-US" sz="1100">
                <a:latin typeface="Courier New" panose="02070309020205020404" pitchFamily="49" charset="0"/>
                <a:cs typeface="Courier New" panose="02070309020205020404" pitchFamily="49" charset="0"/>
              </a:rPr>
              <a:t>public:</a:t>
            </a:r>
          </a:p>
          <a:p>
            <a:r>
              <a:rPr lang="en-US" sz="1100">
                <a:latin typeface="Courier New" panose="02070309020205020404" pitchFamily="49" charset="0"/>
                <a:cs typeface="Courier New" panose="02070309020205020404" pitchFamily="49" charset="0"/>
              </a:rPr>
              <a:t>  void execute() { cout &lt;&lt; “B” &lt;&lt; endl; }</a:t>
            </a:r>
          </a:p>
          <a:p>
            <a:r>
              <a:rPr lang="en-US" sz="1100">
                <a:latin typeface="Courier New" panose="02070309020205020404" pitchFamily="49" charset="0"/>
                <a:cs typeface="Courier New" panose="02070309020205020404" pitchFamily="49" charset="0"/>
              </a:rPr>
              <a:t>  void methodB() { ... }</a:t>
            </a:r>
          </a:p>
          <a:p>
            <a:r>
              <a:rPr lang="en-US" sz="110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endParaRPr lang="en-US" sz="11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100">
                <a:latin typeface="Courier New" panose="02070309020205020404" pitchFamily="49" charset="0"/>
                <a:cs typeface="Courier New" panose="02070309020205020404" pitchFamily="49" charset="0"/>
              </a:rPr>
              <a:t>A a;</a:t>
            </a:r>
          </a:p>
          <a:p>
            <a:r>
              <a:rPr lang="en-US" sz="1100">
                <a:latin typeface="Courier New" panose="02070309020205020404" pitchFamily="49" charset="0"/>
                <a:cs typeface="Courier New" panose="02070309020205020404" pitchFamily="49" charset="0"/>
              </a:rPr>
              <a:t>Executor excA(a);</a:t>
            </a:r>
          </a:p>
          <a:p>
            <a:r>
              <a:rPr lang="en-US" sz="1100">
                <a:latin typeface="Courier New" panose="02070309020205020404" pitchFamily="49" charset="0"/>
                <a:cs typeface="Courier New" panose="02070309020205020404" pitchFamily="49" charset="0"/>
              </a:rPr>
              <a:t>excA.execute(); </a:t>
            </a:r>
            <a:r>
              <a:rPr lang="en-US" sz="1100">
                <a:solidFill>
                  <a:schemeClr val="tx1">
                    <a:lumMod val="50000"/>
                    <a:lumOff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‘A’</a:t>
            </a:r>
          </a:p>
          <a:p>
            <a:r>
              <a:rPr lang="en-US" sz="110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dynamic_cast&lt; A&amp; &gt;(</a:t>
            </a:r>
            <a:r>
              <a:rPr lang="en-US" sz="1100">
                <a:latin typeface="Courier New" panose="02070309020205020404" pitchFamily="49" charset="0"/>
                <a:cs typeface="Courier New" panose="02070309020205020404" pitchFamily="49" charset="0"/>
              </a:rPr>
              <a:t>excA.getItem()).methodA();</a:t>
            </a:r>
          </a:p>
          <a:p>
            <a:endParaRPr lang="en-US" sz="11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100">
                <a:latin typeface="Courier New" panose="02070309020205020404" pitchFamily="49" charset="0"/>
                <a:cs typeface="Courier New" panose="02070309020205020404" pitchFamily="49" charset="0"/>
              </a:rPr>
              <a:t>B b;</a:t>
            </a:r>
          </a:p>
          <a:p>
            <a:r>
              <a:rPr lang="en-US" sz="1100">
                <a:latin typeface="Courier New" panose="02070309020205020404" pitchFamily="49" charset="0"/>
                <a:cs typeface="Courier New" panose="02070309020205020404" pitchFamily="49" charset="0"/>
              </a:rPr>
              <a:t>Executor excB(b);</a:t>
            </a:r>
          </a:p>
          <a:p>
            <a:r>
              <a:rPr lang="en-US" sz="1100">
                <a:latin typeface="Courier New" panose="02070309020205020404" pitchFamily="49" charset="0"/>
                <a:cs typeface="Courier New" panose="02070309020205020404" pitchFamily="49" charset="0"/>
              </a:rPr>
              <a:t>excB.execute(); </a:t>
            </a:r>
            <a:r>
              <a:rPr lang="en-US" sz="1100">
                <a:solidFill>
                  <a:schemeClr val="tx1">
                    <a:lumMod val="50000"/>
                    <a:lumOff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‘B’</a:t>
            </a:r>
          </a:p>
          <a:p>
            <a:r>
              <a:rPr lang="en-US" sz="1100">
                <a:latin typeface="Courier New" panose="02070309020205020404" pitchFamily="49" charset="0"/>
                <a:cs typeface="Courier New" panose="02070309020205020404" pitchFamily="49" charset="0"/>
              </a:rPr>
              <a:t>dynamic_cast&lt; B&amp; &gt;(excB.getItem()).methodB();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714E247-D23E-B71A-2FB2-4819AB00CB73}"/>
              </a:ext>
            </a:extLst>
          </p:cNvPr>
          <p:cNvSpPr txBox="1"/>
          <p:nvPr/>
        </p:nvSpPr>
        <p:spPr>
          <a:xfrm>
            <a:off x="535709" y="4657120"/>
            <a:ext cx="1051461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Pro: we have just one definition of Executor, there’s no machine code duplication.</a:t>
            </a:r>
          </a:p>
          <a:p>
            <a:endParaRPr lang="en-US"/>
          </a:p>
          <a:p>
            <a:r>
              <a:rPr lang="en-US"/>
              <a:t>Cons: if we want to know the specific type of an interface, we need to downcast explicitly (run-time cost),</a:t>
            </a:r>
            <a:br>
              <a:rPr lang="en-US"/>
            </a:br>
            <a:r>
              <a:rPr lang="en-US"/>
              <a:t>and the operation could fail, so we need to add more code for type checking.</a:t>
            </a:r>
            <a:endParaRPr lang="en-US" b="1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62196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2557C3-1609-E2EA-A359-0BD4297AA6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4F38529-DE97-AB42-300A-42F3E71FF5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ASE - Type Systems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537959-82FC-7F71-99EA-1E067CFA2C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D81C8F-CB39-4E4D-98E4-8C3FEDF75126}" type="slidenum">
              <a:rPr lang="en-US" smtClean="0"/>
              <a:t>11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F5FFDA7-DD0E-D0B6-D8CC-EC8BE46938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015" y="361136"/>
            <a:ext cx="11213969" cy="5479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37995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D592D3-F30D-4DF3-492E-0C33E2517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406D104-9EDC-D46B-637B-706E48A810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ASE - Type Systems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381AA-ACD9-DFF0-0194-EDFA4AA0FD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D81C8F-CB39-4E4D-98E4-8C3FEDF75126}" type="slidenum">
              <a:rPr lang="en-US" smtClean="0"/>
              <a:t>12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894FC4-9AAE-0409-A05F-029F6B74CB3C}"/>
              </a:ext>
            </a:extLst>
          </p:cNvPr>
          <p:cNvSpPr txBox="1"/>
          <p:nvPr/>
        </p:nvSpPr>
        <p:spPr>
          <a:xfrm>
            <a:off x="535709" y="194055"/>
            <a:ext cx="34343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Metaprogramming and reflection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B9E2262-B327-71D3-877B-63BA2114D7A4}"/>
              </a:ext>
            </a:extLst>
          </p:cNvPr>
          <p:cNvSpPr txBox="1"/>
          <p:nvPr/>
        </p:nvSpPr>
        <p:spPr>
          <a:xfrm>
            <a:off x="267855" y="781406"/>
            <a:ext cx="10818091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Metaprogramming is a computer programming technique in which computer programs have the ability to treat other programs as their data.</a:t>
            </a:r>
          </a:p>
          <a:p>
            <a:endParaRPr lang="en-US"/>
          </a:p>
          <a:p>
            <a:endParaRPr lang="en-US"/>
          </a:p>
          <a:p>
            <a:r>
              <a:rPr lang="en-US"/>
              <a:t>In which ways?</a:t>
            </a:r>
          </a:p>
          <a:p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Move computation from run-time to compile-time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Generate code using compile-time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Self-modify coding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endParaRPr lang="en-US"/>
          </a:p>
          <a:p>
            <a:r>
              <a:rPr lang="en-US"/>
              <a:t>If a programming language offers constructs that allow to be its own metalanguage, then we talk about reflective programming (reflection).</a:t>
            </a:r>
          </a:p>
          <a:p>
            <a:endParaRPr lang="en-US"/>
          </a:p>
          <a:p>
            <a:endParaRPr lang="en-US"/>
          </a:p>
          <a:p>
            <a:r>
              <a:rPr lang="en-US"/>
              <a:t>Improves type safety and abstraction, allows change of the execution at run-time, creates Domain-Specific Languages to make coding more effective in specific domains (example: ORM)</a:t>
            </a:r>
          </a:p>
        </p:txBody>
      </p:sp>
    </p:spTree>
    <p:extLst>
      <p:ext uri="{BB962C8B-B14F-4D97-AF65-F5344CB8AC3E}">
        <p14:creationId xmlns:p14="http://schemas.microsoft.com/office/powerpoint/2010/main" val="29430025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7F7347-404C-E603-DEF6-E64F98E72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5C9F3C3-18A5-A0B6-A40E-BA0D5F274B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ASE - Type Systems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2236CB-D4D0-6798-B956-79B420BA0C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D81C8F-CB39-4E4D-98E4-8C3FEDF75126}" type="slidenum">
              <a:rPr lang="en-US" smtClean="0"/>
              <a:t>13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4C3FBA-BB4A-2D42-C0D4-F116DB20875F}"/>
              </a:ext>
            </a:extLst>
          </p:cNvPr>
          <p:cNvSpPr txBox="1"/>
          <p:nvPr/>
        </p:nvSpPr>
        <p:spPr>
          <a:xfrm>
            <a:off x="535709" y="194055"/>
            <a:ext cx="50957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Move computation from run-time to compile-time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FEB72D-7235-D193-F12F-43E3BFEE05D0}"/>
              </a:ext>
            </a:extLst>
          </p:cNvPr>
          <p:cNvSpPr txBox="1"/>
          <p:nvPr/>
        </p:nvSpPr>
        <p:spPr>
          <a:xfrm>
            <a:off x="323272" y="947659"/>
            <a:ext cx="108180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We use it basically for two reasons:</a:t>
            </a:r>
          </a:p>
          <a:p>
            <a:pPr marL="285750" indent="-285750">
              <a:buFontTx/>
              <a:buChar char="-"/>
            </a:pPr>
            <a:r>
              <a:rPr lang="en-US"/>
              <a:t>calculate constants at compile-time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F81BF47-6CA4-854C-9170-9E48D89467DF}"/>
              </a:ext>
            </a:extLst>
          </p:cNvPr>
          <p:cNvSpPr txBox="1"/>
          <p:nvPr/>
        </p:nvSpPr>
        <p:spPr>
          <a:xfrm>
            <a:off x="692171" y="1698072"/>
            <a:ext cx="3922869" cy="2462213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100">
                <a:latin typeface="Courier New" panose="02070309020205020404" pitchFamily="49" charset="0"/>
                <a:cs typeface="Courier New" panose="02070309020205020404" pitchFamily="49" charset="0"/>
              </a:rPr>
              <a:t>template &lt;unsigned int N&gt;</a:t>
            </a:r>
          </a:p>
          <a:p>
            <a:r>
              <a:rPr lang="en-US" sz="1100">
                <a:latin typeface="Courier New" panose="02070309020205020404" pitchFamily="49" charset="0"/>
                <a:cs typeface="Courier New" panose="02070309020205020404" pitchFamily="49" charset="0"/>
              </a:rPr>
              <a:t>struct Factorial {</a:t>
            </a:r>
          </a:p>
          <a:p>
            <a:r>
              <a:rPr lang="en-US" sz="1100">
                <a:latin typeface="Courier New" panose="02070309020205020404" pitchFamily="49" charset="0"/>
                <a:cs typeface="Courier New" panose="02070309020205020404" pitchFamily="49" charset="0"/>
              </a:rPr>
              <a:t>  static const unsigned long long value =</a:t>
            </a:r>
          </a:p>
          <a:p>
            <a:r>
              <a:rPr lang="en-US" sz="1100">
                <a:latin typeface="Courier New" panose="02070309020205020404" pitchFamily="49" charset="0"/>
                <a:cs typeface="Courier New" panose="02070309020205020404" pitchFamily="49" charset="0"/>
              </a:rPr>
              <a:t>    N * Factorial&lt;N - 1&gt;::value;</a:t>
            </a:r>
          </a:p>
          <a:p>
            <a:r>
              <a:rPr lang="en-US" sz="110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endParaRPr lang="en-US" sz="11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100">
                <a:latin typeface="Courier New" panose="02070309020205020404" pitchFamily="49" charset="0"/>
                <a:cs typeface="Courier New" panose="02070309020205020404" pitchFamily="49" charset="0"/>
              </a:rPr>
              <a:t>template &lt;&gt;</a:t>
            </a:r>
          </a:p>
          <a:p>
            <a:r>
              <a:rPr lang="en-US" sz="1100">
                <a:latin typeface="Courier New" panose="02070309020205020404" pitchFamily="49" charset="0"/>
                <a:cs typeface="Courier New" panose="02070309020205020404" pitchFamily="49" charset="0"/>
              </a:rPr>
              <a:t>struct Factorial&lt;0&gt; {</a:t>
            </a:r>
          </a:p>
          <a:p>
            <a:r>
              <a:rPr lang="en-US" sz="1100">
                <a:latin typeface="Courier New" panose="02070309020205020404" pitchFamily="49" charset="0"/>
                <a:cs typeface="Courier New" panose="02070309020205020404" pitchFamily="49" charset="0"/>
              </a:rPr>
              <a:t>  static const unsigned long long value = 1;</a:t>
            </a:r>
          </a:p>
          <a:p>
            <a:r>
              <a:rPr lang="en-US" sz="110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endParaRPr lang="en-US" sz="11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100">
                <a:latin typeface="Courier New" panose="02070309020205020404" pitchFamily="49" charset="0"/>
                <a:cs typeface="Courier New" panose="02070309020205020404" pitchFamily="49" charset="0"/>
              </a:rPr>
              <a:t>int main() {</a:t>
            </a:r>
          </a:p>
          <a:p>
            <a:r>
              <a:rPr lang="en-US" sz="1100">
                <a:latin typeface="Courier New" panose="02070309020205020404" pitchFamily="49" charset="0"/>
                <a:cs typeface="Courier New" panose="02070309020205020404" pitchFamily="49" charset="0"/>
              </a:rPr>
              <a:t>  return Factorial&lt;10&gt;::value;</a:t>
            </a:r>
          </a:p>
          <a:p>
            <a:r>
              <a:rPr lang="en-US" sz="110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F377483-6BED-6323-A8A9-22910A82F1B6}"/>
              </a:ext>
            </a:extLst>
          </p:cNvPr>
          <p:cNvSpPr txBox="1"/>
          <p:nvPr/>
        </p:nvSpPr>
        <p:spPr>
          <a:xfrm>
            <a:off x="5204860" y="2320871"/>
            <a:ext cx="6811480" cy="330859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100">
                <a:latin typeface="Courier New" panose="02070309020205020404" pitchFamily="49" charset="0"/>
                <a:cs typeface="Courier New" panose="02070309020205020404" pitchFamily="49" charset="0"/>
              </a:rPr>
              <a:t>type ToNumber&lt;A extends Array&lt;unknown&gt;&gt; = A['length']; </a:t>
            </a:r>
          </a:p>
          <a:p>
            <a:r>
              <a:rPr lang="en-US" sz="1100">
                <a:latin typeface="Courier New" panose="02070309020205020404" pitchFamily="49" charset="0"/>
                <a:cs typeface="Courier New" panose="02070309020205020404" pitchFamily="49" charset="0"/>
              </a:rPr>
              <a:t>type ToArray&lt;N extends number&gt; = _ToArray&lt;N, []&gt;; </a:t>
            </a:r>
          </a:p>
          <a:p>
            <a:r>
              <a:rPr lang="en-US" sz="1100">
                <a:latin typeface="Courier New" panose="02070309020205020404" pitchFamily="49" charset="0"/>
                <a:cs typeface="Courier New" panose="02070309020205020404" pitchFamily="49" charset="0"/>
              </a:rPr>
              <a:t>type _ToArray&lt;N extends number, A extends Array&lt;unknown&gt;&gt; = </a:t>
            </a:r>
          </a:p>
          <a:p>
            <a:r>
              <a:rPr lang="en-US" sz="1100">
                <a:latin typeface="Courier New" panose="02070309020205020404" pitchFamily="49" charset="0"/>
                <a:cs typeface="Courier New" panose="02070309020205020404" pitchFamily="49" charset="0"/>
              </a:rPr>
              <a:t>    ToNumber&lt;A&gt; extends N </a:t>
            </a:r>
          </a:p>
          <a:p>
            <a:r>
              <a:rPr lang="en-US" sz="1100">
                <a:latin typeface="Courier New" panose="02070309020205020404" pitchFamily="49" charset="0"/>
                <a:cs typeface="Courier New" panose="02070309020205020404" pitchFamily="49" charset="0"/>
              </a:rPr>
              <a:t>        ? A </a:t>
            </a:r>
          </a:p>
          <a:p>
            <a:r>
              <a:rPr lang="en-US" sz="1100">
                <a:latin typeface="Courier New" panose="02070309020205020404" pitchFamily="49" charset="0"/>
                <a:cs typeface="Courier New" panose="02070309020205020404" pitchFamily="49" charset="0"/>
              </a:rPr>
              <a:t>        : _ToArray&lt;N, [...A, undefined]&gt;; </a:t>
            </a:r>
          </a:p>
          <a:p>
            <a:r>
              <a:rPr lang="en-US" sz="1100">
                <a:latin typeface="Courier New" panose="02070309020205020404" pitchFamily="49" charset="0"/>
                <a:cs typeface="Courier New" panose="02070309020205020404" pitchFamily="49" charset="0"/>
              </a:rPr>
              <a:t>// type X = ToNumber&lt;[undefined, undefined, undefined]&gt;;  // 3 </a:t>
            </a:r>
          </a:p>
          <a:p>
            <a:r>
              <a:rPr lang="en-US" sz="1100">
                <a:latin typeface="Courier New" panose="02070309020205020404" pitchFamily="49" charset="0"/>
                <a:cs typeface="Courier New" panose="02070309020205020404" pitchFamily="49" charset="0"/>
              </a:rPr>
              <a:t>// type Y = ToArray&lt;3&gt;;  // [undefined, undefined, undefined] </a:t>
            </a:r>
          </a:p>
          <a:p>
            <a:endParaRPr lang="en-US" sz="11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100">
                <a:latin typeface="Courier New" panose="02070309020205020404" pitchFamily="49" charset="0"/>
                <a:cs typeface="Courier New" panose="02070309020205020404" pitchFamily="49" charset="0"/>
              </a:rPr>
              <a:t>type _Add&lt;A extends Array&lt;unknown&gt;, B extends Array&lt;unknown&gt;&gt; = [...A, ...B]; </a:t>
            </a:r>
          </a:p>
          <a:p>
            <a:r>
              <a:rPr lang="en-US" sz="1100">
                <a:latin typeface="Courier New" panose="02070309020205020404" pitchFamily="49" charset="0"/>
                <a:cs typeface="Courier New" panose="02070309020205020404" pitchFamily="49" charset="0"/>
              </a:rPr>
              <a:t>type Add&lt;A extends number, B extends number&gt; = </a:t>
            </a:r>
          </a:p>
          <a:p>
            <a:r>
              <a:rPr lang="en-US" sz="1100">
                <a:latin typeface="Courier New" panose="02070309020205020404" pitchFamily="49" charset="0"/>
                <a:cs typeface="Courier New" panose="02070309020205020404" pitchFamily="49" charset="0"/>
              </a:rPr>
              <a:t>    ToNumber&lt; </a:t>
            </a:r>
          </a:p>
          <a:p>
            <a:r>
              <a:rPr lang="en-US" sz="1100">
                <a:latin typeface="Courier New" panose="02070309020205020404" pitchFamily="49" charset="0"/>
                <a:cs typeface="Courier New" panose="02070309020205020404" pitchFamily="49" charset="0"/>
              </a:rPr>
              <a:t>        _Add&lt; </a:t>
            </a:r>
          </a:p>
          <a:p>
            <a:r>
              <a:rPr lang="en-US" sz="1100">
                <a:latin typeface="Courier New" panose="02070309020205020404" pitchFamily="49" charset="0"/>
                <a:cs typeface="Courier New" panose="02070309020205020404" pitchFamily="49" charset="0"/>
              </a:rPr>
              <a:t>            ToArray&lt;A&gt;, </a:t>
            </a:r>
          </a:p>
          <a:p>
            <a:r>
              <a:rPr lang="en-US" sz="1100">
                <a:latin typeface="Courier New" panose="02070309020205020404" pitchFamily="49" charset="0"/>
                <a:cs typeface="Courier New" panose="02070309020205020404" pitchFamily="49" charset="0"/>
              </a:rPr>
              <a:t>            ToArray&lt;B&gt; </a:t>
            </a:r>
          </a:p>
          <a:p>
            <a:r>
              <a:rPr lang="en-US" sz="1100">
                <a:latin typeface="Courier New" panose="02070309020205020404" pitchFamily="49" charset="0"/>
                <a:cs typeface="Courier New" panose="02070309020205020404" pitchFamily="49" charset="0"/>
              </a:rPr>
              <a:t>        &gt; </a:t>
            </a:r>
          </a:p>
          <a:p>
            <a:r>
              <a:rPr lang="en-US" sz="1100">
                <a:latin typeface="Courier New" panose="02070309020205020404" pitchFamily="49" charset="0"/>
                <a:cs typeface="Courier New" panose="02070309020205020404" pitchFamily="49" charset="0"/>
              </a:rPr>
              <a:t>    &gt;; </a:t>
            </a:r>
          </a:p>
          <a:p>
            <a:r>
              <a:rPr lang="en-US" sz="1100">
                <a:latin typeface="Courier New" panose="02070309020205020404" pitchFamily="49" charset="0"/>
                <a:cs typeface="Courier New" panose="02070309020205020404" pitchFamily="49" charset="0"/>
              </a:rPr>
              <a:t>type X = Add&lt;3, 9&gt;;    // 12 </a:t>
            </a:r>
          </a:p>
          <a:p>
            <a:r>
              <a:rPr lang="en-US" sz="1100">
                <a:latin typeface="Courier New" panose="02070309020205020404" pitchFamily="49" charset="0"/>
                <a:cs typeface="Courier New" panose="02070309020205020404" pitchFamily="49" charset="0"/>
              </a:rPr>
              <a:t>type Y = Add&lt;13, 21&gt;;  // 34 </a:t>
            </a:r>
          </a:p>
        </p:txBody>
      </p:sp>
    </p:spTree>
    <p:extLst>
      <p:ext uri="{BB962C8B-B14F-4D97-AF65-F5344CB8AC3E}">
        <p14:creationId xmlns:p14="http://schemas.microsoft.com/office/powerpoint/2010/main" val="799841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2" grpId="0" animBg="1"/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2E799-81FD-90E6-1A36-1FAE8B12C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988A408-82D8-752D-C522-4344D0B6E6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ASE - Type Systems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86023E-36B6-903B-5DE4-8FA2D96156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D81C8F-CB39-4E4D-98E4-8C3FEDF75126}" type="slidenum">
              <a:rPr lang="en-US" smtClean="0"/>
              <a:t>14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FE9AD4-434A-7C54-B8FD-5409381EAFBE}"/>
              </a:ext>
            </a:extLst>
          </p:cNvPr>
          <p:cNvSpPr txBox="1"/>
          <p:nvPr/>
        </p:nvSpPr>
        <p:spPr>
          <a:xfrm>
            <a:off x="535709" y="194055"/>
            <a:ext cx="50957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Move computation from run-time to compile-time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EAA6513-7407-7CCF-8E11-BA8EAA8AB2DD}"/>
              </a:ext>
            </a:extLst>
          </p:cNvPr>
          <p:cNvSpPr txBox="1"/>
          <p:nvPr/>
        </p:nvSpPr>
        <p:spPr>
          <a:xfrm>
            <a:off x="314036" y="781160"/>
            <a:ext cx="108180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/>
              <a:t>enforce values validation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D073DD-2D32-2569-7885-07D946840C03}"/>
              </a:ext>
            </a:extLst>
          </p:cNvPr>
          <p:cNvSpPr txBox="1"/>
          <p:nvPr/>
        </p:nvSpPr>
        <p:spPr>
          <a:xfrm>
            <a:off x="152325" y="1185704"/>
            <a:ext cx="5570756" cy="470898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type RequestMethod = 'GET' | 'POST';</a:t>
            </a:r>
          </a:p>
          <a:p>
            <a:endParaRPr lang="en-US" sz="10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interface GetUsersParams {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page: number;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perPage: number;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endParaRPr lang="en-US" sz="10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interface PostUsersParams {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name: string;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email: string;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endParaRPr lang="en-US" sz="10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function handleRequest(method: RequestMethod, params: any): void {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if (method === 'GET') {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  if (!params.page || !params.perPage) {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    throw new Error('Missing required parameters for GET request');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} else if (method === 'POST') {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  if (!params.name || !params.email) {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    throw new Error('Missing required parameters for POST request');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endParaRPr lang="en-US" sz="10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handleRequest('GET', { page: 1, perPage: 10 }); // Valid</a:t>
            </a:r>
          </a:p>
          <a:p>
            <a:endParaRPr lang="en-US" sz="10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// Error: Missing required parameters for GET request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handleRequest('GET', { page: 1 });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// Error: Missing required parameters for POST request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handleRequest('POST', { name: 'John' });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EA7C23-D4B8-AF47-95AB-104B028636E4}"/>
              </a:ext>
            </a:extLst>
          </p:cNvPr>
          <p:cNvSpPr txBox="1"/>
          <p:nvPr/>
        </p:nvSpPr>
        <p:spPr>
          <a:xfrm>
            <a:off x="6096000" y="1185704"/>
            <a:ext cx="6032421" cy="470898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type RequestMethod = 'GET' | 'POST';</a:t>
            </a:r>
          </a:p>
          <a:p>
            <a:endParaRPr lang="en-US" sz="10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interface GetUsersParams {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page: number;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perPage: number;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endParaRPr lang="en-US" sz="10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interface PostUsersParams {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name: string;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email: string;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endParaRPr lang="en-US" sz="10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// Conditional types to enforce valid parameters based on the request method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type RequestParams&lt;T extends RequestMethod&gt; =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T extends 'GET' ? GetUsersParams : PostUsersParams;</a:t>
            </a:r>
          </a:p>
          <a:p>
            <a:endParaRPr lang="en-US" sz="10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function handleRequest&lt;T extends RequestMethod&gt;(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method: T, params: RequestParams&lt;T&gt;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): void {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// Now TypeScript ensures we only pass valid params based on the method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console.log(`Handling ${method} request with params:`, params);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endParaRPr lang="en-US" sz="10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handleRequest('GET', { page: 1, perPage: 10 }); // OK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handleRequest('POST', { name: 'John', email: 'john@example.com' }); // OK</a:t>
            </a:r>
          </a:p>
          <a:p>
            <a:endParaRPr lang="en-US" sz="10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// Compile-time Error: Property 'perPage' is missing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handleRequest('GET', { page: 1 });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// Compile-time Error: Property 'email' is missing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handleRequest('POST', { name: 'John' });</a:t>
            </a:r>
          </a:p>
        </p:txBody>
      </p:sp>
    </p:spTree>
    <p:extLst>
      <p:ext uri="{BB962C8B-B14F-4D97-AF65-F5344CB8AC3E}">
        <p14:creationId xmlns:p14="http://schemas.microsoft.com/office/powerpoint/2010/main" val="28859670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5" grpId="0" animBg="1"/>
      <p:bldP spid="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2B6B2C-306C-716E-FC78-E77F0F1E17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9386B9A-2828-8C83-154E-63F2BC9E53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ASE - Type Systems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DA8BD6-6C55-DA26-FC74-CF1F55606E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D81C8F-CB39-4E4D-98E4-8C3FEDF75126}" type="slidenum">
              <a:rPr lang="en-US" smtClean="0"/>
              <a:t>15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E0586C0-9D9F-A5E8-1DAF-A4D949A14018}"/>
              </a:ext>
            </a:extLst>
          </p:cNvPr>
          <p:cNvSpPr txBox="1"/>
          <p:nvPr/>
        </p:nvSpPr>
        <p:spPr>
          <a:xfrm>
            <a:off x="535709" y="194055"/>
            <a:ext cx="3617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Generate code using compile-time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FD9C0BA-56FE-7A90-973F-81A0C7AA57B2}"/>
              </a:ext>
            </a:extLst>
          </p:cNvPr>
          <p:cNvSpPr txBox="1"/>
          <p:nvPr/>
        </p:nvSpPr>
        <p:spPr>
          <a:xfrm>
            <a:off x="314036" y="781160"/>
            <a:ext cx="108180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Basically it means we generate new types/constraints based on pre-defined types/constraints, reducing code duplication.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CA79A8-CB31-CF82-C23E-DF24DE6FEDE4}"/>
              </a:ext>
            </a:extLst>
          </p:cNvPr>
          <p:cNvSpPr txBox="1"/>
          <p:nvPr/>
        </p:nvSpPr>
        <p:spPr>
          <a:xfrm>
            <a:off x="314036" y="1540879"/>
            <a:ext cx="5032147" cy="4555093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type TableItem = {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id: number;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endParaRPr lang="en-US" sz="10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type UserTableItem = TableItem &amp; {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name: string;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email: string;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age: number;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endParaRPr lang="en-US" sz="10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type ProductTableItem = TableItem &amp; {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name: string;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price: number;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description: string;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endParaRPr lang="en-US" sz="10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type Insert&lt;T&gt; = Omit&lt;T, keyof TableItem&gt;;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type Update&lt;T&gt; = Partial&lt;Omit&lt;T, keyof TableItem&gt;&gt; &amp; TableItem;</a:t>
            </a:r>
          </a:p>
          <a:p>
            <a:endParaRPr lang="en-US" sz="10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function insertIntoTable&lt;T&gt;(data: Insert&lt;T&gt;): void {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// database insert operation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endParaRPr lang="en-US" sz="10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function updateTable&lt;T&gt;(data: Update&lt;T&gt;): void {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// database update operation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endParaRPr lang="en-US" sz="10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insertIntoTable&lt;UserTableItem&gt;({...});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updateTable&lt;ProductTableItem&gt;({...});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CC4BEC2-FC3A-69D9-7ED1-3887566C45D0}"/>
              </a:ext>
            </a:extLst>
          </p:cNvPr>
          <p:cNvSpPr txBox="1"/>
          <p:nvPr/>
        </p:nvSpPr>
        <p:spPr>
          <a:xfrm>
            <a:off x="6561645" y="1243052"/>
            <a:ext cx="5032147" cy="517064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#include &lt;functional&gt;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#include &lt;string&gt;</a:t>
            </a:r>
          </a:p>
          <a:p>
            <a:endParaRPr lang="en-US" sz="10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enum class Action {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CREATE,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DELETE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endParaRPr lang="en-US" sz="10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template &lt;Action A&gt;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struct HandlerMap;</a:t>
            </a:r>
          </a:p>
          <a:p>
            <a:endParaRPr lang="en-US" sz="10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template &lt;&gt;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struct HandlerMap&lt;Action::CREATE&gt; {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using HandlerType = std::function&lt;void()&gt;;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endParaRPr lang="en-US" sz="10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template &lt;&gt;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struct HandlerMap&lt;Action::DELETE&gt; {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using HandlerType = function&lt;void(std::string)&gt;;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endParaRPr lang="en-US" sz="10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template &lt;Action A, typename ...Args&gt;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void performAction(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typename HandlerMap&lt;A&gt;::HandlerType handler,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Args&amp;&amp;... args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handler(forward&lt;Args&gt;(args)...);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endParaRPr lang="en-US" sz="10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int main() {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performAction&lt;Action::CREATE&gt;([] () {});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performAction&lt;Action::DELETE&gt;([] (std::string s) { }, "Hi");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331631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5" grpId="0" animBg="1"/>
      <p:bldP spid="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844FB1-A5DA-67A6-DC10-A71C16E7EA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7BFD31B-019F-15D2-702A-C39418F53C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ASE - Type Systems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6E0FAF-1331-CE44-4DF4-9D1EA992B3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D81C8F-CB39-4E4D-98E4-8C3FEDF75126}" type="slidenum">
              <a:rPr lang="en-US" smtClean="0"/>
              <a:t>16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EF4A9B-B7FB-BF75-6C2E-31C680C8575F}"/>
              </a:ext>
            </a:extLst>
          </p:cNvPr>
          <p:cNvSpPr txBox="1"/>
          <p:nvPr/>
        </p:nvSpPr>
        <p:spPr>
          <a:xfrm>
            <a:off x="535709" y="194055"/>
            <a:ext cx="21661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Self-modifying code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F1154C-1F05-4BBD-CB6F-B0F969CCE82C}"/>
              </a:ext>
            </a:extLst>
          </p:cNvPr>
          <p:cNvSpPr txBox="1"/>
          <p:nvPr/>
        </p:nvSpPr>
        <p:spPr>
          <a:xfrm>
            <a:off x="314036" y="781160"/>
            <a:ext cx="108180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SMC is code that alters itself while executing.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687851F-102E-A3CB-666D-40A3A20FF847}"/>
              </a:ext>
            </a:extLst>
          </p:cNvPr>
          <p:cNvSpPr txBox="1"/>
          <p:nvPr/>
        </p:nvSpPr>
        <p:spPr>
          <a:xfrm>
            <a:off x="5248141" y="563387"/>
            <a:ext cx="6724918" cy="56323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#include &lt;stdio.h&gt;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#include &lt;string.h&gt;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#include &lt;stdint.h&gt;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#include &lt;sys/mman.h&gt;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#include &lt;unistd.h&gt;</a:t>
            </a:r>
          </a:p>
          <a:p>
            <a:endParaRPr lang="en-US" sz="10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int myFunction() {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return 1;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endParaRPr lang="en-US" sz="10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int main() {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// Get the page size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size_t page_size = sysconf(_SC_PAGESIZE);</a:t>
            </a:r>
          </a:p>
          <a:p>
            <a:endParaRPr lang="en-US" sz="10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// Align the function's memory to the page boundary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void* func_address = (void*)((uintptr_t)myFunction &amp; ~(page_size - 1));</a:t>
            </a:r>
          </a:p>
          <a:p>
            <a:endParaRPr lang="en-US" sz="10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// Change memory protection to allow writing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if (mprotect(func_address, page_size, PROT_READ | PROT_WRITE | PROT_EXEC) != 0) {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  return 1;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  <a:p>
            <a:endParaRPr lang="en-US" sz="10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// Get pointer to the first byte of the function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unsigned char* func_bytes = (unsigned char*) myFunction;</a:t>
            </a:r>
          </a:p>
          <a:p>
            <a:endParaRPr lang="en-US" sz="10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// Modify the return value from 1 to 42 by patching machine code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func_bytes[5] = 42;  // Change the immediate return value (offset may vary)</a:t>
            </a:r>
          </a:p>
          <a:p>
            <a:endParaRPr lang="en-US" sz="10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// Restore memory protection (optional)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mprotect(func_address, page_size, PROT_READ | PROT_EXEC);</a:t>
            </a:r>
          </a:p>
          <a:p>
            <a:endParaRPr lang="en-US" sz="10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// Call the function after modification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printf("Modified function output: %d\n", myFunction()); // Should print 42</a:t>
            </a:r>
          </a:p>
          <a:p>
            <a:endParaRPr lang="en-US" sz="10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return 0;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A68C9BA-FCF8-893C-E3F1-AC7B35E921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1760" y="399070"/>
            <a:ext cx="1732040" cy="176411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13C2A31-158D-098C-25A9-289E530D45C3}"/>
              </a:ext>
            </a:extLst>
          </p:cNvPr>
          <p:cNvSpPr txBox="1"/>
          <p:nvPr/>
        </p:nvSpPr>
        <p:spPr>
          <a:xfrm>
            <a:off x="314036" y="3199423"/>
            <a:ext cx="35372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Can be done on assembly-level ...</a:t>
            </a:r>
          </a:p>
        </p:txBody>
      </p:sp>
    </p:spTree>
    <p:extLst>
      <p:ext uri="{BB962C8B-B14F-4D97-AF65-F5344CB8AC3E}">
        <p14:creationId xmlns:p14="http://schemas.microsoft.com/office/powerpoint/2010/main" val="1328861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26D3C2-5F52-AB35-EFAE-CCB2AB5E40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51DBDC3-FBE2-A017-2356-B91721CAF6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ASE - Type Systems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45514F-64DF-B0A8-1AB4-2792C7450C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D81C8F-CB39-4E4D-98E4-8C3FEDF75126}" type="slidenum">
              <a:rPr lang="en-US" smtClean="0"/>
              <a:t>17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91C524-58F5-0D47-4D62-82489DF6F903}"/>
              </a:ext>
            </a:extLst>
          </p:cNvPr>
          <p:cNvSpPr txBox="1"/>
          <p:nvPr/>
        </p:nvSpPr>
        <p:spPr>
          <a:xfrm>
            <a:off x="535709" y="194055"/>
            <a:ext cx="21661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Self-modifying code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231F585-CDCC-C2EF-7293-84FDCFCC557F}"/>
              </a:ext>
            </a:extLst>
          </p:cNvPr>
          <p:cNvSpPr txBox="1"/>
          <p:nvPr/>
        </p:nvSpPr>
        <p:spPr>
          <a:xfrm>
            <a:off x="644479" y="2136338"/>
            <a:ext cx="41148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... or just altering functions at run-time!</a:t>
            </a:r>
            <a:br>
              <a:rPr lang="en-US"/>
            </a:br>
            <a:endParaRPr lang="en-US"/>
          </a:p>
          <a:p>
            <a:r>
              <a:rPr lang="en-US"/>
              <a:t>It can be easily achieved in interpreted languages, where everything is, by design, executed as long as it’s parsed.</a:t>
            </a:r>
          </a:p>
          <a:p>
            <a:endParaRPr lang="en-US"/>
          </a:p>
          <a:p>
            <a:r>
              <a:rPr lang="en-US"/>
              <a:t>This can also bring mocking during testing, to replace entire functions and/or modules with stubs.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0905BB-EAC6-AEB3-49D6-341D3DC481AE}"/>
              </a:ext>
            </a:extLst>
          </p:cNvPr>
          <p:cNvSpPr txBox="1"/>
          <p:nvPr/>
        </p:nvSpPr>
        <p:spPr>
          <a:xfrm>
            <a:off x="5672135" y="1120676"/>
            <a:ext cx="5876930" cy="46166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>
                <a:latin typeface="Courier New" panose="02070309020205020404" pitchFamily="49" charset="0"/>
                <a:cs typeface="Courier New" panose="02070309020205020404" pitchFamily="49" charset="0"/>
              </a:rPr>
              <a:t>import time</a:t>
            </a:r>
          </a:p>
          <a:p>
            <a:r>
              <a:rPr lang="en-US" sz="1400">
                <a:latin typeface="Courier New" panose="02070309020205020404" pitchFamily="49" charset="0"/>
                <a:cs typeface="Courier New" panose="02070309020205020404" pitchFamily="49" charset="0"/>
              </a:rPr>
              <a:t>import sys</a:t>
            </a:r>
          </a:p>
          <a:p>
            <a:endParaRPr lang="en-US" sz="14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b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log(message):</a:t>
            </a:r>
          </a:p>
          <a:p>
            <a:r>
              <a:rPr lang="en-US" sz="1400">
                <a:latin typeface="Courier New" panose="02070309020205020404" pitchFamily="49" charset="0"/>
                <a:cs typeface="Courier New" panose="02070309020205020404" pitchFamily="49" charset="0"/>
              </a:rPr>
              <a:t>    print(f"[INFO] {message}")</a:t>
            </a:r>
          </a:p>
          <a:p>
            <a:endParaRPr lang="en-US" sz="14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file_logger(message):</a:t>
            </a:r>
          </a:p>
          <a:p>
            <a:r>
              <a:rPr lang="en-US" sz="1400">
                <a:latin typeface="Courier New" panose="02070309020205020404" pitchFamily="49" charset="0"/>
                <a:cs typeface="Courier New" panose="02070309020205020404" pitchFamily="49" charset="0"/>
              </a:rPr>
              <a:t>    with open("app.log", "a") as f:</a:t>
            </a:r>
          </a:p>
          <a:p>
            <a:r>
              <a:rPr lang="en-US" sz="1400">
                <a:latin typeface="Courier New" panose="02070309020205020404" pitchFamily="49" charset="0"/>
                <a:cs typeface="Courier New" panose="02070309020205020404" pitchFamily="49" charset="0"/>
              </a:rPr>
              <a:t>        f.write(f"[LOG] {message}\n")</a:t>
            </a:r>
          </a:p>
          <a:p>
            <a:endParaRPr lang="en-US" sz="14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>
                <a:latin typeface="Courier New" panose="02070309020205020404" pitchFamily="49" charset="0"/>
                <a:cs typeface="Courier New" panose="02070309020205020404" pitchFamily="49" charset="0"/>
              </a:rPr>
              <a:t>def application():</a:t>
            </a:r>
          </a:p>
          <a:p>
            <a:r>
              <a:rPr lang="en-US" sz="1400">
                <a:latin typeface="Courier New" panose="02070309020205020404" pitchFamily="49" charset="0"/>
                <a:cs typeface="Courier New" panose="02070309020205020404" pitchFamily="49" charset="0"/>
              </a:rPr>
              <a:t>    for i in range(5):</a:t>
            </a:r>
          </a:p>
          <a:p>
            <a:r>
              <a:rPr lang="en-US" sz="1400">
                <a:latin typeface="Courier New" panose="02070309020205020404" pitchFamily="49" charset="0"/>
                <a:cs typeface="Courier New" panose="02070309020205020404" pitchFamily="49" charset="0"/>
              </a:rPr>
              <a:t>        log(f"Processing item {i}")</a:t>
            </a:r>
          </a:p>
          <a:p>
            <a:r>
              <a:rPr lang="en-US" sz="1400">
                <a:latin typeface="Courier New" panose="02070309020205020404" pitchFamily="49" charset="0"/>
                <a:cs typeface="Courier New" panose="02070309020205020404" pitchFamily="49" charset="0"/>
              </a:rPr>
              <a:t>        time.sleep(1)</a:t>
            </a:r>
          </a:p>
          <a:p>
            <a:endParaRPr lang="en-US" sz="14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>
                <a:latin typeface="Courier New" panose="02070309020205020404" pitchFamily="49" charset="0"/>
                <a:cs typeface="Courier New" panose="02070309020205020404" pitchFamily="49" charset="0"/>
              </a:rPr>
              <a:t>print("Starting application with default logging...")</a:t>
            </a:r>
          </a:p>
          <a:p>
            <a:r>
              <a:rPr lang="en-US" sz="1400">
                <a:latin typeface="Courier New" panose="02070309020205020404" pitchFamily="49" charset="0"/>
                <a:cs typeface="Courier New" panose="02070309020205020404" pitchFamily="49" charset="0"/>
              </a:rPr>
              <a:t>application()</a:t>
            </a:r>
          </a:p>
          <a:p>
            <a:endParaRPr lang="en-US" sz="14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>
                <a:latin typeface="Courier New" panose="02070309020205020404" pitchFamily="49" charset="0"/>
                <a:cs typeface="Courier New" panose="02070309020205020404" pitchFamily="49" charset="0"/>
              </a:rPr>
              <a:t>print("\nSwitching logging to file...")</a:t>
            </a:r>
          </a:p>
          <a:p>
            <a:r>
              <a:rPr lang="en-US" sz="14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log = file_logger</a:t>
            </a:r>
          </a:p>
          <a:p>
            <a:r>
              <a:rPr lang="en-US" sz="1400">
                <a:latin typeface="Courier New" panose="02070309020205020404" pitchFamily="49" charset="0"/>
                <a:cs typeface="Courier New" panose="02070309020205020404" pitchFamily="49" charset="0"/>
              </a:rPr>
              <a:t>application()</a:t>
            </a:r>
          </a:p>
        </p:txBody>
      </p:sp>
    </p:spTree>
    <p:extLst>
      <p:ext uri="{BB962C8B-B14F-4D97-AF65-F5344CB8AC3E}">
        <p14:creationId xmlns:p14="http://schemas.microsoft.com/office/powerpoint/2010/main" val="25161703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55FB4F-ABD0-7AB1-B6A9-DC15AA954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27D332A-8F5A-0072-4FCA-D282061408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ASE - Type Systems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248101-3C50-F94B-AD71-D72A71749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D81C8F-CB39-4E4D-98E4-8C3FEDF75126}" type="slidenum">
              <a:rPr lang="en-US" smtClean="0"/>
              <a:t>18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2F88B9-54AA-2CC4-59FD-CCA8EBE1C1EA}"/>
              </a:ext>
            </a:extLst>
          </p:cNvPr>
          <p:cNvSpPr txBox="1"/>
          <p:nvPr/>
        </p:nvSpPr>
        <p:spPr>
          <a:xfrm>
            <a:off x="535709" y="194055"/>
            <a:ext cx="1200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Reflection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B8BD7D3-9501-1F6D-80BE-B0BE538525B1}"/>
              </a:ext>
            </a:extLst>
          </p:cNvPr>
          <p:cNvSpPr txBox="1"/>
          <p:nvPr/>
        </p:nvSpPr>
        <p:spPr>
          <a:xfrm>
            <a:off x="535709" y="2817204"/>
            <a:ext cx="4185761" cy="31700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import java.lang.reflect.*;</a:t>
            </a:r>
          </a:p>
          <a:p>
            <a:endParaRPr lang="en-US" sz="10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class Person {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private String name;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public int age;</a:t>
            </a:r>
          </a:p>
          <a:p>
            <a:endParaRPr lang="en-US" sz="10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public Person(String name) {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  this.name = name;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  this.age = 10;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public Person(String name, int age) {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  this.name = name;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  this.age = age;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  <a:p>
            <a:endParaRPr lang="en-US" sz="10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public void sayHello() {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  System.out.println("Hello, my name is " + name);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14FA902-8DBB-FEA9-037F-8B4B09F7480D}"/>
              </a:ext>
            </a:extLst>
          </p:cNvPr>
          <p:cNvSpPr txBox="1"/>
          <p:nvPr/>
        </p:nvSpPr>
        <p:spPr>
          <a:xfrm>
            <a:off x="8382000" y="1067368"/>
            <a:ext cx="341632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>
              <a:buNone/>
            </a:pPr>
            <a:r>
              <a:rPr lang="en-US" sz="1000" b="1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Class Name: com.github.ASE.Person</a:t>
            </a:r>
          </a:p>
          <a:p>
            <a:pPr marL="0" marR="0">
              <a:buNone/>
            </a:pPr>
            <a:r>
              <a:rPr lang="en-US" sz="1000" b="1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Constructor: com.github.ASE.Person, 1</a:t>
            </a:r>
          </a:p>
          <a:p>
            <a:pPr marL="0" marR="0">
              <a:buNone/>
            </a:pPr>
            <a:r>
              <a:rPr lang="en-US" sz="1000" b="1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Constructor: com.github.ASE.Person, 2</a:t>
            </a:r>
          </a:p>
          <a:p>
            <a:pPr marL="0" marR="0">
              <a:buNone/>
            </a:pPr>
            <a:r>
              <a:rPr lang="en-US" sz="1000" b="1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Field: name | Type: class java.lang.String</a:t>
            </a:r>
          </a:p>
          <a:p>
            <a:pPr marL="0" marR="0">
              <a:buNone/>
            </a:pPr>
            <a:r>
              <a:rPr lang="en-US" sz="1000" b="1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Field: age | Type: int</a:t>
            </a:r>
          </a:p>
          <a:p>
            <a:pPr marL="0" marR="0">
              <a:buNone/>
            </a:pPr>
            <a:r>
              <a:rPr lang="en-US" sz="1000" b="1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Method: sayHello</a:t>
            </a:r>
            <a:endParaRPr lang="en-US" sz="1000" b="1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91CC81F-9181-8656-A225-CFBD309F0EBF}"/>
              </a:ext>
            </a:extLst>
          </p:cNvPr>
          <p:cNvSpPr txBox="1"/>
          <p:nvPr/>
        </p:nvSpPr>
        <p:spPr>
          <a:xfrm>
            <a:off x="6058287" y="2432483"/>
            <a:ext cx="4647426" cy="39395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public class ReflectionExample {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public static void main(String[] args) {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  Class&lt;?&gt; clazz = Person.class; // Get Class object</a:t>
            </a:r>
          </a:p>
          <a:p>
            <a:endParaRPr lang="en-US" sz="10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  System.out.println("Class Name: " + clazz.getName());</a:t>
            </a:r>
          </a:p>
          <a:p>
            <a:endParaRPr lang="en-US" sz="10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  // List constructors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  for (Constructor ctr : clazz.getConstructors()) {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    System.out.println("Constructor: " + ctr.getName() +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", " + ctr.getParameterCount());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endParaRPr lang="en-US" sz="10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  // List fields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  for (Field field : clazz.getDeclaredFields()) {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    System.out.println("Field: " + field.getName() +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" | Type: " + field.getType());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endParaRPr lang="en-US" sz="10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  // List methods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  for (Method method : clazz.getDeclaredMethods()) {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    System.out.println("Method: " + method.getName());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endParaRPr lang="en-US" sz="10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5BE68E-2055-CF62-0F9F-3B4F483E3B88}"/>
              </a:ext>
            </a:extLst>
          </p:cNvPr>
          <p:cNvSpPr txBox="1"/>
          <p:nvPr/>
        </p:nvSpPr>
        <p:spPr>
          <a:xfrm>
            <a:off x="393680" y="879495"/>
            <a:ext cx="740683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Reflective programming or reflection is the ability of a process to examine,</a:t>
            </a:r>
          </a:p>
          <a:p>
            <a:r>
              <a:rPr lang="en-US"/>
              <a:t>introspect, and modify its own structure and behavior.</a:t>
            </a:r>
          </a:p>
        </p:txBody>
      </p:sp>
    </p:spTree>
    <p:extLst>
      <p:ext uri="{BB962C8B-B14F-4D97-AF65-F5344CB8AC3E}">
        <p14:creationId xmlns:p14="http://schemas.microsoft.com/office/powerpoint/2010/main" val="28706615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DF194C-7758-4558-6289-BC0BC651C8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76861F7-CE0A-D53B-9F16-AE9015811F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ASE - Type Systems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8FA99C-DA1D-29AC-2522-03BCD67B79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D81C8F-CB39-4E4D-98E4-8C3FEDF75126}" type="slidenum">
              <a:rPr lang="en-US" smtClean="0"/>
              <a:t>19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904020C-2431-0901-4194-08760745BFF0}"/>
              </a:ext>
            </a:extLst>
          </p:cNvPr>
          <p:cNvSpPr txBox="1"/>
          <p:nvPr/>
        </p:nvSpPr>
        <p:spPr>
          <a:xfrm>
            <a:off x="535709" y="194055"/>
            <a:ext cx="1200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Reflection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9FB3D0-95C7-7765-532C-F0E2D89DABB4}"/>
              </a:ext>
            </a:extLst>
          </p:cNvPr>
          <p:cNvSpPr txBox="1"/>
          <p:nvPr/>
        </p:nvSpPr>
        <p:spPr>
          <a:xfrm>
            <a:off x="393680" y="879495"/>
            <a:ext cx="4996817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Great for:</a:t>
            </a:r>
          </a:p>
          <a:p>
            <a:pPr marL="285750" indent="-285750">
              <a:buFontTx/>
              <a:buChar char="-"/>
            </a:pPr>
            <a:r>
              <a:rPr lang="en-US"/>
              <a:t>Libraries</a:t>
            </a:r>
          </a:p>
          <a:p>
            <a:pPr marL="285750" indent="-285750">
              <a:buFontTx/>
              <a:buChar char="-"/>
            </a:pPr>
            <a:r>
              <a:rPr lang="en-US"/>
              <a:t>Data processing</a:t>
            </a:r>
          </a:p>
          <a:p>
            <a:pPr marL="285750" indent="-285750">
              <a:buFontTx/>
              <a:buChar char="-"/>
            </a:pPr>
            <a:r>
              <a:rPr lang="en-US"/>
              <a:t>Serialization!!</a:t>
            </a:r>
          </a:p>
          <a:p>
            <a:pPr marL="285750" indent="-285750">
              <a:buFontTx/>
              <a:buChar char="-"/>
            </a:pPr>
            <a:r>
              <a:rPr lang="en-US"/>
              <a:t>ORM</a:t>
            </a:r>
          </a:p>
          <a:p>
            <a:pPr marL="285750" indent="-285750">
              <a:buFontTx/>
              <a:buChar char="-"/>
            </a:pPr>
            <a:endParaRPr lang="en-US"/>
          </a:p>
          <a:p>
            <a:pPr marL="285750" indent="-285750">
              <a:buFontTx/>
              <a:buChar char="-"/>
            </a:pPr>
            <a:endParaRPr lang="en-US"/>
          </a:p>
          <a:p>
            <a:r>
              <a:rPr lang="en-US"/>
              <a:t>Drawbacks:</a:t>
            </a:r>
          </a:p>
          <a:p>
            <a:pPr marL="285750" indent="-285750">
              <a:buFontTx/>
              <a:buChar char="-"/>
            </a:pPr>
            <a:r>
              <a:rPr lang="en-US"/>
              <a:t>can bypass security and encapsulation</a:t>
            </a:r>
          </a:p>
          <a:p>
            <a:pPr marL="285750" indent="-285750">
              <a:buFontTx/>
              <a:buChar char="-"/>
            </a:pPr>
            <a:r>
              <a:rPr lang="en-US"/>
              <a:t>you add performance overhead</a:t>
            </a:r>
          </a:p>
          <a:p>
            <a:pPr marL="285750" indent="-285750">
              <a:buFontTx/>
              <a:buChar char="-"/>
            </a:pPr>
            <a:r>
              <a:rPr lang="en-US"/>
              <a:t>everything happens at run-time, so no chance</a:t>
            </a:r>
            <a:br>
              <a:rPr lang="en-US"/>
            </a:br>
            <a:r>
              <a:rPr lang="en-US"/>
              <a:t>to catch errors earlier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D193629-868F-8271-A82F-B727790BBB5D}"/>
              </a:ext>
            </a:extLst>
          </p:cNvPr>
          <p:cNvSpPr txBox="1"/>
          <p:nvPr/>
        </p:nvSpPr>
        <p:spPr>
          <a:xfrm>
            <a:off x="6096000" y="563387"/>
            <a:ext cx="5416868" cy="53245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try {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Constructor&lt;?&gt; constructor =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  Person.class.getConstructor(String.class, int.class);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Person person = (Person) constructor.newInstance("Alice", 30);</a:t>
            </a:r>
          </a:p>
          <a:p>
            <a:endParaRPr lang="en-US" sz="10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Method method = person.getClass().getMethod("sayHello");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method.invoke(person); // Calls sayHello()</a:t>
            </a:r>
          </a:p>
          <a:p>
            <a:endParaRPr lang="en-US" sz="10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Field nameField = person.getClass().getDeclaredField("name");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nameField.setAccessible(true); // Bypass private modifier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nameField.set(person, "Bob");</a:t>
            </a:r>
          </a:p>
          <a:p>
            <a:endParaRPr lang="en-US" sz="10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person.sayHello();</a:t>
            </a:r>
          </a:p>
          <a:p>
            <a:endParaRPr lang="en-US" sz="10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Class&lt;?&gt; dynamicClass = Class.forName("com.github.ASE.Person");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Person obj = (Person) dynamicClass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  .getConstructor(String.class, int.class).newInstance("Eve", 25);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obj.sayHello();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} catch (NoSuchMethodException e) {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...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} catch (InstantiationException e) {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...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} catch (IllegalAccessException e) {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...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} catch (IllegalArgumentException e) {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...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} catch (InvocationTargetException e) {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...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} catch (NoSuchFieldException e) {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...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} catch (ClassNotFoundException e) {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...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endParaRPr lang="en-US" sz="100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3AA116C-AD6C-40BB-55C7-791322239947}"/>
              </a:ext>
            </a:extLst>
          </p:cNvPr>
          <p:cNvSpPr txBox="1"/>
          <p:nvPr/>
        </p:nvSpPr>
        <p:spPr>
          <a:xfrm>
            <a:off x="9753600" y="4433455"/>
            <a:ext cx="1954381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>
              <a:buNone/>
            </a:pPr>
            <a:r>
              <a:rPr lang="en-US" sz="1000" b="1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Hello, my name is Alice</a:t>
            </a:r>
          </a:p>
          <a:p>
            <a:pPr marL="0" marR="0">
              <a:buNone/>
            </a:pPr>
            <a:r>
              <a:rPr lang="en-US" sz="1000" b="1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Hello, my name is Bob</a:t>
            </a:r>
          </a:p>
          <a:p>
            <a:pPr marL="0" marR="0"/>
            <a:r>
              <a:rPr lang="en-US" sz="1000" b="1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Hello, my name is Eve</a:t>
            </a:r>
          </a:p>
        </p:txBody>
      </p:sp>
    </p:spTree>
    <p:extLst>
      <p:ext uri="{BB962C8B-B14F-4D97-AF65-F5344CB8AC3E}">
        <p14:creationId xmlns:p14="http://schemas.microsoft.com/office/powerpoint/2010/main" val="398373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BD310D-0B5A-29FB-CF0E-8AA982ED0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5FBCE66-B62B-4918-D606-C12070F8AA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ASE - Type Systems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ED2DA8-715D-4880-6179-BFD9C767C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D81C8F-CB39-4E4D-98E4-8C3FEDF75126}" type="slidenum">
              <a:rPr lang="en-US" smtClean="0"/>
              <a:t>20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39E720F-F498-29A2-823E-64DDB0D618F9}"/>
              </a:ext>
            </a:extLst>
          </p:cNvPr>
          <p:cNvSpPr txBox="1"/>
          <p:nvPr/>
        </p:nvSpPr>
        <p:spPr>
          <a:xfrm>
            <a:off x="535709" y="194055"/>
            <a:ext cx="18630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Reflection - ORM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155BBBA-CEEA-AAA0-F67A-5E6CB4FF417B}"/>
              </a:ext>
            </a:extLst>
          </p:cNvPr>
          <p:cNvSpPr txBox="1"/>
          <p:nvPr/>
        </p:nvSpPr>
        <p:spPr>
          <a:xfrm>
            <a:off x="535709" y="725260"/>
            <a:ext cx="105809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Object–relational mapping is a programming technique for converting data between a relational database</a:t>
            </a:r>
          </a:p>
          <a:p>
            <a:r>
              <a:rPr lang="en-US"/>
              <a:t>and the memory (usually the heap) of an object-oriented programming language.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63A22CF-84B5-904D-F178-1FA09FB1848F}"/>
              </a:ext>
            </a:extLst>
          </p:cNvPr>
          <p:cNvSpPr txBox="1"/>
          <p:nvPr/>
        </p:nvSpPr>
        <p:spPr>
          <a:xfrm>
            <a:off x="393680" y="1533465"/>
            <a:ext cx="3262432" cy="517064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@Retention(RetentionPolicy.RUNTIME)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@Target(ElementType.FIELD)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@interface Column {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String name();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endParaRPr lang="en-US" sz="10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@Retention(RetentionPolicy.RUNTIME)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@Target(ElementType.TYPE)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@interface Table {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String name();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endParaRPr lang="en-US" sz="10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 b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@Table(name = "users")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class User {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000" b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@Column(name = "id")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private int id;</a:t>
            </a:r>
          </a:p>
          <a:p>
            <a:endParaRPr lang="en-US" sz="10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000" b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@Column(name = "username")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private String username;</a:t>
            </a:r>
          </a:p>
          <a:p>
            <a:endParaRPr lang="en-US" sz="10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public User(int id, String username) {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  this.id = id;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  this.username = username;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  <a:p>
            <a:endParaRPr lang="en-US" sz="10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public int getId() {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  return id;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  <a:p>
            <a:endParaRPr lang="en-US" sz="10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public String getUsername() {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  return username;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D45983-613F-21A8-EEE3-4774FCA3B8CF}"/>
              </a:ext>
            </a:extLst>
          </p:cNvPr>
          <p:cNvSpPr txBox="1"/>
          <p:nvPr/>
        </p:nvSpPr>
        <p:spPr>
          <a:xfrm>
            <a:off x="4113312" y="1440658"/>
            <a:ext cx="4665060" cy="53553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>
                <a:latin typeface="Courier New" panose="02070309020205020404" pitchFamily="49" charset="0"/>
                <a:cs typeface="Courier New" panose="02070309020205020404" pitchFamily="49" charset="0"/>
              </a:rPr>
              <a:t>class ORM {</a:t>
            </a:r>
          </a:p>
          <a:p>
            <a:r>
              <a:rPr lang="en-US" sz="900">
                <a:latin typeface="Courier New" panose="02070309020205020404" pitchFamily="49" charset="0"/>
                <a:cs typeface="Courier New" panose="02070309020205020404" pitchFamily="49" charset="0"/>
              </a:rPr>
              <a:t>  public static String generateInsertSQL(Object obj) {</a:t>
            </a:r>
          </a:p>
          <a:p>
            <a:r>
              <a:rPr lang="en-US" sz="900">
                <a:latin typeface="Courier New" panose="02070309020205020404" pitchFamily="49" charset="0"/>
                <a:cs typeface="Courier New" panose="02070309020205020404" pitchFamily="49" charset="0"/>
              </a:rPr>
              <a:t>    Class&lt;?&gt; clazz = obj.getClass();</a:t>
            </a:r>
          </a:p>
          <a:p>
            <a:endParaRPr lang="en-US" sz="9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900">
                <a:latin typeface="Courier New" panose="02070309020205020404" pitchFamily="49" charset="0"/>
                <a:cs typeface="Courier New" panose="02070309020205020404" pitchFamily="49" charset="0"/>
              </a:rPr>
              <a:t>    // Check if class has @Table annotation</a:t>
            </a:r>
          </a:p>
          <a:p>
            <a:r>
              <a:rPr lang="en-US" sz="900">
                <a:latin typeface="Courier New" panose="02070309020205020404" pitchFamily="49" charset="0"/>
                <a:cs typeface="Courier New" panose="02070309020205020404" pitchFamily="49" charset="0"/>
              </a:rPr>
              <a:t>    if (!clazz.isAnnotationPresent(Table.class)) {</a:t>
            </a:r>
          </a:p>
          <a:p>
            <a:r>
              <a:rPr lang="en-US" sz="900">
                <a:latin typeface="Courier New" panose="02070309020205020404" pitchFamily="49" charset="0"/>
                <a:cs typeface="Courier New" panose="02070309020205020404" pitchFamily="49" charset="0"/>
              </a:rPr>
              <a:t>      throw new RuntimeException("Missing @Table annotation");</a:t>
            </a:r>
          </a:p>
          <a:p>
            <a:r>
              <a:rPr lang="en-US" sz="90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endParaRPr lang="en-US" sz="9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900">
                <a:latin typeface="Courier New" panose="02070309020205020404" pitchFamily="49" charset="0"/>
                <a:cs typeface="Courier New" panose="02070309020205020404" pitchFamily="49" charset="0"/>
              </a:rPr>
              <a:t>    Table tableAnnotation = clazz.getAnnotation(Table.class);</a:t>
            </a:r>
          </a:p>
          <a:p>
            <a:r>
              <a:rPr lang="en-US" sz="900">
                <a:latin typeface="Courier New" panose="02070309020205020404" pitchFamily="49" charset="0"/>
                <a:cs typeface="Courier New" panose="02070309020205020404" pitchFamily="49" charset="0"/>
              </a:rPr>
              <a:t>    String tableName = tableAnnotation.name();</a:t>
            </a:r>
          </a:p>
          <a:p>
            <a:endParaRPr lang="en-US" sz="9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900">
                <a:latin typeface="Courier New" panose="02070309020205020404" pitchFamily="49" charset="0"/>
                <a:cs typeface="Courier New" panose="02070309020205020404" pitchFamily="49" charset="0"/>
              </a:rPr>
              <a:t>    StringBuilder columns = new StringBuilder();</a:t>
            </a:r>
          </a:p>
          <a:p>
            <a:r>
              <a:rPr lang="en-US" sz="900">
                <a:latin typeface="Courier New" panose="02070309020205020404" pitchFamily="49" charset="0"/>
                <a:cs typeface="Courier New" panose="02070309020205020404" pitchFamily="49" charset="0"/>
              </a:rPr>
              <a:t>    StringBuilder values = new StringBuilder();</a:t>
            </a:r>
          </a:p>
          <a:p>
            <a:endParaRPr lang="en-US" sz="9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900">
                <a:latin typeface="Courier New" panose="02070309020205020404" pitchFamily="49" charset="0"/>
                <a:cs typeface="Courier New" panose="02070309020205020404" pitchFamily="49" charset="0"/>
              </a:rPr>
              <a:t>    for (Field field : clazz.getDeclaredFields()) {</a:t>
            </a:r>
          </a:p>
          <a:p>
            <a:r>
              <a:rPr lang="en-US" sz="900">
                <a:latin typeface="Courier New" panose="02070309020205020404" pitchFamily="49" charset="0"/>
                <a:cs typeface="Courier New" panose="02070309020205020404" pitchFamily="49" charset="0"/>
              </a:rPr>
              <a:t>      if (field.isAnnotationPresent(Column.class)) {</a:t>
            </a:r>
          </a:p>
          <a:p>
            <a:r>
              <a:rPr lang="en-US" sz="900">
                <a:latin typeface="Courier New" panose="02070309020205020404" pitchFamily="49" charset="0"/>
                <a:cs typeface="Courier New" panose="02070309020205020404" pitchFamily="49" charset="0"/>
              </a:rPr>
              <a:t>        Column columnAnnotation =</a:t>
            </a:r>
          </a:p>
          <a:p>
            <a:r>
              <a:rPr lang="en-US" sz="900">
                <a:latin typeface="Courier New" panose="02070309020205020404" pitchFamily="49" charset="0"/>
                <a:cs typeface="Courier New" panose="02070309020205020404" pitchFamily="49" charset="0"/>
              </a:rPr>
              <a:t>          field.getAnnotation(Column.class);</a:t>
            </a:r>
          </a:p>
          <a:p>
            <a:r>
              <a:rPr lang="en-US" sz="900">
                <a:latin typeface="Courier New" panose="02070309020205020404" pitchFamily="49" charset="0"/>
                <a:cs typeface="Courier New" panose="02070309020205020404" pitchFamily="49" charset="0"/>
              </a:rPr>
              <a:t>        field.setAccessible(true); // Bypass private visibility</a:t>
            </a:r>
          </a:p>
          <a:p>
            <a:endParaRPr lang="en-US" sz="9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900">
                <a:latin typeface="Courier New" panose="02070309020205020404" pitchFamily="49" charset="0"/>
                <a:cs typeface="Courier New" panose="02070309020205020404" pitchFamily="49" charset="0"/>
              </a:rPr>
              <a:t>        try {</a:t>
            </a:r>
          </a:p>
          <a:p>
            <a:r>
              <a:rPr lang="en-US" sz="900">
                <a:latin typeface="Courier New" panose="02070309020205020404" pitchFamily="49" charset="0"/>
                <a:cs typeface="Courier New" panose="02070309020205020404" pitchFamily="49" charset="0"/>
              </a:rPr>
              <a:t>          columns.append(columnAnnotation.name()).append(",");</a:t>
            </a:r>
          </a:p>
          <a:p>
            <a:r>
              <a:rPr lang="en-US" sz="900">
                <a:latin typeface="Courier New" panose="02070309020205020404" pitchFamily="49" charset="0"/>
                <a:cs typeface="Courier New" panose="02070309020205020404" pitchFamily="49" charset="0"/>
              </a:rPr>
              <a:t>          values.append("'").append(field.get(obj)).append("',");</a:t>
            </a:r>
          </a:p>
          <a:p>
            <a:r>
              <a:rPr lang="en-US" sz="900">
                <a:latin typeface="Courier New" panose="02070309020205020404" pitchFamily="49" charset="0"/>
                <a:cs typeface="Courier New" panose="02070309020205020404" pitchFamily="49" charset="0"/>
              </a:rPr>
              <a:t>        } catch (IllegalAccessException e) {</a:t>
            </a:r>
          </a:p>
          <a:p>
            <a:r>
              <a:rPr lang="en-US" sz="900">
                <a:latin typeface="Courier New" panose="02070309020205020404" pitchFamily="49" charset="0"/>
                <a:cs typeface="Courier New" panose="02070309020205020404" pitchFamily="49" charset="0"/>
              </a:rPr>
              <a:t>          e.printStackTrace();</a:t>
            </a:r>
          </a:p>
          <a:p>
            <a:r>
              <a:rPr lang="en-US" sz="900">
                <a:latin typeface="Courier New" panose="02070309020205020404" pitchFamily="49" charset="0"/>
                <a:cs typeface="Courier New" panose="02070309020205020404" pitchFamily="49" charset="0"/>
              </a:rPr>
              <a:t>        }</a:t>
            </a:r>
          </a:p>
          <a:p>
            <a:r>
              <a:rPr lang="en-US" sz="900">
                <a:latin typeface="Courier New" panose="02070309020205020404" pitchFamily="49" charset="0"/>
                <a:cs typeface="Courier New" panose="02070309020205020404" pitchFamily="49" charset="0"/>
              </a:rPr>
              <a:t>      }</a:t>
            </a:r>
          </a:p>
          <a:p>
            <a:r>
              <a:rPr lang="en-US" sz="90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endParaRPr lang="en-US" sz="9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900">
                <a:latin typeface="Courier New" panose="02070309020205020404" pitchFamily="49" charset="0"/>
                <a:cs typeface="Courier New" panose="02070309020205020404" pitchFamily="49" charset="0"/>
              </a:rPr>
              <a:t>    columns.setLength(columns.length() - 1);</a:t>
            </a:r>
          </a:p>
          <a:p>
            <a:r>
              <a:rPr lang="en-US" sz="900">
                <a:latin typeface="Courier New" panose="02070309020205020404" pitchFamily="49" charset="0"/>
                <a:cs typeface="Courier New" panose="02070309020205020404" pitchFamily="49" charset="0"/>
              </a:rPr>
              <a:t>    values.setLength(values.length() - 1);</a:t>
            </a:r>
          </a:p>
          <a:p>
            <a:endParaRPr lang="en-US" sz="9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900">
                <a:latin typeface="Courier New" panose="02070309020205020404" pitchFamily="49" charset="0"/>
                <a:cs typeface="Courier New" panose="02070309020205020404" pitchFamily="49" charset="0"/>
              </a:rPr>
              <a:t>    return "INSERT INTO " + tableName +</a:t>
            </a:r>
          </a:p>
          <a:p>
            <a:r>
              <a:rPr lang="en-US" sz="900">
                <a:latin typeface="Courier New" panose="02070309020205020404" pitchFamily="49" charset="0"/>
                <a:cs typeface="Courier New" panose="02070309020205020404" pitchFamily="49" charset="0"/>
              </a:rPr>
              <a:t>      " (" + columns + ") VALUES (" + values + ");";</a:t>
            </a:r>
          </a:p>
          <a:p>
            <a:r>
              <a:rPr lang="en-US" sz="900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  <a:p>
            <a:r>
              <a:rPr lang="en-US" sz="90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43A0B2-C858-FD0F-E78E-FAD3F9A8445B}"/>
              </a:ext>
            </a:extLst>
          </p:cNvPr>
          <p:cNvSpPr txBox="1"/>
          <p:nvPr/>
        </p:nvSpPr>
        <p:spPr>
          <a:xfrm>
            <a:off x="8458944" y="5168082"/>
            <a:ext cx="3339376" cy="1015663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User user = new User(1, "alice");</a:t>
            </a:r>
          </a:p>
          <a:p>
            <a:endParaRPr lang="en-US" sz="10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>
                <a:latin typeface="Courier New" panose="02070309020205020404" pitchFamily="49" charset="0"/>
                <a:cs typeface="Courier New" panose="02070309020205020404" pitchFamily="49" charset="0"/>
              </a:rPr>
              <a:t>String sql = ORM.generateInsertSQL(user);</a:t>
            </a:r>
          </a:p>
          <a:p>
            <a:endParaRPr lang="en-US" sz="10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sql = “INSERT INTO users (id,username)</a:t>
            </a:r>
          </a:p>
          <a:p>
            <a:r>
              <a:rPr lang="en-US" sz="10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   VALUES ('1','alice’)”</a:t>
            </a:r>
          </a:p>
        </p:txBody>
      </p:sp>
    </p:spTree>
    <p:extLst>
      <p:ext uri="{BB962C8B-B14F-4D97-AF65-F5344CB8AC3E}">
        <p14:creationId xmlns:p14="http://schemas.microsoft.com/office/powerpoint/2010/main" val="2416519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1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0cf7ac0a-4681-4823-ab0b-04ef02c5f873}" enabled="1" method="Standard" siteId="{42f7676c-f455-423c-82f6-dc2d99791af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2111</TotalTime>
  <Words>4270</Words>
  <Application>Microsoft Macintosh PowerPoint</Application>
  <PresentationFormat>Widescreen</PresentationFormat>
  <Paragraphs>706</Paragraphs>
  <Slides>20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7" baseType="lpstr">
      <vt:lpstr>Aptos</vt:lpstr>
      <vt:lpstr>Aptos Display</vt:lpstr>
      <vt:lpstr>Arial</vt:lpstr>
      <vt:lpstr>Courier New</vt:lpstr>
      <vt:lpstr>Symbol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Di Monaco, Antonio</dc:creator>
  <cp:lastModifiedBy>Di Monaco, Antonio</cp:lastModifiedBy>
  <cp:revision>53</cp:revision>
  <dcterms:created xsi:type="dcterms:W3CDTF">2025-02-19T20:33:39Z</dcterms:created>
  <dcterms:modified xsi:type="dcterms:W3CDTF">2025-11-16T17:19:53Z</dcterms:modified>
</cp:coreProperties>
</file>