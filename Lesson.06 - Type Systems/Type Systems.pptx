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313" r:id="rId2"/>
    <p:sldId id="256" r:id="rId3"/>
    <p:sldId id="273" r:id="rId4"/>
    <p:sldId id="296" r:id="rId5"/>
    <p:sldId id="297" r:id="rId6"/>
    <p:sldId id="314" r:id="rId7"/>
    <p:sldId id="315" r:id="rId8"/>
    <p:sldId id="298" r:id="rId9"/>
    <p:sldId id="316" r:id="rId10"/>
    <p:sldId id="317" r:id="rId11"/>
    <p:sldId id="318" r:id="rId12"/>
    <p:sldId id="290" r:id="rId13"/>
    <p:sldId id="320" r:id="rId14"/>
    <p:sldId id="299" r:id="rId15"/>
    <p:sldId id="321" r:id="rId16"/>
    <p:sldId id="300" r:id="rId17"/>
    <p:sldId id="319" r:id="rId18"/>
    <p:sldId id="322" r:id="rId19"/>
    <p:sldId id="323" r:id="rId20"/>
    <p:sldId id="324" r:id="rId21"/>
    <p:sldId id="325" r:id="rId22"/>
    <p:sldId id="332" r:id="rId23"/>
    <p:sldId id="326" r:id="rId24"/>
    <p:sldId id="309" r:id="rId25"/>
    <p:sldId id="327" r:id="rId26"/>
    <p:sldId id="328" r:id="rId27"/>
    <p:sldId id="329" r:id="rId28"/>
    <p:sldId id="311" r:id="rId29"/>
    <p:sldId id="331" r:id="rId30"/>
    <p:sldId id="330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B3E8C50-9F58-5237-7C41-C721E3BAA428}" name="Di Monaco, Antonio" initials="AD" userId="S::antonio.di.monaco@sap.com::719b72b0-0350-4d19-9a7f-748728a101c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84"/>
    <p:restoredTop sz="94556"/>
  </p:normalViewPr>
  <p:slideViewPr>
    <p:cSldViewPr snapToGrid="0">
      <p:cViewPr varScale="1">
        <p:scale>
          <a:sx n="97" d="100"/>
          <a:sy n="97" d="100"/>
        </p:scale>
        <p:origin x="3744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8100" cy="381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85BD452-70C7-7D43-DE79-395EC2D5AAB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Advanced Software Engineering - 1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77222D-C06B-5CD4-B200-730FB65A8EB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042657-6240-B14B-9F48-F865CB79AC7C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A16D15-E1AC-47B8-BF91-C30978D1B07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Design Patterns - Creational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6759E4-6272-9520-00E8-FE3F63A8D3D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5DFA7A-FF33-C64E-B529-8BCC138EF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01349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Advanced Software Engineering - 1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6B121A-761B-2742-9D61-65348EACD743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Design Patterns - Creational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5659E5-EFBC-DB40-B048-B7FD703FB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16450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9C6D0-5512-F16D-A0CB-B72D25DE26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212CC4-D335-C33A-9B0A-689A95B7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0D5E48-8338-AC1F-6E5F-D8999FEBF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4404D-AE7C-E648-B610-92428D421FE9}" type="datetime1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BF1100-D604-5C2D-7C49-74A286EA2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Type Systems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938D9-1B5A-E778-95C0-AF4682C3C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352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AA693-A74F-F8E3-AD6A-0332BA4B8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7BD10-0BF7-1F3F-59C4-F701A7550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C3507-7FCB-4052-7D4E-E0E661B88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4F2EE-BE9A-5442-98FE-E1DC28D8F0E3}" type="datetime1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4CF9F4-E7EF-D596-F08B-70C65EFF8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Type Systems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1335D-13AC-DE52-4FB3-F21D0F4A3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025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A6974-425E-2DAD-9A21-BA0796179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01BC8-2575-E2E6-B061-F7EE5B50C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7BA54-9635-D484-B680-4616CD98E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E50B9-7304-E749-A883-258A9872C9CF}" type="datetime1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CA804-2107-34D8-E78B-2A7FFFB91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Type Systems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8FD9B-7CDC-60DE-0DC1-06904DCB4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590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6372E-B1A4-D336-D790-D89C1E791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17E8D-C5B1-602E-EAC6-EB6FA3EE17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AB62D6-18E8-14F8-E378-8E10073C87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B366E2-2C5F-9236-3F60-A87A6B349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13F1-97B8-6E4C-B1F2-E14B0B4D91F0}" type="datetime1">
              <a:rPr lang="en-US" smtClean="0"/>
              <a:t>10/25/26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A63519-F2FC-412C-3914-030E96B37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Type Systems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3F7ABC-C7BA-0E16-8652-D4FB52E88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221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A9EAA-6C94-CE7A-96FB-FF6B2F180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842EFD-CF2B-1D2E-7819-E2EBC8E19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4380BC-743C-1D56-4519-FAAC1140ED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E74647-A3CD-CD27-25B6-C1CB380354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BD464C-F134-5223-06A8-93C17D00FB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A3B48B-CF79-443F-E609-240A9AD95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3A711-DAA4-D744-98AC-EDF8D40A6DE2}" type="datetime1">
              <a:rPr lang="en-US" smtClean="0"/>
              <a:t>10/25/26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D2D30F-6B06-D928-93A9-7BFCC033B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Type Systems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5A9A56-6E9F-7FCB-C081-AB1C0B13D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71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BFFED-3B7D-D363-F6D8-89AB1CD5D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B69165-4CDC-A611-C121-3CA7DEA95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6B185-B746-E049-8003-372EE9FC9AF4}" type="datetime1">
              <a:rPr lang="en-US" smtClean="0"/>
              <a:t>10/25/26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A37B45-F436-35A0-1A11-3847788AD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Type Systems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1E249D-E148-E80F-8FD8-12216ADDD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621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329C19-6C7E-FBCF-C0D3-BC2825CF7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D1F76-0F9F-4A44-8DED-A60F79210A21}" type="datetime1">
              <a:rPr lang="en-US" smtClean="0"/>
              <a:t>10/25/26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F8B7D5-B148-1242-4C00-81D88102D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Type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C565B3-A8E1-6528-1396-C3E42F715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857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B6B0A-0FFE-C59A-0FDB-B712E2B38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C6137-AB91-B024-3858-0625F2A85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72223-1D56-3876-37AB-AB827894AB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85145A-5ACE-4F2E-8C10-D81F5A60B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13870-F575-1F46-9470-ED1DCC0882DD}" type="datetime1">
              <a:rPr lang="en-US" smtClean="0"/>
              <a:t>10/25/26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D1CE9C-37C5-A4EB-2D87-B45D168BB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Type Systems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8DA687-831D-6087-7C77-C236A471C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810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45D35-BDA7-8A9B-5FE8-19ED22B14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9E14BC-B1A6-7914-CA5E-3491D5093C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69EAF5-4292-2E66-1BA9-931773EEC4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FD9A49-D6E3-429F-B82D-DD18B58F5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2A23-60BF-0041-ADB1-2423469ABE41}" type="datetime1">
              <a:rPr lang="en-US" smtClean="0"/>
              <a:t>10/25/26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A0FD04-DB58-C9EB-75F0-97413C2C5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Type Systems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B13049-D1B6-FDF7-C4FA-F1C43AC61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124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7E8EE-477E-ECFB-0E65-CD52E05BF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19C616-6082-E08E-4642-B87DE66B81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289D1-5083-F77D-B918-E888FE2BD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7C7E4-C4C1-BA42-A689-9F65321570DE}" type="datetime1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9B412-8604-155E-9048-BCEAA5F80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Type Systems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B81FC-B75F-EB66-0310-834FD5ED8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73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4BFC86-9762-DFC3-7CD6-D3F9D73D9F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A56E57-9E5C-69B9-F8AE-49A68E29D5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ED425-82B9-9E5C-85DE-50375387C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73092-5E15-C441-954F-7C779A4CDC67}" type="datetime1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633BA-4ED4-16BD-862C-CA2CC2E39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Type Systems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C00BD-6373-F5B3-CF96-94569E933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702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B6CD59-EDAF-CA69-6ACB-CAD4CEB9C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553310-4114-A479-F299-36FC9ECFE5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66501-C88C-FFD9-4D05-DAEFB3B811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E560C1-EA68-5140-87ED-68EE2AA2EAD1}" type="datetime1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41AE9D-4006-22D3-9F53-03EFBB7E47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ASE - Type Systems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99D29-9B98-65F3-7AC9-22F3C883F3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297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75EDB5-7C26-1246-E398-1FA21B5C1782}"/>
              </a:ext>
            </a:extLst>
          </p:cNvPr>
          <p:cNvSpPr txBox="1"/>
          <p:nvPr/>
        </p:nvSpPr>
        <p:spPr>
          <a:xfrm>
            <a:off x="570154" y="915313"/>
            <a:ext cx="945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Advanced Software Engineering Course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86B9AB-A154-F77B-F9BB-7DC5E358FC71}"/>
              </a:ext>
            </a:extLst>
          </p:cNvPr>
          <p:cNvSpPr txBox="1"/>
          <p:nvPr/>
        </p:nvSpPr>
        <p:spPr>
          <a:xfrm>
            <a:off x="570155" y="5111690"/>
            <a:ext cx="38677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Antonio Di Monaco</a:t>
            </a:r>
          </a:p>
          <a:p>
            <a:r>
              <a:rPr lang="en-US" dirty="0"/>
              <a:t>Computer Science Bachelor Program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63B0E87-0692-1E7D-2BF8-8A674F091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Type Systems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08F35-8C13-E451-FF21-78133D15ADFC}"/>
              </a:ext>
            </a:extLst>
          </p:cNvPr>
          <p:cNvSpPr txBox="1"/>
          <p:nvPr/>
        </p:nvSpPr>
        <p:spPr>
          <a:xfrm>
            <a:off x="570154" y="3013501"/>
            <a:ext cx="22909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Type Systems</a:t>
            </a:r>
          </a:p>
        </p:txBody>
      </p:sp>
    </p:spTree>
    <p:extLst>
      <p:ext uri="{BB962C8B-B14F-4D97-AF65-F5344CB8AC3E}">
        <p14:creationId xmlns:p14="http://schemas.microsoft.com/office/powerpoint/2010/main" val="2794035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36CC111-4FC3-7E6E-DA79-351238E3FC6C}"/>
              </a:ext>
            </a:extLst>
          </p:cNvPr>
          <p:cNvSpPr txBox="1"/>
          <p:nvPr/>
        </p:nvSpPr>
        <p:spPr>
          <a:xfrm>
            <a:off x="535709" y="1666910"/>
            <a:ext cx="3845155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Type Systems</a:t>
            </a:r>
            <a:br>
              <a:rPr lang="en-US" dirty="0"/>
            </a:b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What is it and why do we care</a:t>
            </a:r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Casting</a:t>
            </a:r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Generics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Reflection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DAC65D-2BF1-A1DC-E10D-231A3F2AE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Type Systems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9B88B0-1855-2B75-F573-938C6C9A3F46}"/>
              </a:ext>
            </a:extLst>
          </p:cNvPr>
          <p:cNvSpPr txBox="1"/>
          <p:nvPr/>
        </p:nvSpPr>
        <p:spPr>
          <a:xfrm>
            <a:off x="535709" y="304800"/>
            <a:ext cx="821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Topics</a:t>
            </a:r>
          </a:p>
        </p:txBody>
      </p:sp>
    </p:spTree>
    <p:extLst>
      <p:ext uri="{BB962C8B-B14F-4D97-AF65-F5344CB8AC3E}">
        <p14:creationId xmlns:p14="http://schemas.microsoft.com/office/powerpoint/2010/main" val="2953013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592D3-F30D-4DF3-492E-0C33E2517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06D104-9EDC-D46B-637B-706E48A8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Type Systems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894FC4-9AAE-0409-A05F-029F6B74CB3C}"/>
              </a:ext>
            </a:extLst>
          </p:cNvPr>
          <p:cNvSpPr txBox="1"/>
          <p:nvPr/>
        </p:nvSpPr>
        <p:spPr>
          <a:xfrm>
            <a:off x="397164" y="174183"/>
            <a:ext cx="1539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Type Systems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9E2262-B327-71D3-877B-63BA2114D7A4}"/>
              </a:ext>
            </a:extLst>
          </p:cNvPr>
          <p:cNvSpPr txBox="1"/>
          <p:nvPr/>
        </p:nvSpPr>
        <p:spPr>
          <a:xfrm>
            <a:off x="397164" y="889843"/>
            <a:ext cx="1081809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Type System is a set of rules that assign a property called “type” to a language construct (= term).</a:t>
            </a:r>
          </a:p>
          <a:p>
            <a:endParaRPr lang="en-US" dirty="0"/>
          </a:p>
          <a:p>
            <a:r>
              <a:rPr lang="en-US" dirty="0"/>
              <a:t>That defines: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which operations can be performed on that term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case of variables, which is the allowed range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A Type System is a </a:t>
            </a:r>
            <a:r>
              <a:rPr lang="en-US" b="1" dirty="0"/>
              <a:t>lightweight, decidable</a:t>
            </a:r>
            <a:r>
              <a:rPr lang="en-US" dirty="0"/>
              <a:t> logic: it must always terminate with yes/no, so it is deliberately less powerful than full program verification.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Usually such system is built into compilers and interpreters, but it could be implemented in external tools (like linters).</a:t>
            </a:r>
          </a:p>
          <a:p>
            <a:endParaRPr lang="en-US" dirty="0"/>
          </a:p>
          <a:p>
            <a:r>
              <a:rPr lang="en-US" dirty="0"/>
              <a:t>Its goal is to reduce bugs in computer programs. </a:t>
            </a:r>
            <a:r>
              <a:rPr lang="en-US" b="1" dirty="0"/>
              <a:t>Never forget: the compiler knows better than you.</a:t>
            </a:r>
            <a:r>
              <a:rPr lang="en-US" dirty="0"/>
              <a:t> So, the more information you provide to it, the better it can help you avoid logical failures in your code.</a:t>
            </a:r>
          </a:p>
          <a:p>
            <a:endParaRPr lang="en-US" dirty="0"/>
          </a:p>
          <a:p>
            <a:r>
              <a:rPr lang="en-US" dirty="0"/>
              <a:t>Moreover, it can help you define a ”contract” (= interfaces) among parts that have to be connected in a consistent way. It can happen at run-time, of course, but the more you move to compile-time checks, the more reliable is your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3748922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621EC-23D4-205B-370A-D0DE4CE31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619930-1F7B-E349-A7E6-73F2FCB70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Type Systems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FF6950-7C38-7731-D845-1E65CCED20B2}"/>
              </a:ext>
            </a:extLst>
          </p:cNvPr>
          <p:cNvSpPr txBox="1"/>
          <p:nvPr/>
        </p:nvSpPr>
        <p:spPr>
          <a:xfrm>
            <a:off x="461818" y="218468"/>
            <a:ext cx="158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Type Systems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15BCF4-1ACF-0A2E-598E-BBD141985FA3}"/>
              </a:ext>
            </a:extLst>
          </p:cNvPr>
          <p:cNvSpPr txBox="1"/>
          <p:nvPr/>
        </p:nvSpPr>
        <p:spPr>
          <a:xfrm>
            <a:off x="461818" y="1071418"/>
            <a:ext cx="10525317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type gives “meaning” to your information.</a:t>
            </a:r>
          </a:p>
          <a:p>
            <a:pPr marL="285750" indent="-285750">
              <a:buFont typeface="Symbol" pitchFamily="2" charset="2"/>
              <a:buChar char="Þ"/>
            </a:pPr>
            <a:r>
              <a:rPr lang="en-US" dirty="0"/>
              <a:t>A string, from the CPU POV, it’s an array of bytes, with no specific meaning, it can be anything</a:t>
            </a:r>
          </a:p>
          <a:p>
            <a:pPr marL="285750" indent="-285750">
              <a:buFont typeface="Symbol" pitchFamily="2" charset="2"/>
              <a:buChar char="Þ"/>
            </a:pPr>
            <a:r>
              <a:rPr lang="en-US" dirty="0"/>
              <a:t>A string, from a TS POV, it’s a sequence of characters with a defined character type (= range)</a:t>
            </a:r>
          </a:p>
          <a:p>
            <a:pPr marL="285750" indent="-285750">
              <a:buFont typeface="Symbol" pitchFamily="2" charset="2"/>
              <a:buChar char="Þ"/>
            </a:pPr>
            <a:endParaRPr lang="en-US" dirty="0"/>
          </a:p>
          <a:p>
            <a:r>
              <a:rPr lang="en-US" dirty="0"/>
              <a:t>Implications: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abstraction: you can think at higher level, not bothering with low-level implementation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example: Java </a:t>
            </a:r>
            <a:r>
              <a:rPr lang="en-US" dirty="0" err="1"/>
              <a:t>enums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documentation: type can help you document what you’re doing, according to the expressiveness</a:t>
            </a:r>
            <a:br>
              <a:rPr lang="en-US" dirty="0"/>
            </a:br>
            <a:r>
              <a:rPr lang="en-US" dirty="0"/>
              <a:t>your type system</a:t>
            </a:r>
          </a:p>
          <a:p>
            <a:pPr marL="285750" indent="-285750">
              <a:buFont typeface="Symbol" pitchFamily="2" charset="2"/>
              <a:buChar char="Þ"/>
            </a:pPr>
            <a:endParaRPr lang="en-US" dirty="0"/>
          </a:p>
          <a:p>
            <a:r>
              <a:rPr lang="en-US" dirty="0"/>
              <a:t>Types can be extended (class/interface inheritance, union types) or aggregated (class/records).</a:t>
            </a:r>
          </a:p>
          <a:p>
            <a:endParaRPr lang="en-US" dirty="0"/>
          </a:p>
          <a:p>
            <a:r>
              <a:rPr lang="en-US" dirty="0"/>
              <a:t>Types can be inferred by the type system:</a:t>
            </a:r>
          </a:p>
          <a:p>
            <a:r>
              <a:rPr lang="en-US" dirty="0"/>
              <a:t>	var a = True (inferred as </a:t>
            </a:r>
            <a:r>
              <a:rPr lang="en-US" dirty="0" err="1"/>
              <a:t>boolean</a:t>
            </a:r>
            <a:r>
              <a:rPr lang="en-US" dirty="0"/>
              <a:t>)</a:t>
            </a:r>
          </a:p>
          <a:p>
            <a:r>
              <a:rPr lang="en-US" dirty="0"/>
              <a:t>	var x = 54; (integer or real?)</a:t>
            </a:r>
          </a:p>
          <a:p>
            <a:endParaRPr lang="en-US" dirty="0"/>
          </a:p>
          <a:p>
            <a:r>
              <a:rPr lang="en-US" dirty="0"/>
              <a:t>Optimization: when a compiler knows the range of a type, it can generate more optimized assembly-code</a:t>
            </a:r>
          </a:p>
        </p:txBody>
      </p:sp>
    </p:spTree>
    <p:extLst>
      <p:ext uri="{BB962C8B-B14F-4D97-AF65-F5344CB8AC3E}">
        <p14:creationId xmlns:p14="http://schemas.microsoft.com/office/powerpoint/2010/main" val="4279041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558AD-D89D-9B72-E9B6-B05458167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4F4F60-EF6A-28B2-DDAE-6AEEB56AD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Type Systems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FEB350-7633-D1C2-18D6-ED7E6AB58D47}"/>
              </a:ext>
            </a:extLst>
          </p:cNvPr>
          <p:cNvSpPr txBox="1"/>
          <p:nvPr/>
        </p:nvSpPr>
        <p:spPr>
          <a:xfrm>
            <a:off x="535709" y="194055"/>
            <a:ext cx="2858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Type Systems - Type Check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0BFD80-96DD-CC44-4D9B-DE3A625D6D0F}"/>
              </a:ext>
            </a:extLst>
          </p:cNvPr>
          <p:cNvSpPr txBox="1"/>
          <p:nvPr/>
        </p:nvSpPr>
        <p:spPr>
          <a:xfrm>
            <a:off x="461818" y="1071418"/>
            <a:ext cx="11506804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Compile-time (static typing)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Type safety is checked at compile-time. So, we know that, by design, a variable with a specific type already</a:t>
            </a:r>
            <a:br>
              <a:rPr lang="en-US" dirty="0"/>
            </a:br>
            <a:r>
              <a:rPr lang="en-US" dirty="0"/>
              <a:t>satisfies some constraints that are evaluated by the compiler, so it’s a kind of limited form of program</a:t>
            </a:r>
            <a:br>
              <a:rPr lang="en-US" dirty="0"/>
            </a:br>
            <a:r>
              <a:rPr lang="en-US" dirty="0"/>
              <a:t>verification.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We don’t need additional code to implement safety checks at run-time =&gt; potentially faster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We check in advance, using types, all possible paths of a code</a:t>
            </a:r>
            <a:br>
              <a:rPr lang="en-US" b="1" dirty="0"/>
            </a:br>
            <a:br>
              <a:rPr lang="en-US" b="1" dirty="0"/>
            </a:b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Run-time (dynamic typing)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We use RTTI (Run Time Type Information) to evaluate the type of a specific expression/variable.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One major use is </a:t>
            </a:r>
            <a:r>
              <a:rPr lang="en-US" dirty="0" err="1"/>
              <a:t>downcasting</a:t>
            </a:r>
            <a:r>
              <a:rPr lang="en-US" dirty="0"/>
              <a:t>, i.e. you have a parent class A, a subclass B and C, a reference to A, and you want</a:t>
            </a:r>
            <a:br>
              <a:rPr lang="en-US" dirty="0"/>
            </a:br>
            <a:r>
              <a:rPr lang="en-US" dirty="0"/>
              <a:t>to know if the A-reference is an instance of B or C (expensive!!!)</a:t>
            </a:r>
          </a:p>
        </p:txBody>
      </p:sp>
    </p:spTree>
    <p:extLst>
      <p:ext uri="{BB962C8B-B14F-4D97-AF65-F5344CB8AC3E}">
        <p14:creationId xmlns:p14="http://schemas.microsoft.com/office/powerpoint/2010/main" val="1634325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E79BC-709B-D1C0-6178-526CCAB9A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AF94A8-6A42-EDD4-8E9F-A64AC0F38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Type Systems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399144-4780-38B5-CA83-0E8F329F799D}"/>
              </a:ext>
            </a:extLst>
          </p:cNvPr>
          <p:cNvSpPr txBox="1"/>
          <p:nvPr/>
        </p:nvSpPr>
        <p:spPr>
          <a:xfrm>
            <a:off x="535709" y="194055"/>
            <a:ext cx="3277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Type Systems – What Java does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F7CCFD-EABE-82D4-8164-541C8DA56F39}"/>
              </a:ext>
            </a:extLst>
          </p:cNvPr>
          <p:cNvSpPr txBox="1"/>
          <p:nvPr/>
        </p:nvSpPr>
        <p:spPr>
          <a:xfrm>
            <a:off x="535709" y="928688"/>
            <a:ext cx="1118004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Nominal vs Structural Typing: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Nominal</a:t>
            </a:r>
            <a:r>
              <a:rPr lang="en-US" dirty="0"/>
              <a:t>: (Java, C#, C++): by declared name/inheritance.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1" dirty="0"/>
              <a:t>S &lt;: T</a:t>
            </a:r>
            <a:r>
              <a:rPr lang="en-US" dirty="0"/>
              <a:t> only if </a:t>
            </a:r>
            <a:r>
              <a:rPr lang="en-US" i="1" dirty="0"/>
              <a:t>S</a:t>
            </a:r>
            <a:r>
              <a:rPr lang="en-US" dirty="0"/>
              <a:t> explicitly </a:t>
            </a:r>
            <a:r>
              <a:rPr lang="en-US" i="1" dirty="0"/>
              <a:t>extends/implements T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Structural</a:t>
            </a:r>
            <a:r>
              <a:rPr lang="en-US" dirty="0"/>
              <a:t>: (TypeScript, Go interfaces, C++ Templates): by shape.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1" dirty="0"/>
              <a:t>S &lt;: T</a:t>
            </a:r>
            <a:r>
              <a:rPr lang="en-US" dirty="0"/>
              <a:t> if </a:t>
            </a:r>
            <a:r>
              <a:rPr lang="en-US" i="1" dirty="0"/>
              <a:t>S</a:t>
            </a:r>
            <a:r>
              <a:rPr lang="en-US" dirty="0"/>
              <a:t> has all the members </a:t>
            </a:r>
            <a:r>
              <a:rPr lang="en-US" i="1" dirty="0"/>
              <a:t>T</a:t>
            </a:r>
            <a:r>
              <a:rPr lang="en-US" dirty="0"/>
              <a:t> requires — names don't matter.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// Java is NOMINAL. These two are unrelated despite identical shape: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Duck { String quack();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Dog { public String quack() { return "woof?"; }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Duck d = new Dog(); // COMPILE ERROR — Dog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does not declare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Duck, it implements it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// TypeScript is STRUCTURAL — this is accepted: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Duck { quack(): string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Dog { quack() { return "woof?" }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const d: Duck = new Dog();   // shape matches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Consequence: in Java </a:t>
            </a:r>
            <a:r>
              <a:rPr lang="en-US" b="1" dirty="0">
                <a:cs typeface="Courier New" panose="02070309020205020404" pitchFamily="49" charset="0"/>
              </a:rPr>
              <a:t>you must opt in</a:t>
            </a:r>
            <a:r>
              <a:rPr lang="en-US" dirty="0">
                <a:cs typeface="Courier New" panose="02070309020205020404" pitchFamily="49" charset="0"/>
              </a:rPr>
              <a:t> to a type relationship. More ceremony, but relationships are explicit and intentional.</a:t>
            </a:r>
          </a:p>
        </p:txBody>
      </p:sp>
    </p:spTree>
    <p:extLst>
      <p:ext uri="{BB962C8B-B14F-4D97-AF65-F5344CB8AC3E}">
        <p14:creationId xmlns:p14="http://schemas.microsoft.com/office/powerpoint/2010/main" val="1748791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78420-E662-1B56-1C0B-BE9589C34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2B0BDC-BB8F-BE3F-F2E6-A97D509AA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Type Systems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CEB85E-D0DF-B2A4-3AA0-9157EA82AB5F}"/>
              </a:ext>
            </a:extLst>
          </p:cNvPr>
          <p:cNvSpPr txBox="1"/>
          <p:nvPr/>
        </p:nvSpPr>
        <p:spPr>
          <a:xfrm>
            <a:off x="535709" y="194055"/>
            <a:ext cx="3141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Type Systems – Pros and cons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B0D95B-A9CB-4693-6B73-B98D72CA899A}"/>
              </a:ext>
            </a:extLst>
          </p:cNvPr>
          <p:cNvSpPr txBox="1"/>
          <p:nvPr/>
        </p:nvSpPr>
        <p:spPr>
          <a:xfrm>
            <a:off x="271463" y="900113"/>
            <a:ext cx="113157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Advantages: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Catch errors early</a:t>
            </a:r>
            <a:r>
              <a:rPr lang="en-US" dirty="0"/>
              <a:t>: before shipping, before tests even run.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Living documentation</a:t>
            </a:r>
            <a:r>
              <a:rPr lang="en-US" dirty="0"/>
              <a:t>: signatures tell you how to use an API.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Refactoring safety</a:t>
            </a:r>
            <a:r>
              <a:rPr lang="en-US" dirty="0"/>
              <a:t>: rename/move with the compiler as a safety net.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Tooling</a:t>
            </a:r>
            <a:r>
              <a:rPr lang="en-US" dirty="0"/>
              <a:t>: autocomplete, navigation, inlay hints all come from types.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Performance</a:t>
            </a:r>
            <a:r>
              <a:rPr lang="en-US" dirty="0"/>
              <a:t>: the JIT/compiler uses types to pick efficient representations and </a:t>
            </a:r>
            <a:r>
              <a:rPr lang="en-US" dirty="0" err="1"/>
              <a:t>devirtualize</a:t>
            </a:r>
            <a:r>
              <a:rPr lang="en-US" dirty="0"/>
              <a:t> calls.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Design pressure</a:t>
            </a:r>
            <a:r>
              <a:rPr lang="en-US" dirty="0"/>
              <a:t>: make illegal states </a:t>
            </a:r>
            <a:r>
              <a:rPr lang="en-US" i="1" dirty="0"/>
              <a:t>unrepresentable</a:t>
            </a:r>
            <a:r>
              <a:rPr lang="en-US" dirty="0"/>
              <a:t> (encode invariants in types).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US" dirty="0"/>
              <a:t>Disadvantages: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Ceremony / boilerplate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False positives</a:t>
            </a:r>
            <a:r>
              <a:rPr lang="en-US" dirty="0"/>
              <a:t>: rejecting code you </a:t>
            </a:r>
            <a:r>
              <a:rPr lang="en-US" i="1" dirty="0"/>
              <a:t>know</a:t>
            </a:r>
            <a:r>
              <a:rPr lang="en-US" dirty="0"/>
              <a:t> is fine.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Expressiveness ceiling</a:t>
            </a:r>
            <a:r>
              <a:rPr lang="en-US" dirty="0"/>
              <a:t>: some patterns need casts/reflection to satisfy the checker.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Learning curve</a:t>
            </a:r>
            <a:r>
              <a:rPr lang="en-US" dirty="0"/>
              <a:t>: variance, wildcards, higher-</a:t>
            </a:r>
            <a:r>
              <a:rPr lang="en-US" dirty="0" err="1"/>
              <a:t>kinded</a:t>
            </a:r>
            <a:r>
              <a:rPr lang="en-US" dirty="0"/>
              <a:t> types are genuinely hard.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False confidence</a:t>
            </a:r>
            <a:r>
              <a:rPr lang="en-US" dirty="0"/>
              <a:t>: </a:t>
            </a:r>
            <a:r>
              <a:rPr lang="en-US" i="1" dirty="0"/>
              <a:t>it compiles </a:t>
            </a:r>
            <a:r>
              <a:rPr lang="en-US" dirty="0"/>
              <a:t>≠ </a:t>
            </a:r>
            <a:r>
              <a:rPr lang="en-US" i="1" dirty="0"/>
              <a:t>it's correct</a:t>
            </a:r>
            <a:r>
              <a:rPr lang="en-US" dirty="0"/>
              <a:t>. Types catch </a:t>
            </a:r>
            <a:r>
              <a:rPr lang="en-US" i="1" dirty="0"/>
              <a:t>kinds</a:t>
            </a:r>
            <a:r>
              <a:rPr lang="en-US" dirty="0"/>
              <a:t> of bugs, not logic bugs.</a:t>
            </a:r>
          </a:p>
          <a:p>
            <a:endParaRPr lang="en-US" dirty="0"/>
          </a:p>
          <a:p>
            <a:r>
              <a:rPr lang="en-US" dirty="0"/>
              <a:t>Types prevent a </a:t>
            </a:r>
            <a:r>
              <a:rPr lang="en-US" i="1" dirty="0"/>
              <a:t>category</a:t>
            </a:r>
            <a:r>
              <a:rPr lang="en-US" dirty="0"/>
              <a:t> of mistakes. They do not make your program correct.</a:t>
            </a:r>
          </a:p>
        </p:txBody>
      </p:sp>
    </p:spTree>
    <p:extLst>
      <p:ext uri="{BB962C8B-B14F-4D97-AF65-F5344CB8AC3E}">
        <p14:creationId xmlns:p14="http://schemas.microsoft.com/office/powerpoint/2010/main" val="755602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FCBE5-28A2-1993-442D-EA8780840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CA99B7-91C7-65A5-B862-35EBD5552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Type Systems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B3901A-1E1C-40CF-B088-0460EAC69B5B}"/>
              </a:ext>
            </a:extLst>
          </p:cNvPr>
          <p:cNvSpPr txBox="1"/>
          <p:nvPr/>
        </p:nvSpPr>
        <p:spPr>
          <a:xfrm>
            <a:off x="535709" y="194055"/>
            <a:ext cx="4717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Type Systems - Type Check bypass =&gt; Casting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01F541-74B4-F2D4-F7B8-547A68D0B64B}"/>
              </a:ext>
            </a:extLst>
          </p:cNvPr>
          <p:cNvSpPr txBox="1"/>
          <p:nvPr/>
        </p:nvSpPr>
        <p:spPr>
          <a:xfrm>
            <a:off x="461818" y="1071418"/>
            <a:ext cx="10996757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 a cast operation you enforce a Type System to disregard any assumption or infer about a type of an expression, and forcibly accept the type you specify.</a:t>
            </a:r>
          </a:p>
          <a:p>
            <a:endParaRPr lang="en-US" dirty="0"/>
          </a:p>
          <a:p>
            <a:r>
              <a:rPr lang="en-US" dirty="0"/>
              <a:t>It’s usually a bad idea, and most likely a mark of bad design/implementation, unless your type system offers type-safe casting.</a:t>
            </a:r>
          </a:p>
          <a:p>
            <a:endParaRPr lang="en-US" dirty="0"/>
          </a:p>
          <a:p>
            <a:r>
              <a:rPr lang="en-US" dirty="0"/>
              <a:t>Sometimes is required, though: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need to deal with a bad designed interface, or with a system API that implements type erasure by suppressing type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example: </a:t>
            </a:r>
            <a:br>
              <a:rPr lang="en-US" dirty="0"/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qsort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(void *base,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width, int (*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compar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)(const void *, const void *));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Courier New" panose="02070309020205020404" pitchFamily="49" charset="0"/>
              </a:rPr>
              <a:t>you need to extend/narrow the range of your data (example, 32-bit &lt;=&gt; 64-bit integers, precision loss!!!)</a:t>
            </a:r>
          </a:p>
        </p:txBody>
      </p:sp>
    </p:spTree>
    <p:extLst>
      <p:ext uri="{BB962C8B-B14F-4D97-AF65-F5344CB8AC3E}">
        <p14:creationId xmlns:p14="http://schemas.microsoft.com/office/powerpoint/2010/main" val="3278935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5E6BE-7F8D-8771-BDAE-6D169BC7E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4D102C-D8E2-D059-65B9-70EAE4BEA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Type Systems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0FA584-A5FC-D540-68D6-5BFB31B5AEF7}"/>
              </a:ext>
            </a:extLst>
          </p:cNvPr>
          <p:cNvSpPr txBox="1"/>
          <p:nvPr/>
        </p:nvSpPr>
        <p:spPr>
          <a:xfrm>
            <a:off x="535709" y="194055"/>
            <a:ext cx="397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Type Systems – Casting: full taxonomy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C3CCAFD-5A3D-FF32-09BA-55C6AA2B5F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0799557"/>
              </p:ext>
            </p:extLst>
          </p:nvPr>
        </p:nvGraphicFramePr>
        <p:xfrm>
          <a:off x="535708" y="719666"/>
          <a:ext cx="1123719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7642">
                  <a:extLst>
                    <a:ext uri="{9D8B030D-6E8A-4147-A177-3AD203B41FA5}">
                      <a16:colId xmlns:a16="http://schemas.microsoft.com/office/drawing/2014/main" val="2195459115"/>
                    </a:ext>
                  </a:extLst>
                </a:gridCol>
                <a:gridCol w="2014538">
                  <a:extLst>
                    <a:ext uri="{9D8B030D-6E8A-4147-A177-3AD203B41FA5}">
                      <a16:colId xmlns:a16="http://schemas.microsoft.com/office/drawing/2014/main" val="2136453274"/>
                    </a:ext>
                  </a:extLst>
                </a:gridCol>
                <a:gridCol w="1343025">
                  <a:extLst>
                    <a:ext uri="{9D8B030D-6E8A-4147-A177-3AD203B41FA5}">
                      <a16:colId xmlns:a16="http://schemas.microsoft.com/office/drawing/2014/main" val="3725238376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3026428481"/>
                    </a:ext>
                  </a:extLst>
                </a:gridCol>
                <a:gridCol w="2986085">
                  <a:extLst>
                    <a:ext uri="{9D8B030D-6E8A-4147-A177-3AD203B41FA5}">
                      <a16:colId xmlns:a16="http://schemas.microsoft.com/office/drawing/2014/main" val="8869626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Explicit?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Checked?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Can fail / lose data?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548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Widening primitive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 → long → double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(value-preserving)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3907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Narrowing primitive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(int) 3.9, (byte) 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silent truncation/overflow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43236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Boxing / unboxing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Integer ↔ 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unboxing null → NPE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8666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Widening reference (upcast)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Animal a = dog;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(always safe)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885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Narrowing reference (downcast)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(Dog) animal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 (runtime)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ClassCastException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913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Unchecked / generic cast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(List&lt;String&gt;) raw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(erased)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heap pollution, later CCE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0978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Reflective checked cast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clazz.cast</a:t>
                      </a:r>
                      <a:r>
                        <a:rPr lang="en-US" dirty="0"/>
                        <a:t>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CCE (but type-token-safe)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87525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DA5A16F-C09C-E9C5-005E-7114B22C6F7B}"/>
              </a:ext>
            </a:extLst>
          </p:cNvPr>
          <p:cNvSpPr txBox="1"/>
          <p:nvPr/>
        </p:nvSpPr>
        <p:spPr>
          <a:xfrm>
            <a:off x="535708" y="4114800"/>
            <a:ext cx="113800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Two casts that aren't casts — don't confuse them: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Conversion methods: 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Integer.parseInt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("5")</a:t>
            </a:r>
            <a:r>
              <a:rPr lang="en-US" dirty="0"/>
              <a:t>, 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String.valueOf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(x)</a:t>
            </a:r>
            <a:r>
              <a:rPr lang="en-US" dirty="0"/>
              <a:t> =&gt; build a new value, not reinterpret.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instanceof</a:t>
            </a:r>
            <a:r>
              <a:rPr lang="en-US" dirty="0"/>
              <a:t> pattern binding: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if (o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instanceof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Dog d)</a:t>
            </a:r>
            <a:r>
              <a:rPr lang="en-US" dirty="0"/>
              <a:t> =&gt; a checked test that binds d, replacing the cast entirely.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692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BC62B-B3AF-E746-4870-700E329E3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2E636C-780F-7967-4022-38F89E506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Type Systems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3B2DE9-D899-0CB5-F16F-3E38F5B405C1}"/>
              </a:ext>
            </a:extLst>
          </p:cNvPr>
          <p:cNvSpPr txBox="1"/>
          <p:nvPr/>
        </p:nvSpPr>
        <p:spPr>
          <a:xfrm>
            <a:off x="535709" y="194055"/>
            <a:ext cx="4040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Type Systems – Casting: the alternative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052EB08-1E44-1A64-2420-7C08359601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2424814"/>
              </p:ext>
            </p:extLst>
          </p:nvPr>
        </p:nvGraphicFramePr>
        <p:xfrm>
          <a:off x="535708" y="1046381"/>
          <a:ext cx="11237192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4880">
                  <a:extLst>
                    <a:ext uri="{9D8B030D-6E8A-4147-A177-3AD203B41FA5}">
                      <a16:colId xmlns:a16="http://schemas.microsoft.com/office/drawing/2014/main" val="2195459115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136453274"/>
                    </a:ext>
                  </a:extLst>
                </a:gridCol>
                <a:gridCol w="3414712">
                  <a:extLst>
                    <a:ext uri="{9D8B030D-6E8A-4147-A177-3AD203B41FA5}">
                      <a16:colId xmlns:a16="http://schemas.microsoft.com/office/drawing/2014/main" val="37252383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Instead of…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Prefer…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Why?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548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((Dog) a).bark() </a:t>
                      </a:r>
                      <a:r>
                        <a:rPr lang="en-US" dirty="0"/>
                        <a:t>scattered around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</a:t>
                      </a:r>
                      <a:r>
                        <a:rPr lang="en-US" dirty="0" err="1"/>
                        <a:t>makeSound</a:t>
                      </a:r>
                      <a:r>
                        <a:rPr lang="en-US" dirty="0"/>
                        <a:t>() method on Animal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polymorphism — no cast, open to extension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3907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(Dog)</a:t>
                      </a:r>
                      <a:r>
                        <a:rPr lang="en-US" dirty="0"/>
                        <a:t> after a manual 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(a </a:t>
                      </a: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instanceof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Dog d) </a:t>
                      </a:r>
                      <a:r>
                        <a:rPr lang="en-US" dirty="0"/>
                        <a:t>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 + bind in one, no separate cast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8666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(List&lt;String&gt;) </a:t>
                      </a: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rawList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generics end-to-end, or 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Class&lt;T&gt;</a:t>
                      </a:r>
                      <a:r>
                        <a:rPr lang="en-US" dirty="0"/>
                        <a:t> type tokens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keeps safety; no heap pollution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885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returning 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Object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then casting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generic method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&lt;T&gt;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caller gets the right type for free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913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(int) </a:t>
                      </a: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longValue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dirty="0"/>
                        <a:t>blindly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Math.toIntExact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(long)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throws on overflow instead of silently wrapping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097881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1D69D8D-4BDE-4CFE-F583-CE8B4EE4FF31}"/>
              </a:ext>
            </a:extLst>
          </p:cNvPr>
          <p:cNvSpPr txBox="1"/>
          <p:nvPr/>
        </p:nvSpPr>
        <p:spPr>
          <a:xfrm>
            <a:off x="535708" y="5029200"/>
            <a:ext cx="11237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best cast is the one you deleted by improving the design. </a:t>
            </a:r>
            <a:r>
              <a:rPr lang="en-US" b="1" dirty="0"/>
              <a:t>Casts are an escape hatch from the type system </a:t>
            </a:r>
            <a:r>
              <a:rPr lang="en-US" dirty="0"/>
              <a:t>— each one is a spot </a:t>
            </a:r>
            <a:r>
              <a:rPr lang="en-US" b="1" dirty="0"/>
              <a:t>where you</a:t>
            </a:r>
            <a:r>
              <a:rPr lang="en-US" dirty="0"/>
              <a:t>, not the compiler, </a:t>
            </a:r>
            <a:r>
              <a:rPr lang="en-US" b="1" dirty="0"/>
              <a:t>now guarantee correctness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55124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2A409-9175-B011-93E3-5A5504C84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2DC9F2-115F-8620-54D9-0762C83BF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Type Systems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402C7E-3196-6FE0-8A81-9252988F682E}"/>
              </a:ext>
            </a:extLst>
          </p:cNvPr>
          <p:cNvSpPr txBox="1"/>
          <p:nvPr/>
        </p:nvSpPr>
        <p:spPr>
          <a:xfrm>
            <a:off x="3712847" y="3105834"/>
            <a:ext cx="47663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Type Systems - Casting</a:t>
            </a:r>
          </a:p>
        </p:txBody>
      </p:sp>
    </p:spTree>
    <p:extLst>
      <p:ext uri="{BB962C8B-B14F-4D97-AF65-F5344CB8AC3E}">
        <p14:creationId xmlns:p14="http://schemas.microsoft.com/office/powerpoint/2010/main" val="2809101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341CB-0294-AED2-A768-2E3369768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94977-9064-1913-CD98-520995AE6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Type Systems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488293-57FF-0274-E9BA-14CFF38FFD6A}"/>
              </a:ext>
            </a:extLst>
          </p:cNvPr>
          <p:cNvSpPr txBox="1"/>
          <p:nvPr/>
        </p:nvSpPr>
        <p:spPr>
          <a:xfrm>
            <a:off x="535709" y="194055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Generics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677F6E-8CCC-81BF-DF87-5D72F4E0AFB4}"/>
              </a:ext>
            </a:extLst>
          </p:cNvPr>
          <p:cNvSpPr txBox="1"/>
          <p:nvPr/>
        </p:nvSpPr>
        <p:spPr>
          <a:xfrm>
            <a:off x="535709" y="903095"/>
            <a:ext cx="10524035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Generic programming allows you to write algorithms in terms of data types that will be specified later.</a:t>
            </a:r>
          </a:p>
          <a:p>
            <a:endParaRPr lang="en-US" dirty="0"/>
          </a:p>
          <a:p>
            <a:r>
              <a:rPr lang="en-US" dirty="0"/>
              <a:t>Before Java 5 (2004), collections held </a:t>
            </a:r>
            <a:r>
              <a:rPr lang="en-US" i="1" dirty="0"/>
              <a:t>Object</a:t>
            </a:r>
            <a:r>
              <a:rPr lang="en-US" dirty="0"/>
              <a:t>. Every read needed a cast:</a:t>
            </a:r>
          </a:p>
          <a:p>
            <a:endParaRPr lang="en-US" dirty="0"/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List names = new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();     // pre-generics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names.add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("Alice");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String s = (String)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names.get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(0); // cast — and nothing stops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names.add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(42)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Two problems: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cs typeface="Courier New" panose="02070309020205020404" pitchFamily="49" charset="0"/>
              </a:rPr>
              <a:t>Casts everywhere</a:t>
            </a:r>
            <a:r>
              <a:rPr lang="en-US" dirty="0">
                <a:cs typeface="Courier New" panose="02070309020205020404" pitchFamily="49" charset="0"/>
              </a:rPr>
              <a:t>: noisy and error-prone.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cs typeface="Courier New" panose="02070309020205020404" pitchFamily="49" charset="0"/>
              </a:rPr>
              <a:t>No safety</a:t>
            </a:r>
            <a:r>
              <a:rPr lang="en-US" dirty="0">
                <a:cs typeface="Courier New" panose="02070309020205020404" pitchFamily="49" charset="0"/>
              </a:rPr>
              <a:t>: — a stray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names.add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(42)</a:t>
            </a:r>
            <a:r>
              <a:rPr lang="en-US" dirty="0">
                <a:cs typeface="Courier New" panose="02070309020205020404" pitchFamily="49" charset="0"/>
              </a:rPr>
              <a:t> blows up later with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ClassCastException</a:t>
            </a:r>
            <a:r>
              <a:rPr lang="en-US" dirty="0">
                <a:cs typeface="Courier New" panose="02070309020205020404" pitchFamily="49" charset="0"/>
              </a:rPr>
              <a:t>, far from the bug.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cs typeface="Courier New" panose="020703090202050204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Generics =&gt; </a:t>
            </a:r>
            <a:r>
              <a:rPr lang="en-US" i="1" dirty="0">
                <a:cs typeface="Courier New" panose="02070309020205020404" pitchFamily="49" charset="0"/>
              </a:rPr>
              <a:t>parametric polymorphism</a:t>
            </a:r>
            <a:r>
              <a:rPr lang="en-US" dirty="0">
                <a:cs typeface="Courier New" panose="02070309020205020404" pitchFamily="49" charset="0"/>
              </a:rPr>
              <a:t>: types parameterized by other types.</a:t>
            </a:r>
          </a:p>
          <a:p>
            <a:endParaRPr lang="en-US" dirty="0"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List&lt;String&gt; names = new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&lt;&gt;();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names.add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("Alice");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String s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names.get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(0);   // no cast;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names.add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(42) won't compile</a:t>
            </a:r>
          </a:p>
        </p:txBody>
      </p:sp>
    </p:spTree>
    <p:extLst>
      <p:ext uri="{BB962C8B-B14F-4D97-AF65-F5344CB8AC3E}">
        <p14:creationId xmlns:p14="http://schemas.microsoft.com/office/powerpoint/2010/main" val="1741929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AE9AB-D3F0-4A23-D685-EF519F255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020261-6274-B210-5B08-6A92768CD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Type Systems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8CFC56-54DC-F0EB-2053-C98A7971FF86}"/>
              </a:ext>
            </a:extLst>
          </p:cNvPr>
          <p:cNvSpPr txBox="1"/>
          <p:nvPr/>
        </p:nvSpPr>
        <p:spPr>
          <a:xfrm>
            <a:off x="535709" y="194055"/>
            <a:ext cx="3773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Generics: Parametric polymorphism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5763B4-B641-7F09-6F92-23FEF9B286DD}"/>
              </a:ext>
            </a:extLst>
          </p:cNvPr>
          <p:cNvSpPr txBox="1"/>
          <p:nvPr/>
        </p:nvSpPr>
        <p:spPr>
          <a:xfrm>
            <a:off x="535709" y="867905"/>
            <a:ext cx="1096403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Polymorphism</a:t>
            </a:r>
            <a:r>
              <a:rPr lang="en-US" dirty="0"/>
              <a:t>: </a:t>
            </a:r>
            <a:r>
              <a:rPr lang="en-US" i="1" dirty="0"/>
              <a:t>many forms</a:t>
            </a:r>
            <a:r>
              <a:rPr lang="en-US" dirty="0"/>
              <a:t>, one piece of code works over many types.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Parametric polymorphism</a:t>
            </a:r>
            <a:r>
              <a:rPr lang="en-US" dirty="0"/>
              <a:t>: the code is written once with a type parameter and works uniformly for every instantiation.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// One definition, works for Box&lt;String&gt;, Box&lt;Integer&gt;, Box&lt;List&lt;Double&gt;&gt;, ...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class Box&lt;T&gt;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T value;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Box(T value) {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this.value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value; }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T get() { return value; }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BF2BFB0-5A5C-239E-077C-1B46E8D107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838321"/>
              </p:ext>
            </p:extLst>
          </p:nvPr>
        </p:nvGraphicFramePr>
        <p:xfrm>
          <a:off x="559738" y="4588743"/>
          <a:ext cx="11072523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9450">
                  <a:extLst>
                    <a:ext uri="{9D8B030D-6E8A-4147-A177-3AD203B41FA5}">
                      <a16:colId xmlns:a16="http://schemas.microsoft.com/office/drawing/2014/main" val="341845364"/>
                    </a:ext>
                  </a:extLst>
                </a:gridCol>
                <a:gridCol w="3456122">
                  <a:extLst>
                    <a:ext uri="{9D8B030D-6E8A-4147-A177-3AD203B41FA5}">
                      <a16:colId xmlns:a16="http://schemas.microsoft.com/office/drawing/2014/main" val="888300766"/>
                    </a:ext>
                  </a:extLst>
                </a:gridCol>
                <a:gridCol w="5036951">
                  <a:extLst>
                    <a:ext uri="{9D8B030D-6E8A-4147-A177-3AD203B41FA5}">
                      <a16:colId xmlns:a16="http://schemas.microsoft.com/office/drawing/2014/main" val="21326929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Kind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Mechanism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Java example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798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Parametric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type 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List&lt;T&gt;, &lt;T&gt; T first(List&lt;T&gt;)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1369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Subtype (inclusion)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substitutability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Animal a = new Dog()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399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Ad-hoc (overloading)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same name, different </a:t>
                      </a:r>
                      <a:r>
                        <a:rPr lang="en-US" dirty="0" err="1"/>
                        <a:t>impls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print(int) </a:t>
                      </a:r>
                      <a:r>
                        <a:rPr lang="en-US" dirty="0">
                          <a:latin typeface="+mn-lt"/>
                          <a:cs typeface="Courier New" panose="02070309020205020404" pitchFamily="49" charset="0"/>
                        </a:rPr>
                        <a:t>vs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print(String)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86700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2886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43C1B-D332-3BEE-BE44-7A4BA6C66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525E31-97E0-F6C3-70AE-24A703EF1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Type Systems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5D93F5-8942-FB18-9CCE-0CD3CC4B5FFB}"/>
              </a:ext>
            </a:extLst>
          </p:cNvPr>
          <p:cNvSpPr txBox="1"/>
          <p:nvPr/>
        </p:nvSpPr>
        <p:spPr>
          <a:xfrm>
            <a:off x="535709" y="203291"/>
            <a:ext cx="2857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Generics – narrowing types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3EE7E8-3ED3-2D47-6032-D5375BF3E92C}"/>
              </a:ext>
            </a:extLst>
          </p:cNvPr>
          <p:cNvSpPr txBox="1"/>
          <p:nvPr/>
        </p:nvSpPr>
        <p:spPr>
          <a:xfrm>
            <a:off x="535709" y="988827"/>
            <a:ext cx="11147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Some languages, like Java or Javascript, allow to “restrict” the generic type to a specific subset of allowed types.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8CCB11-396D-41D1-90B1-8846183CC54B}"/>
              </a:ext>
            </a:extLst>
          </p:cNvPr>
          <p:cNvSpPr txBox="1"/>
          <p:nvPr/>
        </p:nvSpPr>
        <p:spPr>
          <a:xfrm>
            <a:off x="535709" y="1516725"/>
            <a:ext cx="98539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class List&lt;T extends number | string&gt;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public items: T[] = [];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const myList = new List&lt;number&gt;();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const myList2 = new List&lt;object&gt;(); </a:t>
            </a:r>
            <a:r>
              <a:rPr 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Type 'object' does not satisfy the constraint 'string | number’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DBED68-7AB4-79F5-2D16-1CE1A93FF39F}"/>
              </a:ext>
            </a:extLst>
          </p:cNvPr>
          <p:cNvSpPr txBox="1"/>
          <p:nvPr/>
        </p:nvSpPr>
        <p:spPr>
          <a:xfrm>
            <a:off x="535708" y="3078616"/>
            <a:ext cx="100838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Some others, like C++, apply a “duck typing” approach (if it walks like a duck and quacks like a duck,</a:t>
            </a:r>
          </a:p>
          <a:p>
            <a:r>
              <a:rPr lang="en-US"/>
              <a:t>then it must be a duck!)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DB91EE-CE6D-BDAC-72BE-05BAAD2E7D85}"/>
              </a:ext>
            </a:extLst>
          </p:cNvPr>
          <p:cNvSpPr txBox="1"/>
          <p:nvPr/>
        </p:nvSpPr>
        <p:spPr>
          <a:xfrm>
            <a:off x="535708" y="4086509"/>
            <a:ext cx="448071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template&lt; typename T &gt; struct Executor {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vector&lt; T &gt; items;</a:t>
            </a:r>
          </a:p>
          <a:p>
            <a:endParaRPr lang="en-US" sz="1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void execute() {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for (auto item : items) {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item.execute();</a:t>
            </a: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// VALID!!!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EFFD5E-F4D5-D4F9-5F2A-0136E3BA4B54}"/>
              </a:ext>
            </a:extLst>
          </p:cNvPr>
          <p:cNvSpPr txBox="1"/>
          <p:nvPr/>
        </p:nvSpPr>
        <p:spPr>
          <a:xfrm>
            <a:off x="6241503" y="3431692"/>
            <a:ext cx="5282215" cy="263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class A { };</a:t>
            </a:r>
          </a:p>
          <a:p>
            <a:endParaRPr lang="en-US" sz="11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class B {</a:t>
            </a: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public:</a:t>
            </a: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  void execute() { cout &lt;&lt; “Hey” &lt;&lt; endl; }</a:t>
            </a: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endParaRPr lang="en-US" sz="11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int main(...) {</a:t>
            </a: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  Executor&lt; A &gt; excA;</a:t>
            </a: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  excA.execute(); // </a:t>
            </a:r>
            <a:r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error: no member named 'execute' in 'A’</a:t>
            </a:r>
          </a:p>
          <a:p>
            <a:endParaRPr lang="en-US" sz="11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  Executor&lt; B &gt; excB;</a:t>
            </a: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  excB.items.push_back(B());</a:t>
            </a: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  excB.items.push_back(B());</a:t>
            </a: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  excB.execute();</a:t>
            </a:r>
          </a:p>
        </p:txBody>
      </p:sp>
    </p:spTree>
    <p:extLst>
      <p:ext uri="{BB962C8B-B14F-4D97-AF65-F5344CB8AC3E}">
        <p14:creationId xmlns:p14="http://schemas.microsoft.com/office/powerpoint/2010/main" val="2564686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8" grpId="0"/>
      <p:bldP spid="9" grpId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68A1D-04EE-2800-AE9A-B42A7DF7A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EDE3CC-52F9-C552-BD6E-3D1BB0C84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Type Systems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766BD4-89BE-3948-9EF1-6AC4E0AFB47C}"/>
              </a:ext>
            </a:extLst>
          </p:cNvPr>
          <p:cNvSpPr txBox="1"/>
          <p:nvPr/>
        </p:nvSpPr>
        <p:spPr>
          <a:xfrm>
            <a:off x="303234" y="218789"/>
            <a:ext cx="3239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Generics – Java bounded types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7B1B64-FF4B-F186-2E5F-DEFFC16F182B}"/>
              </a:ext>
            </a:extLst>
          </p:cNvPr>
          <p:cNvSpPr txBox="1"/>
          <p:nvPr/>
        </p:nvSpPr>
        <p:spPr>
          <a:xfrm>
            <a:off x="303234" y="945397"/>
            <a:ext cx="1173894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Constrain a parameter so you can use its capabilities:</a:t>
            </a:r>
          </a:p>
          <a:p>
            <a:endParaRPr lang="en-US" dirty="0"/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// Without a bound, T is just Object — you can't call 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doubleValue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static &lt;T extends Number&gt; double sum(List&lt;T&gt;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double total = 0;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for (T x 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total +=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x.doubleValue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();  // OK: T is-a Number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total;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 extends Number </a:t>
            </a:r>
            <a:r>
              <a:rPr lang="en-US" dirty="0">
                <a:cs typeface="Courier New" panose="02070309020205020404" pitchFamily="49" charset="0"/>
              </a:rPr>
              <a:t>means T is Number or a subtype. (extends is used even for interfaces.)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Courier New" panose="02070309020205020404" pitchFamily="49" charset="0"/>
              </a:rPr>
              <a:t>Multiple bounds: 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&lt;T extends Number &amp; Comparable&lt;T&gt;&gt; </a:t>
            </a:r>
            <a:r>
              <a:rPr lang="en-US" dirty="0">
                <a:cs typeface="Courier New" panose="02070309020205020404" pitchFamily="49" charset="0"/>
              </a:rPr>
              <a:t>— class bound first, then interfaces.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Courier New" panose="02070309020205020404" pitchFamily="49" charset="0"/>
              </a:rPr>
              <a:t>The bound also determines the erasure of 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dirty="0">
                <a:cs typeface="Courier New" panose="02070309020205020404" pitchFamily="49" charset="0"/>
              </a:rPr>
              <a:t> (here, 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Number</a:t>
            </a:r>
            <a:r>
              <a:rPr lang="en-US" dirty="0">
                <a:cs typeface="Courier New" panose="02070309020205020404" pitchFamily="49" charset="0"/>
              </a:rPr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Generics are </a:t>
            </a:r>
            <a:r>
              <a:rPr lang="en-US" b="1" dirty="0">
                <a:cs typeface="Courier New" panose="02070309020205020404" pitchFamily="49" charset="0"/>
              </a:rPr>
              <a:t>invariant</a:t>
            </a:r>
            <a:r>
              <a:rPr lang="en-US" dirty="0">
                <a:cs typeface="Courier New" panose="02070309020205020404" pitchFamily="49" charset="0"/>
              </a:rPr>
              <a:t>, and we are glad for that, otherwise the Java generics mechanism would be broken!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List&lt;String&gt; </a:t>
            </a:r>
            <a:r>
              <a:rPr lang="en-US" dirty="0">
                <a:cs typeface="Courier New" panose="02070309020205020404" pitchFamily="49" charset="0"/>
              </a:rPr>
              <a:t>is not a subtype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List&lt;Object&gt;</a:t>
            </a:r>
            <a:r>
              <a:rPr lang="en-US" dirty="0">
                <a:cs typeface="Courier New" panose="02070309020205020404" pitchFamily="49" charset="0"/>
              </a:rPr>
              <a:t>, even though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String &lt;: Object</a:t>
            </a:r>
            <a:r>
              <a:rPr lang="en-US" dirty="0">
                <a:cs typeface="Courier New" panose="02070309020205020404" pitchFamily="49" charset="0"/>
              </a:rPr>
              <a:t> .</a:t>
            </a:r>
          </a:p>
          <a:p>
            <a:endParaRPr lang="en-US" dirty="0"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List&lt;String&gt; strings = new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&lt;&gt;();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List&lt;Object&gt; objects = strings; // COMPILE ERROR — if it compiled, we could then do:</a:t>
            </a:r>
          </a:p>
          <a:p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objects.add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(42);           // would corrupt a List&lt;String&gt; with an Integer</a:t>
            </a:r>
          </a:p>
        </p:txBody>
      </p:sp>
    </p:spTree>
    <p:extLst>
      <p:ext uri="{BB962C8B-B14F-4D97-AF65-F5344CB8AC3E}">
        <p14:creationId xmlns:p14="http://schemas.microsoft.com/office/powerpoint/2010/main" val="3126812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90E74-21E5-0DF8-41A1-6BBCD9D03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B42D3A-CD97-58E8-E9F0-A70E51664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Type Systems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E1E363-1410-F610-4A7F-EE1590E7CD4D}"/>
              </a:ext>
            </a:extLst>
          </p:cNvPr>
          <p:cNvSpPr txBox="1"/>
          <p:nvPr/>
        </p:nvSpPr>
        <p:spPr>
          <a:xfrm>
            <a:off x="535709" y="203291"/>
            <a:ext cx="2605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Generics vs. OOP in C++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4E3342-2FCE-E64D-3405-8D11CB9704B1}"/>
              </a:ext>
            </a:extLst>
          </p:cNvPr>
          <p:cNvSpPr txBox="1"/>
          <p:nvPr/>
        </p:nvSpPr>
        <p:spPr>
          <a:xfrm>
            <a:off x="878336" y="1072760"/>
            <a:ext cx="381065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template&lt;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typename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T &gt; class Executor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T _item;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public: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Executor(T item) { _item = item; 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void execute()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_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item.execute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T&amp;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getItem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{ return _item;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63D140-6952-F6C6-DF5C-5ECF3FF3CD2C}"/>
              </a:ext>
            </a:extLst>
          </p:cNvPr>
          <p:cNvSpPr txBox="1"/>
          <p:nvPr/>
        </p:nvSpPr>
        <p:spPr>
          <a:xfrm>
            <a:off x="6918036" y="572623"/>
            <a:ext cx="3667992" cy="33085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class A 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public: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void execute() {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“A” &lt;&lt;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void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methodA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 { ... }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class B 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public: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void execute() {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“B” &lt;&lt;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void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methodB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 { ... }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Executor&lt; A &gt;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excA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(new A());</a:t>
            </a:r>
          </a:p>
          <a:p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excA.execute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‘A’</a:t>
            </a:r>
          </a:p>
          <a:p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excA.getItem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().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methodA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Executor&lt; B &gt;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excB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(new B());</a:t>
            </a:r>
          </a:p>
          <a:p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excB.execute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‘B’</a:t>
            </a:r>
          </a:p>
          <a:p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excB.getItem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().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methodB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2FD669-BF2B-2BEA-CD08-35AF910D79B4}"/>
              </a:ext>
            </a:extLst>
          </p:cNvPr>
          <p:cNvSpPr txBox="1"/>
          <p:nvPr/>
        </p:nvSpPr>
        <p:spPr>
          <a:xfrm>
            <a:off x="535709" y="4657120"/>
            <a:ext cx="869039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Pro: T is my type! No casting, conversion, or run-time code is required.</a:t>
            </a:r>
          </a:p>
          <a:p>
            <a:endParaRPr lang="en-US" dirty="0"/>
          </a:p>
          <a:p>
            <a:r>
              <a:rPr lang="en-US" dirty="0"/>
              <a:t>Cons: beware of code bloat! </a:t>
            </a:r>
            <a:r>
              <a:rPr lang="en-US" b="1" dirty="0">
                <a:solidFill>
                  <a:srgbClr val="FF0000"/>
                </a:solidFill>
              </a:rPr>
              <a:t>Executor&lt; A &gt; and Executor&lt; B &gt; are two distinct types!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dirty="0"/>
              <a:t>Pro in cons: templates are 1:1 machine code speed!</a:t>
            </a:r>
          </a:p>
        </p:txBody>
      </p:sp>
    </p:spTree>
    <p:extLst>
      <p:ext uri="{BB962C8B-B14F-4D97-AF65-F5344CB8AC3E}">
        <p14:creationId xmlns:p14="http://schemas.microsoft.com/office/powerpoint/2010/main" val="2822615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EF4E8-FD25-D080-5A9E-D0BDB81E3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3875A2-3558-B1A9-490C-B8380B7B0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Type Systems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30A6BE-6A7A-C938-CFA8-2E70B550B8E3}"/>
              </a:ext>
            </a:extLst>
          </p:cNvPr>
          <p:cNvSpPr txBox="1"/>
          <p:nvPr/>
        </p:nvSpPr>
        <p:spPr>
          <a:xfrm>
            <a:off x="241241" y="311779"/>
            <a:ext cx="6584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Generics: how Java resolves the code bloat issue =&gt; type erasure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62D4B0-8EF0-E306-A568-B66E24B949FA}"/>
              </a:ext>
            </a:extLst>
          </p:cNvPr>
          <p:cNvSpPr txBox="1"/>
          <p:nvPr/>
        </p:nvSpPr>
        <p:spPr>
          <a:xfrm>
            <a:off x="241241" y="1022888"/>
            <a:ext cx="11459979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Java generics are </a:t>
            </a:r>
            <a:r>
              <a:rPr lang="en-US" b="1" dirty="0"/>
              <a:t>implemented by erasure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 compiler uses the type arguments to type-check, then erases them. At runtime,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List&lt;String&gt; </a:t>
            </a:r>
            <a:r>
              <a:rPr lang="en-US" dirty="0"/>
              <a:t>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List&lt;Integer&gt;</a:t>
            </a:r>
            <a:r>
              <a:rPr lang="en-US" dirty="0"/>
              <a:t> are the same class: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List&lt;String&gt; a = new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&lt;&gt;();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List&lt;Integer&gt; b = new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&lt;&gt;();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a.getClass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==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b.getClass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());  // true — both are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The compiler: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Courier New" panose="02070309020205020404" pitchFamily="49" charset="0"/>
              </a:rPr>
              <a:t>erases T with the leftmost bound, or Object if unbounded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Courier New" panose="02070309020205020404" pitchFamily="49" charset="0"/>
              </a:rPr>
              <a:t>and inserts casts on your behalf, where you read generic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Because the type argument is gone at runtime, none of these work: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if (x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instanceof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List&lt;String&gt;) { }   // compile error (only List&lt;?&gt; or List allowed)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 t = new T();                       // cannot instantiate 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T[]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new T[10];                 // generic array creation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void f(List&lt;String&gt;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{}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void f(List&lt;Integer&gt;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{}          // same erasure f(List)</a:t>
            </a:r>
          </a:p>
        </p:txBody>
      </p:sp>
    </p:spTree>
    <p:extLst>
      <p:ext uri="{BB962C8B-B14F-4D97-AF65-F5344CB8AC3E}">
        <p14:creationId xmlns:p14="http://schemas.microsoft.com/office/powerpoint/2010/main" val="482360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CF7CF-E877-269C-5F05-3B7AB3506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2861A-1EAD-DAF5-266E-274EA9F4D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Type Systems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E9207C-4699-74CC-1302-706B06DB5C20}"/>
              </a:ext>
            </a:extLst>
          </p:cNvPr>
          <p:cNvSpPr txBox="1"/>
          <p:nvPr/>
        </p:nvSpPr>
        <p:spPr>
          <a:xfrm>
            <a:off x="241241" y="311779"/>
            <a:ext cx="2244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Generics: other uses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9B0F3E-63FE-5BC6-7EF7-0BC55EFE1910}"/>
              </a:ext>
            </a:extLst>
          </p:cNvPr>
          <p:cNvSpPr txBox="1"/>
          <p:nvPr/>
        </p:nvSpPr>
        <p:spPr>
          <a:xfrm>
            <a:off x="241241" y="874455"/>
            <a:ext cx="11459979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cs typeface="Courier New" panose="02070309020205020404" pitchFamily="49" charset="0"/>
              </a:rPr>
              <a:t>Of course non-class methods (a.k.a. static) can use generics too: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static &lt;T&gt; List&lt;T&gt;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listOf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(T a, T b)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var list = new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&lt;T&gt;();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list.add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(a);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list.add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(b);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list;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var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listOf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("a", "b");     // T inferred as String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var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listOf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(1, 2.0);       // T inferred as Number &amp; Comparable&lt;...&gt;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cs typeface="Courier New" panose="02070309020205020404" pitchFamily="49" charset="0"/>
              </a:rPr>
              <a:t>Interfaces can be generic …</a:t>
            </a:r>
          </a:p>
          <a:p>
            <a:endParaRPr lang="en-US" sz="1600" dirty="0"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Comparable&lt;T&gt; { int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compareTo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(T o);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implements Comparable&lt;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int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compareTo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o) { ...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cs typeface="Courier New" panose="02070309020205020404" pitchFamily="49" charset="0"/>
              </a:rPr>
              <a:t>and recursive!</a:t>
            </a:r>
          </a:p>
          <a:p>
            <a:endParaRPr lang="en-US" sz="1600" dirty="0"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static &lt;T extends Comparable&lt;T&gt;&gt; T max(List&lt;T&gt;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T best 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xs.get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(0);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(T x :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if 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x.compareTo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(best) &gt; 0) best = x;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best;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07839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4EF42-6281-89C2-3081-86D1114B6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A2A29F-9473-775E-8D8A-99E843725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Type Systems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78030B-B721-2677-2181-177D43541276}"/>
              </a:ext>
            </a:extLst>
          </p:cNvPr>
          <p:cNvSpPr txBox="1"/>
          <p:nvPr/>
        </p:nvSpPr>
        <p:spPr>
          <a:xfrm>
            <a:off x="241241" y="311779"/>
            <a:ext cx="2326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Generics: The Iterator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36564C-DF7B-75D6-DD22-DA394FBBFC3A}"/>
              </a:ext>
            </a:extLst>
          </p:cNvPr>
          <p:cNvSpPr txBox="1"/>
          <p:nvPr/>
        </p:nvSpPr>
        <p:spPr>
          <a:xfrm>
            <a:off x="931605" y="1083896"/>
            <a:ext cx="473398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Iterable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&lt;T&gt;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Iterator&lt;T&gt;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createIterator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A216C7-D1DC-C7C7-84FA-F4AE52ED3AB7}"/>
              </a:ext>
            </a:extLst>
          </p:cNvPr>
          <p:cNvSpPr txBox="1"/>
          <p:nvPr/>
        </p:nvSpPr>
        <p:spPr>
          <a:xfrm>
            <a:off x="7904989" y="945397"/>
            <a:ext cx="335540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Iterator&lt;T&gt;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hasNext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T next();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DAF933-F4C3-8842-32B6-1EC5BCE55AF6}"/>
              </a:ext>
            </a:extLst>
          </p:cNvPr>
          <p:cNvSpPr txBox="1"/>
          <p:nvPr/>
        </p:nvSpPr>
        <p:spPr>
          <a:xfrm>
            <a:off x="931605" y="2268127"/>
            <a:ext cx="9195146" cy="42780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class Buffer&lt;T&gt; implements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Iterable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&lt;T&gt; {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final Object[] data;   // backing store is Object[] (erasure)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Iterator&lt;T&gt; iterator() {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new Iterator&lt;&gt;() {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private int cursor = 0;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public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hasNext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return cursor &lt; size;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}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@Override @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SuppressWarnings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("unchecked")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// here casting is safe, ensured by the generics contract!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public T next() { return (T) data[cursor++]; }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98104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0F244-0736-3BD1-92EF-BA9D5EA5D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1DC355-0FDE-F2BA-A2F4-D9AC0C526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Type Systems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805B43-DAD1-09DF-8B93-014C2DD97829}"/>
              </a:ext>
            </a:extLst>
          </p:cNvPr>
          <p:cNvSpPr txBox="1"/>
          <p:nvPr/>
        </p:nvSpPr>
        <p:spPr>
          <a:xfrm>
            <a:off x="241241" y="311779"/>
            <a:ext cx="2235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Generics: The Visitor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D5BCD2-CD61-4320-4B9A-407CF958819E}"/>
              </a:ext>
            </a:extLst>
          </p:cNvPr>
          <p:cNvSpPr txBox="1"/>
          <p:nvPr/>
        </p:nvSpPr>
        <p:spPr>
          <a:xfrm>
            <a:off x="356461" y="898902"/>
            <a:ext cx="445827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Expr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&lt;R&gt; R accept(Visitor&lt;R&gt; v);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9BBAC5-DD82-A435-ED0A-A35D543171EB}"/>
              </a:ext>
            </a:extLst>
          </p:cNvPr>
          <p:cNvSpPr txBox="1"/>
          <p:nvPr/>
        </p:nvSpPr>
        <p:spPr>
          <a:xfrm>
            <a:off x="7594169" y="621903"/>
            <a:ext cx="321754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Visitor&lt;R&gt;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visitNum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(Num n);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visitAdd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(Add a);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visitMul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(Mul m);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E9E81E-F280-30A4-8D8B-3E3CAA08733C}"/>
              </a:ext>
            </a:extLst>
          </p:cNvPr>
          <p:cNvSpPr txBox="1"/>
          <p:nvPr/>
        </p:nvSpPr>
        <p:spPr>
          <a:xfrm>
            <a:off x="356461" y="2611963"/>
            <a:ext cx="997260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EvalVisitor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implements Visitor&lt;Double&gt;  { ... }   // R = Double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PrintVisitor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implements Visitor&lt;String&gt;  { ... }   // R = String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CountVisitor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implements Visitor&lt;Integer&gt; { ... }   // R = Integer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13A6E7-1C68-DE0A-820B-73CC40203D3C}"/>
              </a:ext>
            </a:extLst>
          </p:cNvPr>
          <p:cNvSpPr txBox="1"/>
          <p:nvPr/>
        </p:nvSpPr>
        <p:spPr>
          <a:xfrm>
            <a:off x="356461" y="4448014"/>
            <a:ext cx="113757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Before</a:t>
            </a:r>
            <a:r>
              <a:rPr lang="en-US" dirty="0"/>
              <a:t>: 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visit</a:t>
            </a:r>
            <a:r>
              <a:rPr lang="en-US" dirty="0"/>
              <a:t> returned 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dirty="0"/>
              <a:t> (or a fixed type) → results stashed in mutable fields, read back with casts.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After</a:t>
            </a:r>
            <a:r>
              <a:rPr lang="en-US" dirty="0"/>
              <a:t>: 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e.accept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(new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EvalVisitor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()) </a:t>
            </a:r>
            <a:r>
              <a:rPr lang="en-US" dirty="0"/>
              <a:t>is statically a 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dirty="0"/>
              <a:t>; a 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PrintVisitor</a:t>
            </a:r>
            <a:r>
              <a:rPr lang="en-US" dirty="0"/>
              <a:t> yields 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dirty="0"/>
              <a:t>. Same elements, different 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dirty="0"/>
              <a:t> per traversal, no casts, no shared state.</a:t>
            </a:r>
          </a:p>
        </p:txBody>
      </p:sp>
    </p:spTree>
    <p:extLst>
      <p:ext uri="{BB962C8B-B14F-4D97-AF65-F5344CB8AC3E}">
        <p14:creationId xmlns:p14="http://schemas.microsoft.com/office/powerpoint/2010/main" val="1977931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9" grpId="0"/>
      <p:bldP spid="10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C6A8E-412D-FDE5-0A44-73A63467C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D3EEC7-E2D3-9821-5AFB-6008AB773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Type Systems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0D13FD-2A68-F122-CDF2-5CA154C79725}"/>
              </a:ext>
            </a:extLst>
          </p:cNvPr>
          <p:cNvSpPr txBox="1"/>
          <p:nvPr/>
        </p:nvSpPr>
        <p:spPr>
          <a:xfrm>
            <a:off x="241241" y="311779"/>
            <a:ext cx="2515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Generics: The Observer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83DBFC-5B63-7E62-C4C6-520BEB89B546}"/>
              </a:ext>
            </a:extLst>
          </p:cNvPr>
          <p:cNvSpPr txBox="1"/>
          <p:nvPr/>
        </p:nvSpPr>
        <p:spPr>
          <a:xfrm>
            <a:off x="241241" y="1084881"/>
            <a:ext cx="10803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subject notifies registered observers of changes. </a:t>
            </a:r>
            <a:r>
              <a:rPr lang="en-US" b="1" dirty="0"/>
              <a:t>Generics make the event payload part of the contract</a:t>
            </a:r>
            <a:r>
              <a:rPr lang="en-US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751451-A34D-CB99-5ACB-6A4462EAB292}"/>
              </a:ext>
            </a:extLst>
          </p:cNvPr>
          <p:cNvSpPr txBox="1"/>
          <p:nvPr/>
        </p:nvSpPr>
        <p:spPr>
          <a:xfrm>
            <a:off x="241241" y="1857983"/>
            <a:ext cx="10803214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Listener&lt;E&gt;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void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onEvent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(E event);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final class Observable&lt;E&gt;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final List&lt;Listener&lt;T extends E&gt;&gt; listeners = new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&lt;&gt;();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void subscribe(Listener&lt;T extends E&gt; l)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listeners.add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(l);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void notify(E event)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(var l : listeners)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l.onEvent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(event);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97921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05B78-04B4-1F7E-EE65-39D77F069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5EA9C3-C08D-165F-C07D-EFE502768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Type Systems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43CA30-C8B3-C5BD-A790-D54A83FD2732}"/>
              </a:ext>
            </a:extLst>
          </p:cNvPr>
          <p:cNvSpPr txBox="1"/>
          <p:nvPr/>
        </p:nvSpPr>
        <p:spPr>
          <a:xfrm>
            <a:off x="3957979" y="3105834"/>
            <a:ext cx="4276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Generics - Examples</a:t>
            </a:r>
          </a:p>
        </p:txBody>
      </p:sp>
    </p:spTree>
    <p:extLst>
      <p:ext uri="{BB962C8B-B14F-4D97-AF65-F5344CB8AC3E}">
        <p14:creationId xmlns:p14="http://schemas.microsoft.com/office/powerpoint/2010/main" val="34095840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E5E2B-1915-256F-4CC9-954762B90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BDD467-17D7-06D4-6E73-C4B09827E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Type Systems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6E93DE-2C64-9D9E-B14C-E9685484FE22}"/>
              </a:ext>
            </a:extLst>
          </p:cNvPr>
          <p:cNvSpPr txBox="1"/>
          <p:nvPr/>
        </p:nvSpPr>
        <p:spPr>
          <a:xfrm>
            <a:off x="241241" y="311779"/>
            <a:ext cx="2486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Generics: pro and cons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CD0EEB-D868-366A-C2C4-5301C6CE3A3B}"/>
              </a:ext>
            </a:extLst>
          </p:cNvPr>
          <p:cNvSpPr txBox="1"/>
          <p:nvPr/>
        </p:nvSpPr>
        <p:spPr>
          <a:xfrm>
            <a:off x="241241" y="1146875"/>
            <a:ext cx="1150647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Advantages: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Type-safe, cast-free collections and APIs.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Reusable algorithms (Collections, Comparator, streams).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Encode constraints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(&lt;T extends Comparable&lt;T&gt;&gt;</a:t>
            </a:r>
            <a:r>
              <a:rPr lang="en-US" dirty="0"/>
              <a:t>).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Disavantages</a:t>
            </a:r>
            <a:r>
              <a:rPr lang="en-US" dirty="0"/>
              <a:t>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Erasure: no 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new T()</a:t>
            </a:r>
            <a:r>
              <a:rPr lang="en-US" dirty="0"/>
              <a:t>, no 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instanceof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List&lt;String&gt;</a:t>
            </a:r>
            <a:r>
              <a:rPr lang="en-US" dirty="0"/>
              <a:t>, no primitive specialization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List&lt;int&gt; — must box to Integer</a:t>
            </a:r>
            <a:r>
              <a:rPr lang="en-U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424490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5FB4F-ABD0-7AB1-B6A9-DC15AA954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7D332A-8F5A-0072-4FCA-D28206140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Type Systems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2F88B9-54AA-2CC4-59FD-CCA8EBE1C1EA}"/>
              </a:ext>
            </a:extLst>
          </p:cNvPr>
          <p:cNvSpPr txBox="1"/>
          <p:nvPr/>
        </p:nvSpPr>
        <p:spPr>
          <a:xfrm>
            <a:off x="393680" y="325782"/>
            <a:ext cx="1200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Reflection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5BE68E-2055-CF62-0F9F-3B4F483E3B88}"/>
              </a:ext>
            </a:extLst>
          </p:cNvPr>
          <p:cNvSpPr txBox="1"/>
          <p:nvPr/>
        </p:nvSpPr>
        <p:spPr>
          <a:xfrm>
            <a:off x="393680" y="879494"/>
            <a:ext cx="114470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Reflective programming or reflection is the ability of a process to examine, introspect, and modify its own structure and behavior.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Two main capabilities: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Introspection</a:t>
            </a:r>
            <a:r>
              <a:rPr lang="en-US" dirty="0"/>
              <a:t>: </a:t>
            </a:r>
            <a:r>
              <a:rPr lang="en-US" i="1" dirty="0"/>
              <a:t>What does this type look like?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Dynamic invocation</a:t>
            </a:r>
            <a:r>
              <a:rPr lang="en-US" dirty="0"/>
              <a:t>: </a:t>
            </a:r>
            <a:r>
              <a:rPr lang="en-US" i="1" dirty="0"/>
              <a:t>Call / create / mutate this thing I only named at runtime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i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i="1" dirty="0"/>
          </a:p>
          <a:p>
            <a:r>
              <a:rPr lang="en-US" dirty="0"/>
              <a:t>A normal program names its members statically: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new User()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u.getName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. The compiler checks them and emits direct bytecode.</a:t>
            </a:r>
          </a:p>
          <a:p>
            <a:endParaRPr lang="en-US" dirty="0"/>
          </a:p>
          <a:p>
            <a:r>
              <a:rPr lang="en-US" dirty="0"/>
              <a:t>A reflective program names them as data — strings, Class objects — and resolves them while running.</a:t>
            </a:r>
          </a:p>
        </p:txBody>
      </p:sp>
    </p:spTree>
    <p:extLst>
      <p:ext uri="{BB962C8B-B14F-4D97-AF65-F5344CB8AC3E}">
        <p14:creationId xmlns:p14="http://schemas.microsoft.com/office/powerpoint/2010/main" val="2870661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1AD04-B76B-4534-4D77-275D13304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01A606-5C06-6588-CB23-995BD327A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Type Systems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257AFE-F1F0-41D2-BE85-A186026BE2ED}"/>
              </a:ext>
            </a:extLst>
          </p:cNvPr>
          <p:cNvSpPr txBox="1"/>
          <p:nvPr/>
        </p:nvSpPr>
        <p:spPr>
          <a:xfrm>
            <a:off x="535709" y="194055"/>
            <a:ext cx="2233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Reflection - Example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B3639E-03D2-24C4-0DAE-0FAFB877F685}"/>
              </a:ext>
            </a:extLst>
          </p:cNvPr>
          <p:cNvSpPr txBox="1"/>
          <p:nvPr/>
        </p:nvSpPr>
        <p:spPr>
          <a:xfrm>
            <a:off x="535709" y="1566998"/>
            <a:ext cx="5019323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java.lang.reflect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.*;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class Person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private String name;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public int age;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public Person(String name)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this.name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name;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this.age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10;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public Person(String name, int age)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this.name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name;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this.age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age;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public void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sayHello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("Hello, my name is " + name);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716005-6170-941D-FDF0-C8A2B05F41EC}"/>
              </a:ext>
            </a:extLst>
          </p:cNvPr>
          <p:cNvSpPr txBox="1"/>
          <p:nvPr/>
        </p:nvSpPr>
        <p:spPr>
          <a:xfrm>
            <a:off x="5829687" y="4995595"/>
            <a:ext cx="375295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>
              <a:buNone/>
            </a:pPr>
            <a:r>
              <a:rPr lang="en-US" sz="11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 Name: Person</a:t>
            </a:r>
          </a:p>
          <a:p>
            <a:pPr marL="0" marR="0">
              <a:buNone/>
            </a:pPr>
            <a:r>
              <a:rPr lang="en-US" sz="11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Constructor: Person, 1</a:t>
            </a:r>
          </a:p>
          <a:p>
            <a:pPr marL="0" marR="0">
              <a:buNone/>
            </a:pPr>
            <a:r>
              <a:rPr lang="en-US" sz="11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Constructor: Person, 2</a:t>
            </a:r>
          </a:p>
          <a:p>
            <a:pPr marL="0" marR="0">
              <a:buNone/>
            </a:pPr>
            <a:r>
              <a:rPr lang="en-US" sz="11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Field: name | Type: class </a:t>
            </a:r>
            <a:r>
              <a:rPr lang="en-US" sz="11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java.lang.String</a:t>
            </a:r>
            <a:endParaRPr lang="en-US" sz="1100" b="1" dirty="0">
              <a:solidFill>
                <a:srgbClr val="FF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>
              <a:buNone/>
            </a:pPr>
            <a:r>
              <a:rPr lang="en-US" sz="11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Field: age | Type: int</a:t>
            </a:r>
          </a:p>
          <a:p>
            <a:pPr marL="0" marR="0">
              <a:buNone/>
            </a:pPr>
            <a:r>
              <a:rPr lang="en-US" sz="11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Method: </a:t>
            </a:r>
            <a:r>
              <a:rPr lang="en-US" sz="11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sayHello</a:t>
            </a:r>
            <a:endParaRPr lang="en-US" sz="11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E608D0-4503-5195-E858-D76BAF48884D}"/>
              </a:ext>
            </a:extLst>
          </p:cNvPr>
          <p:cNvSpPr txBox="1"/>
          <p:nvPr/>
        </p:nvSpPr>
        <p:spPr>
          <a:xfrm>
            <a:off x="5829687" y="454876"/>
            <a:ext cx="5112297" cy="43242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ReflectionExample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public static void main(String[]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Class&lt;?&gt;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clazz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Person.class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 // Get Class object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("Class Name: " +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clazz.getName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// List constructors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(Constructor ctr :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clazz.getConstructors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()) 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("Constructor: " +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ctr.getName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 +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", " +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ctr.getParameterCount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// List fields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(Field field :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clazz.getDeclaredFields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()) 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("Field: " +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field.getName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 +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" | Type: " +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field.getType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// List methods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(Method method :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clazz.getDeclaredMethods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()) 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("Method: " +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method.getName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707022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D2D12-902B-FD78-FEBD-C5A306FBF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26633A-BFFB-4CD1-62D5-ABEC178DC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Type Systems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258A0D-63CC-9D73-0D33-ECD52FBABF0C}"/>
              </a:ext>
            </a:extLst>
          </p:cNvPr>
          <p:cNvSpPr txBox="1"/>
          <p:nvPr/>
        </p:nvSpPr>
        <p:spPr>
          <a:xfrm>
            <a:off x="535709" y="194055"/>
            <a:ext cx="2813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Reflection vs. Type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BB879D-0A0E-396C-C1BA-C20E0BD11198}"/>
              </a:ext>
            </a:extLst>
          </p:cNvPr>
          <p:cNvSpPr txBox="1"/>
          <p:nvPr/>
        </p:nvSpPr>
        <p:spPr>
          <a:xfrm>
            <a:off x="535710" y="852407"/>
            <a:ext cx="1111901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 compile time, the type system is a static discipline: it exists to be erased or discarded once it has done its checking (true for any language, in different forms).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 runtime, the JVM keeps a reified model of every loaded type — a Class object — for dispatch, casts, 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instanceof</a:t>
            </a:r>
            <a:r>
              <a:rPr lang="en-US" dirty="0"/>
              <a:t>, and class loading.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=&gt; Reflection is the public API over that reified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r>
              <a:rPr lang="en-US" dirty="0"/>
              <a:t>So reflection partially recovers type information that the surface language hides or erases: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Hidden by access control? → 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setAccessible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(true)</a:t>
            </a:r>
            <a:r>
              <a:rPr lang="en-US" dirty="0"/>
              <a:t> reaches private members.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Erased generic arguments on values? → unrecoverable.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Erased generic arguments in declarations? → recoverable via Type.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r>
              <a:rPr lang="en-US" dirty="0"/>
              <a:t>Reflection is the seam where the static type system and the dynamic runtime meet — and it is leaky by design.</a:t>
            </a:r>
          </a:p>
        </p:txBody>
      </p:sp>
    </p:spTree>
    <p:extLst>
      <p:ext uri="{BB962C8B-B14F-4D97-AF65-F5344CB8AC3E}">
        <p14:creationId xmlns:p14="http://schemas.microsoft.com/office/powerpoint/2010/main" val="821485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0008A-035C-ACEA-7E7D-5656780B7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461ACE-5779-13D4-CB46-FE7935B17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Type Systems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967951-F8FF-C5AA-D507-BC52FCB61CD1}"/>
              </a:ext>
            </a:extLst>
          </p:cNvPr>
          <p:cNvSpPr txBox="1"/>
          <p:nvPr/>
        </p:nvSpPr>
        <p:spPr>
          <a:xfrm>
            <a:off x="535709" y="194055"/>
            <a:ext cx="3250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Reflection: dynamic invocation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C01370-6860-6FA5-6910-6244E8744A0B}"/>
              </a:ext>
            </a:extLst>
          </p:cNvPr>
          <p:cNvSpPr txBox="1"/>
          <p:nvPr/>
        </p:nvSpPr>
        <p:spPr>
          <a:xfrm>
            <a:off x="535709" y="805912"/>
            <a:ext cx="1105702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CREATE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Constructor&lt;Secret&gt;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ctor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Secret.class.getDeclaredConstructor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String.class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Secret s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ctor.newInstance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("ab");            // ≈ new Secret("ab")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INVOKE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Method reveal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Secret.class.getDeclaredMethod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("reveal",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int.class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Object r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reveal.invoke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(s, 3);               // ≈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s.reveal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(3)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READ / WRITE a field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Field f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Secret.class.getDeclaredField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("code");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Object v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f.get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(s);                          // ≈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s.code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f.set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(s, 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");                               // ≈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s.code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You can even break encapsulation!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ctor.setAccessible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(true);   // suppress the private/protected check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This is the super-power that makes frameworks possible (Jackson reads your private fields; Spring calls your private constructors) — and the foot-gun.</a:t>
            </a:r>
          </a:p>
        </p:txBody>
      </p:sp>
    </p:spTree>
    <p:extLst>
      <p:ext uri="{BB962C8B-B14F-4D97-AF65-F5344CB8AC3E}">
        <p14:creationId xmlns:p14="http://schemas.microsoft.com/office/powerpoint/2010/main" val="982243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D310D-0B5A-29FB-CF0E-8AA982ED0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FBCE66-B62B-4918-D606-C12070F8A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Type Systems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9E720F-F498-29A2-823E-64DDB0D618F9}"/>
              </a:ext>
            </a:extLst>
          </p:cNvPr>
          <p:cNvSpPr txBox="1"/>
          <p:nvPr/>
        </p:nvSpPr>
        <p:spPr>
          <a:xfrm>
            <a:off x="535709" y="194055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Reflection - ORM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55BBBA-CEEA-AAA0-F67A-5E6CB4FF417B}"/>
              </a:ext>
            </a:extLst>
          </p:cNvPr>
          <p:cNvSpPr txBox="1"/>
          <p:nvPr/>
        </p:nvSpPr>
        <p:spPr>
          <a:xfrm>
            <a:off x="535709" y="725260"/>
            <a:ext cx="105809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Object–relational mapping is a programming technique for converting data between a relational database</a:t>
            </a:r>
          </a:p>
          <a:p>
            <a:r>
              <a:rPr lang="en-US"/>
              <a:t>and the memory (usually the heap) of an object-oriented programming language.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3A22CF-84B5-904D-F178-1FA09FB1848F}"/>
              </a:ext>
            </a:extLst>
          </p:cNvPr>
          <p:cNvSpPr txBox="1"/>
          <p:nvPr/>
        </p:nvSpPr>
        <p:spPr>
          <a:xfrm>
            <a:off x="393680" y="1533465"/>
            <a:ext cx="3262432" cy="517064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@Retention(RetentionPolicy.RUNTIME)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@Target(ElementType.FIELD)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@interface Column {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String name();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@Retention(RetentionPolicy.RUNTIME)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@Target(ElementType.TYPE)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@interface Table {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String name();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@Table(name = "users")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class User {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0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@Column(name = "id")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private int id;</a:t>
            </a:r>
          </a:p>
          <a:p>
            <a:endParaRPr lang="en-US" sz="1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0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@Column(name = "username")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private String username;</a:t>
            </a:r>
          </a:p>
          <a:p>
            <a:endParaRPr lang="en-US" sz="1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public User(int id, String username) {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this.id = id;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this.username = username;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endParaRPr lang="en-US" sz="1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public int getId() {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return id;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endParaRPr lang="en-US" sz="1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public String getUsername() {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return username;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D45983-613F-21A8-EEE3-4774FCA3B8CF}"/>
              </a:ext>
            </a:extLst>
          </p:cNvPr>
          <p:cNvSpPr txBox="1"/>
          <p:nvPr/>
        </p:nvSpPr>
        <p:spPr>
          <a:xfrm>
            <a:off x="4113312" y="1440658"/>
            <a:ext cx="4665060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class ORM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public static String generateInsertSQL(Object obj)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Class&lt;?&gt; clazz = obj.getClass();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// Check if class has @Table annotation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if (!clazz.isAnnotationPresent(Table.class))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throw new RuntimeException("Missing @Table annotation");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Table tableAnnotation = clazz.getAnnotation(Table.class);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String tableName = tableAnnotation.name();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StringBuilder columns = new StringBuilder();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StringBuilder values = new StringBuilder();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for (Field field : clazz.getDeclaredFields())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if (field.isAnnotationPresent(Column.class))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Column columnAnnotation =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  field.getAnnotation(Column.class);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field.setAccessible(true); // Bypass private visibility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try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  columns.append(columnAnnotation.name()).append(",");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  values.append("'").append(field.get(obj)).append("',");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} catch (IllegalAccessException e)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  e.printStackTrace();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}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columns.setLength(columns.length() - 1);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values.setLength(values.length() - 1);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return "INSERT INTO " + tableName +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" (" + columns + ") VALUES (" + values + ");";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43A0B2-C858-FD0F-E78E-FAD3F9A8445B}"/>
              </a:ext>
            </a:extLst>
          </p:cNvPr>
          <p:cNvSpPr txBox="1"/>
          <p:nvPr/>
        </p:nvSpPr>
        <p:spPr>
          <a:xfrm>
            <a:off x="8458944" y="5168082"/>
            <a:ext cx="3339376" cy="10156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User user = new User(1, "alice");</a:t>
            </a:r>
          </a:p>
          <a:p>
            <a:endParaRPr lang="en-US" sz="1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String sql = ORM.generateInsertSQL(user);</a:t>
            </a:r>
          </a:p>
          <a:p>
            <a:endParaRPr lang="en-US" sz="1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sql = “INSERT INTO users (id,username)</a:t>
            </a:r>
          </a:p>
          <a:p>
            <a:r>
              <a:rPr lang="en-US" sz="1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   VALUES ('1','alice’)”</a:t>
            </a:r>
          </a:p>
        </p:txBody>
      </p:sp>
    </p:spTree>
    <p:extLst>
      <p:ext uri="{BB962C8B-B14F-4D97-AF65-F5344CB8AC3E}">
        <p14:creationId xmlns:p14="http://schemas.microsoft.com/office/powerpoint/2010/main" val="241651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1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6120F-985F-5874-FE9C-87C944C88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1D6138-3BAF-9FD9-170A-664316BCD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Type Systems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1CFA56-346B-9286-274E-AA289EDB085F}"/>
              </a:ext>
            </a:extLst>
          </p:cNvPr>
          <p:cNvSpPr txBox="1"/>
          <p:nvPr/>
        </p:nvSpPr>
        <p:spPr>
          <a:xfrm>
            <a:off x="3583261" y="3105834"/>
            <a:ext cx="50254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Refactoring – My code </a:t>
            </a:r>
            <a:r>
              <a:rPr lang="en-US" sz="3600" dirty="0">
                <a:sym typeface="Wingdings" pitchFamily="2" charset="2"/>
              </a:rPr>
              <a:t>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8590113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7706B-3094-16E7-AC06-7BE95BBD5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3FECA0-24FB-5107-AD68-A0490B6B9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Type Systems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7582C2-939C-463C-DD93-AF2FFE1EB8FC}"/>
              </a:ext>
            </a:extLst>
          </p:cNvPr>
          <p:cNvSpPr txBox="1"/>
          <p:nvPr/>
        </p:nvSpPr>
        <p:spPr>
          <a:xfrm>
            <a:off x="535709" y="194055"/>
            <a:ext cx="2715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Reflection: pros and cons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B09EDC-3C60-FF16-75C9-4A5C6B03582D}"/>
              </a:ext>
            </a:extLst>
          </p:cNvPr>
          <p:cNvSpPr txBox="1"/>
          <p:nvPr/>
        </p:nvSpPr>
        <p:spPr>
          <a:xfrm>
            <a:off x="535709" y="898902"/>
            <a:ext cx="1087104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Advantages: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Decoupling / extensibility</a:t>
            </a:r>
            <a:r>
              <a:rPr lang="en-US" dirty="0"/>
              <a:t>: load plugins by name, wire components without hard references. </a:t>
            </a:r>
            <a:r>
              <a:rPr lang="en-US" b="1" dirty="0"/>
              <a:t>The open/closed principle at runtime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Generic infrastructure</a:t>
            </a:r>
            <a:r>
              <a:rPr lang="en-US" dirty="0"/>
              <a:t>: one serializer/mapper/injector handles any class — written once, applied universally.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Tooling</a:t>
            </a:r>
            <a:r>
              <a:rPr lang="en-US" dirty="0"/>
              <a:t>: debuggers, IDEs, test frameworks, ORMs, mocking — all need 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Disadvantages: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Performance</a:t>
            </a:r>
            <a:r>
              <a:rPr lang="en-US" dirty="0"/>
              <a:t>: slower than direct calls (boxing, per-call access checks)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JIT de-optimization</a:t>
            </a:r>
            <a:r>
              <a:rPr lang="en-US" dirty="0"/>
              <a:t>: classic reflective calls are hard to inline, they blur the optimizer's view of the call graph.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No compile-time safety</a:t>
            </a:r>
            <a:r>
              <a:rPr lang="en-US" dirty="0"/>
              <a:t>: names-as-strings fail at runtime, the type system can't help you.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Refactoring hazards</a:t>
            </a:r>
            <a:r>
              <a:rPr lang="en-US" dirty="0"/>
              <a:t>: rename/move breaks reflective string lookups silently — IDE "rename" often misses them.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Potential encapsulation &amp; security failure</a:t>
            </a:r>
            <a:r>
              <a:rPr lang="en-US" dirty="0"/>
              <a:t>: 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setAccessible</a:t>
            </a:r>
            <a:r>
              <a:rPr lang="en-US" dirty="0"/>
              <a:t> punches through boundaries.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Readability / debuggability</a:t>
            </a:r>
            <a:r>
              <a:rPr lang="en-US" dirty="0"/>
              <a:t>: indirect, dynamic, harder to trace.</a:t>
            </a:r>
          </a:p>
        </p:txBody>
      </p:sp>
    </p:spTree>
    <p:extLst>
      <p:ext uri="{BB962C8B-B14F-4D97-AF65-F5344CB8AC3E}">
        <p14:creationId xmlns:p14="http://schemas.microsoft.com/office/powerpoint/2010/main" val="2454830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2428</TotalTime>
  <Words>4648</Words>
  <Application>Microsoft Macintosh PowerPoint</Application>
  <PresentationFormat>Widescreen</PresentationFormat>
  <Paragraphs>643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Aptos</vt:lpstr>
      <vt:lpstr>Aptos Display</vt:lpstr>
      <vt:lpstr>Arial</vt:lpstr>
      <vt:lpstr>Courier New</vt:lpstr>
      <vt:lpstr>Symbol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 Monaco, Antonio</dc:creator>
  <cp:lastModifiedBy>Di Monaco, Antonio</cp:lastModifiedBy>
  <cp:revision>68</cp:revision>
  <dcterms:created xsi:type="dcterms:W3CDTF">2025-02-19T20:33:39Z</dcterms:created>
  <dcterms:modified xsi:type="dcterms:W3CDTF">2026-10-25T14:34:36Z</dcterms:modified>
</cp:coreProperties>
</file>