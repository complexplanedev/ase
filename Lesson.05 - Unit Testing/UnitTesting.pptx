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310" r:id="rId2"/>
    <p:sldId id="256" r:id="rId3"/>
    <p:sldId id="267" r:id="rId4"/>
    <p:sldId id="268" r:id="rId5"/>
    <p:sldId id="269" r:id="rId6"/>
    <p:sldId id="270" r:id="rId7"/>
    <p:sldId id="311" r:id="rId8"/>
    <p:sldId id="312" r:id="rId9"/>
    <p:sldId id="313" r:id="rId10"/>
    <p:sldId id="314" r:id="rId11"/>
    <p:sldId id="265" r:id="rId12"/>
    <p:sldId id="266" r:id="rId13"/>
    <p:sldId id="259" r:id="rId14"/>
    <p:sldId id="260" r:id="rId15"/>
    <p:sldId id="263" r:id="rId16"/>
    <p:sldId id="264" r:id="rId17"/>
    <p:sldId id="261" r:id="rId18"/>
    <p:sldId id="262" r:id="rId19"/>
    <p:sldId id="257" r:id="rId20"/>
    <p:sldId id="258" r:id="rId21"/>
    <p:sldId id="271" r:id="rId22"/>
    <p:sldId id="272" r:id="rId23"/>
    <p:sldId id="273" r:id="rId24"/>
    <p:sldId id="318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6"/>
    <p:restoredTop sz="94556"/>
  </p:normalViewPr>
  <p:slideViewPr>
    <p:cSldViewPr snapToGrid="0">
      <p:cViewPr varScale="1">
        <p:scale>
          <a:sx n="97" d="100"/>
          <a:sy n="97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2D0E0-E168-494B-B12F-572113F95957}" type="datetimeFigureOut"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12F5C-7E4B-3D4C-81B6-B8E9CC618B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Design Pattern is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2F5C-7E4B-3D4C-81B6-B8E9CC618B8E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3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which other way could we have implemented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2F5C-7E4B-3D4C-81B6-B8E9CC618B8E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12F5C-7E4B-3D4C-81B6-B8E9CC618B8E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8FFD-EC48-C78E-E505-C1CF3504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2CEB9-17EA-D7EB-084A-8F069D42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7224-05AF-84E9-B12B-A94825BE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8653-5110-DF4F-B561-4D95E6CF295C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AEA28-E538-9425-2E05-DAB8CEB0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003C8-E113-E5C5-25CE-FB6FD32D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8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6978-E3FB-6729-B3A6-2ECD4B19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A67B-B903-55AE-55ED-A2FD91F5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149D-8F6B-CC36-163C-CC69E33D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CB1C-C5C3-4149-B607-698E9DD70955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0CAA-D999-E636-640C-19DAA58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8317-4B07-9570-74CA-0E049853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2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6786-6F63-294D-B046-4C7E84B4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E9247-B738-8527-713C-A711487BC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F90D-512D-C8D1-69FE-8E12909D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82A65-B27D-3745-866B-39E6B73EAEC0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12ED4-E5C2-104E-55A9-52B350E2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7DED-B57A-1126-4470-53442A2A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9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103E-64B2-D9B5-DAB5-6439E3D0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3E0D-E58B-A470-DE3B-A7F32B1D4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83E7B-E3A8-0FF1-9197-20F8884A2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3F40-5BDA-4CED-898A-A5DAFC07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A4CB-EBE3-2144-B7E3-D143310D27BF}" type="datetime1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6833-DF1B-F999-DDDF-BD96032E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B02E8-3B47-B756-F021-CD93266F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77F1-9C86-1A66-3D20-1F30E5F4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1BADC-51A8-3620-9930-48464AB0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F6033-A149-D9F9-EEE9-F5543B786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60B5B-41E1-3E2B-B179-AC8E07697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4B246-CA45-8BEF-22D9-5441E5043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685DC-AADB-85DE-C85F-E46DDC84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8919-65E1-4944-9154-6F8E6E13667F}" type="datetime1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87027-070F-7992-FD49-76B96490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BE436-A3F4-FF22-E648-6D0DA6F8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8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7B73-6AED-01C2-045C-49529E13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B8064-14C6-8622-B024-2763EA6A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CB321-B163-2642-B16D-FF22D6235E1B}" type="datetime1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8F615-83BF-DE73-8180-3B464C15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BC4E3-410C-B225-B373-178DA385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0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8D308-AF8F-D911-C080-8BA66464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05BC-B553-6944-8DD9-0535E0182C32}" type="datetime1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6DFC3-191A-9C07-F585-4E5D3182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27144-9719-66E8-FEA3-AA486149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765E-5B4C-DDE5-12E0-AB87B49F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79BF3-4E04-8C33-B29C-CDDBD498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8EE3-0419-B846-E4CF-43430C8E1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ADC85-DBFA-015F-B378-9C492EB7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981FE-604E-1F40-86C8-F654990D58BE}" type="datetime1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A73DB-EFB4-9E73-D054-1DC50146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89122-90B5-ADBC-E6FC-47651577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1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6BC3-6E74-6A32-38B4-D86C457D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B78AA-A2E5-0C3E-1B71-F12A8FC8B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29340-02AA-499B-90C2-E4CB346D7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11A31-9FAB-A952-AA20-12826484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01B41-0E37-0E43-BAF8-5B982B673925}" type="datetime1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2DE62-97DB-60C0-A555-C00E0A11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F4DB-7961-A0C1-52C9-6453C9F0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8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4D181-2D25-9790-5644-BD0305D5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AAD27-4431-5B70-FD24-E725B88C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90CA-6E12-76AC-7F29-FCAA5036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3E4C9-AE41-FB44-9FEA-C916D319F4C7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9A73-6763-8542-6D39-984071B5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A53EF-5BA5-F49C-94B9-11378ECB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9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D14A3-53C7-9946-B6EA-E9A4BEDCB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FAAEE-E1CB-F961-AFDD-0A014BA4D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2C3B-394F-1AFF-5EBF-6A11BADD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7C736-3752-5748-91A4-F85F973693FD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6B88-E25F-8DB8-2BA0-2F875FEB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85169-1DFF-7109-4FFD-1096128A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2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1CB08-2DAE-15DF-74F4-09395A7F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6EA1A-B329-E645-6E09-04F1224F0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854D-5C93-7298-E096-21981B28B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700F0-5A1B-C246-A603-AA547D99F83F}" type="datetime1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7F966-E8E5-F841-590D-B15251118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Unit Testing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BA1D-C0D6-18F0-92BD-087A268E0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2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doc.io/doc/org.mockito/mockito-core/latest/org.mockito/org/mockito/Mockito.html" TargetMode="External"/><Relationship Id="rId2" Type="http://schemas.openxmlformats.org/officeDocument/2006/relationships/hyperlink" Target="https://docs.junit.org/6.1.3/overview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Software Engineering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978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829815-809F-23E1-6F1D-6F6B5A78A1A4}"/>
              </a:ext>
            </a:extLst>
          </p:cNvPr>
          <p:cNvSpPr txBox="1"/>
          <p:nvPr/>
        </p:nvSpPr>
        <p:spPr>
          <a:xfrm>
            <a:off x="720873" y="826845"/>
            <a:ext cx="990578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Unit Testing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What is it and why we do it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Dummies</a:t>
            </a:r>
          </a:p>
          <a:p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Mocks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Spies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Stubs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Fakes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Coverage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https://docs.junit.org/6.1.3/overview.html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https://javadoc.io/doc/org.mockito/mockito-core/latest/org.mockito/org/mockito/Mockito.html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E18C2F-C644-4956-D21A-2704CBEA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B7B84E-7487-F7A3-AD70-E72C022E5596}"/>
              </a:ext>
            </a:extLst>
          </p:cNvPr>
          <p:cNvGrpSpPr/>
          <p:nvPr/>
        </p:nvGrpSpPr>
        <p:grpSpPr>
          <a:xfrm>
            <a:off x="2733773" y="1960775"/>
            <a:ext cx="7111507" cy="2573518"/>
            <a:chOff x="2733773" y="1960775"/>
            <a:chExt cx="7111507" cy="257351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4BFA75C-D101-3000-E61E-D23DA7C0B8D0}"/>
                </a:ext>
              </a:extLst>
            </p:cNvPr>
            <p:cNvSpPr txBox="1"/>
            <p:nvPr/>
          </p:nvSpPr>
          <p:spPr>
            <a:xfrm>
              <a:off x="3337088" y="3042836"/>
              <a:ext cx="6508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Test double</a:t>
              </a:r>
              <a:r>
                <a:rPr lang="en-US"/>
                <a:t>: any object that replaces a real component in a test</a:t>
              </a:r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51BADD6A-EABB-FAAE-ED99-02E056EB07A1}"/>
                </a:ext>
              </a:extLst>
            </p:cNvPr>
            <p:cNvSpPr/>
            <p:nvPr/>
          </p:nvSpPr>
          <p:spPr>
            <a:xfrm>
              <a:off x="2733773" y="1960775"/>
              <a:ext cx="603315" cy="257351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746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8F8E-D7A2-DB92-0B7E-3B4E05EB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B72E9A-0C2D-3D08-F037-300B4823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01D71-8944-750E-858D-55C59159468A}"/>
              </a:ext>
            </a:extLst>
          </p:cNvPr>
          <p:cNvSpPr txBox="1"/>
          <p:nvPr/>
        </p:nvSpPr>
        <p:spPr>
          <a:xfrm>
            <a:off x="575035" y="603315"/>
            <a:ext cx="2288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 is Unit Testing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534AB-F5B3-EDCD-0E33-932CB6C9988E}"/>
              </a:ext>
            </a:extLst>
          </p:cNvPr>
          <p:cNvSpPr txBox="1"/>
          <p:nvPr/>
        </p:nvSpPr>
        <p:spPr>
          <a:xfrm>
            <a:off x="575035" y="1282045"/>
            <a:ext cx="11011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Unit testing is a software development technique that focuses on testing individual components of a program,</a:t>
            </a:r>
            <a:br>
              <a:rPr lang="en-US"/>
            </a:br>
            <a:r>
              <a:rPr lang="en-US"/>
              <a:t>such as functions, methods, or classes, </a:t>
            </a:r>
            <a:r>
              <a:rPr lang="en-US" b="1">
                <a:solidFill>
                  <a:srgbClr val="FF0000"/>
                </a:solidFill>
              </a:rPr>
              <a:t>in isolation from the rest of the application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C109B-EDC7-FC9D-9FDC-674B66036F5C}"/>
              </a:ext>
            </a:extLst>
          </p:cNvPr>
          <p:cNvSpPr txBox="1"/>
          <p:nvPr/>
        </p:nvSpPr>
        <p:spPr>
          <a:xfrm>
            <a:off x="575035" y="2305415"/>
            <a:ext cx="9994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</a:t>
            </a:r>
            <a:r>
              <a:rPr lang="en-US" b="1">
                <a:solidFill>
                  <a:srgbClr val="0070C0"/>
                </a:solidFill>
              </a:rPr>
              <a:t>unit</a:t>
            </a:r>
            <a:r>
              <a:rPr lang="en-US"/>
              <a:t> is defined as the smallest testable part of an application, typically corresponding to a single</a:t>
            </a:r>
            <a:br>
              <a:rPr lang="en-US"/>
            </a:br>
            <a:r>
              <a:rPr lang="en-US"/>
              <a:t>behavior or requirement.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5EE38-5DA4-575C-C8F3-88BADB39DECB}"/>
              </a:ext>
            </a:extLst>
          </p:cNvPr>
          <p:cNvSpPr txBox="1"/>
          <p:nvPr/>
        </p:nvSpPr>
        <p:spPr>
          <a:xfrm>
            <a:off x="575035" y="3361386"/>
            <a:ext cx="79151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Key characteristics: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Isolation</a:t>
            </a:r>
            <a:r>
              <a:rPr lang="en-US"/>
              <a:t>: Testing components independently from external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70C0"/>
                </a:solidFill>
              </a:rPr>
              <a:t>Automation</a:t>
            </a:r>
            <a:r>
              <a:rPr lang="en-US"/>
              <a:t>: Tests run automatically without manual 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Repeatability</a:t>
            </a:r>
            <a:r>
              <a:rPr lang="en-US"/>
              <a:t>: Tests produce consistent results across multiple executions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B050"/>
                </a:solidFill>
              </a:rPr>
              <a:t>Fast execution</a:t>
            </a:r>
            <a:r>
              <a:rPr lang="en-US"/>
              <a:t>: Unit tests should run in milliseconds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834E86-5C7C-972B-E86D-FDD47723983E}"/>
              </a:ext>
            </a:extLst>
          </p:cNvPr>
          <p:cNvGrpSpPr/>
          <p:nvPr/>
        </p:nvGrpSpPr>
        <p:grpSpPr>
          <a:xfrm>
            <a:off x="8644379" y="3836709"/>
            <a:ext cx="1452999" cy="1545996"/>
            <a:chOff x="8644379" y="3836709"/>
            <a:chExt cx="1452999" cy="1545996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03776F1-8891-42D5-2D6D-7AD0691756AE}"/>
                </a:ext>
              </a:extLst>
            </p:cNvPr>
            <p:cNvSpPr/>
            <p:nvPr/>
          </p:nvSpPr>
          <p:spPr>
            <a:xfrm>
              <a:off x="8644379" y="3836709"/>
              <a:ext cx="301658" cy="154599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FD7634-24A4-5438-C4F0-255B17C4F3A4}"/>
                </a:ext>
              </a:extLst>
            </p:cNvPr>
            <p:cNvSpPr txBox="1"/>
            <p:nvPr/>
          </p:nvSpPr>
          <p:spPr>
            <a:xfrm>
              <a:off x="8946037" y="4425041"/>
              <a:ext cx="1151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Required!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F568E3-3C2D-698E-850D-DF192DEAEFAF}"/>
              </a:ext>
            </a:extLst>
          </p:cNvPr>
          <p:cNvGrpSpPr/>
          <p:nvPr/>
        </p:nvGrpSpPr>
        <p:grpSpPr>
          <a:xfrm>
            <a:off x="6353666" y="5546831"/>
            <a:ext cx="2822321" cy="369332"/>
            <a:chOff x="6353666" y="5546831"/>
            <a:chExt cx="2822321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3EF0668-776C-C201-FBC9-BA02AD6AF6C9}"/>
                </a:ext>
              </a:extLst>
            </p:cNvPr>
            <p:cNvCxnSpPr/>
            <p:nvPr/>
          </p:nvCxnSpPr>
          <p:spPr>
            <a:xfrm>
              <a:off x="6353666" y="5731497"/>
              <a:ext cx="1234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1013E5-1AFE-65B1-DD61-DA2A92CA75C0}"/>
                </a:ext>
              </a:extLst>
            </p:cNvPr>
            <p:cNvSpPr txBox="1"/>
            <p:nvPr/>
          </p:nvSpPr>
          <p:spPr>
            <a:xfrm>
              <a:off x="7762267" y="5546831"/>
              <a:ext cx="1413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Nice to have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2AE8CF5-A6C1-2A42-9F42-CF1936331240}"/>
              </a:ext>
            </a:extLst>
          </p:cNvPr>
          <p:cNvSpPr txBox="1"/>
          <p:nvPr/>
        </p:nvSpPr>
        <p:spPr>
          <a:xfrm>
            <a:off x="10225527" y="3638384"/>
            <a:ext cx="17287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FIRST principle:</a:t>
            </a:r>
            <a:br>
              <a:rPr lang="en-US"/>
            </a:br>
            <a:endParaRPr lang="en-US"/>
          </a:p>
          <a:p>
            <a:r>
              <a:rPr lang="en-US" b="1">
                <a:solidFill>
                  <a:srgbClr val="00B050"/>
                </a:solidFill>
              </a:rPr>
              <a:t>Fast</a:t>
            </a:r>
            <a:br>
              <a:rPr lang="en-US"/>
            </a:br>
            <a:r>
              <a:rPr lang="en-US" b="1"/>
              <a:t>Isolated</a:t>
            </a:r>
            <a:br>
              <a:rPr lang="en-US"/>
            </a:br>
            <a:r>
              <a:rPr lang="en-US" b="1">
                <a:solidFill>
                  <a:srgbClr val="FF0000"/>
                </a:solidFill>
              </a:rPr>
              <a:t>Repeatable</a:t>
            </a:r>
            <a:br>
              <a:rPr lang="en-US"/>
            </a:br>
            <a:r>
              <a:rPr lang="en-US" b="1">
                <a:solidFill>
                  <a:srgbClr val="0070C0"/>
                </a:solidFill>
              </a:rPr>
              <a:t>Self-checking</a:t>
            </a:r>
            <a:br>
              <a:rPr lang="en-US"/>
            </a:br>
            <a:r>
              <a:rPr lang="en-US" b="1">
                <a:solidFill>
                  <a:srgbClr val="FFC000"/>
                </a:solidFill>
              </a:rPr>
              <a:t>Timely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9AD11D-4E9D-961C-B601-75DA1F39315F}"/>
              </a:ext>
            </a:extLst>
          </p:cNvPr>
          <p:cNvGrpSpPr/>
          <p:nvPr/>
        </p:nvGrpSpPr>
        <p:grpSpPr>
          <a:xfrm>
            <a:off x="9407229" y="5669709"/>
            <a:ext cx="2323778" cy="917470"/>
            <a:chOff x="9407229" y="5669709"/>
            <a:chExt cx="2323778" cy="91747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1C0B66E-4109-D8FA-05D8-B60F58C04F6C}"/>
                </a:ext>
              </a:extLst>
            </p:cNvPr>
            <p:cNvCxnSpPr/>
            <p:nvPr/>
          </p:nvCxnSpPr>
          <p:spPr>
            <a:xfrm>
              <a:off x="10569118" y="5669709"/>
              <a:ext cx="0" cy="420006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F8422E-186E-6967-8569-F5BA36DB9616}"/>
                </a:ext>
              </a:extLst>
            </p:cNvPr>
            <p:cNvSpPr txBox="1"/>
            <p:nvPr/>
          </p:nvSpPr>
          <p:spPr>
            <a:xfrm>
              <a:off x="9407229" y="6125514"/>
              <a:ext cx="23237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>
                  <a:solidFill>
                    <a:srgbClr val="FFC000"/>
                  </a:solidFill>
                </a:rPr>
                <a:t>Write tests before or alongside</a:t>
              </a:r>
              <a:br>
                <a:rPr lang="en-US" sz="1200" b="1">
                  <a:solidFill>
                    <a:srgbClr val="FFC000"/>
                  </a:solidFill>
                </a:rPr>
              </a:br>
              <a:r>
                <a:rPr lang="en-US" sz="1200" b="1">
                  <a:solidFill>
                    <a:srgbClr val="FFC000"/>
                  </a:solidFill>
                </a:rPr>
                <a:t>the production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809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build="p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16E0-2A77-040A-7AA6-320B88BD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844FC0-489A-BEBE-6648-C1BD3D63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255A5-97E4-FA51-8F31-512DEA9F509D}"/>
              </a:ext>
            </a:extLst>
          </p:cNvPr>
          <p:cNvSpPr txBox="1"/>
          <p:nvPr/>
        </p:nvSpPr>
        <p:spPr>
          <a:xfrm>
            <a:off x="235670" y="202467"/>
            <a:ext cx="1982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Why Unit Testing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9E38C-A86A-7C3F-DFF7-938D87912CBA}"/>
              </a:ext>
            </a:extLst>
          </p:cNvPr>
          <p:cNvSpPr txBox="1"/>
          <p:nvPr/>
        </p:nvSpPr>
        <p:spPr>
          <a:xfrm>
            <a:off x="461913" y="732085"/>
            <a:ext cx="1108592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/>
              <a:t>Early Defect Detection</a:t>
            </a:r>
            <a:br>
              <a:rPr lang="en-US" sz="1600"/>
            </a:br>
            <a:r>
              <a:rPr lang="en-US" sz="1400"/>
              <a:t>Unit testing enables developers to catch defects early in the software development process, before code is integrated with other components.</a:t>
            </a:r>
            <a:br>
              <a:rPr lang="en-US" sz="1400"/>
            </a:br>
            <a:r>
              <a:rPr lang="en-US" sz="1400"/>
              <a:t>This significantly reduces debugging time and prevents defects from propagating to other parts of the system.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Improved Code Quality</a:t>
            </a:r>
            <a:br>
              <a:rPr lang="en-US" sz="1600"/>
            </a:br>
            <a:r>
              <a:rPr lang="en-US" sz="1400"/>
              <a:t>Writing unit tests forces developers to think through design and edge cases, leading to cleaner.</a:t>
            </a:r>
            <a:br>
              <a:rPr lang="en-US" sz="1400"/>
            </a:br>
            <a:r>
              <a:rPr lang="en-US" sz="1400"/>
              <a:t>Tests serve as executable specifications that document how code should behave.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Facilitates Refactoring</a:t>
            </a:r>
            <a:br>
              <a:rPr lang="en-US" sz="1600"/>
            </a:br>
            <a:r>
              <a:rPr lang="en-US" sz="1400"/>
              <a:t>Unit tests provide a safety net that allows developers to refactor code with confidence can be confident that existing functionality remains intact.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Faster Development Cycles</a:t>
            </a:r>
            <a:br>
              <a:rPr lang="en-US" sz="1600"/>
            </a:br>
            <a:r>
              <a:rPr lang="en-US" sz="1400"/>
              <a:t>By catching bugs early and reducing manual testing time, unit testing accelerates the overall development process can iterate quickly and release more frequently.</a:t>
            </a:r>
          </a:p>
          <a:p>
            <a:pPr marL="342900" indent="-342900">
              <a:buFont typeface="+mj-lt"/>
              <a:buAutoNum type="arabicPeriod"/>
            </a:pPr>
            <a:endParaRPr lang="en-US" sz="16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Better Documentation</a:t>
            </a:r>
            <a:br>
              <a:rPr lang="en-US" sz="1600"/>
            </a:br>
            <a:r>
              <a:rPr lang="en-US" sz="1400"/>
              <a:t>Unit tests serve as living documentation, providing concrete examples of how code should be used. New developers can understand functionality by examining test cases.</a:t>
            </a:r>
          </a:p>
          <a:p>
            <a:pPr marL="342900" indent="-342900">
              <a:buFont typeface="+mj-lt"/>
              <a:buAutoNum type="arabicPeriod"/>
            </a:pPr>
            <a:endParaRPr lang="en-US" sz="1400"/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Reduced Costs</a:t>
            </a:r>
            <a:br>
              <a:rPr lang="en-US" sz="1400"/>
            </a:br>
            <a:r>
              <a:rPr lang="en-US" sz="1400"/>
              <a:t>Bugs found during unit testing are much cheaper to fix than bugs discovered later in integration, system testing, or production.</a:t>
            </a:r>
            <a:br>
              <a:rPr lang="en-US" sz="1400"/>
            </a:br>
            <a:r>
              <a:rPr lang="en-US" sz="1400"/>
              <a:t>The cost of fixing a bug increases exponentially as it moves through the development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333299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5A6D-765F-8CD8-697D-84558946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570E02-350D-315C-90DF-67A01CAD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F9DF-9F43-EF46-3D3A-1C36BA959614}"/>
              </a:ext>
            </a:extLst>
          </p:cNvPr>
          <p:cNvSpPr txBox="1"/>
          <p:nvPr/>
        </p:nvSpPr>
        <p:spPr>
          <a:xfrm>
            <a:off x="235670" y="202467"/>
            <a:ext cx="2307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Other types of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81185-52C5-8421-7F09-E262FD66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2" y="1345096"/>
            <a:ext cx="10411216" cy="41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2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DC947-34F3-6D62-56F4-2ED46682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548CF-F0A4-E0CD-6FF1-4AC3C6F4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2820-4AEE-B959-D0F2-7AE652A3D472}"/>
              </a:ext>
            </a:extLst>
          </p:cNvPr>
          <p:cNvSpPr txBox="1"/>
          <p:nvPr/>
        </p:nvSpPr>
        <p:spPr>
          <a:xfrm>
            <a:off x="235670" y="202467"/>
            <a:ext cx="2388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Anatomy of a Unit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C33CB5-108F-4E7E-5584-0B0AAD968EFD}"/>
              </a:ext>
            </a:extLst>
          </p:cNvPr>
          <p:cNvSpPr txBox="1"/>
          <p:nvPr/>
        </p:nvSpPr>
        <p:spPr>
          <a:xfrm>
            <a:off x="452487" y="1113674"/>
            <a:ext cx="609468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Essential Components: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</a:rPr>
              <a:t>Test ID/Name</a:t>
            </a:r>
            <a:r>
              <a:rPr lang="en-US" sz="1600"/>
              <a:t>: Descriptive name indicating what is being tested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70C0"/>
                </a:solidFill>
              </a:rPr>
              <a:t>Setup (Arrange)</a:t>
            </a:r>
            <a:r>
              <a:rPr lang="en-US" sz="1600"/>
              <a:t>: Initialize objects and prepare test data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B050"/>
                </a:solidFill>
              </a:rPr>
              <a:t>Execution (Act)</a:t>
            </a:r>
            <a:r>
              <a:rPr lang="en-US" sz="1600"/>
              <a:t>: Execute the code under test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Verification(Assert)</a:t>
            </a:r>
            <a:r>
              <a:rPr lang="en-US" sz="1600"/>
              <a:t>: Check that results match expectations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Teardown</a:t>
            </a:r>
            <a:r>
              <a:rPr lang="en-US" sz="1600"/>
              <a:t>: Clean up resources (if needed)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FE63F-2DC5-40F5-45A2-B09312467066}"/>
              </a:ext>
            </a:extLst>
          </p:cNvPr>
          <p:cNvSpPr txBox="1"/>
          <p:nvPr/>
        </p:nvSpPr>
        <p:spPr>
          <a:xfrm>
            <a:off x="6936595" y="1113674"/>
            <a:ext cx="4802918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400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testAddition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Arrange</a:t>
            </a:r>
            <a:b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Calculator calculator = new Calculator();</a:t>
            </a:r>
            <a:b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a = 5;</a:t>
            </a:r>
            <a:b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b = 3;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Act</a:t>
            </a:r>
            <a:b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 result = calculator.add(a, b);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Assert</a:t>
            </a:r>
            <a:b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assertEquals(8, result);</a:t>
            </a:r>
            <a:b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27604-BCF7-4F9D-1BD7-196F66034BEB}"/>
              </a:ext>
            </a:extLst>
          </p:cNvPr>
          <p:cNvSpPr txBox="1"/>
          <p:nvPr/>
        </p:nvSpPr>
        <p:spPr>
          <a:xfrm>
            <a:off x="452487" y="4719897"/>
            <a:ext cx="61084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Arrange–Act–Assert (AAA)</a:t>
            </a:r>
          </a:p>
          <a:p>
            <a:endParaRPr lang="en-US" dirty="0"/>
          </a:p>
          <a:p>
            <a:r>
              <a:rPr lang="en-US" dirty="0"/>
              <a:t>Every test has three phases (also called </a:t>
            </a:r>
            <a:r>
              <a:rPr lang="en-US" i="1" dirty="0"/>
              <a:t>Given–When–Then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7081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91D1E-2647-5462-2349-B4F8C502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4B4923-DBFF-6F30-55D7-AEEBEE2C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F714B-3B96-8288-D4EB-FCCE490BEB25}"/>
              </a:ext>
            </a:extLst>
          </p:cNvPr>
          <p:cNvSpPr txBox="1"/>
          <p:nvPr/>
        </p:nvSpPr>
        <p:spPr>
          <a:xfrm>
            <a:off x="235670" y="202467"/>
            <a:ext cx="2769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- Some vocabulary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0FD17-3AE7-3D48-8174-75408098F5FF}"/>
              </a:ext>
            </a:extLst>
          </p:cNvPr>
          <p:cNvSpPr txBox="1"/>
          <p:nvPr/>
        </p:nvSpPr>
        <p:spPr>
          <a:xfrm>
            <a:off x="348343" y="1099457"/>
            <a:ext cx="11353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 Under Test</a:t>
            </a:r>
            <a:r>
              <a:rPr lang="en-US" dirty="0"/>
              <a:t>: the object we are actually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Depended-On Component</a:t>
            </a:r>
            <a:r>
              <a:rPr lang="en-US" dirty="0"/>
              <a:t>: anything the SUT needs to do its job (database, e-mail service, clock).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 Fixture</a:t>
            </a:r>
            <a:r>
              <a:rPr lang="en-US" dirty="0"/>
              <a:t>: the fixed baseline state a test runs against (the arranged objects).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Test Double</a:t>
            </a:r>
            <a:r>
              <a:rPr lang="en-US" dirty="0"/>
              <a:t>: </a:t>
            </a:r>
            <a:r>
              <a:rPr lang="en-US" i="1" dirty="0"/>
              <a:t>any</a:t>
            </a:r>
            <a:r>
              <a:rPr lang="en-US" dirty="0"/>
              <a:t> object that stands in for a real DOC during a test — the umbrella term for Dummies, Stubs, Spies, Mocks and Fakes. The name is an analogy to a </a:t>
            </a:r>
            <a:r>
              <a:rPr lang="en-US" i="1" dirty="0"/>
              <a:t>stunt double</a:t>
            </a:r>
            <a:r>
              <a:rPr lang="en-US" dirty="0"/>
              <a:t> in film.</a:t>
            </a:r>
          </a:p>
        </p:txBody>
      </p:sp>
    </p:spTree>
    <p:extLst>
      <p:ext uri="{BB962C8B-B14F-4D97-AF65-F5344CB8AC3E}">
        <p14:creationId xmlns:p14="http://schemas.microsoft.com/office/powerpoint/2010/main" val="140650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3120-1D96-7F52-B879-A92873F3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B4D6EE-2C10-1246-3423-672CD7F7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2EA2D-2F1E-9D58-C254-E17618B88F35}"/>
              </a:ext>
            </a:extLst>
          </p:cNvPr>
          <p:cNvSpPr txBox="1"/>
          <p:nvPr/>
        </p:nvSpPr>
        <p:spPr>
          <a:xfrm>
            <a:off x="235670" y="202467"/>
            <a:ext cx="195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ways to verify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6AAA9-9987-02CD-7356-04B62ABD5F38}"/>
              </a:ext>
            </a:extLst>
          </p:cNvPr>
          <p:cNvSpPr txBox="1"/>
          <p:nvPr/>
        </p:nvSpPr>
        <p:spPr>
          <a:xfrm>
            <a:off x="348343" y="1099457"/>
            <a:ext cx="11353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 verification</a:t>
            </a:r>
            <a:r>
              <a:rPr lang="en-US" dirty="0"/>
              <a:t>: after acting, inspect the </a:t>
            </a:r>
            <a:r>
              <a:rPr lang="en-US" i="1" dirty="0"/>
              <a:t>state</a:t>
            </a:r>
            <a:r>
              <a:rPr lang="en-US" dirty="0"/>
              <a:t> of the SUT (or a Fake) and assert it is correct. "Did the balance become 300?”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Behavior verification</a:t>
            </a:r>
            <a:r>
              <a:rPr lang="en-US" dirty="0"/>
              <a:t>: assert that the SUT </a:t>
            </a:r>
            <a:r>
              <a:rPr lang="en-US" i="1" dirty="0"/>
              <a:t>made the right calls</a:t>
            </a:r>
            <a:r>
              <a:rPr lang="en-US" dirty="0"/>
              <a:t> on its collaborators. "Did it call </a:t>
            </a:r>
            <a:r>
              <a:rPr lang="en-US" i="1" dirty="0" err="1"/>
              <a:t>notifyTransfer</a:t>
            </a:r>
            <a:r>
              <a:rPr lang="en-US" dirty="0"/>
              <a:t> exactly once with these arguments?"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distinction is the backbone of the whole test-double taxonomy: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Dummies, Stubs, Fakes and Spies support </a:t>
            </a:r>
            <a:r>
              <a:rPr lang="en-US" i="1" dirty="0"/>
              <a:t>state verification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Mocks are the tool of </a:t>
            </a:r>
            <a:r>
              <a:rPr lang="en-US" i="1" dirty="0"/>
              <a:t>behavior verification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619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73EC-816D-AEE3-98CF-61E79137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C12CFC-55F3-AE89-C1A4-0995DC97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742AA-152A-F6EF-E565-E0D9688983EE}"/>
              </a:ext>
            </a:extLst>
          </p:cNvPr>
          <p:cNvSpPr txBox="1"/>
          <p:nvPr/>
        </p:nvSpPr>
        <p:spPr>
          <a:xfrm>
            <a:off x="235670" y="202467"/>
            <a:ext cx="2378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ways to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E55AA-C6C0-1046-1F9D-7A80CDCA6988}"/>
              </a:ext>
            </a:extLst>
          </p:cNvPr>
          <p:cNvSpPr txBox="1"/>
          <p:nvPr/>
        </p:nvSpPr>
        <p:spPr>
          <a:xfrm>
            <a:off x="360948" y="1082842"/>
            <a:ext cx="110329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Classical / Detroit / classicist style</a:t>
            </a:r>
            <a:r>
              <a:rPr lang="en-US" dirty="0"/>
              <a:t>: use real collaborators wherever practical, substitute doubles only for awkward ones (DB, e-mail). Prefers state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Mockist</a:t>
            </a:r>
            <a:r>
              <a:rPr lang="en-US" b="1" dirty="0"/>
              <a:t> / London style</a:t>
            </a:r>
            <a:r>
              <a:rPr lang="en-US" dirty="0"/>
              <a:t>: isolate the SUT from </a:t>
            </a:r>
            <a:r>
              <a:rPr lang="en-US" i="1" dirty="0"/>
              <a:t>all</a:t>
            </a:r>
            <a:r>
              <a:rPr lang="en-US" dirty="0"/>
              <a:t> meaningful collaborators using mocks; drive design </a:t>
            </a:r>
            <a:r>
              <a:rPr lang="en-US" i="1" dirty="0"/>
              <a:t>outside-in</a:t>
            </a:r>
            <a:r>
              <a:rPr lang="en-US" dirty="0"/>
              <a:t>. Prefers behavior verification.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Neither is universally correct - they are trade-offs between test isolation and coupling of tests to implementation detail.</a:t>
            </a:r>
          </a:p>
        </p:txBody>
      </p:sp>
    </p:spTree>
    <p:extLst>
      <p:ext uri="{BB962C8B-B14F-4D97-AF65-F5344CB8AC3E}">
        <p14:creationId xmlns:p14="http://schemas.microsoft.com/office/powerpoint/2010/main" val="316159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D2B01-D05F-1E40-1D62-52E0150B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08479A-33FE-3ED4-E461-323458DC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81C9F-3C47-2729-EE42-BFB5C4FA39CA}"/>
              </a:ext>
            </a:extLst>
          </p:cNvPr>
          <p:cNvSpPr txBox="1"/>
          <p:nvPr/>
        </p:nvSpPr>
        <p:spPr>
          <a:xfrm>
            <a:off x="235670" y="202467"/>
            <a:ext cx="442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Doubles (a.k.a. Dependency Injection)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0FF4A-797B-66D5-F7F1-34B42BE79CCE}"/>
              </a:ext>
            </a:extLst>
          </p:cNvPr>
          <p:cNvSpPr txBox="1"/>
          <p:nvPr/>
        </p:nvSpPr>
        <p:spPr>
          <a:xfrm>
            <a:off x="409074" y="926432"/>
            <a:ext cx="11309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doubles are only possible if the SUT does not hard-create its collaborators.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SUT must depend on </a:t>
            </a:r>
            <a:r>
              <a:rPr lang="en-US" i="1" dirty="0"/>
              <a:t>abstractions</a:t>
            </a:r>
            <a:r>
              <a:rPr lang="en-US" dirty="0"/>
              <a:t> (interfaces) and receive </a:t>
            </a:r>
            <a:r>
              <a:rPr lang="en-US" i="1" dirty="0"/>
              <a:t>concrete instances </a:t>
            </a:r>
            <a:r>
              <a:rPr lang="en-US" dirty="0"/>
              <a:t>from outside (constructor injection).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0D1C7-48EE-3E77-0982-9808F48A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4" y="3671798"/>
            <a:ext cx="5504099" cy="25605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26AEE8-10A8-615F-5C94-70E340D2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261698"/>
            <a:ext cx="7772400" cy="155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1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EFC1-D12F-E9AE-3E61-E52D0431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BDA08D-B85F-6F6E-4E92-C76CA1652348}"/>
              </a:ext>
            </a:extLst>
          </p:cNvPr>
          <p:cNvSpPr txBox="1"/>
          <p:nvPr/>
        </p:nvSpPr>
        <p:spPr>
          <a:xfrm>
            <a:off x="400362" y="361787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Dummies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0FBDD2-577F-45F1-B457-3996FDDB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68F6F-0186-4156-24E0-A9D3426D7F36}"/>
              </a:ext>
            </a:extLst>
          </p:cNvPr>
          <p:cNvSpPr txBox="1"/>
          <p:nvPr/>
        </p:nvSpPr>
        <p:spPr>
          <a:xfrm>
            <a:off x="400362" y="1239818"/>
            <a:ext cx="97979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Dummy is passed just to satisfy a method or a constructor signature. It exists purely to make the code compile and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It does nothing during the test</a:t>
            </a:r>
            <a:r>
              <a:rPr lang="en-US" dirty="0"/>
              <a:t>, it’s just passed when a reference is required somewhere but it’s irrelevant for the test. It must not influence the test in any way.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used when we want to avoid nulls or complex setup for unused parameters.</a:t>
            </a:r>
          </a:p>
        </p:txBody>
      </p:sp>
    </p:spTree>
    <p:extLst>
      <p:ext uri="{BB962C8B-B14F-4D97-AF65-F5344CB8AC3E}">
        <p14:creationId xmlns:p14="http://schemas.microsoft.com/office/powerpoint/2010/main" val="384985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7225-26E6-30F1-EF96-D9C4FF80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EA4459-2E18-B66D-5BFB-84722980FF21}"/>
              </a:ext>
            </a:extLst>
          </p:cNvPr>
          <p:cNvSpPr txBox="1"/>
          <p:nvPr/>
        </p:nvSpPr>
        <p:spPr>
          <a:xfrm>
            <a:off x="324948" y="319114"/>
            <a:ext cx="2260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Dummies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ABD8D8-5AC9-AF57-547C-95E3E555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E130B-3C1D-F19F-6AD4-6F492DFB5EA2}"/>
              </a:ext>
            </a:extLst>
          </p:cNvPr>
          <p:cNvSpPr txBox="1"/>
          <p:nvPr/>
        </p:nvSpPr>
        <p:spPr>
          <a:xfrm>
            <a:off x="738909" y="1283855"/>
            <a:ext cx="25699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public interface Logger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void info(String message);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void error(String message);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D8E9E9-F9C2-BF47-DD5B-973F5C399B95}"/>
              </a:ext>
            </a:extLst>
          </p:cNvPr>
          <p:cNvGrpSpPr/>
          <p:nvPr/>
        </p:nvGrpSpPr>
        <p:grpSpPr>
          <a:xfrm>
            <a:off x="738909" y="1853241"/>
            <a:ext cx="4955203" cy="2622199"/>
            <a:chOff x="738909" y="1853241"/>
            <a:chExt cx="4955203" cy="262219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D625CD-BB38-961A-4FE5-1DFF90177E5E}"/>
                </a:ext>
              </a:extLst>
            </p:cNvPr>
            <p:cNvSpPr txBox="1"/>
            <p:nvPr/>
          </p:nvSpPr>
          <p:spPr>
            <a:xfrm>
              <a:off x="738909" y="2382559"/>
              <a:ext cx="4955203" cy="2092881"/>
            </a:xfrm>
            <a:prstGeom prst="rect">
              <a:avLst/>
            </a:prstGeom>
            <a:solidFill>
              <a:srgbClr val="FFFF00">
                <a:alpha val="6095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PaymentService {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Logger logger;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PaymentService(Logger logger) {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this.logger = logger;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boolean charge(String userId, double amount) {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We're not testing this part, just need to compile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logger.info("Charging " + userId + " for $" + amount);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amount &lt; 1000; // pretend high amounts fail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3F22F53-9C2A-0070-9137-BAB883B1B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96509" y="2126085"/>
              <a:ext cx="267049" cy="654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A279F9-1144-E484-8B7E-A4C4C95B16B8}"/>
                </a:ext>
              </a:extLst>
            </p:cNvPr>
            <p:cNvSpPr txBox="1"/>
            <p:nvPr/>
          </p:nvSpPr>
          <p:spPr>
            <a:xfrm>
              <a:off x="3970419" y="1853241"/>
              <a:ext cx="1386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System under test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F506BB-462B-F9F5-005B-97778471326B}"/>
              </a:ext>
            </a:extLst>
          </p:cNvPr>
          <p:cNvGrpSpPr/>
          <p:nvPr/>
        </p:nvGrpSpPr>
        <p:grpSpPr>
          <a:xfrm>
            <a:off x="6355688" y="1283855"/>
            <a:ext cx="5619167" cy="3572929"/>
            <a:chOff x="6355688" y="1283855"/>
            <a:chExt cx="5619167" cy="35729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E803A0-8A7A-6AAB-DC39-93F3401556F8}"/>
                </a:ext>
              </a:extLst>
            </p:cNvPr>
            <p:cNvSpPr txBox="1"/>
            <p:nvPr/>
          </p:nvSpPr>
          <p:spPr>
            <a:xfrm>
              <a:off x="6355688" y="1532797"/>
              <a:ext cx="4955203" cy="3323987"/>
            </a:xfrm>
            <a:prstGeom prst="rect">
              <a:avLst/>
            </a:prstGeom>
            <a:solidFill>
              <a:srgbClr val="92D050">
                <a:alpha val="12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import org.junit.jupiter.api.Test;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org.junit.jupiter.api.Assertions.*;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PaymentServiceTest {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// Dummy implementation that does nothing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static class DummyLogger implements Logger {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public void info(String message) { /* do nothing */ }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public void error(String message) { /* do nothing */ }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@Test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void shouldSucceedForSmallPayments() {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Logger dummy = new DummyLogger();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PaymentService service = new PaymentService(dummy);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boolean result = service.charge("alice", 50.0);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assertTrue(result); // we don’t care about logging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2EF1F2-C569-01D2-1163-DBACBC93DEB5}"/>
                </a:ext>
              </a:extLst>
            </p:cNvPr>
            <p:cNvSpPr txBox="1"/>
            <p:nvPr/>
          </p:nvSpPr>
          <p:spPr>
            <a:xfrm>
              <a:off x="11426313" y="1283855"/>
              <a:ext cx="4395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Test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B819F39-ADE3-DC9D-CC1B-F866FC93C8E7}"/>
                </a:ext>
              </a:extLst>
            </p:cNvPr>
            <p:cNvCxnSpPr>
              <a:stCxn id="14" idx="1"/>
            </p:cNvCxnSpPr>
            <p:nvPr/>
          </p:nvCxnSpPr>
          <p:spPr>
            <a:xfrm flipH="1">
              <a:off x="10705876" y="1414660"/>
              <a:ext cx="720437" cy="314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38112C-9EE9-2A16-D1CF-CB073EA934FF}"/>
                </a:ext>
              </a:extLst>
            </p:cNvPr>
            <p:cNvSpPr txBox="1"/>
            <p:nvPr/>
          </p:nvSpPr>
          <p:spPr>
            <a:xfrm>
              <a:off x="11310891" y="3461572"/>
              <a:ext cx="6639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Dummy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C832B49-4141-9290-2B43-632164BF773B}"/>
                </a:ext>
              </a:extLst>
            </p:cNvPr>
            <p:cNvCxnSpPr>
              <a:stCxn id="16" idx="1"/>
            </p:cNvCxnSpPr>
            <p:nvPr/>
          </p:nvCxnSpPr>
          <p:spPr>
            <a:xfrm flipH="1">
              <a:off x="10590454" y="3592377"/>
              <a:ext cx="720437" cy="314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30D44DB-10C7-A0D8-91AA-A47410D8C762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 flipV="1">
              <a:off x="10239440" y="3010487"/>
              <a:ext cx="1071451" cy="5818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90E3FA1-1E29-F390-84F6-479173D89ED8}"/>
              </a:ext>
            </a:extLst>
          </p:cNvPr>
          <p:cNvSpPr txBox="1"/>
          <p:nvPr/>
        </p:nvSpPr>
        <p:spPr>
          <a:xfrm>
            <a:off x="738909" y="5153891"/>
            <a:ext cx="39661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Technically a mock</a:t>
            </a:r>
            <a:br>
              <a:rPr lang="en-US" sz="1000"/>
            </a:br>
            <a:br>
              <a:rPr lang="en-US" sz="1000"/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Logger dummy = mock(Logger.class);</a:t>
            </a:r>
            <a:br>
              <a:rPr lang="en-US" sz="1000"/>
            </a:br>
            <a:br>
              <a:rPr lang="en-US" sz="1000"/>
            </a:br>
            <a:r>
              <a:rPr lang="en-US" sz="1000"/>
              <a:t>can work as well, </a:t>
            </a:r>
            <a:r>
              <a:rPr lang="en-US" sz="1000" b="1">
                <a:solidFill>
                  <a:srgbClr val="FF0000"/>
                </a:solidFill>
              </a:rPr>
              <a:t>but avoid using it if you don’t need to verify calls.</a:t>
            </a:r>
            <a:br>
              <a:rPr lang="en-US" sz="1000" b="1">
                <a:solidFill>
                  <a:srgbClr val="FF0000"/>
                </a:solidFill>
              </a:rPr>
            </a:br>
            <a:r>
              <a:rPr lang="en-US" sz="1000" b="1">
                <a:solidFill>
                  <a:srgbClr val="FF0000"/>
                </a:solidFill>
              </a:rPr>
              <a:t>Let’s keep the noise at minimum.</a:t>
            </a:r>
          </a:p>
        </p:txBody>
      </p:sp>
    </p:spTree>
    <p:extLst>
      <p:ext uri="{BB962C8B-B14F-4D97-AF65-F5344CB8AC3E}">
        <p14:creationId xmlns:p14="http://schemas.microsoft.com/office/powerpoint/2010/main" val="106715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7BBB6-265D-B74C-2DD4-06114B54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5429C4-98C7-4157-95A2-E9CA4B28D75D}"/>
              </a:ext>
            </a:extLst>
          </p:cNvPr>
          <p:cNvSpPr txBox="1"/>
          <p:nvPr/>
        </p:nvSpPr>
        <p:spPr>
          <a:xfrm>
            <a:off x="315521" y="306872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Mocks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86802D-3809-D3DA-F24D-F6FC98AE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2E9DE-88B8-2C6B-3D12-6A57F60674E2}"/>
              </a:ext>
            </a:extLst>
          </p:cNvPr>
          <p:cNvSpPr txBox="1"/>
          <p:nvPr/>
        </p:nvSpPr>
        <p:spPr>
          <a:xfrm>
            <a:off x="645458" y="1179661"/>
            <a:ext cx="964770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Mock simulates a real object’s behavior, so we need it to verify behavior, not just return values.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It records the interactions made with it</a:t>
            </a:r>
            <a:r>
              <a:rPr lang="en-US" dirty="0"/>
              <a:t>, and fails if expected </a:t>
            </a:r>
            <a:r>
              <a:rPr lang="en-US" dirty="0" err="1"/>
              <a:t>interations</a:t>
            </a:r>
            <a:r>
              <a:rPr lang="en-US" dirty="0"/>
              <a:t> don’t occur.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must be supported by your language framework.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used when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 to verify that something was called, and with which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 to enforce expected interactions</a:t>
            </a:r>
          </a:p>
        </p:txBody>
      </p:sp>
    </p:spTree>
    <p:extLst>
      <p:ext uri="{BB962C8B-B14F-4D97-AF65-F5344CB8AC3E}">
        <p14:creationId xmlns:p14="http://schemas.microsoft.com/office/powerpoint/2010/main" val="427518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FDAA-5C4A-CF76-2ECB-62468546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A5F19-2EB2-54B9-8EA7-8514412076B8}"/>
              </a:ext>
            </a:extLst>
          </p:cNvPr>
          <p:cNvSpPr txBox="1"/>
          <p:nvPr/>
        </p:nvSpPr>
        <p:spPr>
          <a:xfrm>
            <a:off x="306094" y="277632"/>
            <a:ext cx="1943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Mocks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F1DEC5-713B-B301-F0C8-F4B3420B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C35CA-8D05-658A-6211-DBCC9E7D0839}"/>
              </a:ext>
            </a:extLst>
          </p:cNvPr>
          <p:cNvSpPr txBox="1"/>
          <p:nvPr/>
        </p:nvSpPr>
        <p:spPr>
          <a:xfrm>
            <a:off x="645459" y="1163782"/>
            <a:ext cx="3010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send(String to, String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FFF9A-2747-DA5B-FA4F-56926BFF308E}"/>
              </a:ext>
            </a:extLst>
          </p:cNvPr>
          <p:cNvSpPr txBox="1"/>
          <p:nvPr/>
        </p:nvSpPr>
        <p:spPr>
          <a:xfrm>
            <a:off x="645459" y="1863635"/>
            <a:ext cx="349326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String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double amount;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this.userId =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this.amount = amount;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08C1E-5579-DAEC-57EA-EF3AC17CB0CE}"/>
              </a:ext>
            </a:extLst>
          </p:cNvPr>
          <p:cNvSpPr txBox="1"/>
          <p:nvPr/>
        </p:nvSpPr>
        <p:spPr>
          <a:xfrm>
            <a:off x="5818908" y="4123249"/>
            <a:ext cx="5570756" cy="1631216"/>
          </a:xfrm>
          <a:prstGeom prst="rect">
            <a:avLst/>
          </a:prstGeom>
          <a:solidFill>
            <a:schemeClr val="bg1">
              <a:lumMod val="85000"/>
              <a:alpha val="26893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// Check that it was called only once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verify(mockEmailSender, times(1)).send(...);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// Check it was never called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verify(mockEmailSender, never()).send(anyString(), anyString());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// Capture arguments (advanced)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ArgumentCaptor&lt;String&gt; captor = ArgumentCaptor.forClass(String.class);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verify(mockEmailSender).send(captor.capture(), anyString());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assertEquals("bob@example.com", captor.getValue());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EEF03-B0C3-F21E-AC50-CD8308D760A5}"/>
              </a:ext>
            </a:extLst>
          </p:cNvPr>
          <p:cNvSpPr txBox="1"/>
          <p:nvPr/>
        </p:nvSpPr>
        <p:spPr>
          <a:xfrm>
            <a:off x="442259" y="5677520"/>
            <a:ext cx="4716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0000"/>
                </a:solidFill>
              </a:rPr>
              <a:t>Use mocks only for dependencies =&gt; do not mock your own logic!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6DA6CB-0EAB-98BC-2649-02D4E8E3E282}"/>
              </a:ext>
            </a:extLst>
          </p:cNvPr>
          <p:cNvGrpSpPr/>
          <p:nvPr/>
        </p:nvGrpSpPr>
        <p:grpSpPr>
          <a:xfrm>
            <a:off x="645459" y="2957144"/>
            <a:ext cx="4389343" cy="2318546"/>
            <a:chOff x="645459" y="2957144"/>
            <a:chExt cx="4389343" cy="2318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7BBC07-92FE-23F2-1B58-405A85405B27}"/>
                </a:ext>
              </a:extLst>
            </p:cNvPr>
            <p:cNvSpPr txBox="1"/>
            <p:nvPr/>
          </p:nvSpPr>
          <p:spPr>
            <a:xfrm>
              <a:off x="645459" y="3521364"/>
              <a:ext cx="4389343" cy="1754326"/>
            </a:xfrm>
            <a:prstGeom prst="rect">
              <a:avLst/>
            </a:prstGeom>
            <a:solidFill>
              <a:srgbClr val="FFFF00">
                <a:alpha val="6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OrderService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EmailSender emailSender;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OrderService(EmailSender emailSender)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this.emailSender = emailSender;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void placeOrder(String userId, double amount)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Imagine this saves the order...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emailSender.send(userId, "Order placed: $" + amount);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1E261EB-AD86-E2D3-0507-872AFA4758A8}"/>
                </a:ext>
              </a:extLst>
            </p:cNvPr>
            <p:cNvCxnSpPr/>
            <p:nvPr/>
          </p:nvCxnSpPr>
          <p:spPr>
            <a:xfrm>
              <a:off x="3962400" y="3229988"/>
              <a:ext cx="332509" cy="5911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023DC1-87B9-4680-7E5D-DA1BDEB58FDD}"/>
                </a:ext>
              </a:extLst>
            </p:cNvPr>
            <p:cNvSpPr txBox="1"/>
            <p:nvPr/>
          </p:nvSpPr>
          <p:spPr>
            <a:xfrm>
              <a:off x="3269261" y="2957144"/>
              <a:ext cx="13862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System under test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1E5E340-A901-DA8B-97DE-38E83A204D48}"/>
              </a:ext>
            </a:extLst>
          </p:cNvPr>
          <p:cNvGrpSpPr/>
          <p:nvPr/>
        </p:nvGrpSpPr>
        <p:grpSpPr>
          <a:xfrm>
            <a:off x="4585662" y="157141"/>
            <a:ext cx="7378462" cy="3364223"/>
            <a:chOff x="4585662" y="157141"/>
            <a:chExt cx="7378462" cy="33642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A19F6A-1A71-3BD7-23C7-9975B31FDE5F}"/>
                </a:ext>
              </a:extLst>
            </p:cNvPr>
            <p:cNvSpPr txBox="1"/>
            <p:nvPr/>
          </p:nvSpPr>
          <p:spPr>
            <a:xfrm>
              <a:off x="5327211" y="505154"/>
              <a:ext cx="6417141" cy="3016210"/>
            </a:xfrm>
            <a:prstGeom prst="rect">
              <a:avLst/>
            </a:prstGeom>
            <a:solidFill>
              <a:srgbClr val="00B050">
                <a:alpha val="5979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import org.junit.jupiter.api.Test;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org.mockito.Mockito.*;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OrderServiceTest {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@Test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void shouldSendConfirmationEmailWhenOrderIsPlaced() {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Arrange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EmailSender mockEmailSender = mock(EmailSender.class); // Create the mock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OrderService service = new OrderService(mockEmailSender);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Act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service.placeOrder("bob@example.com", 99.0);</a:t>
              </a:r>
            </a:p>
            <a:p>
              <a:endParaRPr lang="en-US" sz="1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Assert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    verify(mockEmailSender).send("bob@example.com", "Order placed: $99.0");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10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5CF9AF-93FF-8148-2C98-6053438DE891}"/>
                </a:ext>
              </a:extLst>
            </p:cNvPr>
            <p:cNvSpPr txBox="1"/>
            <p:nvPr/>
          </p:nvSpPr>
          <p:spPr>
            <a:xfrm>
              <a:off x="11524580" y="157141"/>
              <a:ext cx="4395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Test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5504970-ABDE-0372-B6F1-0CB2C74F7232}"/>
                </a:ext>
              </a:extLst>
            </p:cNvPr>
            <p:cNvCxnSpPr>
              <a:stCxn id="16" idx="1"/>
            </p:cNvCxnSpPr>
            <p:nvPr/>
          </p:nvCxnSpPr>
          <p:spPr>
            <a:xfrm flipH="1">
              <a:off x="10804143" y="287946"/>
              <a:ext cx="720437" cy="314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7BDFBA-327A-D548-E04D-D9E42294ED86}"/>
                </a:ext>
              </a:extLst>
            </p:cNvPr>
            <p:cNvSpPr txBox="1"/>
            <p:nvPr/>
          </p:nvSpPr>
          <p:spPr>
            <a:xfrm>
              <a:off x="4585662" y="1582310"/>
              <a:ext cx="5180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Mock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3E953F6-0BE1-09F3-977E-EB71F3F5BB5E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5103753" y="1713115"/>
              <a:ext cx="824264" cy="1308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C86B5E6-75BD-AD95-7146-0D6DD603DF5D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>
              <a:off x="5103753" y="1713115"/>
              <a:ext cx="824264" cy="1382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677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8EC5-F974-5448-E634-0B607D3C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2D94B-F392-84A9-EBF3-7896C9202C70}"/>
              </a:ext>
            </a:extLst>
          </p:cNvPr>
          <p:cNvSpPr txBox="1"/>
          <p:nvPr/>
        </p:nvSpPr>
        <p:spPr>
          <a:xfrm>
            <a:off x="316933" y="27697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Stubs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095096-1DF9-36D4-6707-9128AC87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6A311-C69D-7C7D-203C-4D4ED40911E1}"/>
              </a:ext>
            </a:extLst>
          </p:cNvPr>
          <p:cNvSpPr txBox="1"/>
          <p:nvPr/>
        </p:nvSpPr>
        <p:spPr>
          <a:xfrm>
            <a:off x="645458" y="1179661"/>
            <a:ext cx="1131264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Stub returns predefined values to method calls.</a:t>
            </a:r>
          </a:p>
          <a:p>
            <a:endParaRPr lang="en-US" dirty="0"/>
          </a:p>
          <a:p>
            <a:r>
              <a:rPr lang="en-US" dirty="0"/>
              <a:t>It helps isolate the unit under test from unpredictable dependencies.</a:t>
            </a:r>
          </a:p>
          <a:p>
            <a:endParaRPr lang="en-US" dirty="0"/>
          </a:p>
          <a:p>
            <a:r>
              <a:rPr lang="en-US" dirty="0"/>
              <a:t>It has no logic, just fixed behavior, does not record any usage.</a:t>
            </a:r>
          </a:p>
          <a:p>
            <a:endParaRPr lang="en-US" dirty="0"/>
          </a:p>
          <a:p>
            <a:r>
              <a:rPr lang="en-US" dirty="0"/>
              <a:t>It can be supported by your language framework, but it allows also a manual implementation, or be implemented</a:t>
            </a:r>
            <a:br>
              <a:rPr lang="en-US" dirty="0"/>
            </a:br>
            <a:r>
              <a:rPr lang="en-US" dirty="0"/>
              <a:t>via a mock that just returns a value.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used when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 to simulate fixed response from services (network, DB, ...) =&gt; makes test faster, deterministic</a:t>
            </a:r>
            <a:br>
              <a:rPr lang="en-US" dirty="0"/>
            </a:br>
            <a:r>
              <a:rPr lang="en-US" dirty="0"/>
              <a:t>and repeatable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 to bypass external systems or complex logic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682CA-C792-70BC-3152-4337086E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37" y="588285"/>
            <a:ext cx="4072430" cy="179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6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061A-0E03-8B14-B6DF-2B702F6E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D5C8CD-ECD9-F477-B3EF-8BA93113CFF4}"/>
              </a:ext>
            </a:extLst>
          </p:cNvPr>
          <p:cNvSpPr txBox="1"/>
          <p:nvPr/>
        </p:nvSpPr>
        <p:spPr>
          <a:xfrm>
            <a:off x="353228" y="315767"/>
            <a:ext cx="186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Stubs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3DEF8B-685A-73C5-2BA4-DDACE457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974CD-A946-2C5F-C325-98ED4DEEC45F}"/>
              </a:ext>
            </a:extLst>
          </p:cNvPr>
          <p:cNvSpPr txBox="1"/>
          <p:nvPr/>
        </p:nvSpPr>
        <p:spPr>
          <a:xfrm>
            <a:off x="645459" y="1173018"/>
            <a:ext cx="356219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PaymentGateway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boolean charge(String userId, double amount);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9C4D6-2CB6-70E0-ED25-E1AFC7873C9C}"/>
              </a:ext>
            </a:extLst>
          </p:cNvPr>
          <p:cNvSpPr txBox="1"/>
          <p:nvPr/>
        </p:nvSpPr>
        <p:spPr>
          <a:xfrm>
            <a:off x="645459" y="1882107"/>
            <a:ext cx="3010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send(String to, String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8BBB15-54F6-7EF0-1F23-4CFB8D705757}"/>
              </a:ext>
            </a:extLst>
          </p:cNvPr>
          <p:cNvSpPr txBox="1"/>
          <p:nvPr/>
        </p:nvSpPr>
        <p:spPr>
          <a:xfrm>
            <a:off x="645459" y="5855855"/>
            <a:ext cx="45977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rgbClr val="FF0000"/>
                </a:solidFill>
              </a:rPr>
              <a:t>Don’t misuse stubs, if you need to check if a method has been called,</a:t>
            </a:r>
          </a:p>
          <a:p>
            <a:r>
              <a:rPr lang="en-US" sz="1100" b="1">
                <a:solidFill>
                  <a:srgbClr val="FF0000"/>
                </a:solidFill>
              </a:rPr>
              <a:t>use mocks or spies.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0C84A8E-0BCD-0827-47F1-5942B6830AE6}"/>
              </a:ext>
            </a:extLst>
          </p:cNvPr>
          <p:cNvGrpSpPr/>
          <p:nvPr/>
        </p:nvGrpSpPr>
        <p:grpSpPr>
          <a:xfrm>
            <a:off x="645459" y="2156193"/>
            <a:ext cx="5054479" cy="3224318"/>
            <a:chOff x="645459" y="2156193"/>
            <a:chExt cx="5054479" cy="322431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C4130E-36F1-5AA1-AB1D-A755F9517CA3}"/>
                </a:ext>
              </a:extLst>
            </p:cNvPr>
            <p:cNvSpPr txBox="1"/>
            <p:nvPr/>
          </p:nvSpPr>
          <p:spPr>
            <a:xfrm>
              <a:off x="645459" y="2656688"/>
              <a:ext cx="4940776" cy="2723823"/>
            </a:xfrm>
            <a:prstGeom prst="rect">
              <a:avLst/>
            </a:prstGeom>
            <a:solidFill>
              <a:srgbClr val="FFFF00">
                <a:alpha val="5544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CheckoutService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{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PaymentGateway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paymentGateway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EmailSender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emailSender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endParaRPr lang="en-US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CheckoutService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PaymentGateway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paymentGateway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b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	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EmailSender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emailSender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this.paymentGateway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paymentGateway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this.emailSender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emailSender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boolean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checkout(String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double amount) {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boolean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success =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paymentGateway.charge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amount);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if (success) {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emailSender.send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"Payment received: $" + amount);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}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success;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2319F0F-DBFE-2CD5-C0C0-D7FAE4F29292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flipH="1">
              <a:off x="4461164" y="2433192"/>
              <a:ext cx="545636" cy="5963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BF92FA-EDBA-9173-131F-8B2DA25C5A5C}"/>
                </a:ext>
              </a:extLst>
            </p:cNvPr>
            <p:cNvSpPr txBox="1"/>
            <p:nvPr/>
          </p:nvSpPr>
          <p:spPr>
            <a:xfrm>
              <a:off x="4313661" y="2156193"/>
              <a:ext cx="1386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System under test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48D3EDA-AAA6-AF11-6B0E-251A9DF34B06}"/>
              </a:ext>
            </a:extLst>
          </p:cNvPr>
          <p:cNvGrpSpPr/>
          <p:nvPr/>
        </p:nvGrpSpPr>
        <p:grpSpPr>
          <a:xfrm>
            <a:off x="5107709" y="207763"/>
            <a:ext cx="6921096" cy="6442474"/>
            <a:chOff x="5107709" y="207763"/>
            <a:chExt cx="6921096" cy="644247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64787F-9486-D443-47A8-A519B89888BB}"/>
                </a:ext>
              </a:extLst>
            </p:cNvPr>
            <p:cNvSpPr txBox="1"/>
            <p:nvPr/>
          </p:nvSpPr>
          <p:spPr>
            <a:xfrm>
              <a:off x="5985163" y="207763"/>
              <a:ext cx="6043642" cy="6047809"/>
            </a:xfrm>
            <a:prstGeom prst="rect">
              <a:avLst/>
            </a:prstGeom>
            <a:solidFill>
              <a:srgbClr val="00B050">
                <a:alpha val="7159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org.junit.jupiter.api.Test;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org.mockito.Mockito.*;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org.junit.jupiter.api.Assertions.*;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CheckoutServiceTest {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@Test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void shouldSendEmailIfPaymentSucceeds()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Arrange: Stub payment to succeed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PaymentGateway stubGateway = mock(PaymentGateway.class);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when(stubGateway.charge(anyString(), anyDouble())).thenReturn(true);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EmailSender mockEmailSender = mock(EmailSender.class); // not the test focus!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CheckoutService service = new CheckoutService(stubGateway, mockEmailSender);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Act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boolean result = service.checkout("alice@example.com", 50.0);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Assert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assertTrue(result);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verify(mockEmailSender).send("alice@example.com", "Payment received: $50.0");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@Test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void shouldNotSendEmailIfPaymentFails()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Arrange: Stub payment to fail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PaymentGateway stubGateway = mock(PaymentGateway.class);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when(stubGateway.charge(anyString(), anyDouble())).thenReturn(false);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EmailSender mockEmailSender = mock(EmailSender.class); // not the focus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CheckoutService service = new CheckoutService(stubGateway, mockEmailSender);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Act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boolean result = service.checkout("bob@example.com", 75.0);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Assert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assertFalse(result);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verify(mockEmailSender, never()).send(anyString(), anyString());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C2B1A8-4E42-A1AB-9087-63A7EB321D81}"/>
                </a:ext>
              </a:extLst>
            </p:cNvPr>
            <p:cNvSpPr txBox="1"/>
            <p:nvPr/>
          </p:nvSpPr>
          <p:spPr>
            <a:xfrm>
              <a:off x="11261569" y="6388627"/>
              <a:ext cx="439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Test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ACF2965-727C-C960-80C5-F127EB84B217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H="1" flipV="1">
              <a:off x="11160158" y="5643418"/>
              <a:ext cx="321183" cy="7452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96BB7A-940F-DA20-4908-3C2706F25678}"/>
                </a:ext>
              </a:extLst>
            </p:cNvPr>
            <p:cNvSpPr txBox="1"/>
            <p:nvPr/>
          </p:nvSpPr>
          <p:spPr>
            <a:xfrm>
              <a:off x="5107709" y="1406141"/>
              <a:ext cx="504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Stub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4144BA3-93D3-05F1-F6C1-B192C7B3EB9F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5612527" y="1536946"/>
              <a:ext cx="924069" cy="66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3D873B4-77EE-D8B0-D127-39143593C935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5612527" y="1536946"/>
              <a:ext cx="924069" cy="1386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4D677F5-9AD4-B7BA-6D1A-BE72D454A389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5612527" y="1536946"/>
              <a:ext cx="978363" cy="14925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563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C36FF-EB50-B864-7FCE-51C0D883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081207-08FC-0158-FACE-72C0A302BC2C}"/>
              </a:ext>
            </a:extLst>
          </p:cNvPr>
          <p:cNvSpPr txBox="1"/>
          <p:nvPr/>
        </p:nvSpPr>
        <p:spPr>
          <a:xfrm>
            <a:off x="255768" y="274748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8A440A-0A3E-D029-75DA-ACDE60F2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851F0-3E1F-C29A-5CF1-BCC445CC2BCC}"/>
              </a:ext>
            </a:extLst>
          </p:cNvPr>
          <p:cNvSpPr txBox="1"/>
          <p:nvPr/>
        </p:nvSpPr>
        <p:spPr>
          <a:xfrm>
            <a:off x="645458" y="1910487"/>
            <a:ext cx="953017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Spy wraps around a real object.</a:t>
            </a:r>
          </a:p>
          <a:p>
            <a:endParaRPr lang="en-US" dirty="0"/>
          </a:p>
          <a:p>
            <a:r>
              <a:rPr lang="en-US" dirty="0"/>
              <a:t>It records the interactions made with it: method calls, parameters, number of invocations.</a:t>
            </a:r>
            <a:br>
              <a:rPr lang="en-US" dirty="0"/>
            </a:br>
            <a:r>
              <a:rPr lang="en-US" dirty="0"/>
              <a:t>	=&gt; looks like Mock, but it’s used to verify interactions with a real object</a:t>
            </a:r>
          </a:p>
          <a:p>
            <a:endParaRPr lang="en-US" dirty="0"/>
          </a:p>
          <a:p>
            <a:r>
              <a:rPr lang="en-US" dirty="0"/>
              <a:t>It must be supported by your language framework.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used when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want to observe real behavior AND verify interactions (mocks just check the second 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are working with stateful dependencies, potentially hard to mock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1336B-8149-D716-70F1-C02EB824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99" y="148476"/>
            <a:ext cx="5059188" cy="199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3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AE3E-520F-0169-5DEC-AC2C5E06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0B64F5-303B-34C5-5165-3D47DB1D1117}"/>
              </a:ext>
            </a:extLst>
          </p:cNvPr>
          <p:cNvSpPr txBox="1"/>
          <p:nvPr/>
        </p:nvSpPr>
        <p:spPr>
          <a:xfrm>
            <a:off x="311618" y="303233"/>
            <a:ext cx="18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Spies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9D9DFA-045D-2306-31ED-FF473A0C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A5F68-68A1-05B6-6AF9-A57AE04C30A6}"/>
              </a:ext>
            </a:extLst>
          </p:cNvPr>
          <p:cNvSpPr txBox="1"/>
          <p:nvPr/>
        </p:nvSpPr>
        <p:spPr>
          <a:xfrm>
            <a:off x="645459" y="1219199"/>
            <a:ext cx="3010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EmailSender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send(String to, String message);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4B531B-D4A0-B1EF-4A65-2A26ED361871}"/>
              </a:ext>
            </a:extLst>
          </p:cNvPr>
          <p:cNvGrpSpPr/>
          <p:nvPr/>
        </p:nvGrpSpPr>
        <p:grpSpPr>
          <a:xfrm>
            <a:off x="645459" y="1865530"/>
            <a:ext cx="4930759" cy="2031325"/>
            <a:chOff x="645459" y="1865530"/>
            <a:chExt cx="4930759" cy="20313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A181FC-BCFC-E21D-A422-E2DBC425350A}"/>
                </a:ext>
              </a:extLst>
            </p:cNvPr>
            <p:cNvSpPr txBox="1"/>
            <p:nvPr/>
          </p:nvSpPr>
          <p:spPr>
            <a:xfrm>
              <a:off x="645459" y="1865530"/>
              <a:ext cx="4458272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RealEmailSender implements EmailSender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List&lt;String&gt; sentEmails = new ArrayList&lt;&gt;();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@Override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void send(String to, String message)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sentEmails.add(to + " =&gt; " + message);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Imagine this sends a real email...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List&lt;String&gt; getSentEmails()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new ArrayList&lt;&gt;(sentEmails);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A88A3A1-9CF1-D55F-6221-8633C854531F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H="1" flipV="1">
              <a:off x="4038600" y="2706255"/>
              <a:ext cx="634166" cy="4210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341CCF-F773-9E85-ADEC-EAB2452DFF7B}"/>
                </a:ext>
              </a:extLst>
            </p:cNvPr>
            <p:cNvSpPr txBox="1"/>
            <p:nvPr/>
          </p:nvSpPr>
          <p:spPr>
            <a:xfrm>
              <a:off x="3769313" y="3127291"/>
              <a:ext cx="18069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This is a real implementation,</a:t>
              </a:r>
              <a:br>
                <a:rPr lang="en-US" sz="1000"/>
              </a:br>
              <a:r>
                <a:rPr lang="en-US" sz="1000"/>
                <a:t>not a fake one!!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D0E8CC-EBEA-D593-BFFC-BA315AC1837C}"/>
              </a:ext>
            </a:extLst>
          </p:cNvPr>
          <p:cNvGrpSpPr/>
          <p:nvPr/>
        </p:nvGrpSpPr>
        <p:grpSpPr>
          <a:xfrm>
            <a:off x="645459" y="4011496"/>
            <a:ext cx="7306655" cy="1754326"/>
            <a:chOff x="645459" y="4011496"/>
            <a:chExt cx="7306655" cy="175432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93B885-31DB-5C9D-1A86-078D08EFD7AC}"/>
                </a:ext>
              </a:extLst>
            </p:cNvPr>
            <p:cNvSpPr txBox="1"/>
            <p:nvPr/>
          </p:nvSpPr>
          <p:spPr>
            <a:xfrm>
              <a:off x="645459" y="4011496"/>
              <a:ext cx="5698996" cy="1754326"/>
            </a:xfrm>
            <a:prstGeom prst="rect">
              <a:avLst/>
            </a:prstGeom>
            <a:solidFill>
              <a:srgbClr val="FFFF00">
                <a:alpha val="4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OrderService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EmailSender emailSender;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OrderService(EmailSender emailSender)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this.emailSender = emailSender;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void placeOrder(String userId, double amount)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emailSender.send(userId, "Your order for $" + amount + " is confirmed");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E8BDBC7-4C5A-B234-2EDE-261AFB42096D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>
              <a:off x="5878609" y="4534601"/>
              <a:ext cx="687228" cy="2053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4081C9-3C23-EA19-D0AF-3CA6C773457E}"/>
                </a:ext>
              </a:extLst>
            </p:cNvPr>
            <p:cNvSpPr txBox="1"/>
            <p:nvPr/>
          </p:nvSpPr>
          <p:spPr>
            <a:xfrm>
              <a:off x="6565837" y="4396101"/>
              <a:ext cx="13862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System under test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E1C6C8B-28A8-CACE-AAE8-E48CD11C945C}"/>
              </a:ext>
            </a:extLst>
          </p:cNvPr>
          <p:cNvGrpSpPr/>
          <p:nvPr/>
        </p:nvGrpSpPr>
        <p:grpSpPr>
          <a:xfrm>
            <a:off x="5172364" y="357187"/>
            <a:ext cx="6887745" cy="4644399"/>
            <a:chOff x="5172364" y="357187"/>
            <a:chExt cx="6887745" cy="46443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7B6BBE-DCAA-780A-A681-AC15CF651B68}"/>
                </a:ext>
              </a:extLst>
            </p:cNvPr>
            <p:cNvSpPr txBox="1"/>
            <p:nvPr/>
          </p:nvSpPr>
          <p:spPr>
            <a:xfrm>
              <a:off x="5878609" y="357187"/>
              <a:ext cx="6181500" cy="3693319"/>
            </a:xfrm>
            <a:prstGeom prst="rect">
              <a:avLst/>
            </a:prstGeom>
            <a:solidFill>
              <a:srgbClr val="00B050">
                <a:alpha val="9152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org.junit.jupiter.api.Test;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org.mockito.Mockito.*;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org.junit.jupiter.api.Assertions.*;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OrderServiceTest {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@Test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void shouldSendEmail_usingRealSenderSpy()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Arrange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RealEmailSender realSender = new RealEmailSender();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EmailSender spySender = spy(realSender); // &lt;-- Spy wraps real object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OrderService service = new OrderService(spySender);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Act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service.placeOrder("bob@example.com", 88.0);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Assert: verify the method was called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verify(spySender).send("bob@example.com", "Your order for $88.0 is confirmed");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Assert: check the real method executed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assertEquals(1, realSender.getSentEmails().size());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assertTrue(realSender.getSentEmails().get(0).contains("bob@example.com"));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AE23B5-95AC-0314-B258-E613A0E97C6A}"/>
                </a:ext>
              </a:extLst>
            </p:cNvPr>
            <p:cNvSpPr txBox="1"/>
            <p:nvPr/>
          </p:nvSpPr>
          <p:spPr>
            <a:xfrm>
              <a:off x="10132291" y="2040346"/>
              <a:ext cx="15872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solidFill>
                    <a:srgbClr val="FF0000"/>
                  </a:solidFill>
                </a:rPr>
                <a:t>This is not a mock:</a:t>
              </a:r>
            </a:p>
            <a:p>
              <a:r>
                <a:rPr lang="en-US" sz="900">
                  <a:solidFill>
                    <a:srgbClr val="FF0000"/>
                  </a:solidFill>
                </a:rPr>
                <a:t>we’re sending email for real!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66195A6-B502-4034-C49F-7D22ACFB41FA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9568873" y="2409678"/>
              <a:ext cx="1357065" cy="114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FA9D10A-B3FE-E080-BFB9-3093175A6682}"/>
                </a:ext>
              </a:extLst>
            </p:cNvPr>
            <p:cNvSpPr txBox="1"/>
            <p:nvPr/>
          </p:nvSpPr>
          <p:spPr>
            <a:xfrm>
              <a:off x="11280041" y="4739976"/>
              <a:ext cx="439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Test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28BB093-1A4E-BAE4-7176-019776DE25D9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H="1" flipV="1">
              <a:off x="11058659" y="3810013"/>
              <a:ext cx="441154" cy="9299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DA748F-CDE1-7F32-1871-22E9D41BCDC5}"/>
                </a:ext>
              </a:extLst>
            </p:cNvPr>
            <p:cNvSpPr txBox="1"/>
            <p:nvPr/>
          </p:nvSpPr>
          <p:spPr>
            <a:xfrm>
              <a:off x="5172364" y="1667849"/>
              <a:ext cx="4038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Spy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88C480A-D285-67ED-F32B-79A2668A7BD8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5576218" y="1798654"/>
              <a:ext cx="852291" cy="668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B16A17C-6E76-36E9-A3B6-C1499DDD846B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5576218" y="1798654"/>
              <a:ext cx="949009" cy="11195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886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9D30-6BD7-906A-5A55-E7DEB387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FB3B7-4C1D-F702-CECC-23D6A1902A20}"/>
              </a:ext>
            </a:extLst>
          </p:cNvPr>
          <p:cNvSpPr txBox="1"/>
          <p:nvPr/>
        </p:nvSpPr>
        <p:spPr>
          <a:xfrm>
            <a:off x="306094" y="302498"/>
            <a:ext cx="814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Fakes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1082C0-E2B0-CC08-82EF-CB494BC0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10638-4A13-045B-33C6-4449F610C5F5}"/>
              </a:ext>
            </a:extLst>
          </p:cNvPr>
          <p:cNvSpPr txBox="1"/>
          <p:nvPr/>
        </p:nvSpPr>
        <p:spPr>
          <a:xfrm>
            <a:off x="306094" y="1001038"/>
            <a:ext cx="1089362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Fake is working implementation of a dependency.</a:t>
            </a:r>
          </a:p>
          <a:p>
            <a:endParaRPr lang="en-US" dirty="0"/>
          </a:p>
          <a:p>
            <a:r>
              <a:rPr lang="en-US" dirty="0"/>
              <a:t>As such, it’s a test implementation of an interface, intended to be faster and/or safer and/or easier to control.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used when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to avoid expensive or unsafe real dependencies (databases, real production systems access, </a:t>
            </a:r>
            <a:br>
              <a:rPr lang="en-US" dirty="0"/>
            </a:br>
            <a:r>
              <a:rPr lang="en-US" dirty="0"/>
              <a:t>file systems, network services,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realistic logic, not just hardcoded inputs and/or returns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It cannot be used when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to test a method against exact inputs and/or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to simulate failures or exceptions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 logic is too complex or hard to replicate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CA2C0-401F-3093-1DBD-91A46EC4E547}"/>
              </a:ext>
            </a:extLst>
          </p:cNvPr>
          <p:cNvSpPr txBox="1"/>
          <p:nvPr/>
        </p:nvSpPr>
        <p:spPr>
          <a:xfrm>
            <a:off x="8007927" y="4622237"/>
            <a:ext cx="30903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Don’t fake when you can stub</a:t>
            </a:r>
          </a:p>
          <a:p>
            <a:r>
              <a:rPr lang="en-US">
                <a:solidFill>
                  <a:srgbClr val="FF0000"/>
                </a:solidFill>
              </a:rPr>
              <a:t>or mock easily =&gt;</a:t>
            </a:r>
            <a:br>
              <a:rPr lang="en-US">
                <a:solidFill>
                  <a:srgbClr val="FF0000"/>
                </a:solidFill>
              </a:rPr>
            </a:b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fakes can be overengineering</a:t>
            </a:r>
          </a:p>
        </p:txBody>
      </p:sp>
    </p:spTree>
    <p:extLst>
      <p:ext uri="{BB962C8B-B14F-4D97-AF65-F5344CB8AC3E}">
        <p14:creationId xmlns:p14="http://schemas.microsoft.com/office/powerpoint/2010/main" val="304358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BA58B-D241-45F9-F973-F00A95EC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D96A8A-FA5A-BE47-9495-1F017A2B70C6}"/>
              </a:ext>
            </a:extLst>
          </p:cNvPr>
          <p:cNvSpPr txBox="1"/>
          <p:nvPr/>
        </p:nvSpPr>
        <p:spPr>
          <a:xfrm>
            <a:off x="334374" y="351335"/>
            <a:ext cx="187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Fakes – Example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7B2E5E-459D-6373-65D7-124602D4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3BC86-CEBC-0D29-D891-5E31F4107C85}"/>
              </a:ext>
            </a:extLst>
          </p:cNvPr>
          <p:cNvSpPr txBox="1"/>
          <p:nvPr/>
        </p:nvSpPr>
        <p:spPr>
          <a:xfrm>
            <a:off x="580705" y="1169582"/>
            <a:ext cx="252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interface OrderRepository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void save(Order order);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Order findLast();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6552A-A358-C8C8-B7AE-33659AA4A642}"/>
              </a:ext>
            </a:extLst>
          </p:cNvPr>
          <p:cNvSpPr txBox="1"/>
          <p:nvPr/>
        </p:nvSpPr>
        <p:spPr>
          <a:xfrm>
            <a:off x="580705" y="2136845"/>
            <a:ext cx="349326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Order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String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final double amount;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Order(String userId, double amount)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this.userId = userId;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this.amount = amount;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DB382A-E6BE-F3FF-9684-D91DACB6B053}"/>
              </a:ext>
            </a:extLst>
          </p:cNvPr>
          <p:cNvGrpSpPr/>
          <p:nvPr/>
        </p:nvGrpSpPr>
        <p:grpSpPr>
          <a:xfrm>
            <a:off x="580704" y="3458647"/>
            <a:ext cx="4182555" cy="2368270"/>
            <a:chOff x="580704" y="3458647"/>
            <a:chExt cx="4182555" cy="236827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FFBFB-0EC4-A335-874B-2D40F030DE07}"/>
                </a:ext>
              </a:extLst>
            </p:cNvPr>
            <p:cNvSpPr txBox="1"/>
            <p:nvPr/>
          </p:nvSpPr>
          <p:spPr>
            <a:xfrm>
              <a:off x="580704" y="4072591"/>
              <a:ext cx="4182555" cy="1754326"/>
            </a:xfrm>
            <a:prstGeom prst="rect">
              <a:avLst/>
            </a:prstGeom>
            <a:solidFill>
              <a:srgbClr val="FFFF00">
                <a:alpha val="9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OrderService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OrderRepository repository;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OrderService(OrderRepository repository)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this.repository = repository;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void placeOrder(String userId, double amount)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Order order = new Order(userId, amount);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repository.save(order);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276C973-2331-6AE3-ACB5-B6A61DB85477}"/>
                </a:ext>
              </a:extLst>
            </p:cNvPr>
            <p:cNvCxnSpPr/>
            <p:nvPr/>
          </p:nvCxnSpPr>
          <p:spPr>
            <a:xfrm>
              <a:off x="3953164" y="3731491"/>
              <a:ext cx="332509" cy="5911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2932D2-1039-066C-7D35-193CD13F81AE}"/>
                </a:ext>
              </a:extLst>
            </p:cNvPr>
            <p:cNvSpPr txBox="1"/>
            <p:nvPr/>
          </p:nvSpPr>
          <p:spPr>
            <a:xfrm>
              <a:off x="3260025" y="3458647"/>
              <a:ext cx="13862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System under test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0DDCA39-A21E-B40E-5046-2D203A9B80FA}"/>
              </a:ext>
            </a:extLst>
          </p:cNvPr>
          <p:cNvGrpSpPr/>
          <p:nvPr/>
        </p:nvGrpSpPr>
        <p:grpSpPr>
          <a:xfrm>
            <a:off x="4904196" y="136525"/>
            <a:ext cx="5473598" cy="3046988"/>
            <a:chOff x="4904196" y="136525"/>
            <a:chExt cx="5473598" cy="304698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EDFAD2-654E-5425-9794-29500DCA487E}"/>
                </a:ext>
              </a:extLst>
            </p:cNvPr>
            <p:cNvSpPr txBox="1"/>
            <p:nvPr/>
          </p:nvSpPr>
          <p:spPr>
            <a:xfrm>
              <a:off x="4904196" y="136525"/>
              <a:ext cx="4509568" cy="3046988"/>
            </a:xfrm>
            <a:prstGeom prst="rect">
              <a:avLst/>
            </a:prstGeom>
            <a:solidFill>
              <a:srgbClr val="00B0F0">
                <a:alpha val="6613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import java.util.ArrayList;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import java.util.List;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FakeOrderRepository implements OrderRepository {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private final List&lt;Order&gt; orders = new ArrayList&lt;&gt;();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@Override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void save(Order order) {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orders.add(order);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@Override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Order findLast() {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orders.isEmpty() ? null : orders.get(orders.size() - 1);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int count() {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orders.size();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public List&lt;Order&gt; getAll() {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new ArrayList&lt;&gt;(orders);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476764-5BDE-8401-00AF-BC25CECD907A}"/>
                </a:ext>
              </a:extLst>
            </p:cNvPr>
            <p:cNvSpPr txBox="1"/>
            <p:nvPr/>
          </p:nvSpPr>
          <p:spPr>
            <a:xfrm>
              <a:off x="9901382" y="526473"/>
              <a:ext cx="4764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Fake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ADC7BD2-6F16-CEDB-D1E9-94F49BA2044F}"/>
                </a:ext>
              </a:extLst>
            </p:cNvPr>
            <p:cNvCxnSpPr>
              <a:stCxn id="15" idx="1"/>
            </p:cNvCxnSpPr>
            <p:nvPr/>
          </p:nvCxnSpPr>
          <p:spPr>
            <a:xfrm flipH="1">
              <a:off x="9180945" y="657278"/>
              <a:ext cx="720437" cy="314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82680AA-99C2-11A4-101B-DF00B7870BC4}"/>
              </a:ext>
            </a:extLst>
          </p:cNvPr>
          <p:cNvGrpSpPr/>
          <p:nvPr/>
        </p:nvGrpSpPr>
        <p:grpSpPr>
          <a:xfrm>
            <a:off x="6169891" y="3197037"/>
            <a:ext cx="5126998" cy="3159313"/>
            <a:chOff x="6169891" y="3197037"/>
            <a:chExt cx="5126998" cy="315931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B1529A-8DBA-7C49-3F58-97A998F0C420}"/>
                </a:ext>
              </a:extLst>
            </p:cNvPr>
            <p:cNvSpPr txBox="1"/>
            <p:nvPr/>
          </p:nvSpPr>
          <p:spPr>
            <a:xfrm>
              <a:off x="6169891" y="3355529"/>
              <a:ext cx="4389343" cy="3000821"/>
            </a:xfrm>
            <a:prstGeom prst="rect">
              <a:avLst/>
            </a:prstGeom>
            <a:solidFill>
              <a:srgbClr val="92D050">
                <a:alpha val="10065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org.junit.jupiter.api.Test;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import static org.junit.jupiter.api.Assertions.*;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OrderServiceTest {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@Test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void savesOrderToFakeRepository() {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Arrange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FakeOrderRepository repo = new FakeOrderRepository();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OrderService service = new OrderService(repo);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Act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service.placeOrder("alice@example.com", 42.0);</a:t>
              </a:r>
            </a:p>
            <a:p>
              <a:endParaRPr lang="en-US" sz="9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// Assert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assertEquals(1, repo.count());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Order saved = repo.findLast();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assertEquals("alice@example.com", saved.userId);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    assertEquals(42.0, saved.amount);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    }</a:t>
              </a:r>
            </a:p>
            <a:p>
              <a:r>
                <a:rPr lang="en-US" sz="9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7D2F62-DBEC-DB48-F4E5-2DFC95BC9556}"/>
                </a:ext>
              </a:extLst>
            </p:cNvPr>
            <p:cNvSpPr txBox="1"/>
            <p:nvPr/>
          </p:nvSpPr>
          <p:spPr>
            <a:xfrm>
              <a:off x="10857345" y="3197037"/>
              <a:ext cx="4395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Test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838DFF5-BE7B-E1D4-BC77-CE6AF8CF893D}"/>
                </a:ext>
              </a:extLst>
            </p:cNvPr>
            <p:cNvCxnSpPr>
              <a:stCxn id="18" idx="1"/>
            </p:cNvCxnSpPr>
            <p:nvPr/>
          </p:nvCxnSpPr>
          <p:spPr>
            <a:xfrm flipH="1">
              <a:off x="10136908" y="3327842"/>
              <a:ext cx="720437" cy="314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992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98DCF-F800-44FB-B69C-95C1212A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CD545-D477-E9F5-B32A-C13E962B1FC9}"/>
              </a:ext>
            </a:extLst>
          </p:cNvPr>
          <p:cNvSpPr txBox="1"/>
          <p:nvPr/>
        </p:nvSpPr>
        <p:spPr>
          <a:xfrm>
            <a:off x="367645" y="433633"/>
            <a:ext cx="3656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When to use each Test Double type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378AA0-DE3C-93D3-B996-36D79BB83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709881"/>
              </p:ext>
            </p:extLst>
          </p:nvPr>
        </p:nvGraphicFramePr>
        <p:xfrm>
          <a:off x="529473" y="1313554"/>
          <a:ext cx="11133054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018">
                  <a:extLst>
                    <a:ext uri="{9D8B030D-6E8A-4147-A177-3AD203B41FA5}">
                      <a16:colId xmlns:a16="http://schemas.microsoft.com/office/drawing/2014/main" val="3855636087"/>
                    </a:ext>
                  </a:extLst>
                </a:gridCol>
                <a:gridCol w="3711018">
                  <a:extLst>
                    <a:ext uri="{9D8B030D-6E8A-4147-A177-3AD203B41FA5}">
                      <a16:colId xmlns:a16="http://schemas.microsoft.com/office/drawing/2014/main" val="3794023334"/>
                    </a:ext>
                  </a:extLst>
                </a:gridCol>
                <a:gridCol w="3711018">
                  <a:extLst>
                    <a:ext uri="{9D8B030D-6E8A-4147-A177-3AD203B41FA5}">
                      <a16:colId xmlns:a16="http://schemas.microsoft.com/office/drawing/2014/main" val="3826499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Recommended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5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Parameter required but not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Simplest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35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Need specific return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Provides necessary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87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Need realistic behavior without full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Working behavior but simplified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21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Verify method was called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Behavior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92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Track calls to real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Partial mocking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383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Testing 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Stub/Mock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Control exception throwing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29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Slow external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Fake/Stub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Avoid performance hit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20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Verify call order matters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Interaction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90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197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9305B-91BA-ACA0-9C44-FED2398F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713F-7377-7CFC-8CD7-A20F6F218CCA}"/>
              </a:ext>
            </a:extLst>
          </p:cNvPr>
          <p:cNvSpPr txBox="1"/>
          <p:nvPr/>
        </p:nvSpPr>
        <p:spPr>
          <a:xfrm>
            <a:off x="518474" y="452487"/>
            <a:ext cx="170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Code Coverage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8A27C-CE9D-64A7-3E63-5508060D05F5}"/>
              </a:ext>
            </a:extLst>
          </p:cNvPr>
          <p:cNvSpPr txBox="1"/>
          <p:nvPr/>
        </p:nvSpPr>
        <p:spPr>
          <a:xfrm>
            <a:off x="518474" y="1359348"/>
            <a:ext cx="971188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coverage is a metric that measures the percentage of source code executed during testing.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gaps: Find code not exercised by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 completeness: Assess test suite comprehensiveness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Guide testing efforts: Focus on untested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progress: Monitor testing improvements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IMPORTANT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High code coverage does NOT guarantee high code quality!!!</a:t>
            </a:r>
          </a:p>
          <a:p>
            <a:r>
              <a:rPr lang="en-US" dirty="0"/>
              <a:t>A high percentage only indicates which code was executed, not whether it was tested correctly.</a:t>
            </a:r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821F0F-FA89-D645-321B-4F892D0DBF93}"/>
              </a:ext>
            </a:extLst>
          </p:cNvPr>
          <p:cNvGrpSpPr/>
          <p:nvPr/>
        </p:nvGrpSpPr>
        <p:grpSpPr>
          <a:xfrm>
            <a:off x="7658110" y="2045617"/>
            <a:ext cx="3836307" cy="2915510"/>
            <a:chOff x="7658110" y="2045617"/>
            <a:chExt cx="3836307" cy="29155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FD24A4-A30A-7026-E91B-69B133623BC9}"/>
                </a:ext>
              </a:extLst>
            </p:cNvPr>
            <p:cNvSpPr txBox="1"/>
            <p:nvPr/>
          </p:nvSpPr>
          <p:spPr>
            <a:xfrm>
              <a:off x="7658110" y="2045617"/>
              <a:ext cx="3836307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public int divide(int a, int b) {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return a / b;</a:t>
              </a:r>
            </a:p>
            <a:p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sz="14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b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@Test public void testDivision() {</a:t>
              </a:r>
              <a:b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  assertEquals(6, divide(12, 2));</a:t>
              </a:r>
              <a:b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C9CC63-2C31-8A1B-025B-80636F09C359}"/>
                </a:ext>
              </a:extLst>
            </p:cNvPr>
            <p:cNvGrpSpPr/>
            <p:nvPr/>
          </p:nvGrpSpPr>
          <p:grpSpPr>
            <a:xfrm>
              <a:off x="7969487" y="3714161"/>
              <a:ext cx="3008901" cy="1246966"/>
              <a:chOff x="7969487" y="3714161"/>
              <a:chExt cx="3008901" cy="124696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4B941026-4C2E-1CF9-501C-4BC4264A64A6}"/>
                  </a:ext>
                </a:extLst>
              </p:cNvPr>
              <p:cNvCxnSpPr/>
              <p:nvPr/>
            </p:nvCxnSpPr>
            <p:spPr>
              <a:xfrm flipV="1">
                <a:off x="9473938" y="3714161"/>
                <a:ext cx="0" cy="7541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81A36-1820-B4CF-6822-5EF66BF4C2CC}"/>
                  </a:ext>
                </a:extLst>
              </p:cNvPr>
              <p:cNvSpPr txBox="1"/>
              <p:nvPr/>
            </p:nvSpPr>
            <p:spPr>
              <a:xfrm>
                <a:off x="7969487" y="4499462"/>
                <a:ext cx="30089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/>
                  <a:t>100% code coverage... not properly tested!</a:t>
                </a:r>
                <a:br>
                  <a:rPr lang="en-US" sz="1200"/>
                </a:br>
                <a:r>
                  <a:rPr lang="en-US" sz="1200"/>
                  <a:t>(division by zero missing)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3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023A-CE0A-DE92-87FD-992D63E8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F05537-1C62-3650-4FDB-947C7CD7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DCB65-F8F7-78C2-BA3F-F43F85C3702A}"/>
              </a:ext>
            </a:extLst>
          </p:cNvPr>
          <p:cNvSpPr txBox="1"/>
          <p:nvPr/>
        </p:nvSpPr>
        <p:spPr>
          <a:xfrm>
            <a:off x="518474" y="452487"/>
            <a:ext cx="2446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Code Coverage -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1D0136-D2C4-FC7E-7E92-02E2270BBAA3}"/>
              </a:ext>
            </a:extLst>
          </p:cNvPr>
          <p:cNvSpPr txBox="1"/>
          <p:nvPr/>
        </p:nvSpPr>
        <p:spPr>
          <a:xfrm>
            <a:off x="518474" y="1289953"/>
            <a:ext cx="998343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/>
              <a:t>Line Coverage</a:t>
            </a:r>
            <a:br>
              <a:rPr lang="en-US" sz="1600"/>
            </a:br>
            <a:r>
              <a:rPr lang="en-US" sz="1600"/>
              <a:t>Percentage of executable statements executed during testing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Branch Coverage</a:t>
            </a:r>
            <a:br>
              <a:rPr lang="en-US" sz="1600"/>
            </a:br>
            <a:r>
              <a:rPr lang="en-US" sz="1600"/>
              <a:t>Measures whether each decision point (if/else, switch) has been executed for both true and false conditions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Function Coverage</a:t>
            </a:r>
            <a:br>
              <a:rPr lang="en-US" sz="1600"/>
            </a:br>
            <a:r>
              <a:rPr lang="en-US" sz="1600"/>
              <a:t>Measures the percentage of functions/methods called at least once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Condition Coverage</a:t>
            </a:r>
            <a:br>
              <a:rPr lang="en-US" sz="1600"/>
            </a:br>
            <a:r>
              <a:rPr lang="en-US" sz="1600"/>
              <a:t>Ensures each Boolean sub-expression is evaluated to both true and false</a:t>
            </a:r>
            <a:br>
              <a:rPr lang="en-US" sz="1600"/>
            </a:b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Path Coverage</a:t>
            </a:r>
            <a:br>
              <a:rPr lang="en-US" sz="1600"/>
            </a:br>
            <a:r>
              <a:rPr lang="en-US" sz="1600"/>
              <a:t>Measures whether all possible execution paths through the code are tested</a:t>
            </a:r>
          </a:p>
          <a:p>
            <a:pPr marL="342900" indent="-342900">
              <a:buAutoNum type="arabicPeriod"/>
            </a:pPr>
            <a:endParaRPr lang="en-US" sz="1600"/>
          </a:p>
          <a:p>
            <a:pPr marL="342900" indent="-342900">
              <a:buAutoNum type="arabicPeriod"/>
            </a:pPr>
            <a:r>
              <a:rPr lang="en-US" sz="1600"/>
              <a:t>Loop Coverage</a:t>
            </a:r>
            <a:br>
              <a:rPr lang="en-US" sz="1600"/>
            </a:br>
            <a:r>
              <a:rPr lang="en-US" sz="1600"/>
              <a:t>Measures whether all possible execution paths through the code are tested</a:t>
            </a:r>
          </a:p>
        </p:txBody>
      </p:sp>
    </p:spTree>
    <p:extLst>
      <p:ext uri="{BB962C8B-B14F-4D97-AF65-F5344CB8AC3E}">
        <p14:creationId xmlns:p14="http://schemas.microsoft.com/office/powerpoint/2010/main" val="224222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A409-9175-B011-93E3-5A5504C8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DC9F2-115F-8620-54D9-0762C83B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02C7E-3196-6FE0-8A81-9252988F682E}"/>
              </a:ext>
            </a:extLst>
          </p:cNvPr>
          <p:cNvSpPr txBox="1"/>
          <p:nvPr/>
        </p:nvSpPr>
        <p:spPr>
          <a:xfrm>
            <a:off x="3814317" y="3105834"/>
            <a:ext cx="4563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Unit Testing - Example</a:t>
            </a:r>
          </a:p>
        </p:txBody>
      </p:sp>
    </p:spTree>
    <p:extLst>
      <p:ext uri="{BB962C8B-B14F-4D97-AF65-F5344CB8AC3E}">
        <p14:creationId xmlns:p14="http://schemas.microsoft.com/office/powerpoint/2010/main" val="2809101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DA47D-0A6C-EAEF-5CA4-1DC1341F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Unit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B856A-16D2-7A0E-67C2-2D56E1092560}"/>
              </a:ext>
            </a:extLst>
          </p:cNvPr>
          <p:cNvSpPr txBox="1"/>
          <p:nvPr/>
        </p:nvSpPr>
        <p:spPr>
          <a:xfrm>
            <a:off x="414779" y="433633"/>
            <a:ext cx="1048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Wrap-up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994E0-691E-E14C-8895-E73C7740577E}"/>
              </a:ext>
            </a:extLst>
          </p:cNvPr>
          <p:cNvSpPr txBox="1"/>
          <p:nvPr/>
        </p:nvSpPr>
        <p:spPr>
          <a:xfrm>
            <a:off x="650449" y="1121790"/>
            <a:ext cx="1106347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Test should be F.I.R.S.T.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Follow the A.A.A.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Test edge cases and boundaries =&gt; do not test only happy paths!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Do not cover 100% if not needed =&gt; 80% is often sufficient =&gt; write tests to find bugs, not to hit percentages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Coverage as a guide, not a goal =&gt; Focus on critical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Bridge Design Pattern =&gt; it helps you use the Test Doubles via Dependency Injection (= design pattern</a:t>
            </a:r>
            <a:br>
              <a:rPr lang="en-US"/>
            </a:br>
            <a:r>
              <a:rPr lang="en-US"/>
              <a:t>where dependencies are provided to a class from the outside rather than created internally).</a:t>
            </a:r>
          </a:p>
        </p:txBody>
      </p:sp>
    </p:spTree>
    <p:extLst>
      <p:ext uri="{BB962C8B-B14F-4D97-AF65-F5344CB8AC3E}">
        <p14:creationId xmlns:p14="http://schemas.microsoft.com/office/powerpoint/2010/main" val="240992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3597</Words>
  <Application>Microsoft Macintosh PowerPoint</Application>
  <PresentationFormat>Widescreen</PresentationFormat>
  <Paragraphs>588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31</cp:revision>
  <dcterms:created xsi:type="dcterms:W3CDTF">2025-02-19T20:37:30Z</dcterms:created>
  <dcterms:modified xsi:type="dcterms:W3CDTF">2026-10-26T09:12:03Z</dcterms:modified>
</cp:coreProperties>
</file>