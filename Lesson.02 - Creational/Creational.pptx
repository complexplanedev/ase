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87" r:id="rId2"/>
    <p:sldId id="256" r:id="rId3"/>
    <p:sldId id="257" r:id="rId4"/>
    <p:sldId id="258" r:id="rId5"/>
    <p:sldId id="259" r:id="rId6"/>
    <p:sldId id="262" r:id="rId7"/>
    <p:sldId id="302" r:id="rId8"/>
    <p:sldId id="288" r:id="rId9"/>
    <p:sldId id="265" r:id="rId10"/>
    <p:sldId id="278" r:id="rId11"/>
    <p:sldId id="277" r:id="rId12"/>
    <p:sldId id="279" r:id="rId13"/>
    <p:sldId id="280" r:id="rId14"/>
    <p:sldId id="297" r:id="rId15"/>
    <p:sldId id="266" r:id="rId16"/>
    <p:sldId id="303" r:id="rId17"/>
    <p:sldId id="289" r:id="rId18"/>
    <p:sldId id="267" r:id="rId19"/>
    <p:sldId id="281" r:id="rId20"/>
    <p:sldId id="290" r:id="rId21"/>
    <p:sldId id="298" r:id="rId22"/>
    <p:sldId id="269" r:id="rId23"/>
    <p:sldId id="304" r:id="rId24"/>
    <p:sldId id="291" r:id="rId25"/>
    <p:sldId id="270" r:id="rId26"/>
    <p:sldId id="282" r:id="rId27"/>
    <p:sldId id="283" r:id="rId28"/>
    <p:sldId id="284" r:id="rId29"/>
    <p:sldId id="292" r:id="rId30"/>
    <p:sldId id="293" r:id="rId31"/>
    <p:sldId id="299" r:id="rId32"/>
    <p:sldId id="271" r:id="rId33"/>
    <p:sldId id="305" r:id="rId34"/>
    <p:sldId id="294" r:id="rId35"/>
    <p:sldId id="272" r:id="rId36"/>
    <p:sldId id="285" r:id="rId37"/>
    <p:sldId id="286" r:id="rId38"/>
    <p:sldId id="295" r:id="rId39"/>
    <p:sldId id="273" r:id="rId40"/>
    <p:sldId id="300" r:id="rId41"/>
    <p:sldId id="274" r:id="rId42"/>
    <p:sldId id="306" r:id="rId43"/>
    <p:sldId id="301" r:id="rId44"/>
    <p:sldId id="275" r:id="rId45"/>
    <p:sldId id="296" r:id="rId46"/>
    <p:sldId id="276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3E8C50-9F58-5237-7C41-C721E3BAA428}" name="Di Monaco, Antonio" initials="AD" userId="S::antonio.di.monaco@sap.com::719b72b0-0350-4d19-9a7f-748728a101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07"/>
    <p:restoredTop sz="86265"/>
  </p:normalViewPr>
  <p:slideViewPr>
    <p:cSldViewPr snapToGrid="0">
      <p:cViewPr varScale="1">
        <p:scale>
          <a:sx n="87" d="100"/>
          <a:sy n="87" d="100"/>
        </p:scale>
        <p:origin x="2680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8" d="100"/>
          <a:sy n="108" d="100"/>
        </p:scale>
        <p:origin x="5368" y="200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5BD452-70C7-7D43-DE79-395EC2D5AA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7222D-C06B-5CD4-B200-730FB65A8E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42657-6240-B14B-9F48-F865CB79AC7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16D15-E1AC-47B8-BF91-C30978D1B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759E4-6272-9520-00E8-FE3F63A8D3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DFA7A-FF33-C64E-B529-8BCC138EF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134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B121A-761B-2742-9D61-65348EACD74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659E5-EFBC-DB40-B048-B7FD703F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645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46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2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C++ or Java used as languages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dirty="0"/>
              <a:t>Interface assumed as a required concept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Assume no bad references/pointers, no weird coding</a:t>
            </a:r>
            <a:br>
              <a:rPr lang="en-US" dirty="0"/>
            </a:br>
            <a:br>
              <a:rPr lang="en-US" dirty="0"/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1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Polymorphic creation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194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Suitable for builders like String, SQL ...</a:t>
            </a:r>
          </a:p>
        </p:txBody>
      </p:sp>
    </p:spTree>
    <p:extLst>
      <p:ext uri="{BB962C8B-B14F-4D97-AF65-F5344CB8AC3E}">
        <p14:creationId xmlns:p14="http://schemas.microsoft.com/office/powerpoint/2010/main" val="4193056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B9F1-4B7E-9487-E847-49C6F8BAF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A08A29-BC00-FEAC-CDFA-EACBCB151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F8B90-6589-CCCF-D78B-5F08080B3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Suitable for builders like String, SQL ...</a:t>
            </a:r>
          </a:p>
        </p:txBody>
      </p:sp>
    </p:spTree>
    <p:extLst>
      <p:ext uri="{BB962C8B-B14F-4D97-AF65-F5344CB8AC3E}">
        <p14:creationId xmlns:p14="http://schemas.microsoft.com/office/powerpoint/2010/main" val="1756429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49FC0-9604-3E3B-FA58-5EEB5CF0A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141F69-4A7C-CDA3-D574-55D603A34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5E5AD-BBCA-3F50-8BDF-DD4FF8A7A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Suitable for builders like String, SQL ...</a:t>
            </a:r>
          </a:p>
        </p:txBody>
      </p:sp>
    </p:spTree>
    <p:extLst>
      <p:ext uri="{BB962C8B-B14F-4D97-AF65-F5344CB8AC3E}">
        <p14:creationId xmlns:p14="http://schemas.microsoft.com/office/powerpoint/2010/main" val="3817059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379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C6D0-5512-F16D-A0CB-B72D25DE2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12CC4-D335-C33A-9B0A-689A95B7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D5E48-8338-AC1F-6E5F-D8999FEB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702BE-E690-F94E-AE17-37142A0682D7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F1100-D604-5C2D-7C49-74A286EA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938D9-1B5A-E778-95C0-AF4682C3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5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A693-A74F-F8E3-AD6A-0332BA4B8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7BD10-0BF7-1F3F-59C4-F701A7550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C3507-7FCB-4052-7D4E-E0E661B8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BB941-F883-D643-B714-DE00A77AA359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CF9F4-E7EF-D596-F08B-70C65EFF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1335D-13AC-DE52-4FB3-F21D0F4A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25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6974-425E-2DAD-9A21-BA079617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01BC8-2575-E2E6-B061-F7EE5B50C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7BA54-9635-D484-B680-4616CD98E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CDB20-594A-0746-8B90-EC951343DE4E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CA804-2107-34D8-E78B-2A7FFFB9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8FD9B-7CDC-60DE-0DC1-06904DCB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9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372E-B1A4-D336-D790-D89C1E79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17E8D-C5B1-602E-EAC6-EB6FA3EE1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B62D6-18E8-14F8-E378-8E10073C8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366E2-2C5F-9236-3F60-A87A6B34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0D68-84B8-2841-9FD4-99DFDC440CFF}" type="datetime1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63519-F2FC-412C-3914-030E96B37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F7ABC-C7BA-0E16-8652-D4FB52E8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2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9EAA-6C94-CE7A-96FB-FF6B2F18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42EFD-CF2B-1D2E-7819-E2EBC8E19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380BC-743C-1D56-4519-FAAC1140E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74647-A3CD-CD27-25B6-C1CB38035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D464C-F134-5223-06A8-93C17D00F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3B48B-CF79-443F-E609-240A9AD9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CD94-05FC-5343-A7D1-7156DF73C819}" type="datetime1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2D30F-6B06-D928-93A9-7BFCC033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A9A56-6E9F-7FCB-C081-AB1C0B13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1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FFED-3B7D-D363-F6D8-89AB1CD5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69165-4CDC-A611-C121-3CA7DEA9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479F4-9699-2442-BAC5-1E06C5255CB4}" type="datetime1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37B45-F436-35A0-1A11-3847788A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E249D-E148-E80F-8FD8-12216ADD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2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329C19-6C7E-FBCF-C0D3-BC2825CF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B647-E212-0349-B091-DC410EF0C76B}" type="datetime1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8B7D5-B148-1242-4C00-81D88102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565B3-A8E1-6528-1396-C3E42F71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5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6B0A-0FFE-C59A-0FDB-B712E2B3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6137-AB91-B024-3858-0625F2A85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72223-1D56-3876-37AB-AB827894A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5145A-5ACE-4F2E-8C10-D81F5A60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4480-F5E4-EB42-B4C9-C9D67CB46289}" type="datetime1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1CE9C-37C5-A4EB-2D87-B45D168B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DA687-831D-6087-7C77-C236A471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1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5D35-BDA7-8A9B-5FE8-19ED22B1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E14BC-B1A6-7914-CA5E-3491D509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9EAF5-4292-2E66-1BA9-931773EEC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D9A49-D6E3-429F-B82D-DD18B58F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7E44-981C-C24A-B1BD-7E4C97C0B924}" type="datetime1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0FD04-DB58-C9EB-75F0-97413C2C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13049-D1B6-FDF7-C4FA-F1C43AC6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2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E8EE-477E-ECFB-0E65-CD52E05B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9C616-6082-E08E-4642-B87DE66B8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289D1-5083-F77D-B918-E888FE2BD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0B8D-D0F7-CC48-8CE3-71461331DAE6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9B412-8604-155E-9048-BCEAA5F8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B81FC-B75F-EB66-0310-834FD5ED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3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4BFC86-9762-DFC3-7CD6-D3F9D73D9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56E57-9E5C-69B9-F8AE-49A68E29D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ED425-82B9-9E5C-85DE-50375387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12718-BE18-5D4B-8E65-DF29CF4278F4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33BA-4ED4-16BD-862C-CA2CC2E3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00BD-6373-F5B3-CF96-94569E93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0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6CD59-EDAF-CA69-6ACB-CAD4CEB9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53310-4114-A479-F299-36FC9ECFE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6501-C88C-FFD9-4D05-DAEFB3B81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D50FA-16A1-2D4E-A754-4E9D24B12730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1AE9D-4006-22D3-9F53-03EFBB7E4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ASE - Design Patterns - Creational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99D29-9B98-65F3-7AC9-22F3C883F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9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efactoring.guru/design-pattern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Advanced Software Engineering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4312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Creational Design Patterns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6CC111-4FC3-7E6E-DA79-351238E3FC6C}"/>
              </a:ext>
            </a:extLst>
          </p:cNvPr>
          <p:cNvSpPr txBox="1"/>
          <p:nvPr/>
        </p:nvSpPr>
        <p:spPr>
          <a:xfrm>
            <a:off x="535709" y="1287983"/>
            <a:ext cx="2574038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Introduction</a:t>
            </a: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Creational</a:t>
            </a:r>
            <a:br>
              <a:rPr lang="en-US" dirty="0"/>
            </a:b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Abstract Factory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Factory Method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Builder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Prototype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Singleton</a:t>
            </a:r>
          </a:p>
          <a:p>
            <a:pPr marL="742950" lvl="1" indent="-285750">
              <a:buFontTx/>
              <a:buChar char="-"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DAC65D-2BF1-A1DC-E10D-231A3F2A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B88B0-1855-2B75-F573-938C6C9A3F46}"/>
              </a:ext>
            </a:extLst>
          </p:cNvPr>
          <p:cNvSpPr txBox="1"/>
          <p:nvPr/>
        </p:nvSpPr>
        <p:spPr>
          <a:xfrm>
            <a:off x="535709" y="304800"/>
            <a:ext cx="821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B531B0-DD98-5500-2123-8887EB47391C}"/>
              </a:ext>
            </a:extLst>
          </p:cNvPr>
          <p:cNvSpPr txBox="1"/>
          <p:nvPr/>
        </p:nvSpPr>
        <p:spPr>
          <a:xfrm>
            <a:off x="454101" y="5595153"/>
            <a:ext cx="5278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</a:t>
            </a:r>
            <a:r>
              <a:rPr lang="en-US" dirty="0">
                <a:hlinkClick r:id="rId3"/>
              </a:rPr>
              <a:t>https://refactoring.guru/design-patterns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013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ABE08-F28D-2D3A-156D-C99E8FFE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4F905D-0E9C-4089-A85D-26A55DDD5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999543-A737-C939-60DB-B8D452E283F3}"/>
              </a:ext>
            </a:extLst>
          </p:cNvPr>
          <p:cNvSpPr txBox="1"/>
          <p:nvPr/>
        </p:nvSpPr>
        <p:spPr>
          <a:xfrm>
            <a:off x="535709" y="212436"/>
            <a:ext cx="1704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Introduction - 1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7CA906-8C43-1A92-C2CE-3B60A67449A8}"/>
              </a:ext>
            </a:extLst>
          </p:cNvPr>
          <p:cNvSpPr txBox="1"/>
          <p:nvPr/>
        </p:nvSpPr>
        <p:spPr>
          <a:xfrm>
            <a:off x="535709" y="1200727"/>
            <a:ext cx="822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 pattern describes a problem that occurs over and over in a specific environment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780EC-CA5A-8A58-1487-CF3790FCEADC}"/>
              </a:ext>
            </a:extLst>
          </p:cNvPr>
          <p:cNvSpPr txBox="1"/>
          <p:nvPr/>
        </p:nvSpPr>
        <p:spPr>
          <a:xfrm>
            <a:off x="535709" y="1960559"/>
            <a:ext cx="1081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definition that we can apply almost everywhere … so in software development, so, a pattern is a reusable solution to a problem in specific context.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79CD5-BFA5-870C-923A-B868C91037A4}"/>
              </a:ext>
            </a:extLst>
          </p:cNvPr>
          <p:cNvSpPr txBox="1"/>
          <p:nvPr/>
        </p:nvSpPr>
        <p:spPr>
          <a:xfrm>
            <a:off x="535709" y="2997390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pattern has: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BCCE74-8B1D-1C3B-7DE9-B03459A8FE14}"/>
              </a:ext>
            </a:extLst>
          </p:cNvPr>
          <p:cNvSpPr txBox="1"/>
          <p:nvPr/>
        </p:nvSpPr>
        <p:spPr>
          <a:xfrm>
            <a:off x="535709" y="3602846"/>
            <a:ext cx="107878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a name: </a:t>
            </a:r>
            <a:r>
              <a:rPr lang="en-US" dirty="0"/>
              <a:t>it describes our design problem, the solution and the consequences, and it’s a kind of reference</a:t>
            </a:r>
            <a:br>
              <a:rPr lang="en-US" dirty="0"/>
            </a:br>
            <a:r>
              <a:rPr lang="en-US" dirty="0"/>
              <a:t>in the software development literature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20F696-1FEA-4487-4AEA-8884BFBD7A1A}"/>
              </a:ext>
            </a:extLst>
          </p:cNvPr>
          <p:cNvSpPr txBox="1"/>
          <p:nvPr/>
        </p:nvSpPr>
        <p:spPr>
          <a:xfrm>
            <a:off x="535709" y="4481620"/>
            <a:ext cx="10395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 problem: </a:t>
            </a:r>
            <a:r>
              <a:rPr lang="en-US" dirty="0"/>
              <a:t>when to apply a pattern, description of the context and the conditions that makes it suitable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61FA03-8ECE-7990-7ECE-375205787085}"/>
              </a:ext>
            </a:extLst>
          </p:cNvPr>
          <p:cNvSpPr txBox="1"/>
          <p:nvPr/>
        </p:nvSpPr>
        <p:spPr>
          <a:xfrm>
            <a:off x="535709" y="5083394"/>
            <a:ext cx="11427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 solution: </a:t>
            </a:r>
            <a:r>
              <a:rPr lang="en-US" dirty="0"/>
              <a:t>how it works and how it fixes the problem, not in terms of a concrete design, but how you fix something</a:t>
            </a:r>
            <a:br>
              <a:rPr lang="en-US" dirty="0"/>
            </a:br>
            <a:r>
              <a:rPr lang="en-US" dirty="0"/>
              <a:t>“in theory”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792058-D099-430A-CCFC-B7E10AB0A55A}"/>
              </a:ext>
            </a:extLst>
          </p:cNvPr>
          <p:cNvSpPr txBox="1"/>
          <p:nvPr/>
        </p:nvSpPr>
        <p:spPr>
          <a:xfrm>
            <a:off x="535709" y="5962167"/>
            <a:ext cx="5774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a consequence:</a:t>
            </a:r>
            <a:r>
              <a:rPr lang="en-US" dirty="0"/>
              <a:t> which are the results and the trade-offs</a:t>
            </a:r>
          </a:p>
        </p:txBody>
      </p:sp>
    </p:spTree>
    <p:extLst>
      <p:ext uri="{BB962C8B-B14F-4D97-AF65-F5344CB8AC3E}">
        <p14:creationId xmlns:p14="http://schemas.microsoft.com/office/powerpoint/2010/main" val="214984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F5EBF-79F7-D649-D663-93DE8EEE2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DEE922-0F05-EE95-6F30-D33488C06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4B073-2B1B-7166-25A3-6B85C6A6477A}"/>
              </a:ext>
            </a:extLst>
          </p:cNvPr>
          <p:cNvSpPr txBox="1"/>
          <p:nvPr/>
        </p:nvSpPr>
        <p:spPr>
          <a:xfrm>
            <a:off x="535709" y="194055"/>
            <a:ext cx="1704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Introduction - 2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3E2B53-FBA1-C5F5-FB21-F420479DC3DF}"/>
              </a:ext>
            </a:extLst>
          </p:cNvPr>
          <p:cNvSpPr txBox="1"/>
          <p:nvPr/>
        </p:nvSpPr>
        <p:spPr>
          <a:xfrm>
            <a:off x="535709" y="1209963"/>
            <a:ext cx="230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What’s not a pattern?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C5D5A-4077-E49C-8303-62E333E72A39}"/>
              </a:ext>
            </a:extLst>
          </p:cNvPr>
          <p:cNvSpPr txBox="1"/>
          <p:nvPr/>
        </p:nvSpPr>
        <p:spPr>
          <a:xfrm>
            <a:off x="535709" y="1653645"/>
            <a:ext cx="10818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Specific implementations, for example, linked lists or n-</a:t>
            </a:r>
            <a:r>
              <a:rPr lang="en-US" dirty="0" err="1"/>
              <a:t>ary</a:t>
            </a:r>
            <a:r>
              <a:rPr lang="en-US" dirty="0"/>
              <a:t> trees.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 course you have implementations in specific languages, but that’s the “realization” of a pattern: what we are going to learn here is the idea behind it.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CD9BB5-CC05-3032-101C-5B67AB2DD2C6}"/>
              </a:ext>
            </a:extLst>
          </p:cNvPr>
          <p:cNvSpPr txBox="1"/>
          <p:nvPr/>
        </p:nvSpPr>
        <p:spPr>
          <a:xfrm>
            <a:off x="535709" y="3560743"/>
            <a:ext cx="2305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Classification criteria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A401D-78A7-1027-1F36-2D4C982CB900}"/>
              </a:ext>
            </a:extLst>
          </p:cNvPr>
          <p:cNvSpPr txBox="1"/>
          <p:nvPr/>
        </p:nvSpPr>
        <p:spPr>
          <a:xfrm>
            <a:off x="874386" y="4153351"/>
            <a:ext cx="3378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Which problem does it address?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9FCCF3-93D5-7FB7-726F-ED66B2F0FFAC}"/>
              </a:ext>
            </a:extLst>
          </p:cNvPr>
          <p:cNvSpPr txBox="1"/>
          <p:nvPr/>
        </p:nvSpPr>
        <p:spPr>
          <a:xfrm>
            <a:off x="874386" y="4790690"/>
            <a:ext cx="2360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is it applicable?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8C5C3-149D-8286-A1EE-619D4447F4CD}"/>
              </a:ext>
            </a:extLst>
          </p:cNvPr>
          <p:cNvSpPr txBox="1"/>
          <p:nvPr/>
        </p:nvSpPr>
        <p:spPr>
          <a:xfrm>
            <a:off x="874386" y="5428029"/>
            <a:ext cx="5854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does it perform in comparison with similar patterns?</a:t>
            </a:r>
          </a:p>
        </p:txBody>
      </p:sp>
    </p:spTree>
    <p:extLst>
      <p:ext uri="{BB962C8B-B14F-4D97-AF65-F5344CB8AC3E}">
        <p14:creationId xmlns:p14="http://schemas.microsoft.com/office/powerpoint/2010/main" val="2435921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9" grpId="0"/>
      <p:bldP spid="4" grpId="0"/>
      <p:bldP spid="8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AE587-00E9-FCA5-A083-A95281834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DEFB8-DE65-8044-9F1C-F345B02F1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411B2B-D4B1-A9DE-9CB8-314D8FFEB594}"/>
              </a:ext>
            </a:extLst>
          </p:cNvPr>
          <p:cNvSpPr txBox="1"/>
          <p:nvPr/>
        </p:nvSpPr>
        <p:spPr>
          <a:xfrm>
            <a:off x="535709" y="194055"/>
            <a:ext cx="2108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Creational Patterns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F9F0B7-803D-2E4E-71B6-137D8D9F1F43}"/>
              </a:ext>
            </a:extLst>
          </p:cNvPr>
          <p:cNvSpPr txBox="1"/>
          <p:nvPr/>
        </p:nvSpPr>
        <p:spPr>
          <a:xfrm>
            <a:off x="535709" y="1209963"/>
            <a:ext cx="1490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they do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F06E2-EB88-03B2-847A-EF2029CEE08C}"/>
              </a:ext>
            </a:extLst>
          </p:cNvPr>
          <p:cNvSpPr txBox="1"/>
          <p:nvPr/>
        </p:nvSpPr>
        <p:spPr>
          <a:xfrm>
            <a:off x="535709" y="1653645"/>
            <a:ext cx="108180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</a:t>
            </a:r>
            <a:r>
              <a:rPr lang="en-US" b="1" dirty="0">
                <a:solidFill>
                  <a:srgbClr val="FF0000"/>
                </a:solidFill>
              </a:rPr>
              <a:t>abstract the creation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define </a:t>
            </a:r>
            <a:r>
              <a:rPr lang="en-US" b="1" dirty="0">
                <a:solidFill>
                  <a:srgbClr val="FF0000"/>
                </a:solidFill>
              </a:rPr>
              <a:t>what</a:t>
            </a:r>
            <a:r>
              <a:rPr lang="en-US" dirty="0"/>
              <a:t> gets created, </a:t>
            </a:r>
            <a:r>
              <a:rPr lang="en-US" b="1" dirty="0">
                <a:solidFill>
                  <a:srgbClr val="FF0000"/>
                </a:solidFill>
              </a:rPr>
              <a:t>who</a:t>
            </a:r>
            <a:r>
              <a:rPr lang="en-US" dirty="0"/>
              <a:t> creates it, </a:t>
            </a:r>
            <a:r>
              <a:rPr lang="en-US" b="1" dirty="0">
                <a:solidFill>
                  <a:srgbClr val="FF0000"/>
                </a:solidFill>
              </a:rPr>
              <a:t>how</a:t>
            </a:r>
            <a:r>
              <a:rPr lang="en-US" dirty="0"/>
              <a:t> it gets created, and </a:t>
            </a:r>
            <a:r>
              <a:rPr lang="en-US" b="1" dirty="0">
                <a:solidFill>
                  <a:srgbClr val="FF0000"/>
                </a:solidFill>
              </a:rPr>
              <a:t>when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Encapsulate knowledge</a:t>
            </a:r>
            <a:r>
              <a:rPr lang="en-US" b="1" dirty="0"/>
              <a:t> </a:t>
            </a:r>
            <a:r>
              <a:rPr lang="en-US" dirty="0"/>
              <a:t>about which concrete classes the system 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 </a:t>
            </a:r>
            <a:r>
              <a:rPr lang="en-US" b="1">
                <a:solidFill>
                  <a:srgbClr val="FF0000"/>
                </a:solidFill>
              </a:rPr>
              <a:t>Hide implementation details </a:t>
            </a:r>
            <a:r>
              <a:rPr lang="en-US"/>
              <a:t>of how instances are created and combined</a:t>
            </a:r>
          </a:p>
        </p:txBody>
      </p:sp>
    </p:spTree>
    <p:extLst>
      <p:ext uri="{BB962C8B-B14F-4D97-AF65-F5344CB8AC3E}">
        <p14:creationId xmlns:p14="http://schemas.microsoft.com/office/powerpoint/2010/main" val="307440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94228-AB15-23DA-7A7D-41314B771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373F98-16C8-53FA-D734-9E68D5B3B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1C9FF-4A0E-D300-9300-3CC6FA3543EE}"/>
              </a:ext>
            </a:extLst>
          </p:cNvPr>
          <p:cNvSpPr txBox="1"/>
          <p:nvPr/>
        </p:nvSpPr>
        <p:spPr>
          <a:xfrm>
            <a:off x="535709" y="194055"/>
            <a:ext cx="283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Abstract Factory - Problem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8C610C-DE18-56CB-8D29-DA06BB805508}"/>
              </a:ext>
            </a:extLst>
          </p:cNvPr>
          <p:cNvSpPr txBox="1"/>
          <p:nvPr/>
        </p:nvSpPr>
        <p:spPr>
          <a:xfrm>
            <a:off x="535709" y="752168"/>
            <a:ext cx="111007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Many applications must create </a:t>
            </a:r>
            <a:r>
              <a:rPr lang="en-US" b="1" dirty="0"/>
              <a:t>more than one kind of object</a:t>
            </a:r>
            <a:r>
              <a:rPr lang="en-US" dirty="0"/>
              <a:t>, and those objects are not independent: they form a </a:t>
            </a:r>
            <a:r>
              <a:rPr lang="en-US" b="1" dirty="0"/>
              <a:t>family</a:t>
            </a:r>
            <a:r>
              <a:rPr lang="en-US" dirty="0"/>
              <a:t> in which members are designed to work together.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GUI application creates buttons, text fields, dialogs - all belonging to the same platform toolkit (Windows widgets must be mixed with Windows dialogs, never with macOS ones).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data layer creates connections, statements, result sets - all belonging to the same database vendor.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rendering engine creates 2D or 3D shapes of several kinds.</a:t>
            </a:r>
          </a:p>
          <a:p>
            <a:endParaRPr lang="en-US" dirty="0"/>
          </a:p>
          <a:p>
            <a:r>
              <a:rPr lang="en-US" dirty="0"/>
              <a:t>If the client code contains </a:t>
            </a:r>
            <a:r>
              <a:rPr lang="en-US" i="1" dirty="0"/>
              <a:t>new </a:t>
            </a:r>
            <a:r>
              <a:rPr lang="en-US" i="1" dirty="0" err="1"/>
              <a:t>WindowsButton</a:t>
            </a:r>
            <a:r>
              <a:rPr lang="en-US" i="1" dirty="0"/>
              <a:t>()</a:t>
            </a:r>
            <a:r>
              <a:rPr lang="en-US" dirty="0"/>
              <a:t>, </a:t>
            </a:r>
            <a:r>
              <a:rPr lang="en-US" i="1" dirty="0"/>
              <a:t>new </a:t>
            </a:r>
            <a:r>
              <a:rPr lang="en-US" i="1" dirty="0" err="1"/>
              <a:t>MacOsDialog</a:t>
            </a:r>
            <a:r>
              <a:rPr lang="en-US" i="1" dirty="0"/>
              <a:t>()</a:t>
            </a:r>
            <a:r>
              <a:rPr lang="en-US" dirty="0"/>
              <a:t> and so on, three problems appear at once: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Coupling</a:t>
            </a:r>
            <a:r>
              <a:rPr lang="en-US" dirty="0"/>
              <a:t> — the client is hard-wired to concrete classes, changing the platform means touching every creation 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Combinatorial explosion</a:t>
            </a:r>
            <a:r>
              <a:rPr lang="en-US" dirty="0"/>
              <a:t> — with </a:t>
            </a:r>
            <a:r>
              <a:rPr lang="en-US" i="1" dirty="0"/>
              <a:t>n</a:t>
            </a:r>
            <a:r>
              <a:rPr lang="en-US" dirty="0"/>
              <a:t> product roles and </a:t>
            </a:r>
            <a:r>
              <a:rPr lang="en-US" i="1" dirty="0"/>
              <a:t>m</a:t>
            </a:r>
            <a:r>
              <a:rPr lang="en-US" dirty="0"/>
              <a:t> families, naive code can assemble inconsistent combinations (a Windows button inside a macOS dialog). There are </a:t>
            </a:r>
            <a:r>
              <a:rPr lang="en-US" i="1" dirty="0"/>
              <a:t>mⁿ</a:t>
            </a:r>
            <a:r>
              <a:rPr lang="en-US" dirty="0"/>
              <a:t> possible mixes but only </a:t>
            </a:r>
            <a:r>
              <a:rPr lang="en-US" i="1" dirty="0"/>
              <a:t>m</a:t>
            </a:r>
            <a:r>
              <a:rPr lang="en-US" dirty="0"/>
              <a:t> valid 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Scattering of knowledge</a:t>
            </a:r>
            <a:r>
              <a:rPr lang="en-US" dirty="0"/>
              <a:t> — the rule "which concrete classes go together" is repeated in every place where objects are created, instead of living in one single place.</a:t>
            </a:r>
          </a:p>
          <a:p>
            <a:endParaRPr lang="en-US" dirty="0"/>
          </a:p>
          <a:p>
            <a:r>
              <a:rPr lang="en-US" dirty="0"/>
              <a:t>The client should be able to say "give me a coherent family of products" without knowing or naming any concrete class, and without being able to build an inconsistent mix.</a:t>
            </a:r>
          </a:p>
        </p:txBody>
      </p:sp>
    </p:spTree>
    <p:extLst>
      <p:ext uri="{BB962C8B-B14F-4D97-AF65-F5344CB8AC3E}">
        <p14:creationId xmlns:p14="http://schemas.microsoft.com/office/powerpoint/2010/main" val="418060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0CC0F-2AD8-4FDF-E956-CF60BB23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416DEC-42B2-ED6B-5E67-34E7E1E2E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80C59-E903-9610-8DA6-74ED7B96F988}"/>
              </a:ext>
            </a:extLst>
          </p:cNvPr>
          <p:cNvSpPr txBox="1"/>
          <p:nvPr/>
        </p:nvSpPr>
        <p:spPr>
          <a:xfrm>
            <a:off x="535709" y="194055"/>
            <a:ext cx="2620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Abstract Factory - Usage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8F0F0-9F49-CE63-C2B9-B2F37EDF0160}"/>
              </a:ext>
            </a:extLst>
          </p:cNvPr>
          <p:cNvSpPr txBox="1"/>
          <p:nvPr/>
        </p:nvSpPr>
        <p:spPr>
          <a:xfrm>
            <a:off x="535709" y="746860"/>
            <a:ext cx="1081809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When to use it: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your system must work with </a:t>
            </a:r>
            <a:r>
              <a:rPr lang="en-US" sz="1600" b="1" dirty="0"/>
              <a:t>families</a:t>
            </a:r>
            <a:r>
              <a:rPr lang="en-US" sz="1600" dirty="0"/>
              <a:t> of related objects (2+ product roles that must be used together)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want to keep the concrete classes out of the client code (platform/infrastructure independence)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set of families is expected to grow, and you want growth to be additive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mixing products from different families would be *illegal* or at least undesirable.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When not to use it: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there is only </a:t>
            </a:r>
            <a:r>
              <a:rPr lang="en-US" sz="1600" b="1" dirty="0"/>
              <a:t>one</a:t>
            </a:r>
            <a:r>
              <a:rPr lang="en-US" sz="1600" dirty="0"/>
              <a:t> product role → Factory Method (or even a simple factory) is enough; Abstract Factory would be over-engineering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products of different families are freely mixable (no consistency constraint) → independent factories or plain interfaces suffice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family has many product roles and you only ever use a few → consider whether a lighter abstraction captures the real need.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5648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09236-E30C-405F-377F-761E77A7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D7CF3A-4D37-E47B-0E06-67EB53504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F7B5CB-B532-4612-F5E7-14E15BAFDA01}"/>
              </a:ext>
            </a:extLst>
          </p:cNvPr>
          <p:cNvSpPr txBox="1"/>
          <p:nvPr/>
        </p:nvSpPr>
        <p:spPr>
          <a:xfrm>
            <a:off x="535709" y="194055"/>
            <a:ext cx="346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Abstract Factory – Class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F943A0-0507-FF85-0AA2-BA0D5BCD3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066" y="841587"/>
            <a:ext cx="1188066" cy="7664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32C7F1-DE1B-A47B-C6A3-4EE092845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09" y="1961850"/>
            <a:ext cx="1188066" cy="737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9F6865-33A9-7907-A548-CD0184643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7568" y="1961850"/>
            <a:ext cx="1226392" cy="766495"/>
          </a:xfrm>
          <a:prstGeom prst="rect">
            <a:avLst/>
          </a:prstGeom>
        </p:spPr>
      </p:pic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E1972503-7F44-8181-4AC7-982BD1023175}"/>
              </a:ext>
            </a:extLst>
          </p:cNvPr>
          <p:cNvCxnSpPr>
            <a:cxnSpLocks/>
            <a:stCxn id="10" idx="0"/>
            <a:endCxn id="9" idx="2"/>
          </p:cNvCxnSpPr>
          <p:nvPr/>
        </p:nvCxnSpPr>
        <p:spPr>
          <a:xfrm rot="5400000" flipH="1" flipV="1">
            <a:off x="1467536" y="1270288"/>
            <a:ext cx="353769" cy="102935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6BD37BB0-A826-AAE7-19C3-B41B5F054862}"/>
              </a:ext>
            </a:extLst>
          </p:cNvPr>
          <p:cNvCxnSpPr>
            <a:cxnSpLocks/>
            <a:stCxn id="12" idx="0"/>
            <a:endCxn id="9" idx="2"/>
          </p:cNvCxnSpPr>
          <p:nvPr/>
        </p:nvCxnSpPr>
        <p:spPr>
          <a:xfrm rot="16200000" flipV="1">
            <a:off x="2483048" y="1284133"/>
            <a:ext cx="353769" cy="100166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16890A50-11D7-BE1A-F500-4B1E51FBE7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8687" y="3541013"/>
            <a:ext cx="1184445" cy="7624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C948C4E-3C8F-2F0B-47DE-EE00CD88BE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858" y="4655816"/>
            <a:ext cx="1226392" cy="7712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D23C3AE-A5DB-314E-04DF-FF62B735D4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6446" y="4661401"/>
            <a:ext cx="1234106" cy="766495"/>
          </a:xfrm>
          <a:prstGeom prst="rect">
            <a:avLst/>
          </a:prstGeom>
        </p:spPr>
      </p:pic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96ABB098-F91A-B47F-4F88-F5D551C1E58B}"/>
              </a:ext>
            </a:extLst>
          </p:cNvPr>
          <p:cNvCxnSpPr>
            <a:cxnSpLocks/>
            <a:stCxn id="18" idx="0"/>
            <a:endCxn id="17" idx="2"/>
          </p:cNvCxnSpPr>
          <p:nvPr/>
        </p:nvCxnSpPr>
        <p:spPr>
          <a:xfrm rot="5400000" flipH="1" flipV="1">
            <a:off x="1509309" y="4004215"/>
            <a:ext cx="352347" cy="95085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E6F1B2CF-54E8-5C7D-4FAF-D57ED47E255A}"/>
              </a:ext>
            </a:extLst>
          </p:cNvPr>
          <p:cNvCxnSpPr>
            <a:cxnSpLocks/>
            <a:stCxn id="20" idx="0"/>
            <a:endCxn id="17" idx="2"/>
          </p:cNvCxnSpPr>
          <p:nvPr/>
        </p:nvCxnSpPr>
        <p:spPr>
          <a:xfrm rot="16200000" flipV="1">
            <a:off x="2428239" y="4036140"/>
            <a:ext cx="357932" cy="89258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18151CBD-452E-9AA8-7FD7-1D06A7F7FC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3476" y="2639682"/>
            <a:ext cx="2080956" cy="107218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0E6B087-2B3B-FBAD-5146-751D4437A0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6441" y="4245567"/>
            <a:ext cx="2298700" cy="12065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E7AD361-26AE-D163-07A0-08D4577264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88384" y="4243174"/>
            <a:ext cx="2298700" cy="1187450"/>
          </a:xfrm>
          <a:prstGeom prst="rect">
            <a:avLst/>
          </a:prstGeom>
        </p:spPr>
      </p:pic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22CE1834-2A12-D084-FC9C-1B3A43E11E42}"/>
              </a:ext>
            </a:extLst>
          </p:cNvPr>
          <p:cNvCxnSpPr>
            <a:stCxn id="40" idx="0"/>
            <a:endCxn id="25" idx="2"/>
          </p:cNvCxnSpPr>
          <p:nvPr/>
        </p:nvCxnSpPr>
        <p:spPr>
          <a:xfrm rot="5400000" flipH="1" flipV="1">
            <a:off x="7743021" y="3384635"/>
            <a:ext cx="533703" cy="11881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FEC9CF55-510D-1524-43D3-801FAC5C168E}"/>
              </a:ext>
            </a:extLst>
          </p:cNvPr>
          <p:cNvCxnSpPr>
            <a:stCxn id="41" idx="0"/>
            <a:endCxn id="25" idx="2"/>
          </p:cNvCxnSpPr>
          <p:nvPr/>
        </p:nvCxnSpPr>
        <p:spPr>
          <a:xfrm rot="16200000" flipV="1">
            <a:off x="9055189" y="3260629"/>
            <a:ext cx="531310" cy="143378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22D51EB5-B7FE-C476-F975-479F6F35DFC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1250" y="702982"/>
            <a:ext cx="2298700" cy="98255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89A371C-5B5B-94A4-50C1-F6A40EE925C7}"/>
              </a:ext>
            </a:extLst>
          </p:cNvPr>
          <p:cNvSpPr txBox="1"/>
          <p:nvPr/>
        </p:nvSpPr>
        <p:spPr>
          <a:xfrm>
            <a:off x="2516756" y="1608926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implements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27B68A-D3DB-E558-7CDB-38FB7166E693}"/>
              </a:ext>
            </a:extLst>
          </p:cNvPr>
          <p:cNvSpPr txBox="1"/>
          <p:nvPr/>
        </p:nvSpPr>
        <p:spPr>
          <a:xfrm>
            <a:off x="2393299" y="4303467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implements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712540-38B5-8E53-EAA3-5B150A6DCC44}"/>
              </a:ext>
            </a:extLst>
          </p:cNvPr>
          <p:cNvSpPr txBox="1"/>
          <p:nvPr/>
        </p:nvSpPr>
        <p:spPr>
          <a:xfrm>
            <a:off x="9354703" y="3783091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implements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1963F61-BEC5-5724-5002-B13E782CC7AC}"/>
              </a:ext>
            </a:extLst>
          </p:cNvPr>
          <p:cNvCxnSpPr>
            <a:stCxn id="46" idx="2"/>
            <a:endCxn id="25" idx="0"/>
          </p:cNvCxnSpPr>
          <p:nvPr/>
        </p:nvCxnSpPr>
        <p:spPr>
          <a:xfrm flipH="1">
            <a:off x="8603954" y="1685540"/>
            <a:ext cx="6646" cy="95414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4731A71-486F-D2AD-CCF1-075DA4EB28EE}"/>
              </a:ext>
            </a:extLst>
          </p:cNvPr>
          <p:cNvSpPr txBox="1"/>
          <p:nvPr/>
        </p:nvSpPr>
        <p:spPr>
          <a:xfrm>
            <a:off x="8604868" y="2011128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uses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CC16B17-139A-5D8E-020D-0DDD7B2F0170}"/>
              </a:ext>
            </a:extLst>
          </p:cNvPr>
          <p:cNvSpPr/>
          <p:nvPr/>
        </p:nvSpPr>
        <p:spPr>
          <a:xfrm>
            <a:off x="213902" y="702982"/>
            <a:ext cx="4274971" cy="526832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en-US" sz="1200" dirty="0">
                <a:solidFill>
                  <a:schemeClr val="tx1"/>
                </a:solidFill>
              </a:rPr>
              <a:t>products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FEE0C84-8BCF-8D2C-565E-631E38347E2A}"/>
              </a:ext>
            </a:extLst>
          </p:cNvPr>
          <p:cNvSpPr/>
          <p:nvPr/>
        </p:nvSpPr>
        <p:spPr>
          <a:xfrm>
            <a:off x="6096000" y="2479964"/>
            <a:ext cx="5257800" cy="336665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en-US" sz="1200" dirty="0">
                <a:solidFill>
                  <a:schemeClr val="tx1"/>
                </a:solidFill>
              </a:rPr>
              <a:t>creators</a:t>
            </a:r>
          </a:p>
        </p:txBody>
      </p:sp>
    </p:spTree>
    <p:extLst>
      <p:ext uri="{BB962C8B-B14F-4D97-AF65-F5344CB8AC3E}">
        <p14:creationId xmlns:p14="http://schemas.microsoft.com/office/powerpoint/2010/main" val="2646140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C6D20-9F96-FC3A-6335-696E9589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FFB890-DEEE-9DF7-4213-EFC0DE143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9A231E-BD11-1760-5858-15BA7E9DF150}"/>
              </a:ext>
            </a:extLst>
          </p:cNvPr>
          <p:cNvSpPr txBox="1"/>
          <p:nvPr/>
        </p:nvSpPr>
        <p:spPr>
          <a:xfrm>
            <a:off x="535709" y="194055"/>
            <a:ext cx="40145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UI Widgets – Abstract Factory – Products (1)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1945C-6684-10B5-C37D-D254ED0D0902}"/>
              </a:ext>
            </a:extLst>
          </p:cNvPr>
          <p:cNvSpPr txBox="1"/>
          <p:nvPr/>
        </p:nvSpPr>
        <p:spPr>
          <a:xfrm>
            <a:off x="4177846" y="903241"/>
            <a:ext cx="38363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Button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render();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(Runnable action);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8B6F0B-DAE7-5E38-855C-FB8CE59EE348}"/>
              </a:ext>
            </a:extLst>
          </p:cNvPr>
          <p:cNvSpPr txBox="1"/>
          <p:nvPr/>
        </p:nvSpPr>
        <p:spPr>
          <a:xfrm>
            <a:off x="535709" y="3182088"/>
            <a:ext cx="446147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WindowsButton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Button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render()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(Runnable action)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2714E9-4AC5-C11F-9EBC-68603685EB9C}"/>
              </a:ext>
            </a:extLst>
          </p:cNvPr>
          <p:cNvSpPr txBox="1"/>
          <p:nvPr/>
        </p:nvSpPr>
        <p:spPr>
          <a:xfrm>
            <a:off x="6565809" y="3182088"/>
            <a:ext cx="408958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MacButton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Button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render()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(Runnable action)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FD0D2968-8229-1CFE-941B-6F006FA071A0}"/>
              </a:ext>
            </a:extLst>
          </p:cNvPr>
          <p:cNvCxnSpPr>
            <a:stCxn id="10" idx="0"/>
            <a:endCxn id="5" idx="2"/>
          </p:cNvCxnSpPr>
          <p:nvPr/>
        </p:nvCxnSpPr>
        <p:spPr>
          <a:xfrm rot="5400000" flipH="1" flipV="1">
            <a:off x="3768854" y="854942"/>
            <a:ext cx="1324740" cy="33295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7B45E79A-066B-74CE-F95E-E846B37A6F99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rot="16200000" flipV="1">
            <a:off x="6690930" y="1262418"/>
            <a:ext cx="1324740" cy="25146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3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26A2E-4E28-A30B-BCF3-FA0C17D64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B50D61-7C81-37CD-0547-3230C350D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BA9B93-0AD0-98AF-88AD-E4ECFE9322A8}"/>
              </a:ext>
            </a:extLst>
          </p:cNvPr>
          <p:cNvSpPr txBox="1"/>
          <p:nvPr/>
        </p:nvSpPr>
        <p:spPr>
          <a:xfrm>
            <a:off x="535709" y="194055"/>
            <a:ext cx="4014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UI Widgets – Abstract Factory – Products (2)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106822-102B-5451-6208-741D58511FCF}"/>
              </a:ext>
            </a:extLst>
          </p:cNvPr>
          <p:cNvSpPr txBox="1"/>
          <p:nvPr/>
        </p:nvSpPr>
        <p:spPr>
          <a:xfrm>
            <a:off x="4549949" y="627005"/>
            <a:ext cx="308449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Checkbox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render();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isChecked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toggle();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DCDC04-6217-4BBB-E606-0AF78D234FAA}"/>
              </a:ext>
            </a:extLst>
          </p:cNvPr>
          <p:cNvSpPr txBox="1"/>
          <p:nvPr/>
        </p:nvSpPr>
        <p:spPr>
          <a:xfrm>
            <a:off x="535709" y="2395543"/>
            <a:ext cx="4833374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WindowsCheckbox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Checkbox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checked = false;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render()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isChecked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checked;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toggle()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checked = !checked;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F3FFB1-F76F-EDB7-C121-819D3ABE88E0}"/>
              </a:ext>
            </a:extLst>
          </p:cNvPr>
          <p:cNvSpPr txBox="1"/>
          <p:nvPr/>
        </p:nvSpPr>
        <p:spPr>
          <a:xfrm>
            <a:off x="6822919" y="2368293"/>
            <a:ext cx="446147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MacCheckbox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Checkbox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State state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State.NotChecked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render()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isChecked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state ==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State.Checked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toggle()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state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getNextState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(state);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1B66F204-C569-C201-6F79-8D34D4CF38A2}"/>
              </a:ext>
            </a:extLst>
          </p:cNvPr>
          <p:cNvCxnSpPr>
            <a:stCxn id="12" idx="0"/>
            <a:endCxn id="8" idx="2"/>
          </p:cNvCxnSpPr>
          <p:nvPr/>
        </p:nvCxnSpPr>
        <p:spPr>
          <a:xfrm rot="5400000" flipH="1" flipV="1">
            <a:off x="4222804" y="526149"/>
            <a:ext cx="598987" cy="3139803"/>
          </a:xfrm>
          <a:prstGeom prst="bentConnector3">
            <a:avLst>
              <a:gd name="adj1" fmla="val 352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BF654B93-06FA-5176-5C17-E4CE60A49FBB}"/>
              </a:ext>
            </a:extLst>
          </p:cNvPr>
          <p:cNvCxnSpPr>
            <a:cxnSpLocks/>
          </p:cNvCxnSpPr>
          <p:nvPr/>
        </p:nvCxnSpPr>
        <p:spPr>
          <a:xfrm rot="16200000" flipV="1">
            <a:off x="7287061" y="612086"/>
            <a:ext cx="571737" cy="2961459"/>
          </a:xfrm>
          <a:prstGeom prst="bentConnector3">
            <a:avLst>
              <a:gd name="adj1" fmla="val 3452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4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D0AD7-ADE0-AE6F-A414-4A383F4DC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0A9033-FDEB-BC82-0193-EFD351A56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80198-26CB-255D-474D-5ACC7B88608B}"/>
              </a:ext>
            </a:extLst>
          </p:cNvPr>
          <p:cNvSpPr txBox="1"/>
          <p:nvPr/>
        </p:nvSpPr>
        <p:spPr>
          <a:xfrm>
            <a:off x="535709" y="194055"/>
            <a:ext cx="35862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UI Widgets – Abstract Factory - Factory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194F56-CBB5-3E57-796E-F28891F96937}"/>
              </a:ext>
            </a:extLst>
          </p:cNvPr>
          <p:cNvSpPr txBox="1"/>
          <p:nvPr/>
        </p:nvSpPr>
        <p:spPr>
          <a:xfrm>
            <a:off x="3700738" y="883229"/>
            <a:ext cx="34067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GUIFactory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Button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createButton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Checkbox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createCheckbox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76D39D-27B1-33D4-E662-0E9D3D7279C6}"/>
              </a:ext>
            </a:extLst>
          </p:cNvPr>
          <p:cNvSpPr txBox="1"/>
          <p:nvPr/>
        </p:nvSpPr>
        <p:spPr>
          <a:xfrm>
            <a:off x="535709" y="2942681"/>
            <a:ext cx="492634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WindowsFactory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GUIFactory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Button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createButton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WindowsButton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Checkbox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createCheckbox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WindowsCheckbox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D9A6FF-42F5-3C95-CA0C-35D59349E9AD}"/>
              </a:ext>
            </a:extLst>
          </p:cNvPr>
          <p:cNvSpPr txBox="1"/>
          <p:nvPr/>
        </p:nvSpPr>
        <p:spPr>
          <a:xfrm>
            <a:off x="6608618" y="2942681"/>
            <a:ext cx="455445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MacFactory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GUIFactory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Button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createButton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MacButton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Checkbox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createCheckbox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MacCheckbox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7138F36-0D5B-A0CA-EEEA-7931C62F46BB}"/>
              </a:ext>
            </a:extLst>
          </p:cNvPr>
          <p:cNvCxnSpPr>
            <a:stCxn id="4" idx="0"/>
            <a:endCxn id="2" idx="2"/>
          </p:cNvCxnSpPr>
          <p:nvPr/>
        </p:nvCxnSpPr>
        <p:spPr>
          <a:xfrm rot="5400000" flipH="1" flipV="1">
            <a:off x="3648814" y="1187407"/>
            <a:ext cx="1105345" cy="240520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3E2C733C-9FA2-6A90-48C2-029846139350}"/>
              </a:ext>
            </a:extLst>
          </p:cNvPr>
          <p:cNvCxnSpPr>
            <a:stCxn id="9" idx="0"/>
            <a:endCxn id="2" idx="2"/>
          </p:cNvCxnSpPr>
          <p:nvPr/>
        </p:nvCxnSpPr>
        <p:spPr>
          <a:xfrm rot="16200000" flipV="1">
            <a:off x="6592295" y="649131"/>
            <a:ext cx="1105345" cy="348175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24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49472-0A7C-3045-75D0-CA9F4A771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69E2E5-AD80-4ED8-ED76-651A43DCC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062FCE-A478-125E-EAC7-021E210FC764}"/>
              </a:ext>
            </a:extLst>
          </p:cNvPr>
          <p:cNvSpPr txBox="1"/>
          <p:nvPr/>
        </p:nvSpPr>
        <p:spPr>
          <a:xfrm>
            <a:off x="535709" y="194055"/>
            <a:ext cx="3929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UI Widgets – Abstract Factory - Application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51194-E6EC-D1BB-1E84-4F46EEE75F32}"/>
              </a:ext>
            </a:extLst>
          </p:cNvPr>
          <p:cNvSpPr txBox="1"/>
          <p:nvPr/>
        </p:nvSpPr>
        <p:spPr>
          <a:xfrm>
            <a:off x="535709" y="820882"/>
            <a:ext cx="474040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Application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Button button;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Checkbox checkbox;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Application(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GUIFactory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factory)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this.button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factory.createButton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this.checkbox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factory.createCheckbox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renderUI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button.render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checkbox.render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simulateInteraction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button.onClick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(() -&gt; {});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checkbox.toggle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checkbox.render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90E12A-9ACE-A672-83F8-322677268A0F}"/>
              </a:ext>
            </a:extLst>
          </p:cNvPr>
          <p:cNvSpPr txBox="1"/>
          <p:nvPr/>
        </p:nvSpPr>
        <p:spPr>
          <a:xfrm>
            <a:off x="5241473" y="2661039"/>
            <a:ext cx="6506909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osName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System.getProperty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os.name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toLowerCase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GUIFactory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factory;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osName.contains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("mac"))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factory =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MacFactory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else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factory =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WindowsFactory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Application app = new Application(factory);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app.renderUI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app.simulateInteraction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8460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2A409-9175-B011-93E3-5A5504C84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DC9F2-115F-8620-54D9-0762C83BF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402C7E-3196-6FE0-8A81-9252988F682E}"/>
              </a:ext>
            </a:extLst>
          </p:cNvPr>
          <p:cNvSpPr txBox="1"/>
          <p:nvPr/>
        </p:nvSpPr>
        <p:spPr>
          <a:xfrm>
            <a:off x="2314355" y="3105834"/>
            <a:ext cx="75632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Abstract Factory – Database example</a:t>
            </a:r>
          </a:p>
        </p:txBody>
      </p:sp>
    </p:spTree>
    <p:extLst>
      <p:ext uri="{BB962C8B-B14F-4D97-AF65-F5344CB8AC3E}">
        <p14:creationId xmlns:p14="http://schemas.microsoft.com/office/powerpoint/2010/main" val="2809101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C0ECB-EA9B-B5BD-ED7F-25D365C2E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4ABB3F-B68D-FF48-4F0D-D8D36B692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080830-BCB9-5FB0-BFE6-DC691A6BBAD4}"/>
              </a:ext>
            </a:extLst>
          </p:cNvPr>
          <p:cNvSpPr txBox="1"/>
          <p:nvPr/>
        </p:nvSpPr>
        <p:spPr>
          <a:xfrm>
            <a:off x="535709" y="194055"/>
            <a:ext cx="3426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Abstract Factory – Pros and cons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685BB1-8BFF-31EC-62A8-F6D8290D7F83}"/>
              </a:ext>
            </a:extLst>
          </p:cNvPr>
          <p:cNvSpPr txBox="1"/>
          <p:nvPr/>
        </p:nvSpPr>
        <p:spPr>
          <a:xfrm>
            <a:off x="535709" y="746860"/>
            <a:ext cx="10818091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Advantages: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Isolation of concrete classes</a:t>
            </a:r>
            <a:r>
              <a:rPr lang="en-US" sz="1600" dirty="0"/>
              <a:t>: creation knowledge is centralized in one class per family; the client is decoupled from implementation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Consistency by construction</a:t>
            </a:r>
            <a:r>
              <a:rPr lang="en-US" sz="1600" dirty="0"/>
              <a:t>: incompatible combinations cannot be expressed.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Ease of swapping families</a:t>
            </a:r>
            <a:r>
              <a:rPr lang="en-US" sz="1600" dirty="0"/>
              <a:t>: one reference change (or one config line) re-themes the whole system, possibly at runtime.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Open/Closed</a:t>
            </a:r>
            <a:r>
              <a:rPr lang="en-US" sz="1600" dirty="0"/>
              <a:t>: new families are added without touching existing code.</a:t>
            </a:r>
          </a:p>
          <a:p>
            <a:endParaRPr lang="en-US" sz="1600" dirty="0"/>
          </a:p>
          <a:p>
            <a:r>
              <a:rPr lang="en-US" sz="1600" dirty="0"/>
              <a:t>Disadvantages: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More classes</a:t>
            </a:r>
            <a:r>
              <a:rPr lang="en-US" sz="1600" dirty="0"/>
              <a:t>: with </a:t>
            </a:r>
            <a:r>
              <a:rPr lang="en-US" sz="1600" b="1" dirty="0"/>
              <a:t>m</a:t>
            </a:r>
            <a:r>
              <a:rPr lang="en-US" sz="1600" dirty="0"/>
              <a:t> families and </a:t>
            </a:r>
            <a:r>
              <a:rPr lang="en-US" sz="1600" b="1" dirty="0"/>
              <a:t>n</a:t>
            </a:r>
            <a:r>
              <a:rPr lang="en-US" sz="1600" dirty="0"/>
              <a:t> product roles you create roughly </a:t>
            </a:r>
            <a:r>
              <a:rPr lang="en-US" sz="1600" dirty="0" err="1"/>
              <a:t>m·n</a:t>
            </a:r>
            <a:r>
              <a:rPr lang="en-US" sz="1600" dirty="0"/>
              <a:t> + m + n + 1 types. For small systems this is heavy.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Harder to extend the product dimension</a:t>
            </a:r>
            <a:r>
              <a:rPr lang="en-US" sz="1600" dirty="0"/>
              <a:t>: adding a new product role (a new method on </a:t>
            </a:r>
            <a:r>
              <a:rPr lang="en-US" sz="1600" i="1" dirty="0" err="1"/>
              <a:t>AbstractFactory</a:t>
            </a:r>
            <a:r>
              <a:rPr lang="en-US" sz="1600" dirty="0"/>
              <a:t>) forces changes to the abstract factory and to </a:t>
            </a:r>
            <a:r>
              <a:rPr lang="en-US" sz="1600" b="1" dirty="0"/>
              <a:t>every</a:t>
            </a:r>
            <a:r>
              <a:rPr lang="en-US" sz="1600" dirty="0"/>
              <a:t> concrete factory, even those that cannot produce the new product. The pattern is open along the family axis but closed along the product-role axis.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Indirection cost</a:t>
            </a:r>
            <a:r>
              <a:rPr lang="en-US" sz="1600" dirty="0"/>
              <a:t>: one extra layer of abstraction to understand, debug and test; the "why" must be obvious or the code becomes a maze of interfaces.</a:t>
            </a:r>
          </a:p>
        </p:txBody>
      </p:sp>
    </p:spTree>
    <p:extLst>
      <p:ext uri="{BB962C8B-B14F-4D97-AF65-F5344CB8AC3E}">
        <p14:creationId xmlns:p14="http://schemas.microsoft.com/office/powerpoint/2010/main" val="104307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43C89-C13A-96F5-8EEC-9E1449BC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A863E2-F261-758F-4038-B480127E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2F265-1C17-D8FB-0938-5F9387F74592}"/>
              </a:ext>
            </a:extLst>
          </p:cNvPr>
          <p:cNvSpPr txBox="1"/>
          <p:nvPr/>
        </p:nvSpPr>
        <p:spPr>
          <a:xfrm>
            <a:off x="535709" y="194055"/>
            <a:ext cx="2782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Factory Method – Problem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890F81-183B-0AF1-458F-ADC9FA6E5CCE}"/>
              </a:ext>
            </a:extLst>
          </p:cNvPr>
          <p:cNvSpPr txBox="1"/>
          <p:nvPr/>
        </p:nvSpPr>
        <p:spPr>
          <a:xfrm>
            <a:off x="427703" y="870155"/>
            <a:ext cx="1137100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well-designed system should not be littered with </a:t>
            </a:r>
            <a:r>
              <a:rPr lang="en-US" i="1" dirty="0"/>
              <a:t>new </a:t>
            </a:r>
            <a:r>
              <a:rPr lang="en-US" i="1" dirty="0" err="1"/>
              <a:t>ConcreteClass</a:t>
            </a:r>
            <a:r>
              <a:rPr lang="en-US" i="1" dirty="0"/>
              <a:t>(...)</a:t>
            </a:r>
            <a:r>
              <a:rPr lang="en-US" dirty="0"/>
              <a:t> calls scattered through business logic. </a:t>
            </a:r>
          </a:p>
          <a:p>
            <a:endParaRPr lang="en-US" dirty="0"/>
          </a:p>
          <a:p>
            <a:r>
              <a:rPr lang="en-US" dirty="0"/>
              <a:t>Hard-wiring concrete classes at creation points causes three classic problems: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Tight coupling to implementations</a:t>
            </a:r>
            <a:r>
              <a:rPr lang="en-US" dirty="0"/>
              <a:t>: client code that says </a:t>
            </a:r>
            <a:r>
              <a:rPr lang="en-US" i="1" dirty="0"/>
              <a:t>new </a:t>
            </a:r>
            <a:r>
              <a:rPr lang="en-US" i="1" dirty="0" err="1"/>
              <a:t>WindowsButton</a:t>
            </a:r>
            <a:r>
              <a:rPr lang="en-US" i="1" dirty="0"/>
              <a:t>()</a:t>
            </a:r>
            <a:r>
              <a:rPr lang="en-US" dirty="0"/>
              <a:t> knows and depends on a concrete class. Swapping the implementation means editing every call 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Violation of the Open/Closed Principle (OCP)</a:t>
            </a:r>
            <a:r>
              <a:rPr lang="en-US" dirty="0"/>
              <a:t>: adding a new variant (a new OS, a new logging backend, a new payment provider) forces modification of existing, tested code instead of simple addition.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Violation of the Dependency Inversion Principle (DIP)</a:t>
            </a:r>
            <a:r>
              <a:rPr lang="en-US" dirty="0"/>
              <a:t>: high-level modules end up depending on low-level concrete classes rather than on abstractions.</a:t>
            </a:r>
          </a:p>
          <a:p>
            <a:endParaRPr lang="en-US" dirty="0"/>
          </a:p>
          <a:p>
            <a:r>
              <a:rPr lang="en-US" dirty="0"/>
              <a:t>The Factory Method solves all three by moving the </a:t>
            </a:r>
            <a:r>
              <a:rPr lang="en-US" i="1" dirty="0"/>
              <a:t>new</a:t>
            </a:r>
            <a:r>
              <a:rPr lang="en-US" dirty="0"/>
              <a:t> expression into a dedicated, overridable method — the Factory Method — and making all client code depend only on the abstract product type.</a:t>
            </a:r>
          </a:p>
        </p:txBody>
      </p:sp>
    </p:spTree>
    <p:extLst>
      <p:ext uri="{BB962C8B-B14F-4D97-AF65-F5344CB8AC3E}">
        <p14:creationId xmlns:p14="http://schemas.microsoft.com/office/powerpoint/2010/main" val="1903896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79DEA-01A8-0E06-031F-231CBC1D8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717F4-D12D-8506-39CD-42A569828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E2E7AA-335F-B0AB-5628-615922853723}"/>
              </a:ext>
            </a:extLst>
          </p:cNvPr>
          <p:cNvSpPr txBox="1"/>
          <p:nvPr/>
        </p:nvSpPr>
        <p:spPr>
          <a:xfrm>
            <a:off x="535709" y="194055"/>
            <a:ext cx="2540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Factory Method - Usage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60471F-604B-A5DA-78CC-38299F93D756}"/>
              </a:ext>
            </a:extLst>
          </p:cNvPr>
          <p:cNvSpPr txBox="1"/>
          <p:nvPr/>
        </p:nvSpPr>
        <p:spPr>
          <a:xfrm>
            <a:off x="7669370" y="4745037"/>
            <a:ext cx="362297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Key Differences from Factory Method</a:t>
            </a:r>
          </a:p>
          <a:p>
            <a:endParaRPr lang="en-US" sz="1200"/>
          </a:p>
          <a:p>
            <a:r>
              <a:rPr lang="en-US" sz="1200"/>
              <a:t>Factory Method: Creates one type of object</a:t>
            </a:r>
          </a:p>
          <a:p>
            <a:r>
              <a:rPr lang="en-US" sz="1200"/>
              <a:t>Abstract Factory: Creates families of related objects</a:t>
            </a:r>
            <a:br>
              <a:rPr lang="en-US" sz="1200"/>
            </a:br>
            <a:endParaRPr lang="en-US" sz="1200"/>
          </a:p>
          <a:p>
            <a:r>
              <a:rPr lang="en-US" sz="1200"/>
              <a:t>Factory Method: Uses inheritance</a:t>
            </a:r>
          </a:p>
          <a:p>
            <a:r>
              <a:rPr lang="en-US" sz="1200"/>
              <a:t>Abstract Factory: Uses composition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93B6AD-9150-1411-CA0E-95D8B6A24E55}"/>
              </a:ext>
            </a:extLst>
          </p:cNvPr>
          <p:cNvSpPr txBox="1"/>
          <p:nvPr/>
        </p:nvSpPr>
        <p:spPr>
          <a:xfrm>
            <a:off x="535709" y="979289"/>
            <a:ext cx="1136624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When to use it: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class can't anticipate </a:t>
            </a:r>
            <a:r>
              <a:rPr lang="en-US" sz="1600" b="1" dirty="0"/>
              <a:t>the class of objects</a:t>
            </a:r>
            <a:r>
              <a:rPr lang="en-US" sz="1600" dirty="0"/>
              <a:t> it must create (e.g., a framework that doesn't know which plugins users will register).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class wants its </a:t>
            </a:r>
            <a:r>
              <a:rPr lang="en-US" sz="1600" b="1" dirty="0"/>
              <a:t>subclasses to specify </a:t>
            </a:r>
            <a:r>
              <a:rPr lang="en-US" sz="1600" dirty="0"/>
              <a:t>the objects it creates (polymorphic creation — this is the defining case).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system must provide a </a:t>
            </a:r>
            <a:r>
              <a:rPr lang="en-US" sz="1600" b="1" dirty="0"/>
              <a:t>family of related products</a:t>
            </a:r>
            <a:r>
              <a:rPr lang="en-US" sz="1600" dirty="0"/>
              <a:t> without committing to concrete classes (this shades into Abstract Factory; Factory Method handles one product dimension at a time).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want to build a small library/framework whose extended value lies in customizing it with user-defined products.</a:t>
            </a:r>
          </a:p>
          <a:p>
            <a:endParaRPr lang="en-US" sz="1600" dirty="0"/>
          </a:p>
          <a:p>
            <a:r>
              <a:rPr lang="en-US" sz="1600" dirty="0"/>
              <a:t>Rule of thumb: </a:t>
            </a:r>
            <a:r>
              <a:rPr lang="en-US" sz="1600" b="1" dirty="0"/>
              <a:t>if you find yourself writing </a:t>
            </a:r>
            <a:r>
              <a:rPr lang="en-US" sz="1600" b="1" i="1" dirty="0"/>
              <a:t>switch</a:t>
            </a:r>
            <a:r>
              <a:rPr lang="en-US" sz="1600" b="1" dirty="0"/>
              <a:t>/</a:t>
            </a:r>
            <a:r>
              <a:rPr lang="en-US" sz="1600" b="1" i="1" dirty="0"/>
              <a:t>if</a:t>
            </a:r>
            <a:r>
              <a:rPr lang="en-US" sz="1600" b="1" dirty="0"/>
              <a:t> chains or multiple </a:t>
            </a:r>
            <a:r>
              <a:rPr lang="en-US" sz="1600" b="1" i="1" dirty="0"/>
              <a:t>new</a:t>
            </a:r>
            <a:r>
              <a:rPr lang="en-US" sz="1600" b="1" dirty="0"/>
              <a:t> calls on concrete classes that vary by environment, platform, or configuration — extract a Factory Method.</a:t>
            </a:r>
          </a:p>
        </p:txBody>
      </p:sp>
    </p:spTree>
    <p:extLst>
      <p:ext uri="{BB962C8B-B14F-4D97-AF65-F5344CB8AC3E}">
        <p14:creationId xmlns:p14="http://schemas.microsoft.com/office/powerpoint/2010/main" val="157507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D0304-F521-7E48-A8E5-581DE7188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D7ADFD-ED1A-A924-7447-3E73D83A6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9BDFB-5461-D9AF-1909-DCFE7791DE57}"/>
              </a:ext>
            </a:extLst>
          </p:cNvPr>
          <p:cNvSpPr txBox="1"/>
          <p:nvPr/>
        </p:nvSpPr>
        <p:spPr>
          <a:xfrm>
            <a:off x="535709" y="194055"/>
            <a:ext cx="336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Factory Method – Class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D12738-EDC9-02CB-94EE-0CC685273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926" y="724754"/>
            <a:ext cx="9629755" cy="540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32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ED05B-0207-8BBF-6211-52AE48467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80CC0E-D44C-11AB-1D4D-C848793D1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C3678-34AC-3658-D74C-1746CF660A04}"/>
              </a:ext>
            </a:extLst>
          </p:cNvPr>
          <p:cNvSpPr txBox="1"/>
          <p:nvPr/>
        </p:nvSpPr>
        <p:spPr>
          <a:xfrm>
            <a:off x="535709" y="194055"/>
            <a:ext cx="34864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Logistics – Factory Method - Products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9D9990-84B5-C5AF-7736-94E526A58B5B}"/>
              </a:ext>
            </a:extLst>
          </p:cNvPr>
          <p:cNvSpPr txBox="1"/>
          <p:nvPr/>
        </p:nvSpPr>
        <p:spPr>
          <a:xfrm>
            <a:off x="535709" y="2014425"/>
            <a:ext cx="49263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Transport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deliver(String cargo, String destination);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estimateCost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distanceKm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capacityTons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A9713-F394-B0F6-35DF-1D7E65DD377C}"/>
              </a:ext>
            </a:extLst>
          </p:cNvPr>
          <p:cNvSpPr txBox="1"/>
          <p:nvPr/>
        </p:nvSpPr>
        <p:spPr>
          <a:xfrm>
            <a:off x="535709" y="4511905"/>
            <a:ext cx="604203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Truck implements Transport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deliver(String cargo, String destination)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estimateCost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distanceKm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 return //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capacityTons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//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B2C5B7-062D-3E7A-ECB9-7454DA60F097}"/>
              </a:ext>
            </a:extLst>
          </p:cNvPr>
          <p:cNvSpPr txBox="1"/>
          <p:nvPr/>
        </p:nvSpPr>
        <p:spPr>
          <a:xfrm>
            <a:off x="6096000" y="790398"/>
            <a:ext cx="604203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Ship implements Transport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deliver(String cargo, String destination)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estimateCost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distanceKm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 return //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capacityTons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//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E20CB9-605D-1271-F0D5-CC471157324F}"/>
              </a:ext>
            </a:extLst>
          </p:cNvPr>
          <p:cNvSpPr txBox="1"/>
          <p:nvPr/>
        </p:nvSpPr>
        <p:spPr>
          <a:xfrm>
            <a:off x="6095999" y="2736502"/>
            <a:ext cx="604203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Drone implements Transport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deliver(String cargo, String destination)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estimateCost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distanceKm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 return //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capacityTons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//;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4765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044DB-D88B-9C76-983E-597C265E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42EB37-A15E-2498-DB5A-AE1EA864D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9C640D-6227-FA00-79EF-42F98500735D}"/>
              </a:ext>
            </a:extLst>
          </p:cNvPr>
          <p:cNvSpPr txBox="1"/>
          <p:nvPr/>
        </p:nvSpPr>
        <p:spPr>
          <a:xfrm>
            <a:off x="535709" y="194055"/>
            <a:ext cx="4601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Logistics – Factory Method – Factory &amp;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E20690-DAB5-4C67-5A67-080D2FB6CD20}"/>
              </a:ext>
            </a:extLst>
          </p:cNvPr>
          <p:cNvSpPr txBox="1"/>
          <p:nvPr/>
        </p:nvSpPr>
        <p:spPr>
          <a:xfrm>
            <a:off x="467407" y="675409"/>
            <a:ext cx="790152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abstract class Logistics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Factory Method — subclasses decide which Transport to instantiate. */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abstract Transport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createTransport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Business logic that relies on the product via its interface. */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planDelivery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cargo, String destination, 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distanceKm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Transport transport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createTransport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   // ← factory method call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…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transport.capacityTons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…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transport.estimateCost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distanceKm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transport.deliver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(cargo, destination);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9ED603-A352-39BD-C62B-2D1FB168DA0D}"/>
              </a:ext>
            </a:extLst>
          </p:cNvPr>
          <p:cNvSpPr txBox="1"/>
          <p:nvPr/>
        </p:nvSpPr>
        <p:spPr>
          <a:xfrm>
            <a:off x="5496606" y="2660568"/>
            <a:ext cx="622798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RoadLogistics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Logistics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Transport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createTransport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new Truck();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SeaLogistics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Logistics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Transport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createTransport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new Ship();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AirLogistics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Logistics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Transport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createTransport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new Drone();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ED97A4-F812-DA52-7724-3B8B400B1EE0}"/>
              </a:ext>
            </a:extLst>
          </p:cNvPr>
          <p:cNvSpPr txBox="1"/>
          <p:nvPr/>
        </p:nvSpPr>
        <p:spPr>
          <a:xfrm>
            <a:off x="453552" y="4058933"/>
            <a:ext cx="659988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LogisticsDemo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Logistics road =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RoadLogistics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Logistics sea  =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SeaLogistics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Logistics air  =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AirLogistics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road.planDelivery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("Electronics", "Berlin", 600);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sea.planDelivery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("Crude Oil", "Rotterdam", 8500);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air.planDelivery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("Medical Supplies", "Munich Hospital", 120);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13048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A389D-103F-7AA3-89CE-C54257C04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18D09-01C8-11BA-8718-9739E6541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E9046F-4161-51C4-EBCC-C81F933C7A5F}"/>
              </a:ext>
            </a:extLst>
          </p:cNvPr>
          <p:cNvSpPr txBox="1"/>
          <p:nvPr/>
        </p:nvSpPr>
        <p:spPr>
          <a:xfrm>
            <a:off x="2683046" y="3105834"/>
            <a:ext cx="6825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Factory Method – Logger example</a:t>
            </a:r>
          </a:p>
        </p:txBody>
      </p:sp>
    </p:spTree>
    <p:extLst>
      <p:ext uri="{BB962C8B-B14F-4D97-AF65-F5344CB8AC3E}">
        <p14:creationId xmlns:p14="http://schemas.microsoft.com/office/powerpoint/2010/main" val="2226214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81D41-CD24-4A15-A12E-7E7A00DE8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49EDAE-0B3A-A6CE-0C51-8BA379E5D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9266F7-F3F5-6130-C773-91503989E4A1}"/>
              </a:ext>
            </a:extLst>
          </p:cNvPr>
          <p:cNvSpPr txBox="1"/>
          <p:nvPr/>
        </p:nvSpPr>
        <p:spPr>
          <a:xfrm>
            <a:off x="535709" y="194055"/>
            <a:ext cx="3346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Factory Method – Pros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06E9C-301A-3758-B89F-607EC97C3CD6}"/>
              </a:ext>
            </a:extLst>
          </p:cNvPr>
          <p:cNvSpPr txBox="1"/>
          <p:nvPr/>
        </p:nvSpPr>
        <p:spPr>
          <a:xfrm>
            <a:off x="535710" y="722671"/>
            <a:ext cx="11159762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Benefits: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Single point for knowing concrete classes</a:t>
            </a:r>
            <a:r>
              <a:rPr lang="en-US" sz="1600" dirty="0"/>
              <a:t>: All </a:t>
            </a:r>
            <a:r>
              <a:rPr lang="en-US" sz="1600" i="1" dirty="0"/>
              <a:t>new</a:t>
            </a:r>
            <a:r>
              <a:rPr lang="en-US" sz="1600" dirty="0"/>
              <a:t> expressions for the product live in exactly one method per creator.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Open/Closed Principle</a:t>
            </a:r>
            <a:r>
              <a:rPr lang="en-US" sz="1600" dirty="0"/>
              <a:t>: New products enter the system as new classes only.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Dependency Inversion</a:t>
            </a:r>
            <a:r>
              <a:rPr lang="en-US" sz="1600" dirty="0"/>
              <a:t>: Clients, frameworks, and tests depend on abstractions; concrete implementations are injected via the chosen factory.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Testability</a:t>
            </a:r>
            <a:r>
              <a:rPr lang="en-US" sz="1600" dirty="0"/>
              <a:t>: A test can supply a fake/stub product through a test-only creator — no production code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Communication</a:t>
            </a:r>
            <a:r>
              <a:rPr lang="en-US" sz="1600" dirty="0"/>
              <a:t>: The Factory Method is an explicit, documented seam: reading </a:t>
            </a:r>
            <a:r>
              <a:rPr lang="en-US" sz="1600" i="1" dirty="0" err="1"/>
              <a:t>createLogger</a:t>
            </a:r>
            <a:r>
              <a:rPr lang="en-US" sz="1600" i="1" dirty="0"/>
              <a:t>()</a:t>
            </a:r>
            <a:r>
              <a:rPr lang="en-US" sz="1600" dirty="0"/>
              <a:t> tells you "a logger is created here, and it may vary".</a:t>
            </a:r>
          </a:p>
          <a:p>
            <a:endParaRPr lang="en-US" sz="1600" dirty="0"/>
          </a:p>
          <a:p>
            <a:r>
              <a:rPr lang="en-US" sz="1600" dirty="0"/>
              <a:t>Costs / trade-offs: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More classes</a:t>
            </a:r>
            <a:r>
              <a:rPr lang="en-US" sz="1600" dirty="0"/>
              <a:t>: every product needs a matching creator. For one-off scripts this is over-engineering — the pattern pays off when variation is expected.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Factory Method returns an abstraction, so clients cannot use product-specific features without </a:t>
            </a:r>
            <a:r>
              <a:rPr lang="en-US" sz="1600" dirty="0" err="1"/>
              <a:t>downcasting</a:t>
            </a:r>
            <a:r>
              <a:rPr lang="en-US" sz="1600" dirty="0"/>
              <a:t> (avoid that; extend the Product interface instead).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 creates </a:t>
            </a:r>
            <a:r>
              <a:rPr lang="en-US" sz="1600" b="1" dirty="0"/>
              <a:t>one</a:t>
            </a:r>
            <a:r>
              <a:rPr lang="en-US" sz="1600" dirty="0"/>
              <a:t> object of </a:t>
            </a:r>
            <a:r>
              <a:rPr lang="en-US" sz="1600" b="1" dirty="0"/>
              <a:t>one</a:t>
            </a:r>
            <a:r>
              <a:rPr lang="en-US" sz="1600" dirty="0"/>
              <a:t> type. If you need a coordinated </a:t>
            </a:r>
            <a:r>
              <a:rPr lang="en-US" sz="1600" b="1" dirty="0"/>
              <a:t>family</a:t>
            </a:r>
            <a:r>
              <a:rPr lang="en-US" sz="1600" dirty="0"/>
              <a:t> of products, reach for Abstract Factory.</a:t>
            </a:r>
          </a:p>
        </p:txBody>
      </p:sp>
    </p:spTree>
    <p:extLst>
      <p:ext uri="{BB962C8B-B14F-4D97-AF65-F5344CB8AC3E}">
        <p14:creationId xmlns:p14="http://schemas.microsoft.com/office/powerpoint/2010/main" val="178903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9431-0747-E672-DA0A-346E9755B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CB9424-4AA7-68A0-7899-7AEC7E70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AFABF4-527F-5EBC-4921-FEEE6B1217C6}"/>
              </a:ext>
            </a:extLst>
          </p:cNvPr>
          <p:cNvSpPr txBox="1"/>
          <p:nvPr/>
        </p:nvSpPr>
        <p:spPr>
          <a:xfrm>
            <a:off x="535709" y="194055"/>
            <a:ext cx="1932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Builder –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DA750-14D5-5B07-D120-D0AAF44C6D19}"/>
              </a:ext>
            </a:extLst>
          </p:cNvPr>
          <p:cNvSpPr txBox="1"/>
          <p:nvPr/>
        </p:nvSpPr>
        <p:spPr>
          <a:xfrm>
            <a:off x="535709" y="870155"/>
            <a:ext cx="1124825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Sometimes a class constructor is not enough or does not scale well.</a:t>
            </a:r>
          </a:p>
          <a:p>
            <a:endParaRPr lang="en-US" sz="1600" dirty="0"/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Telescoping constructors are unmaintainable</a:t>
            </a:r>
            <a:r>
              <a:rPr lang="en-US" sz="1600" dirty="0"/>
              <a:t>. A class with 8 optional parameters needs up to 2^8 constructor overloads (or one 8-argument constructor where callers pass </a:t>
            </a:r>
            <a:r>
              <a:rPr lang="en-US" sz="1600" i="1" dirty="0"/>
              <a:t>null, null, "x", null, ...</a:t>
            </a:r>
            <a:r>
              <a:rPr lang="en-US" sz="1600" dirty="0"/>
              <a:t>). Nobody can tell what the fourth argument 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Named, self-documenting steps</a:t>
            </a:r>
            <a:r>
              <a:rPr lang="en-US" sz="1600" dirty="0"/>
              <a:t>. </a:t>
            </a:r>
            <a:r>
              <a:rPr lang="en-US" sz="1600" i="1" dirty="0" err="1"/>
              <a:t>builder.setRole</a:t>
            </a:r>
            <a:r>
              <a:rPr lang="en-US" sz="1600" i="1" dirty="0"/>
              <a:t>("Engineer")</a:t>
            </a:r>
            <a:r>
              <a:rPr lang="en-US" sz="1600" dirty="0"/>
              <a:t> or </a:t>
            </a:r>
            <a:r>
              <a:rPr lang="en-US" sz="1600" i="1" dirty="0"/>
              <a:t>.header("Content-Type", "application/</a:t>
            </a:r>
            <a:r>
              <a:rPr lang="en-US" sz="1600" i="1" dirty="0" err="1"/>
              <a:t>json</a:t>
            </a:r>
            <a:r>
              <a:rPr lang="en-US" sz="1600" i="1" dirty="0"/>
              <a:t>")</a:t>
            </a:r>
            <a:r>
              <a:rPr lang="en-US" sz="1600" dirty="0"/>
              <a:t> reads like a sentence; a positional argument list does not.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Immutability without sacrificing flexibility</a:t>
            </a:r>
            <a:r>
              <a:rPr lang="en-US" sz="1600" dirty="0"/>
              <a:t>. The product can be </a:t>
            </a:r>
            <a:r>
              <a:rPr lang="en-US" sz="1600" i="1" dirty="0"/>
              <a:t>final</a:t>
            </a:r>
            <a:r>
              <a:rPr lang="en-US" sz="1600" dirty="0"/>
              <a:t> with only getters: the builder is mutable while building, and the finished object is immutable for its whole life. A plain constructor forces you to choose between "all-or-nothing" parameters and a mutable bean.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Stepwise construction of complex objects</a:t>
            </a:r>
            <a:r>
              <a:rPr lang="en-US" sz="1600" dirty="0"/>
              <a:t>. Some objects need several phases (create parts → assemble → validate → compute derived state). The builder makes each phase explicit, and </a:t>
            </a:r>
            <a:r>
              <a:rPr lang="en-US" sz="1600" i="1" dirty="0"/>
              <a:t>build()</a:t>
            </a:r>
            <a:r>
              <a:rPr lang="en-US" sz="1600" dirty="0"/>
              <a:t> is the single place where validation and derived values are computed — the product can never exist in an invalid or half-initialized state.</a:t>
            </a:r>
          </a:p>
        </p:txBody>
      </p:sp>
    </p:spTree>
    <p:extLst>
      <p:ext uri="{BB962C8B-B14F-4D97-AF65-F5344CB8AC3E}">
        <p14:creationId xmlns:p14="http://schemas.microsoft.com/office/powerpoint/2010/main" val="271694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BC601-F98C-A201-EEC9-3880E00ED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2BD00-A526-10A7-0873-3D2D77F9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61365A-96C3-FCA0-DE09-66E78566AAAC}"/>
              </a:ext>
            </a:extLst>
          </p:cNvPr>
          <p:cNvSpPr txBox="1"/>
          <p:nvPr/>
        </p:nvSpPr>
        <p:spPr>
          <a:xfrm>
            <a:off x="535709" y="194055"/>
            <a:ext cx="169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Builder -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BDA73C-3393-C551-5F4B-D192A672632C}"/>
              </a:ext>
            </a:extLst>
          </p:cNvPr>
          <p:cNvSpPr txBox="1"/>
          <p:nvPr/>
        </p:nvSpPr>
        <p:spPr>
          <a:xfrm>
            <a:off x="535709" y="870155"/>
            <a:ext cx="1124825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When to use it: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algorithm for creating a complex object is </a:t>
            </a:r>
            <a:r>
              <a:rPr lang="en-US" sz="1600" b="1" dirty="0"/>
              <a:t>independent of the resulting representation</a:t>
            </a:r>
            <a:r>
              <a:rPr lang="en-US" sz="1600" dirty="0"/>
              <a:t> (or you want it to be)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construction process can be broken into a sequence of steps that may run in a fixed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object has many parameters, several of them optional, and you want a readable, extensible way to specify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want the finished product to be </a:t>
            </a:r>
            <a:r>
              <a:rPr lang="en-US" sz="1600" i="1" dirty="0"/>
              <a:t>immutable</a:t>
            </a:r>
            <a:r>
              <a:rPr lang="en-US" sz="1600" dirty="0"/>
              <a:t> or to guarantee an </a:t>
            </a:r>
            <a:r>
              <a:rPr lang="en-US" sz="1600" i="1" dirty="0"/>
              <a:t>invariant state</a:t>
            </a:r>
            <a:r>
              <a:rPr lang="en-US" sz="1600" dirty="0"/>
              <a:t> (validation at </a:t>
            </a:r>
            <a:r>
              <a:rPr lang="en-US" sz="1600" i="1" dirty="0"/>
              <a:t>build()</a:t>
            </a:r>
            <a:r>
              <a:rPr lang="en-US" sz="1600" dirty="0"/>
              <a:t> time)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construction involves collections, nested objects, or derived values that are easier to accumulate incrementally than to pass in one shot.</a:t>
            </a:r>
          </a:p>
          <a:p>
            <a:endParaRPr lang="en-US" sz="1600" dirty="0"/>
          </a:p>
          <a:p>
            <a:r>
              <a:rPr lang="en-US" sz="1600" dirty="0"/>
              <a:t>When not to use it: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object has </a:t>
            </a:r>
            <a:r>
              <a:rPr lang="en-US" sz="1600" b="1" dirty="0"/>
              <a:t>few, mostly required parameters</a:t>
            </a:r>
            <a:r>
              <a:rPr lang="en-US" sz="1600" dirty="0"/>
              <a:t> — a constructor (or a record) is simpler and just as readable.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"complexity" is only in the number of similar values (e.g. a list of items) — pass the collection directly.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need to create objects very frequently in hot paths and object allocation overhead matters — a builder allocates an extra object per product.</a:t>
            </a:r>
          </a:p>
        </p:txBody>
      </p:sp>
    </p:spTree>
    <p:extLst>
      <p:ext uri="{BB962C8B-B14F-4D97-AF65-F5344CB8AC3E}">
        <p14:creationId xmlns:p14="http://schemas.microsoft.com/office/powerpoint/2010/main" val="40818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8920E-F6DF-E2EF-C40F-07C6C0FD4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734A15-6BFB-3724-EE0F-6A09E62E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75E08-E2D1-C52C-F8D4-CCDAB529B2BA}"/>
              </a:ext>
            </a:extLst>
          </p:cNvPr>
          <p:cNvSpPr txBox="1"/>
          <p:nvPr/>
        </p:nvSpPr>
        <p:spPr>
          <a:xfrm>
            <a:off x="535709" y="194055"/>
            <a:ext cx="2547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Builder – Class Diagram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EDAC24-F15F-4643-7D5A-1A0D14F78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08" y="1136072"/>
            <a:ext cx="11616984" cy="458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057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C6D20-9F96-FC3A-6335-696E9589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FFB890-DEEE-9DF7-4213-EFC0DE143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9A231E-BD11-1760-5858-15BA7E9DF150}"/>
              </a:ext>
            </a:extLst>
          </p:cNvPr>
          <p:cNvSpPr txBox="1"/>
          <p:nvPr/>
        </p:nvSpPr>
        <p:spPr>
          <a:xfrm>
            <a:off x="535709" y="194055"/>
            <a:ext cx="3397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Car – Builder – Products &amp; Interfaces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87A88C-5AF4-6021-A89D-7C44B0E0F6DF}"/>
              </a:ext>
            </a:extLst>
          </p:cNvPr>
          <p:cNvSpPr txBox="1"/>
          <p:nvPr/>
        </p:nvSpPr>
        <p:spPr>
          <a:xfrm>
            <a:off x="6319402" y="2107562"/>
            <a:ext cx="5205271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Car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engine;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int seats;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hasGPS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hasParkingSensors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// package-private setters (used only by builders)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// public getters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//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with formatted output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D6ECAE-CAC8-1533-407C-0025B060ABEA}"/>
              </a:ext>
            </a:extLst>
          </p:cNvPr>
          <p:cNvSpPr txBox="1"/>
          <p:nvPr/>
        </p:nvSpPr>
        <p:spPr>
          <a:xfrm>
            <a:off x="535709" y="2569227"/>
            <a:ext cx="28809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buildEngine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buildSeats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buildElectronics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Car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getResult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4105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CC536-2B53-5276-B4BE-C804FD323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8EFFA9-DF80-42F9-FE54-07A3E904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E313B-743A-2DF9-9907-331C3D463001}"/>
              </a:ext>
            </a:extLst>
          </p:cNvPr>
          <p:cNvSpPr txBox="1"/>
          <p:nvPr/>
        </p:nvSpPr>
        <p:spPr>
          <a:xfrm>
            <a:off x="535709" y="194055"/>
            <a:ext cx="30898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Car – Builder – Concrete Builders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0A5B31-E22B-F591-0D1D-960D4D1421AC}"/>
              </a:ext>
            </a:extLst>
          </p:cNvPr>
          <p:cNvSpPr txBox="1"/>
          <p:nvPr/>
        </p:nvSpPr>
        <p:spPr>
          <a:xfrm>
            <a:off x="262082" y="657931"/>
            <a:ext cx="771557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SportsCarBuilder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Car car = new Car();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buildEngine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car.setEngine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("4.0L V8 Twin-Turbo (620 HP)");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buildSeats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 {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car.setSeats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(2);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buildElectronics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car.setHasGPS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(true);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car.setHasParkingSensors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(true);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Car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getResult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Car result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new Car();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result;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6B127C-9B07-9742-12B6-B250494E9CC6}"/>
              </a:ext>
            </a:extLst>
          </p:cNvPr>
          <p:cNvSpPr txBox="1"/>
          <p:nvPr/>
        </p:nvSpPr>
        <p:spPr>
          <a:xfrm>
            <a:off x="4426128" y="2783749"/>
            <a:ext cx="799449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EconomyCarBuilder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Car car = new Car();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buildEngine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car.setEngine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("1.0L 3-Cylinder Turbo (100 HP)");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buildSeats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 {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car.setSeats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(5);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buildElectronics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car.setHasGPS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(false);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car.setHasParkingSensors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(true);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Car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getResult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Car result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new Car();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result;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029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25622-0A07-8A4C-4F77-D64EE216E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1180CA-5B7F-BE0E-DD5F-BC0D07207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545CDB-7424-5F17-F3A1-7453DC815A22}"/>
              </a:ext>
            </a:extLst>
          </p:cNvPr>
          <p:cNvSpPr txBox="1"/>
          <p:nvPr/>
        </p:nvSpPr>
        <p:spPr>
          <a:xfrm>
            <a:off x="535709" y="194055"/>
            <a:ext cx="34383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Car – Builder – Director &amp; 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ADDA6F-D0E9-755C-D6B5-F5B77F5531BC}"/>
              </a:ext>
            </a:extLst>
          </p:cNvPr>
          <p:cNvSpPr txBox="1"/>
          <p:nvPr/>
        </p:nvSpPr>
        <p:spPr>
          <a:xfrm>
            <a:off x="535709" y="727364"/>
            <a:ext cx="4926349" cy="5447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CarDealerDirector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builder;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CarDealerDirector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builder)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builder;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builder)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builder;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Fully loaded — every option included. */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buildFullyLoaded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builder.buildEngine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builder.buildSeats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builder.buildElectronics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Base model — only mechanical essentials. */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buildBaseModel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builder.buildEngine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builder.buildSeats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buildTestDriveModel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builder.buildEngine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1F0E35-05F2-192E-0C1B-07227D45964C}"/>
              </a:ext>
            </a:extLst>
          </p:cNvPr>
          <p:cNvSpPr txBox="1"/>
          <p:nvPr/>
        </p:nvSpPr>
        <p:spPr>
          <a:xfrm>
            <a:off x="5778065" y="982176"/>
            <a:ext cx="6413935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CarBuilderDemo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1. Director builds a fully loaded sports car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SportsCarBuilder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sportsBuilder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SportsCarBuilder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CarDealerDirector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director =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CarDealerDirector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sportsBuilder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director.buildFullyLoaded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sportsCar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sportsBuilder.getResult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sportsCar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3. Base model economy car (fewer steps)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EconomyCarBuilder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economyBuilder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EconomyCarBuilder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director.setBuilder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economyBuilder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director.buildBaseModel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economyCar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economyBuilder.getResult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economyCar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4. Test drive model (different recipe)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director.setBuilder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sportsBuilder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director.buildTestDriveModel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testDrive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sportsBuilder.getResult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testDrive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6461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17525-6E86-F37E-160B-A1A1CC7F0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ABE7F1-2AE6-DA87-0C9D-913364BA1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528A02-2C41-67A0-B0DA-AC19135D99CD}"/>
              </a:ext>
            </a:extLst>
          </p:cNvPr>
          <p:cNvSpPr txBox="1"/>
          <p:nvPr/>
        </p:nvSpPr>
        <p:spPr>
          <a:xfrm>
            <a:off x="535709" y="194055"/>
            <a:ext cx="1422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Fluent Builder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00F8B0-AC9E-5AC6-2BE7-792F6EAD8D89}"/>
              </a:ext>
            </a:extLst>
          </p:cNvPr>
          <p:cNvSpPr txBox="1"/>
          <p:nvPr/>
        </p:nvSpPr>
        <p:spPr>
          <a:xfrm>
            <a:off x="535709" y="815370"/>
            <a:ext cx="41542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buildEngine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buildSeats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buildElectronics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Car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getResult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99B954-60A3-2FFD-1285-236E5B150208}"/>
              </a:ext>
            </a:extLst>
          </p:cNvPr>
          <p:cNvSpPr txBox="1"/>
          <p:nvPr/>
        </p:nvSpPr>
        <p:spPr>
          <a:xfrm>
            <a:off x="5366039" y="815370"/>
            <a:ext cx="609426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EconomyCarBuilder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Car car = new Car();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buildEngine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type)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car.setEngine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(type);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this;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buildSeats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noSeats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car.setSeats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noSeats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this;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buildElectronics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withGPS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Boolean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withSensors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car.setHasGPS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withGPS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car.setHasParkingSensors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withSensors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this;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Car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Car result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new Car();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result;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B01D35-506F-8CC2-C70B-2CE1A8E0F4B8}"/>
              </a:ext>
            </a:extLst>
          </p:cNvPr>
          <p:cNvSpPr txBox="1"/>
          <p:nvPr/>
        </p:nvSpPr>
        <p:spPr>
          <a:xfrm>
            <a:off x="535709" y="3585860"/>
            <a:ext cx="469091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Car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EconomyCarBuilder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buildEngine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("1.0L 3-Cylinder Turbo (100 HP)")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buildSeats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(5)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buildElectronics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(true, false)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54577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75068-A8B4-FA2D-6BC7-3E6A4FD6B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F4CCED-E663-5282-4A8C-085535F7A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8C6D51-E96A-B2D5-0C2B-AC875DEEDA45}"/>
              </a:ext>
            </a:extLst>
          </p:cNvPr>
          <p:cNvSpPr txBox="1"/>
          <p:nvPr/>
        </p:nvSpPr>
        <p:spPr>
          <a:xfrm>
            <a:off x="4076376" y="3105834"/>
            <a:ext cx="4039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Builder – Computer</a:t>
            </a:r>
          </a:p>
        </p:txBody>
      </p:sp>
    </p:spTree>
    <p:extLst>
      <p:ext uri="{BB962C8B-B14F-4D97-AF65-F5344CB8AC3E}">
        <p14:creationId xmlns:p14="http://schemas.microsoft.com/office/powerpoint/2010/main" val="7400442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431C9-9973-0E53-B4CC-841DB5E25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CF2957-1F14-B8A5-E359-DC1635679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B0C1AB-5E31-FCA2-ED7F-5A1686A5396C}"/>
              </a:ext>
            </a:extLst>
          </p:cNvPr>
          <p:cNvSpPr txBox="1"/>
          <p:nvPr/>
        </p:nvSpPr>
        <p:spPr>
          <a:xfrm>
            <a:off x="3345888" y="3105834"/>
            <a:ext cx="55002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Fluent Builder – SQL Query</a:t>
            </a:r>
          </a:p>
        </p:txBody>
      </p:sp>
    </p:spTree>
    <p:extLst>
      <p:ext uri="{BB962C8B-B14F-4D97-AF65-F5344CB8AC3E}">
        <p14:creationId xmlns:p14="http://schemas.microsoft.com/office/powerpoint/2010/main" val="29518125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D47BD-F508-C925-A057-74412F62B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BBA122-1E77-584F-FCF1-ADD98490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D9026-CF07-44D5-6915-EDD5FBEEA631}"/>
              </a:ext>
            </a:extLst>
          </p:cNvPr>
          <p:cNvSpPr txBox="1"/>
          <p:nvPr/>
        </p:nvSpPr>
        <p:spPr>
          <a:xfrm>
            <a:off x="535709" y="194055"/>
            <a:ext cx="2497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Builder – Pros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EDC64C-8DBE-1A31-F1E1-D7C2F5BA3F56}"/>
              </a:ext>
            </a:extLst>
          </p:cNvPr>
          <p:cNvSpPr txBox="1"/>
          <p:nvPr/>
        </p:nvSpPr>
        <p:spPr>
          <a:xfrm>
            <a:off x="535710" y="722671"/>
            <a:ext cx="1115976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Advantages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Construction and representation are </a:t>
            </a:r>
            <a:r>
              <a:rPr lang="en-US" sz="1600" b="1" dirty="0"/>
              <a:t>decoupled</a:t>
            </a:r>
            <a:r>
              <a:rPr lang="en-US" sz="1600" dirty="0"/>
              <a:t>: new representations are added by adding a concrete builder, without touching the algorithm or the client (Open/Closed Principle).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Complex construction becomes </a:t>
            </a:r>
            <a:r>
              <a:rPr lang="en-US" sz="1600" b="1" dirty="0"/>
              <a:t>readable and self-documenting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product can be immutable and always valid — validation is centralized in </a:t>
            </a:r>
            <a:r>
              <a:rPr lang="en-US" sz="1600" i="1" dirty="0"/>
              <a:t>build()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Optional parameters are handled naturally: simply skip the step.</a:t>
            </a:r>
          </a:p>
          <a:p>
            <a:endParaRPr lang="en-US" sz="1600" dirty="0"/>
          </a:p>
          <a:p>
            <a:r>
              <a:rPr lang="en-US" sz="1600" dirty="0"/>
              <a:t>Disadvantages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More classes</a:t>
            </a:r>
            <a:r>
              <a:rPr lang="en-US" sz="1600" dirty="0"/>
              <a:t>: every product needs at least one builder class (plus a   Director in the </a:t>
            </a:r>
            <a:r>
              <a:rPr lang="en-US" sz="1600" dirty="0" err="1"/>
              <a:t>GoF</a:t>
            </a:r>
            <a:r>
              <a:rPr lang="en-US" sz="1600" dirty="0"/>
              <a:t> form). For simple objects this is pure overhead.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construction logic is </a:t>
            </a:r>
            <a:r>
              <a:rPr lang="en-US" sz="1600" b="1" dirty="0"/>
              <a:t>spread over several methods/classes</a:t>
            </a:r>
            <a:r>
              <a:rPr lang="en-US" sz="1600" dirty="0"/>
              <a:t>, which can make it harder to follow than a single constructor.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fluent chain that is too long becomes its own readability problem; and a builder with </a:t>
            </a:r>
            <a:r>
              <a:rPr lang="en-US" sz="1600" i="1" dirty="0"/>
              <a:t>void</a:t>
            </a:r>
            <a:r>
              <a:rPr lang="en-US" sz="1600" dirty="0"/>
              <a:t> setters plus a separate </a:t>
            </a:r>
            <a:r>
              <a:rPr lang="en-US" sz="1600" i="1" dirty="0"/>
              <a:t>build()</a:t>
            </a:r>
            <a:r>
              <a:rPr lang="en-US" sz="1600" dirty="0"/>
              <a:t> is more verbose than a  plain constructor for objects with few required parameters.</a:t>
            </a:r>
          </a:p>
        </p:txBody>
      </p:sp>
    </p:spTree>
    <p:extLst>
      <p:ext uri="{BB962C8B-B14F-4D97-AF65-F5344CB8AC3E}">
        <p14:creationId xmlns:p14="http://schemas.microsoft.com/office/powerpoint/2010/main" val="429452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43C89-C13A-96F5-8EEC-9E1449BC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A863E2-F261-758F-4038-B480127E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2F265-1C17-D8FB-0938-5F9387F74592}"/>
              </a:ext>
            </a:extLst>
          </p:cNvPr>
          <p:cNvSpPr txBox="1"/>
          <p:nvPr/>
        </p:nvSpPr>
        <p:spPr>
          <a:xfrm>
            <a:off x="535709" y="194055"/>
            <a:ext cx="2158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Prototype - Problem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FDB01-C3DB-3030-6466-A829A254F923}"/>
              </a:ext>
            </a:extLst>
          </p:cNvPr>
          <p:cNvSpPr txBox="1"/>
          <p:nvPr/>
        </p:nvSpPr>
        <p:spPr>
          <a:xfrm>
            <a:off x="535709" y="914400"/>
            <a:ext cx="1118925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Constructing some objects can be expensive or redundant.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Decouple clients from concrete product classes</a:t>
            </a:r>
            <a:r>
              <a:rPr lang="en-US" dirty="0"/>
              <a:t>. The client only knows the abstract Prototype type; it never names the concrete class it is creating.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Avoid a proliferation of nearly identical classes</a:t>
            </a:r>
            <a:r>
              <a:rPr lang="en-US" dirty="0"/>
              <a:t>. If 50 report layouts or 30 pizza variants differ only in initialization data, you do not need 50 or 30 classes — you need a few prototypes plus customization of clones.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Add new object types at runtime (Open/Closed Principle)</a:t>
            </a:r>
            <a:r>
              <a:rPr lang="en-US" dirty="0"/>
              <a:t>. Registering a new prototype instance introduces a new "type" of product without writing a new class and without recompiling the client.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Avoid factory hierarchies that mirror product hierarchies</a:t>
            </a:r>
            <a:r>
              <a:rPr lang="en-US" dirty="0"/>
              <a:t>. When the set of products grows, a parallel hierarchy of factories would have to grow in lockstep.</a:t>
            </a:r>
          </a:p>
        </p:txBody>
      </p:sp>
    </p:spTree>
    <p:extLst>
      <p:ext uri="{BB962C8B-B14F-4D97-AF65-F5344CB8AC3E}">
        <p14:creationId xmlns:p14="http://schemas.microsoft.com/office/powerpoint/2010/main" val="499617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FC2B0-A21C-B5C0-B29D-7B032256A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93CCAF-CF3C-9D8B-42B7-D3451B75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917C1C-AF51-515E-360F-848932ACBF3E}"/>
              </a:ext>
            </a:extLst>
          </p:cNvPr>
          <p:cNvSpPr txBox="1"/>
          <p:nvPr/>
        </p:nvSpPr>
        <p:spPr>
          <a:xfrm>
            <a:off x="535709" y="194055"/>
            <a:ext cx="194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Prototype - Usage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2F9111-CCF7-21AC-7EB3-4AA89D994148}"/>
              </a:ext>
            </a:extLst>
          </p:cNvPr>
          <p:cNvSpPr txBox="1"/>
          <p:nvPr/>
        </p:nvSpPr>
        <p:spPr>
          <a:xfrm>
            <a:off x="1683652" y="4821653"/>
            <a:ext cx="3083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Key Method: Clone!!!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061CC7-0FA1-A26B-4D84-7D4FE43C2E08}"/>
              </a:ext>
            </a:extLst>
          </p:cNvPr>
          <p:cNvSpPr txBox="1"/>
          <p:nvPr/>
        </p:nvSpPr>
        <p:spPr>
          <a:xfrm>
            <a:off x="6198954" y="4528510"/>
            <a:ext cx="39088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Benefits:</a:t>
            </a:r>
          </a:p>
          <a:p>
            <a:r>
              <a:rPr lang="en-US" sz="1200"/>
              <a:t>Performance: Avoids expensive initialization</a:t>
            </a:r>
          </a:p>
          <a:p>
            <a:endParaRPr lang="en-US" sz="1200"/>
          </a:p>
          <a:p>
            <a:r>
              <a:rPr lang="en-US" sz="1200"/>
              <a:t>Considerations:</a:t>
            </a:r>
          </a:p>
          <a:p>
            <a:r>
              <a:rPr lang="en-US" sz="1200"/>
              <a:t>Cloning complexity: Deep vs shallow cloning decisions</a:t>
            </a:r>
          </a:p>
          <a:p>
            <a:r>
              <a:rPr lang="en-US" sz="1200"/>
              <a:t>Circular references: Can cause issues with deep cloning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91DBDE-C3FB-38E6-F838-20D02F1CA397}"/>
              </a:ext>
            </a:extLst>
          </p:cNvPr>
          <p:cNvSpPr txBox="1"/>
          <p:nvPr/>
        </p:nvSpPr>
        <p:spPr>
          <a:xfrm>
            <a:off x="535709" y="870155"/>
            <a:ext cx="111155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to use it: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classes to instantiate specify a </a:t>
            </a:r>
            <a:r>
              <a:rPr lang="en-US" b="1" dirty="0"/>
              <a:t>fixed but large set of types</a:t>
            </a:r>
            <a:r>
              <a:rPr lang="en-US" dirty="0"/>
              <a:t>, and instantiating every variation through explicit construction is impractical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a hierarchy of classes that are </a:t>
            </a:r>
            <a:r>
              <a:rPr lang="en-US" b="1" dirty="0"/>
              <a:t>almost identical except for how they are initialized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to add new objects to a system </a:t>
            </a:r>
            <a:r>
              <a:rPr lang="en-US" b="1" dirty="0"/>
              <a:t>without revealing the details of their creation </a:t>
            </a:r>
            <a:r>
              <a:rPr lang="en-US" dirty="0"/>
              <a:t>(privacy/encapsulation of the construction logic).</a:t>
            </a:r>
          </a:p>
        </p:txBody>
      </p:sp>
    </p:spTree>
    <p:extLst>
      <p:ext uri="{BB962C8B-B14F-4D97-AF65-F5344CB8AC3E}">
        <p14:creationId xmlns:p14="http://schemas.microsoft.com/office/powerpoint/2010/main" val="42120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68CBC-FF9B-BC00-69FA-5085B21E4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199C9-B46A-7165-28C4-4299F0467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39A93-AD22-D249-3AE3-D01F7FE35A02}"/>
              </a:ext>
            </a:extLst>
          </p:cNvPr>
          <p:cNvSpPr txBox="1"/>
          <p:nvPr/>
        </p:nvSpPr>
        <p:spPr>
          <a:xfrm>
            <a:off x="535709" y="194055"/>
            <a:ext cx="2765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Prototype – Class diagram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38A21D-3BFD-A01A-AD02-BD38077E6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98" y="1059872"/>
            <a:ext cx="11581003" cy="473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0047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ED05B-0207-8BBF-6211-52AE48467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80CC0E-D44C-11AB-1D4D-C848793D1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C3678-34AC-3658-D74C-1746CF660A04}"/>
              </a:ext>
            </a:extLst>
          </p:cNvPr>
          <p:cNvSpPr txBox="1"/>
          <p:nvPr/>
        </p:nvSpPr>
        <p:spPr>
          <a:xfrm>
            <a:off x="535709" y="194055"/>
            <a:ext cx="53106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Document Templates – Prototype – Base class and registry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7BB62F-EDEA-69C6-5A83-FDA06DEB48DE}"/>
              </a:ext>
            </a:extLst>
          </p:cNvPr>
          <p:cNvSpPr txBox="1"/>
          <p:nvPr/>
        </p:nvSpPr>
        <p:spPr>
          <a:xfrm>
            <a:off x="332884" y="1184564"/>
            <a:ext cx="4461478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abstract class Document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title;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author;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createdDate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List&lt;String&gt; sections;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footer;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readOnly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Document(Document source)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this.title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source.title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this.author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source.author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this.createdDate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source.createdDate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this.sections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=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source.sections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this.footer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source.footer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this.readOnly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source.readOnly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abstract Document clone();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abstract String render();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631F37-07AD-5B5C-A7AD-5F4F2C8E0943}"/>
              </a:ext>
            </a:extLst>
          </p:cNvPr>
          <p:cNvSpPr txBox="1"/>
          <p:nvPr/>
        </p:nvSpPr>
        <p:spPr>
          <a:xfrm>
            <a:off x="5413664" y="1371600"/>
            <a:ext cx="659988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DocumentTemplateRegistry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Map&lt;String, Document&gt; templates = new HashMap&lt;&gt;();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register(String name, Document prototype)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templates.put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(name,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prototype.clone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());  // store a safe copy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Returns a fresh clone — never the stored instance. */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Document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createFromTemplate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name)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Document template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templates.get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(name);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(template == null)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throw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IllegalArgumentException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"Template not found: " + name);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template.clone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530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F18A4-874F-C86E-A3D5-806F673AF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BBBDF5-D17B-1DCA-58B4-BCDDE9BBB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A9336E-1BB0-F03B-C9E4-176D9728C794}"/>
              </a:ext>
            </a:extLst>
          </p:cNvPr>
          <p:cNvSpPr txBox="1"/>
          <p:nvPr/>
        </p:nvSpPr>
        <p:spPr>
          <a:xfrm>
            <a:off x="535709" y="194055"/>
            <a:ext cx="4063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Document Templates – Prototype - Products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0BA20-64D9-1325-D03E-DED0F87BD3BA}"/>
              </a:ext>
            </a:extLst>
          </p:cNvPr>
          <p:cNvSpPr txBox="1"/>
          <p:nvPr/>
        </p:nvSpPr>
        <p:spPr>
          <a:xfrm>
            <a:off x="535709" y="696191"/>
            <a:ext cx="4692310" cy="587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Invoice extends Document {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companyName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companyAddress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invoiceNumber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List&lt;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LineItem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lineItems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double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taxRate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paymentTerms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currency;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Invoice(Invoice source)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super(source);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this.companyName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source.companyName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this.companyAddress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source.companyAddress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this.customerName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source.customerName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this.taxRate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source.taxRate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this.paymentTerms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source.paymentTerms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this.currency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source.currency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this.lineItems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LineItem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item :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source.lineItems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this.lineItems.add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LineItem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(item));  // ← each item cloned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Invoice clone() { return new Invoice(this);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addLineItem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desc, int qty, double price)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lineItems.add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LineItem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(desc, qty, price));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// Inner class with its own copy constructor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class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LineItem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private String description;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private int quantity;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private double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unitPrice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public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LineItem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LineItem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source)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this.description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source.description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this.quantity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source.quantity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this.unitPrice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source.unitPrice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// getters, setters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EC899B-87F5-66B1-02DA-FE4F74D04E46}"/>
              </a:ext>
            </a:extLst>
          </p:cNvPr>
          <p:cNvSpPr txBox="1"/>
          <p:nvPr/>
        </p:nvSpPr>
        <p:spPr>
          <a:xfrm>
            <a:off x="6963983" y="532609"/>
            <a:ext cx="4022255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Report extends Document {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reportType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department;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period;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Map&lt;String, String&gt; metadata;   // ← deep-copied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List&lt;String&gt; recipients;        // ← deep-copied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Report(Report source)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super(source);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this.reportType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source.reportType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this.department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source.department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this.period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source.period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this.metadata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= 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LinkedHashMap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source.metadata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this.recipients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source.recipients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Report clone() { return new Report(this);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// getters, setters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FD5FD9-CF53-18A8-D3EA-72AE011F3064}"/>
              </a:ext>
            </a:extLst>
          </p:cNvPr>
          <p:cNvSpPr txBox="1"/>
          <p:nvPr/>
        </p:nvSpPr>
        <p:spPr>
          <a:xfrm>
            <a:off x="6963983" y="3429000"/>
            <a:ext cx="469231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Contract extends Document {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contractType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partyA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partyB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effectiveDate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expirationDate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List&lt;String&gt; clauses;       // ← deep-copied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governingLaw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requiresNotarization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Contract(Contract source)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super(source);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this.contractType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source.contractType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this.partyA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source.partyA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this.partyB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source.partyB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this.clauses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= 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source.clauses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  // deep copy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this.governingLaw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source.governingLaw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this.requiresNotarization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source.requiresNotarization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Contract clone() { return new Contract(this);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// getters, setters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868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C86D5-93CB-B179-589F-A546618F8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EC590-3A4C-F0E9-AB19-4E6B50DB7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F5D635-0CB6-1546-8ABF-FDBEF212FFB1}"/>
              </a:ext>
            </a:extLst>
          </p:cNvPr>
          <p:cNvSpPr txBox="1"/>
          <p:nvPr/>
        </p:nvSpPr>
        <p:spPr>
          <a:xfrm>
            <a:off x="535709" y="194055"/>
            <a:ext cx="42803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Document Templates – Prototype - 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E5CA35-F788-8B40-523D-89EE7007E561}"/>
              </a:ext>
            </a:extLst>
          </p:cNvPr>
          <p:cNvSpPr txBox="1"/>
          <p:nvPr/>
        </p:nvSpPr>
        <p:spPr>
          <a:xfrm>
            <a:off x="223982" y="705177"/>
            <a:ext cx="5391219" cy="5447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DocumentPrototypeDemo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SETUP (once at startup)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DocumentTemplateRegistry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registry =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DocumentTemplateRegistry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Invoice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invoiceTemplate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new Invoice();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invoiceTemplate.setCompanyName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TechCorp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GmbH");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invoiceTemplate.setCompanyAddress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"Dietmar-Hopp-Allee 16, Walldorf");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invoiceTemplate.setTaxRate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(0.19);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invoiceTemplate.setPaymentTerms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("Net 30 days");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invoiceTemplate.setCurrency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("EUR");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Contract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ndaTemplate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new Contract();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ndaTemplate.setContractType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"Non-Disclosure Agreement (NDA)");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ndaTemplate.setPartyA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TechCorp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GmbH");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ndaTemplate.setGoverningLaw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("German Law (BGB)");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ndaTemplate.addClause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"Confidential Information shall include...");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ndaTemplate.addClause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"Obligations: maintain strict secrecy...");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ndaTemplate.addClause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"Term: 3 years from Effective Date.");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registry.register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("invoice",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invoiceTemplate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registry.register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ndaTemplate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7467D0-F107-03FE-FEF4-0B2F65A6B359}"/>
              </a:ext>
            </a:extLst>
          </p:cNvPr>
          <p:cNvSpPr txBox="1"/>
          <p:nvPr/>
        </p:nvSpPr>
        <p:spPr>
          <a:xfrm>
            <a:off x="5592116" y="877745"/>
            <a:ext cx="6599884" cy="5447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USAGE (per transaction — cheap clone + customize)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Invoice for Customer 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Invoice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(Invoice)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registry.createFromTemplate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"invoice");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invA.setInvoiceNumber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("INV-2026-0042");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invA.setCustomerName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AutoTech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AG");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invA.addLineItem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("Cloud License", 1, 15000.00);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Invoice for Customer B (different currency, tax)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Invoice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invB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(Invoice)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registry.createFromTemplate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"invoice");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invB.setInvoiceNumber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("INV-2026-0043");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invB.setCustomerName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DataFlow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Inc.");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invB.setCurrency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("USD");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invB.setTaxRate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(0.0875);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NDA for new partner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Contract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(Contract)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registry.createFromTemplate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nda.setPartyB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InnoSoft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Ltd.");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nda.setEffectiveDate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("2026-09-01");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nda.addClause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("Custom: includes source code disclosure.");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Template unaffected by additions to clone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ndaTemplate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still has 3 clauses,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has 4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77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DF0F7-D983-CAED-A85E-6A978B48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A4C34D-C735-7BF9-BEC3-47EF0A4C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68D754-51BF-D76E-458F-F7CECEF070EE}"/>
              </a:ext>
            </a:extLst>
          </p:cNvPr>
          <p:cNvSpPr txBox="1"/>
          <p:nvPr/>
        </p:nvSpPr>
        <p:spPr>
          <a:xfrm>
            <a:off x="4126565" y="3105834"/>
            <a:ext cx="3943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Prototype - Shapes</a:t>
            </a:r>
          </a:p>
        </p:txBody>
      </p:sp>
    </p:spTree>
    <p:extLst>
      <p:ext uri="{BB962C8B-B14F-4D97-AF65-F5344CB8AC3E}">
        <p14:creationId xmlns:p14="http://schemas.microsoft.com/office/powerpoint/2010/main" val="28897856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CFB5F-1D55-2FB3-DAD1-1712C57BE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456F9-9B1E-0CB7-7977-97172EB18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DD46E4-BAF1-D819-3F74-97C278FC6B62}"/>
              </a:ext>
            </a:extLst>
          </p:cNvPr>
          <p:cNvSpPr txBox="1"/>
          <p:nvPr/>
        </p:nvSpPr>
        <p:spPr>
          <a:xfrm>
            <a:off x="444535" y="203291"/>
            <a:ext cx="31983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Prototyping ... with </a:t>
            </a:r>
            <a:r>
              <a:rPr lang="en-US" sz="1600" dirty="0" err="1"/>
              <a:t>Javascript</a:t>
            </a:r>
            <a:r>
              <a:rPr lang="en-US" sz="1600" dirty="0"/>
              <a:t> ❤️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9DC1E-A6B7-BA2D-A819-3852BF2066C7}"/>
              </a:ext>
            </a:extLst>
          </p:cNvPr>
          <p:cNvSpPr txBox="1"/>
          <p:nvPr/>
        </p:nvSpPr>
        <p:spPr>
          <a:xfrm>
            <a:off x="444535" y="826121"/>
            <a:ext cx="4833374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const foo = {</a:t>
            </a:r>
          </a:p>
          <a:p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  text: “Hey”,</a:t>
            </a:r>
          </a:p>
          <a:p>
            <a:endParaRPr lang="en-US" sz="1200" dirty="0">
              <a:latin typeface="Courier New" panose="02070309020205020404" pitchFamily="49" charset="0"/>
              <a:ea typeface="Noto Mono for Powerline" panose="020B06090308040202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callMe</a:t>
            </a:r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(name) { return `${</a:t>
            </a:r>
            <a:r>
              <a:rPr lang="en-US" sz="1200" dirty="0" err="1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this.text</a:t>
            </a:r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} ${name}!` }</a:t>
            </a:r>
          </a:p>
          <a:p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25887-91B4-7D46-500D-C78BEF4FC001}"/>
              </a:ext>
            </a:extLst>
          </p:cNvPr>
          <p:cNvSpPr txBox="1"/>
          <p:nvPr/>
        </p:nvSpPr>
        <p:spPr>
          <a:xfrm>
            <a:off x="444535" y="2064196"/>
            <a:ext cx="30668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console.log</a:t>
            </a:r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foo.text</a:t>
            </a:r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); 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// “Hey”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B11040-CEB9-64EC-193F-6B3D749859FD}"/>
              </a:ext>
            </a:extLst>
          </p:cNvPr>
          <p:cNvSpPr txBox="1"/>
          <p:nvPr/>
        </p:nvSpPr>
        <p:spPr>
          <a:xfrm>
            <a:off x="444535" y="2341195"/>
            <a:ext cx="5078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console.log</a:t>
            </a:r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foo.callMe</a:t>
            </a:r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(“Antonio”));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 // “Hey Antonio!”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EA14F2-9B78-57A5-51C5-8BCBE8F63D39}"/>
              </a:ext>
            </a:extLst>
          </p:cNvPr>
          <p:cNvSpPr txBox="1"/>
          <p:nvPr/>
        </p:nvSpPr>
        <p:spPr>
          <a:xfrm>
            <a:off x="444535" y="2618194"/>
            <a:ext cx="49125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console.log</a:t>
            </a:r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foo.toString</a:t>
            </a:r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());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 // "[object Object]"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8792F2-185C-6621-30E9-2CAAD58E76A5}"/>
              </a:ext>
            </a:extLst>
          </p:cNvPr>
          <p:cNvSpPr txBox="1"/>
          <p:nvPr/>
        </p:nvSpPr>
        <p:spPr>
          <a:xfrm>
            <a:off x="444534" y="311239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Javascript</a:t>
            </a:r>
            <a:r>
              <a:rPr lang="en-US" sz="1600" dirty="0"/>
              <a:t> objects have a prototype.</a:t>
            </a:r>
            <a:br>
              <a:rPr lang="en-US" sz="1600" dirty="0"/>
            </a:br>
            <a:r>
              <a:rPr lang="en-US" sz="1600" dirty="0"/>
              <a:t>Even a prototype, that is an object, has a prototype!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CA03D2-6A2E-CAA1-DFCB-D437CF8DB67A}"/>
              </a:ext>
            </a:extLst>
          </p:cNvPr>
          <p:cNvSpPr txBox="1"/>
          <p:nvPr/>
        </p:nvSpPr>
        <p:spPr>
          <a:xfrm>
            <a:off x="444534" y="3734339"/>
            <a:ext cx="5762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console.log</a:t>
            </a:r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(Object.getPrototypeOf(foo));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 // { }</a:t>
            </a:r>
          </a:p>
          <a:p>
            <a:r>
              <a:rPr lang="en-US" sz="1200" dirty="0" err="1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console.log</a:t>
            </a:r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Object.getPrototypeOf</a:t>
            </a:r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foo.__proto</a:t>
            </a:r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__)); 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// 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86E107-191E-02B3-EFAE-FA5ED9654D99}"/>
              </a:ext>
            </a:extLst>
          </p:cNvPr>
          <p:cNvSpPr txBox="1"/>
          <p:nvPr/>
        </p:nvSpPr>
        <p:spPr>
          <a:xfrm>
            <a:off x="444534" y="4524134"/>
            <a:ext cx="6713648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n-US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foo.__proto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__ = </a:t>
            </a:r>
            <a:r>
              <a:rPr lang="en-US" sz="1200" b="0" dirty="0">
                <a:solidFill>
                  <a:srgbClr val="3757EF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null</a:t>
            </a:r>
            <a:r>
              <a:rPr lang="en-US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350"/>
              </a:lnSpc>
            </a:pPr>
            <a:r>
              <a:rPr lang="en-US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console.log</a:t>
            </a:r>
            <a:r>
              <a:rPr lang="en-US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foo.text</a:t>
            </a:r>
            <a:r>
              <a:rPr lang="en-US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); 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// “Hey”</a:t>
            </a:r>
            <a:endParaRPr lang="en-US" sz="12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Noto Mono for Powerline" panose="020B0609030804020204" pitchFamily="49" charset="0"/>
              <a:cs typeface="Courier New" panose="020703090202050204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console.log</a:t>
            </a:r>
            <a:r>
              <a:rPr lang="en-US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foo.callMe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(</a:t>
            </a:r>
            <a:r>
              <a:rPr lang="en-US" sz="1200" b="0" dirty="0">
                <a:solidFill>
                  <a:srgbClr val="0C840A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"Antonio"</a:t>
            </a:r>
            <a:r>
              <a:rPr lang="en-US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)); 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// “Hey Antonio!”</a:t>
            </a:r>
            <a:endParaRPr lang="en-US" sz="12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Noto Mono for Powerline" panose="020B0609030804020204" pitchFamily="49" charset="0"/>
              <a:cs typeface="Courier New" panose="020703090202050204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console.log</a:t>
            </a:r>
            <a:r>
              <a:rPr lang="en-US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foo.toString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()); </a:t>
            </a:r>
            <a:r>
              <a:rPr lang="en-US" sz="1200" b="0" dirty="0">
                <a:solidFill>
                  <a:schemeClr val="bg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// [ERR]: foo.toString is not a function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E2326E-1408-33C0-8556-784529BE9E95}"/>
              </a:ext>
            </a:extLst>
          </p:cNvPr>
          <p:cNvSpPr txBox="1"/>
          <p:nvPr/>
        </p:nvSpPr>
        <p:spPr>
          <a:xfrm>
            <a:off x="6834911" y="1865895"/>
            <a:ext cx="5019323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const CarPrototype = {</a:t>
            </a:r>
          </a:p>
          <a:p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run() { console.log(`${this.model} GO!`); }</a:t>
            </a:r>
            <a:endParaRPr lang="en-US" sz="1200" dirty="0">
              <a:latin typeface="Courier New" panose="02070309020205020404" pitchFamily="49" charset="0"/>
              <a:ea typeface="Noto Mono for Powerline" panose="020B06090308040202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1200" dirty="0">
              <a:latin typeface="Courier New" panose="02070309020205020404" pitchFamily="49" charset="0"/>
              <a:ea typeface="Noto Mono for Powerline" panose="020B06090308040202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function Car(model) {</a:t>
            </a:r>
          </a:p>
          <a:p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  this.model = model;</a:t>
            </a:r>
          </a:p>
          <a:p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1200" dirty="0">
              <a:latin typeface="Courier New" panose="02070309020205020404" pitchFamily="49" charset="0"/>
              <a:ea typeface="Noto Mono for Powerline" panose="020B06090308040202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Object.assign(Car.prototype, CarPrototype);</a:t>
            </a:r>
          </a:p>
          <a:p>
            <a:endParaRPr lang="en-US" sz="1200" dirty="0">
              <a:latin typeface="Courier New" panose="02070309020205020404" pitchFamily="49" charset="0"/>
              <a:ea typeface="Noto Mono for Powerline" panose="020B06090308040202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const myCar = new Car(”Maserati”);</a:t>
            </a:r>
          </a:p>
          <a:p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myCar.run(); 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// “Maserati GO!”</a:t>
            </a:r>
          </a:p>
          <a:p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console.log(myCar.toString()); 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// "[object Object]"</a:t>
            </a:r>
            <a:r>
              <a:rPr lang="en-US" sz="1200" dirty="0">
                <a:latin typeface="Courier New" panose="02070309020205020404" pitchFamily="49" charset="0"/>
                <a:ea typeface="Noto Mono for Powerline" panose="020B06090308040202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065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9" grpId="0"/>
      <p:bldP spid="11" grpId="0"/>
      <p:bldP spid="12" grpId="0"/>
      <p:bldP spid="14" grpId="0"/>
      <p:bldP spid="16" grpId="0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312EE-5171-D6DB-3AD1-F9068000D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7ADE8-861F-D4BF-7075-C2A43BCA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9624FA-24F7-46A8-C26C-D6BDE032E098}"/>
              </a:ext>
            </a:extLst>
          </p:cNvPr>
          <p:cNvSpPr txBox="1"/>
          <p:nvPr/>
        </p:nvSpPr>
        <p:spPr>
          <a:xfrm>
            <a:off x="535709" y="194055"/>
            <a:ext cx="2750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Prototype – Pros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D763C1-CC15-011A-86E7-4FEFB9F77F86}"/>
              </a:ext>
            </a:extLst>
          </p:cNvPr>
          <p:cNvSpPr txBox="1"/>
          <p:nvPr/>
        </p:nvSpPr>
        <p:spPr>
          <a:xfrm>
            <a:off x="535710" y="722671"/>
            <a:ext cx="1115976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Advantages: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Configuring a system with variant objects </a:t>
            </a:r>
            <a:r>
              <a:rPr lang="en-US" sz="1600" b="1" dirty="0"/>
              <a:t>without subclassing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Adding or removing object types at runtime (registry + clone)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Clones are fully initialized → </a:t>
            </a:r>
            <a:r>
              <a:rPr lang="en-US" sz="1600" b="1" dirty="0"/>
              <a:t>expensive initialization code is skipped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Clients depend only on the abstract type → high decoupling.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Disadvantages: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Shallow-copy pitfalls</a:t>
            </a:r>
            <a:r>
              <a:rPr lang="en-US" sz="1600" dirty="0"/>
              <a:t>: shared mutable state between original and clone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Java's </a:t>
            </a:r>
            <a:r>
              <a:rPr lang="en-US" sz="1600" i="1" dirty="0"/>
              <a:t>clone()</a:t>
            </a:r>
            <a:r>
              <a:rPr lang="en-US" sz="1600" dirty="0"/>
              <a:t> is awkward: protected, returns </a:t>
            </a:r>
            <a:r>
              <a:rPr lang="en-US" sz="1600" i="1" dirty="0"/>
              <a:t>Object</a:t>
            </a:r>
            <a:r>
              <a:rPr lang="en-US" sz="1600" dirty="0"/>
              <a:t>, requires the </a:t>
            </a:r>
            <a:r>
              <a:rPr lang="en-US" sz="1600" i="1" dirty="0"/>
              <a:t>Cloneable</a:t>
            </a:r>
            <a:r>
              <a:rPr lang="en-US" sz="1600" dirty="0"/>
              <a:t> marker, throws a checked exception; every concrete class must override it correctly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Deep cloning can be costly and error-prone (object cycles, transient fields, resources such as open connections must not be duplicated)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Identity semantics</a:t>
            </a:r>
            <a:r>
              <a:rPr lang="en-US" sz="1600" dirty="0"/>
              <a:t>: clones are new objects — code relying on </a:t>
            </a:r>
            <a:r>
              <a:rPr lang="en-US" sz="1600" i="1" dirty="0"/>
              <a:t>==</a:t>
            </a:r>
            <a:r>
              <a:rPr lang="en-US" sz="1600" dirty="0"/>
              <a:t> or  identity-based collections needs care.</a:t>
            </a:r>
          </a:p>
        </p:txBody>
      </p:sp>
    </p:spTree>
    <p:extLst>
      <p:ext uri="{BB962C8B-B14F-4D97-AF65-F5344CB8AC3E}">
        <p14:creationId xmlns:p14="http://schemas.microsoft.com/office/powerpoint/2010/main" val="182985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DA800-3D15-0FA1-2307-9C997026E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A7C075-39B4-9F72-C2F5-8E47793BD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3912FB-B6A5-CF4F-60D9-84F0D3780256}"/>
              </a:ext>
            </a:extLst>
          </p:cNvPr>
          <p:cNvSpPr txBox="1"/>
          <p:nvPr/>
        </p:nvSpPr>
        <p:spPr>
          <a:xfrm>
            <a:off x="535709" y="194055"/>
            <a:ext cx="2127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Singleton - Problem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39C501-27DA-6889-7D5F-A40CFB24AF47}"/>
              </a:ext>
            </a:extLst>
          </p:cNvPr>
          <p:cNvSpPr txBox="1"/>
          <p:nvPr/>
        </p:nvSpPr>
        <p:spPr>
          <a:xfrm>
            <a:off x="535709" y="1386348"/>
            <a:ext cx="112777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solves two problems simultaneously: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Uniqueness</a:t>
            </a:r>
            <a:r>
              <a:rPr lang="en-US" dirty="0"/>
              <a:t> — at most one object exists for the lifetime of the JVM, shared resources (loggers, caches, connection pools, configuration) are never duplicated, state stays consistent across the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Global access point</a:t>
            </a:r>
            <a:r>
              <a:rPr lang="en-US" dirty="0"/>
              <a:t> — a well-known static factory (</a:t>
            </a:r>
            <a:r>
              <a:rPr lang="en-US" i="1" dirty="0" err="1"/>
              <a:t>getInstance</a:t>
            </a:r>
            <a:r>
              <a:rPr lang="en-US" i="1" dirty="0"/>
              <a:t>()</a:t>
            </a:r>
            <a:r>
              <a:rPr lang="en-US" dirty="0"/>
              <a:t>) returns that object, clients don't need to pass references through every constructor or query a registry</a:t>
            </a:r>
          </a:p>
        </p:txBody>
      </p:sp>
    </p:spTree>
    <p:extLst>
      <p:ext uri="{BB962C8B-B14F-4D97-AF65-F5344CB8AC3E}">
        <p14:creationId xmlns:p14="http://schemas.microsoft.com/office/powerpoint/2010/main" val="346834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12E2A-2748-C7EB-BF60-EB1FC9B73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3F71D2-39FA-83C3-F93C-7824958A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5741DA-5B0C-9BC3-243F-E2B8C5BED524}"/>
              </a:ext>
            </a:extLst>
          </p:cNvPr>
          <p:cNvSpPr txBox="1"/>
          <p:nvPr/>
        </p:nvSpPr>
        <p:spPr>
          <a:xfrm>
            <a:off x="535709" y="194055"/>
            <a:ext cx="1912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Singleton - Usage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A61B31-050B-4195-D65B-8B1685F837AA}"/>
              </a:ext>
            </a:extLst>
          </p:cNvPr>
          <p:cNvSpPr txBox="1"/>
          <p:nvPr/>
        </p:nvSpPr>
        <p:spPr>
          <a:xfrm>
            <a:off x="6096000" y="4303145"/>
            <a:ext cx="54015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Best Practices and Considerations</a:t>
            </a:r>
          </a:p>
          <a:p>
            <a:endParaRPr lang="en-US" sz="1200" dirty="0"/>
          </a:p>
          <a:p>
            <a:r>
              <a:rPr lang="en-US" sz="1200" dirty="0"/>
              <a:t>Thread safety is crucial in multi-threaded environments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Lazy initialization improves startup performance when the singleton is expensive to create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Avoid overuse as it can create hidden dependencies and testing difficulties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5F878C-6629-6A39-EAF1-CF47DAC699B5}"/>
              </a:ext>
            </a:extLst>
          </p:cNvPr>
          <p:cNvSpPr txBox="1"/>
          <p:nvPr/>
        </p:nvSpPr>
        <p:spPr>
          <a:xfrm>
            <a:off x="547569" y="840658"/>
            <a:ext cx="112363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exactly </a:t>
            </a:r>
            <a:r>
              <a:rPr lang="en-US" b="1" dirty="0"/>
              <a:t>one</a:t>
            </a:r>
            <a:r>
              <a:rPr lang="en-US" dirty="0"/>
              <a:t> instance of a class is needed to coordinate actions and state (e.g., a print spooler, a system registry, an application logger)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single instance must be </a:t>
            </a:r>
            <a:r>
              <a:rPr lang="en-US" b="1" dirty="0"/>
              <a:t>accessible from many places</a:t>
            </a:r>
            <a:r>
              <a:rPr lang="en-US" dirty="0"/>
              <a:t> without passing references through every constructor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the object is </a:t>
            </a:r>
            <a:r>
              <a:rPr lang="en-US" b="1" dirty="0"/>
              <a:t>expensive</a:t>
            </a:r>
            <a:r>
              <a:rPr lang="en-US" dirty="0"/>
              <a:t> and you want it created at most once (lazy initialization on first use).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controlled access to the sole instance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reduced namespace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permits a variable number of instances</a:t>
            </a:r>
          </a:p>
        </p:txBody>
      </p:sp>
    </p:spTree>
    <p:extLst>
      <p:ext uri="{BB962C8B-B14F-4D97-AF65-F5344CB8AC3E}">
        <p14:creationId xmlns:p14="http://schemas.microsoft.com/office/powerpoint/2010/main" val="67346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6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18B23-3D37-A8B1-E1C1-F64CC97F2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3AE948-6D33-2A6B-8ABB-C5F05BF8F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AF80C8-ECF5-C62C-5D5D-D3876CA0DEBA}"/>
              </a:ext>
            </a:extLst>
          </p:cNvPr>
          <p:cNvSpPr txBox="1"/>
          <p:nvPr/>
        </p:nvSpPr>
        <p:spPr>
          <a:xfrm>
            <a:off x="535709" y="19405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Singleton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AF723E-F15C-4942-B385-C350A8774A26}"/>
              </a:ext>
            </a:extLst>
          </p:cNvPr>
          <p:cNvSpPr txBox="1"/>
          <p:nvPr/>
        </p:nvSpPr>
        <p:spPr>
          <a:xfrm>
            <a:off x="535709" y="1283110"/>
            <a:ext cx="112363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not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more than one instance (use a factory or a pool instead)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"shared" state could be passed explicitly as a parameter (prefer that — it is simpler and testable)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7B8F8E-C4C1-59B2-D055-BD7AADC38072}"/>
              </a:ext>
            </a:extLst>
          </p:cNvPr>
          <p:cNvSpPr txBox="1"/>
          <p:nvPr/>
        </p:nvSpPr>
        <p:spPr>
          <a:xfrm>
            <a:off x="1564054" y="4097563"/>
            <a:ext cx="9063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Rule of thumb: </a:t>
            </a:r>
            <a:r>
              <a:rPr lang="en-US" sz="2000" b="1" dirty="0"/>
              <a:t>Singletons are for shared infrastructure, not for business logic</a:t>
            </a:r>
          </a:p>
        </p:txBody>
      </p:sp>
    </p:spTree>
    <p:extLst>
      <p:ext uri="{BB962C8B-B14F-4D97-AF65-F5344CB8AC3E}">
        <p14:creationId xmlns:p14="http://schemas.microsoft.com/office/powerpoint/2010/main" val="155327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30DCE-B625-6A03-0D4F-3EEBDDAE0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B61FC2-F54F-E7D2-B2A2-A81928F00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54EDCA-D031-A437-9378-B7552A4BA4C5}"/>
              </a:ext>
            </a:extLst>
          </p:cNvPr>
          <p:cNvSpPr txBox="1"/>
          <p:nvPr/>
        </p:nvSpPr>
        <p:spPr>
          <a:xfrm>
            <a:off x="513132" y="194055"/>
            <a:ext cx="30950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Database connection – Singleton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4A4322-38BE-FC34-2AEA-B483D162DB9A}"/>
              </a:ext>
            </a:extLst>
          </p:cNvPr>
          <p:cNvSpPr txBox="1"/>
          <p:nvPr/>
        </p:nvSpPr>
        <p:spPr>
          <a:xfrm>
            <a:off x="513132" y="737755"/>
            <a:ext cx="6227987" cy="4339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DatabaseConnection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// 1. Private static field (volatile for thread visibility)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static volatile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DatabaseConnection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instance;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// 2. Private constructor — nobody outside can call "new"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DatabaseConnection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// connect to DB …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// 3. Public static method — the only way to get the instance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DatabaseConnection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getInstance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(instance == null) { // fast path (no lock)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synchronized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DatabaseConnection.class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if (instance == null) { // safe check (with lock)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instance =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DatabaseConnection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instance;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48F21-A349-84E4-C00A-20716C78C45B}"/>
              </a:ext>
            </a:extLst>
          </p:cNvPr>
          <p:cNvSpPr txBox="1"/>
          <p:nvPr/>
        </p:nvSpPr>
        <p:spPr>
          <a:xfrm>
            <a:off x="5171197" y="4468091"/>
            <a:ext cx="65069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SingletonDemo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Same instance every time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DatabaseConnection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db1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DatabaseConnection.getInstance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DatabaseConnection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db2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DatabaseConnection.getInstance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("db1 == db2 ? " + (db1 == db2));  // true</a:t>
            </a:r>
          </a:p>
        </p:txBody>
      </p:sp>
    </p:spTree>
    <p:extLst>
      <p:ext uri="{BB962C8B-B14F-4D97-AF65-F5344CB8AC3E}">
        <p14:creationId xmlns:p14="http://schemas.microsoft.com/office/powerpoint/2010/main" val="23349631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EABD7-B698-3E35-188A-82E2337F1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E0F290-FAF1-E9DE-4E15-93A0A0271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7B1F2A-99C2-8790-309C-06FFB8E8FF71}"/>
              </a:ext>
            </a:extLst>
          </p:cNvPr>
          <p:cNvSpPr txBox="1"/>
          <p:nvPr/>
        </p:nvSpPr>
        <p:spPr>
          <a:xfrm>
            <a:off x="3921366" y="3105834"/>
            <a:ext cx="4349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Singleton - Examples</a:t>
            </a:r>
          </a:p>
        </p:txBody>
      </p:sp>
    </p:spTree>
    <p:extLst>
      <p:ext uri="{BB962C8B-B14F-4D97-AF65-F5344CB8AC3E}">
        <p14:creationId xmlns:p14="http://schemas.microsoft.com/office/powerpoint/2010/main" val="8882064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B509F-E150-9C38-3BF6-E9510B6E0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B8DF37-33DB-A0BF-1091-E5A5D7C5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Creational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59128D-05B9-1135-CFA5-1D20BD9A7509}"/>
              </a:ext>
            </a:extLst>
          </p:cNvPr>
          <p:cNvSpPr txBox="1"/>
          <p:nvPr/>
        </p:nvSpPr>
        <p:spPr>
          <a:xfrm>
            <a:off x="513132" y="194055"/>
            <a:ext cx="747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Recap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FA6614-0128-0E1C-CFC0-C7B4A6D2F9FD}"/>
              </a:ext>
            </a:extLst>
          </p:cNvPr>
          <p:cNvSpPr txBox="1"/>
          <p:nvPr/>
        </p:nvSpPr>
        <p:spPr>
          <a:xfrm>
            <a:off x="513132" y="867266"/>
            <a:ext cx="399340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Choose Singleton when:</a:t>
            </a:r>
          </a:p>
          <a:p>
            <a:endParaRPr lang="en-US" sz="1400"/>
          </a:p>
          <a:p>
            <a:pPr marL="285750" indent="-285750">
              <a:buFontTx/>
              <a:buChar char="-"/>
            </a:pPr>
            <a:r>
              <a:rPr lang="en-US" sz="1400"/>
              <a:t>Exactly one instance needed globally</a:t>
            </a:r>
          </a:p>
          <a:p>
            <a:pPr marL="285750" indent="-285750">
              <a:buFontTx/>
              <a:buChar char="-"/>
            </a:pPr>
            <a:r>
              <a:rPr lang="en-US" sz="1400"/>
              <a:t>Coordinating actions across the system</a:t>
            </a:r>
          </a:p>
          <a:p>
            <a:pPr marL="285750" indent="-285750">
              <a:buFontTx/>
              <a:buChar char="-"/>
            </a:pPr>
            <a:r>
              <a:rPr lang="en-US" sz="1400"/>
              <a:t>Managing shared resources (logging, caching)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F5D0C8-97F4-187C-21DD-FC3DCB9DC493}"/>
              </a:ext>
            </a:extLst>
          </p:cNvPr>
          <p:cNvSpPr txBox="1"/>
          <p:nvPr/>
        </p:nvSpPr>
        <p:spPr>
          <a:xfrm>
            <a:off x="540960" y="2371474"/>
            <a:ext cx="396557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Choose Factory Method when:</a:t>
            </a:r>
          </a:p>
          <a:p>
            <a:endParaRPr lang="en-US" sz="1400"/>
          </a:p>
          <a:p>
            <a:pPr marL="285750" indent="-285750">
              <a:buFontTx/>
              <a:buChar char="-"/>
            </a:pPr>
            <a:r>
              <a:rPr lang="en-US" sz="1400"/>
              <a:t>Creating objects without knowing exact types</a:t>
            </a:r>
          </a:p>
          <a:p>
            <a:pPr marL="285750" indent="-285750">
              <a:buFontTx/>
              <a:buChar char="-"/>
            </a:pPr>
            <a:r>
              <a:rPr lang="en-US" sz="1400"/>
              <a:t>Delegating object creation to subclasses</a:t>
            </a:r>
          </a:p>
          <a:p>
            <a:pPr marL="285750" indent="-285750">
              <a:buFontTx/>
              <a:buChar char="-"/>
            </a:pPr>
            <a:r>
              <a:rPr lang="en-US" sz="1400"/>
              <a:t>Following the dependency inversion principle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493CC-D0C6-CA09-D9A5-8AF3225787D0}"/>
              </a:ext>
            </a:extLst>
          </p:cNvPr>
          <p:cNvSpPr txBox="1"/>
          <p:nvPr/>
        </p:nvSpPr>
        <p:spPr>
          <a:xfrm>
            <a:off x="513132" y="3875682"/>
            <a:ext cx="361118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Choose Abstract Factory when:</a:t>
            </a:r>
          </a:p>
          <a:p>
            <a:endParaRPr lang="en-US" sz="1400"/>
          </a:p>
          <a:p>
            <a:pPr marL="285750" indent="-285750">
              <a:buFontTx/>
              <a:buChar char="-"/>
            </a:pPr>
            <a:r>
              <a:rPr lang="en-US" sz="1400"/>
              <a:t>Creating families of related objects</a:t>
            </a:r>
          </a:p>
          <a:p>
            <a:pPr marL="285750" indent="-285750">
              <a:buFontTx/>
              <a:buChar char="-"/>
            </a:pPr>
            <a:r>
              <a:rPr lang="en-US" sz="1400"/>
              <a:t>Ensuring product compatibility</a:t>
            </a:r>
          </a:p>
          <a:p>
            <a:pPr marL="285750" indent="-285750">
              <a:buFontTx/>
              <a:buChar char="-"/>
            </a:pPr>
            <a:r>
              <a:rPr lang="en-US" sz="1400"/>
              <a:t>Supporting multiple platforms or themes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60653-7824-F0EE-8BF8-67E73B992E9E}"/>
              </a:ext>
            </a:extLst>
          </p:cNvPr>
          <p:cNvSpPr txBox="1"/>
          <p:nvPr/>
        </p:nvSpPr>
        <p:spPr>
          <a:xfrm>
            <a:off x="6702458" y="867265"/>
            <a:ext cx="356354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Choose Builder when:</a:t>
            </a:r>
          </a:p>
          <a:p>
            <a:endParaRPr lang="en-US" sz="1400"/>
          </a:p>
          <a:p>
            <a:pPr marL="285750" indent="-285750">
              <a:buFontTx/>
              <a:buChar char="-"/>
            </a:pPr>
            <a:r>
              <a:rPr lang="en-US" sz="1400"/>
              <a:t>Objects have many optional parameters</a:t>
            </a:r>
          </a:p>
          <a:p>
            <a:pPr marL="285750" indent="-285750">
              <a:buFontTx/>
              <a:buChar char="-"/>
            </a:pPr>
            <a:r>
              <a:rPr lang="en-US" sz="1400"/>
              <a:t>Step-by-step construction is needed</a:t>
            </a:r>
          </a:p>
          <a:p>
            <a:pPr marL="285750" indent="-285750">
              <a:buFontTx/>
              <a:buChar char="-"/>
            </a:pPr>
            <a:r>
              <a:rPr lang="en-US" sz="1400"/>
              <a:t>Creating immutable objects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12A436-6D3A-F52D-9D11-9C0505BACD76}"/>
              </a:ext>
            </a:extLst>
          </p:cNvPr>
          <p:cNvSpPr txBox="1"/>
          <p:nvPr/>
        </p:nvSpPr>
        <p:spPr>
          <a:xfrm>
            <a:off x="6702458" y="2371474"/>
            <a:ext cx="354757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Choose Prototype when:</a:t>
            </a:r>
          </a:p>
          <a:p>
            <a:endParaRPr lang="en-US" sz="1400"/>
          </a:p>
          <a:p>
            <a:pPr marL="285750" indent="-285750">
              <a:buFontTx/>
              <a:buChar char="-"/>
            </a:pPr>
            <a:r>
              <a:rPr lang="en-US" sz="1400"/>
              <a:t>Object creation is expensive</a:t>
            </a:r>
          </a:p>
          <a:p>
            <a:pPr marL="285750" indent="-285750">
              <a:buFontTx/>
              <a:buChar char="-"/>
            </a:pPr>
            <a:r>
              <a:rPr lang="en-US" sz="1400"/>
              <a:t>Objects are similar to existing ones</a:t>
            </a:r>
          </a:p>
          <a:p>
            <a:pPr marL="285750" indent="-285750">
              <a:buFontTx/>
              <a:buChar char="-"/>
            </a:pPr>
            <a:r>
              <a:rPr lang="en-US" sz="1400"/>
              <a:t>Avoiding subclassing for object creation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5FC53E-4EE9-9E49-CDC0-E659AE9EFB9E}"/>
              </a:ext>
            </a:extLst>
          </p:cNvPr>
          <p:cNvSpPr txBox="1"/>
          <p:nvPr/>
        </p:nvSpPr>
        <p:spPr>
          <a:xfrm>
            <a:off x="5585797" y="4020966"/>
            <a:ext cx="604960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Common Anti-Patterns and Pitfalls</a:t>
            </a:r>
          </a:p>
          <a:p>
            <a:endParaRPr lang="en-US" sz="1400"/>
          </a:p>
          <a:p>
            <a:pPr marL="285750" indent="-285750">
              <a:buFontTx/>
              <a:buChar char="-"/>
            </a:pPr>
            <a:r>
              <a:rPr lang="en-US" sz="1400"/>
              <a:t>Singleton Overuse: Not everything needs to be a singleton</a:t>
            </a:r>
          </a:p>
          <a:p>
            <a:pPr marL="285750" indent="-285750">
              <a:buFontTx/>
              <a:buChar char="-"/>
            </a:pPr>
            <a:r>
              <a:rPr lang="en-US" sz="1400"/>
              <a:t>Factory Complexity: Don't use factories for simple object creation</a:t>
            </a:r>
          </a:p>
          <a:p>
            <a:pPr marL="285750" indent="-285750">
              <a:buFontTx/>
              <a:buChar char="-"/>
            </a:pPr>
            <a:r>
              <a:rPr lang="en-US" sz="1400"/>
              <a:t>Builder Overhead: Avoid builders for simple objects with few parameters</a:t>
            </a:r>
          </a:p>
          <a:p>
            <a:pPr marL="285750" indent="-285750">
              <a:buFontTx/>
              <a:buChar char="-"/>
            </a:pPr>
            <a:r>
              <a:rPr lang="en-US" sz="1400"/>
              <a:t>Shallow Cloning Issues: Be careful with reference types in prototypes</a:t>
            </a:r>
          </a:p>
          <a:p>
            <a:pPr marL="285750" indent="-285750">
              <a:buFontTx/>
              <a:buChar char="-"/>
            </a:pPr>
            <a:r>
              <a:rPr lang="en-US" sz="1400"/>
              <a:t>Thread Safety: Consider concurrency in shared pattern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242381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0" grpId="0"/>
      <p:bldP spid="11" grpId="0"/>
      <p:bldP spid="12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6400</Words>
  <Application>Microsoft Macintosh PowerPoint</Application>
  <PresentationFormat>Widescreen</PresentationFormat>
  <Paragraphs>986</Paragraphs>
  <Slides>46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Di Monaco, Antonio</cp:lastModifiedBy>
  <cp:revision>54</cp:revision>
  <dcterms:created xsi:type="dcterms:W3CDTF">2025-02-19T20:33:39Z</dcterms:created>
  <dcterms:modified xsi:type="dcterms:W3CDTF">2026-09-30T18:50:58Z</dcterms:modified>
</cp:coreProperties>
</file>