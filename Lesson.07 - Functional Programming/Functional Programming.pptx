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handoutMasterIdLst>
    <p:handoutMasterId r:id="rId28"/>
  </p:handoutMasterIdLst>
  <p:sldIdLst>
    <p:sldId id="256" r:id="rId2"/>
    <p:sldId id="273" r:id="rId3"/>
    <p:sldId id="321" r:id="rId4"/>
    <p:sldId id="311" r:id="rId5"/>
    <p:sldId id="312" r:id="rId6"/>
    <p:sldId id="313" r:id="rId7"/>
    <p:sldId id="320" r:id="rId8"/>
    <p:sldId id="304" r:id="rId9"/>
    <p:sldId id="305" r:id="rId10"/>
    <p:sldId id="308" r:id="rId11"/>
    <p:sldId id="322" r:id="rId12"/>
    <p:sldId id="323" r:id="rId13"/>
    <p:sldId id="325" r:id="rId14"/>
    <p:sldId id="324" r:id="rId15"/>
    <p:sldId id="306" r:id="rId16"/>
    <p:sldId id="326" r:id="rId17"/>
    <p:sldId id="309" r:id="rId18"/>
    <p:sldId id="310" r:id="rId19"/>
    <p:sldId id="327" r:id="rId20"/>
    <p:sldId id="328" r:id="rId21"/>
    <p:sldId id="316" r:id="rId22"/>
    <p:sldId id="317" r:id="rId23"/>
    <p:sldId id="318" r:id="rId24"/>
    <p:sldId id="319" r:id="rId25"/>
    <p:sldId id="32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B3E8C50-9F58-5237-7C41-C721E3BAA428}" name="Di Monaco, Antonio" initials="AD" userId="S::antonio.di.monaco@sap.com::719b72b0-0350-4d19-9a7f-748728a101c7"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60"/>
  </p:normalViewPr>
  <p:slideViewPr>
    <p:cSldViewPr snapToGrid="0">
      <p:cViewPr varScale="1">
        <p:scale>
          <a:sx n="137" d="100"/>
          <a:sy n="137" d="100"/>
        </p:scale>
        <p:origin x="2096" y="184"/>
      </p:cViewPr>
      <p:guideLst>
        <p:guide orient="horz" pos="2160"/>
        <p:guide pos="3840"/>
      </p:guideLst>
    </p:cSldViewPr>
  </p:slideViewPr>
  <p:notesTextViewPr>
    <p:cViewPr>
      <p:scale>
        <a:sx n="1" d="1"/>
        <a:sy n="1" d="1"/>
      </p:scale>
      <p:origin x="0" y="0"/>
    </p:cViewPr>
  </p:notesTextViewPr>
  <p:gridSpacing cx="38100" cy="381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85BD452-70C7-7D43-DE79-395EC2D5AAB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Advanced Software Engineering - 1</a:t>
            </a:r>
          </a:p>
        </p:txBody>
      </p:sp>
      <p:sp>
        <p:nvSpPr>
          <p:cNvPr id="3" name="Date Placeholder 2">
            <a:extLst>
              <a:ext uri="{FF2B5EF4-FFF2-40B4-BE49-F238E27FC236}">
                <a16:creationId xmlns:a16="http://schemas.microsoft.com/office/drawing/2014/main" id="{A477222D-C06B-5CD4-B200-730FB65A8EB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4042657-6240-B14B-9F48-F865CB79AC7C}" type="datetimeFigureOut">
              <a:rPr lang="en-US" smtClean="0"/>
              <a:t>11/26/25</a:t>
            </a:fld>
            <a:endParaRPr lang="en-US"/>
          </a:p>
        </p:txBody>
      </p:sp>
      <p:sp>
        <p:nvSpPr>
          <p:cNvPr id="4" name="Footer Placeholder 3">
            <a:extLst>
              <a:ext uri="{FF2B5EF4-FFF2-40B4-BE49-F238E27FC236}">
                <a16:creationId xmlns:a16="http://schemas.microsoft.com/office/drawing/2014/main" id="{3CA16D15-E1AC-47B8-BF91-C30978D1B07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Design Patterns - Creational</a:t>
            </a:r>
          </a:p>
        </p:txBody>
      </p:sp>
      <p:sp>
        <p:nvSpPr>
          <p:cNvPr id="5" name="Slide Number Placeholder 4">
            <a:extLst>
              <a:ext uri="{FF2B5EF4-FFF2-40B4-BE49-F238E27FC236}">
                <a16:creationId xmlns:a16="http://schemas.microsoft.com/office/drawing/2014/main" id="{5C6759E4-6272-9520-00E8-FE3F63A8D3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55DFA7A-FF33-C64E-B529-8BCC138EFE3F}" type="slidenum">
              <a:rPr lang="en-US" smtClean="0"/>
              <a:t>‹#›</a:t>
            </a:fld>
            <a:endParaRPr lang="en-US"/>
          </a:p>
        </p:txBody>
      </p:sp>
    </p:spTree>
    <p:extLst>
      <p:ext uri="{BB962C8B-B14F-4D97-AF65-F5344CB8AC3E}">
        <p14:creationId xmlns:p14="http://schemas.microsoft.com/office/powerpoint/2010/main" val="131301349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Advanced Software Engineering - 1</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6B121A-761B-2742-9D61-65348EACD743}" type="datetimeFigureOut">
              <a:rPr lang="en-US" smtClean="0"/>
              <a:t>11/26/25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Design Patterns - Creational</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5659E5-EFBC-DB40-B048-B7FD703FB73F}" type="slidenum">
              <a:rPr lang="en-US" smtClean="0"/>
              <a:t>‹#›</a:t>
            </a:fld>
            <a:endParaRPr lang="en-US"/>
          </a:p>
        </p:txBody>
      </p:sp>
    </p:spTree>
    <p:extLst>
      <p:ext uri="{BB962C8B-B14F-4D97-AF65-F5344CB8AC3E}">
        <p14:creationId xmlns:p14="http://schemas.microsoft.com/office/powerpoint/2010/main" val="426716450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Javascript libraries: ramda – lodash</a:t>
            </a:r>
            <a:br>
              <a:rPr lang="en-US"/>
            </a:br>
            <a:r>
              <a:rPr lang="en-US"/>
              <a:t>Java: streams</a:t>
            </a:r>
          </a:p>
        </p:txBody>
      </p:sp>
    </p:spTree>
    <p:extLst>
      <p:ext uri="{BB962C8B-B14F-4D97-AF65-F5344CB8AC3E}">
        <p14:creationId xmlns:p14="http://schemas.microsoft.com/office/powerpoint/2010/main" val="28542663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0B9D9-CAC0-2766-B81C-E87036A17A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92F4AA-1C32-1191-79A6-E6A5275079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D45670-E95D-0139-4026-81A4A1BA80CC}"/>
              </a:ext>
            </a:extLst>
          </p:cNvPr>
          <p:cNvSpPr>
            <a:spLocks noGrp="1"/>
          </p:cNvSpPr>
          <p:nvPr>
            <p:ph type="body" idx="1"/>
          </p:nvPr>
        </p:nvSpPr>
        <p:spPr/>
        <p:txBody>
          <a:bodyPr/>
          <a:lstStyle/>
          <a:p>
            <a:r>
              <a:rPr lang="en-US"/>
              <a:t>Javascript libraries: ramda – lodash</a:t>
            </a:r>
            <a:br>
              <a:rPr lang="en-US"/>
            </a:br>
            <a:r>
              <a:rPr lang="en-US"/>
              <a:t>Java: streams</a:t>
            </a:r>
          </a:p>
        </p:txBody>
      </p:sp>
    </p:spTree>
    <p:extLst>
      <p:ext uri="{BB962C8B-B14F-4D97-AF65-F5344CB8AC3E}">
        <p14:creationId xmlns:p14="http://schemas.microsoft.com/office/powerpoint/2010/main" val="657070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32860-FD8E-6D18-8928-EBE519A2AA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38B6A4-C6E9-726C-7AB7-202C12FD54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2E6669-BA41-D6AD-15C0-4B3E60354D01}"/>
              </a:ext>
            </a:extLst>
          </p:cNvPr>
          <p:cNvSpPr>
            <a:spLocks noGrp="1"/>
          </p:cNvSpPr>
          <p:nvPr>
            <p:ph type="body" idx="1"/>
          </p:nvPr>
        </p:nvSpPr>
        <p:spPr/>
        <p:txBody>
          <a:bodyPr/>
          <a:lstStyle/>
          <a:p>
            <a:r>
              <a:rPr lang="en-US"/>
              <a:t>Javascript libraries: ramda – lodash</a:t>
            </a:r>
            <a:br>
              <a:rPr lang="en-US"/>
            </a:br>
            <a:r>
              <a:rPr lang="en-US"/>
              <a:t>Java: streams</a:t>
            </a:r>
          </a:p>
        </p:txBody>
      </p:sp>
    </p:spTree>
    <p:extLst>
      <p:ext uri="{BB962C8B-B14F-4D97-AF65-F5344CB8AC3E}">
        <p14:creationId xmlns:p14="http://schemas.microsoft.com/office/powerpoint/2010/main" val="13084882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412930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71213-DD61-B902-3A75-3006CEBB9D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AF4B2B-3B37-F847-FDC8-4DD464FD06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A8FE13-F2F5-51BD-28B1-031923CEB58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698902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3A83C-F99B-30F2-1F9C-D4D01E9E74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513331-F938-C178-345E-65D43272D2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64E9CF-88E5-9A9C-0C22-AB13870AA62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680078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F6ADF-3E72-947F-3901-4E1532CC3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041742-4E00-A660-D19C-54CE9487E3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C5F2E9-4499-0369-4F60-2486373CEAC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14198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9C6D0-5512-F16D-A0CB-B72D25DE26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212CC4-D335-C33A-9B0A-689A95B730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0D5E48-8338-AC1F-6E5F-D8999FEBFB4E}"/>
              </a:ext>
            </a:extLst>
          </p:cNvPr>
          <p:cNvSpPr>
            <a:spLocks noGrp="1"/>
          </p:cNvSpPr>
          <p:nvPr>
            <p:ph type="dt" sz="half" idx="10"/>
          </p:nvPr>
        </p:nvSpPr>
        <p:spPr/>
        <p:txBody>
          <a:bodyPr/>
          <a:lstStyle/>
          <a:p>
            <a:fld id="{CEB9500E-B1E3-7944-A623-0BC5B2051451}" type="datetime1">
              <a:t>11/26/25</a:t>
            </a:fld>
            <a:endParaRPr lang="en-US"/>
          </a:p>
        </p:txBody>
      </p:sp>
      <p:sp>
        <p:nvSpPr>
          <p:cNvPr id="5" name="Footer Placeholder 4">
            <a:extLst>
              <a:ext uri="{FF2B5EF4-FFF2-40B4-BE49-F238E27FC236}">
                <a16:creationId xmlns:a16="http://schemas.microsoft.com/office/drawing/2014/main" id="{9BBF1100-D604-5C2D-7C49-74A286EA2626}"/>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421938D9-1B5A-E778-95C0-AF4682C3CC84}"/>
              </a:ext>
            </a:extLst>
          </p:cNvPr>
          <p:cNvSpPr>
            <a:spLocks noGrp="1"/>
          </p:cNvSpPr>
          <p:nvPr>
            <p:ph type="sldNum" sz="quarter" idx="12"/>
          </p:nvPr>
        </p:nvSpPr>
        <p:spPr/>
        <p:txBody>
          <a:bodyPr/>
          <a:lstStyle/>
          <a:p>
            <a:fld id="{23D81C8F-CB39-4E4D-98E4-8C3FEDF75126}" type="slidenum">
              <a:rPr lang="en-US" smtClean="0"/>
              <a:t>‹#›</a:t>
            </a:fld>
            <a:endParaRPr lang="en-US"/>
          </a:p>
        </p:txBody>
      </p:sp>
    </p:spTree>
    <p:extLst>
      <p:ext uri="{BB962C8B-B14F-4D97-AF65-F5344CB8AC3E}">
        <p14:creationId xmlns:p14="http://schemas.microsoft.com/office/powerpoint/2010/main" val="3738352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AA693-A74F-F8E3-AD6A-0332BA4B83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E7BD10-0BF7-1F3F-59C4-F701A75502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DC3507-7FCB-4052-7D4E-E0E661B88481}"/>
              </a:ext>
            </a:extLst>
          </p:cNvPr>
          <p:cNvSpPr>
            <a:spLocks noGrp="1"/>
          </p:cNvSpPr>
          <p:nvPr>
            <p:ph type="dt" sz="half" idx="10"/>
          </p:nvPr>
        </p:nvSpPr>
        <p:spPr/>
        <p:txBody>
          <a:bodyPr/>
          <a:lstStyle/>
          <a:p>
            <a:fld id="{FA7FD439-043B-9646-903C-5D26A8F5DDF3}" type="datetime1">
              <a:t>11/26/25</a:t>
            </a:fld>
            <a:endParaRPr lang="en-US"/>
          </a:p>
        </p:txBody>
      </p:sp>
      <p:sp>
        <p:nvSpPr>
          <p:cNvPr id="5" name="Footer Placeholder 4">
            <a:extLst>
              <a:ext uri="{FF2B5EF4-FFF2-40B4-BE49-F238E27FC236}">
                <a16:creationId xmlns:a16="http://schemas.microsoft.com/office/drawing/2014/main" id="{9F4CF9F4-E7EF-D596-F08B-70C65EFF8AE8}"/>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1AE1335D-13AC-DE52-4FB3-F21D0F4A3635}"/>
              </a:ext>
            </a:extLst>
          </p:cNvPr>
          <p:cNvSpPr>
            <a:spLocks noGrp="1"/>
          </p:cNvSpPr>
          <p:nvPr>
            <p:ph type="sldNum" sz="quarter" idx="12"/>
          </p:nvPr>
        </p:nvSpPr>
        <p:spPr/>
        <p:txBody>
          <a:bodyPr/>
          <a:lstStyle/>
          <a:p>
            <a:fld id="{23D81C8F-CB39-4E4D-98E4-8C3FEDF75126}" type="slidenum">
              <a:rPr lang="en-US" smtClean="0"/>
              <a:t>‹#›</a:t>
            </a:fld>
            <a:endParaRPr lang="en-US"/>
          </a:p>
        </p:txBody>
      </p:sp>
    </p:spTree>
    <p:extLst>
      <p:ext uri="{BB962C8B-B14F-4D97-AF65-F5344CB8AC3E}">
        <p14:creationId xmlns:p14="http://schemas.microsoft.com/office/powerpoint/2010/main" val="945025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A6974-425E-2DAD-9A21-BA0796179F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9801BC8-2575-E2E6-B061-F7EE5B50CD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E7BA54-9635-D484-B680-4616CD98E753}"/>
              </a:ext>
            </a:extLst>
          </p:cNvPr>
          <p:cNvSpPr>
            <a:spLocks noGrp="1"/>
          </p:cNvSpPr>
          <p:nvPr>
            <p:ph type="dt" sz="half" idx="10"/>
          </p:nvPr>
        </p:nvSpPr>
        <p:spPr/>
        <p:txBody>
          <a:bodyPr/>
          <a:lstStyle/>
          <a:p>
            <a:fld id="{31466A9C-D282-FB41-B45E-A913E819D30A}" type="datetime1">
              <a:t>11/26/25</a:t>
            </a:fld>
            <a:endParaRPr lang="en-US"/>
          </a:p>
        </p:txBody>
      </p:sp>
      <p:sp>
        <p:nvSpPr>
          <p:cNvPr id="5" name="Footer Placeholder 4">
            <a:extLst>
              <a:ext uri="{FF2B5EF4-FFF2-40B4-BE49-F238E27FC236}">
                <a16:creationId xmlns:a16="http://schemas.microsoft.com/office/drawing/2014/main" id="{275CA804-2107-34D8-E78B-2A7FFFB91E2A}"/>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C048FD9B-7CDC-60DE-0DC1-06904DCB437F}"/>
              </a:ext>
            </a:extLst>
          </p:cNvPr>
          <p:cNvSpPr>
            <a:spLocks noGrp="1"/>
          </p:cNvSpPr>
          <p:nvPr>
            <p:ph type="sldNum" sz="quarter" idx="12"/>
          </p:nvPr>
        </p:nvSpPr>
        <p:spPr/>
        <p:txBody>
          <a:bodyPr/>
          <a:lstStyle/>
          <a:p>
            <a:fld id="{23D81C8F-CB39-4E4D-98E4-8C3FEDF75126}" type="slidenum">
              <a:rPr lang="en-US" smtClean="0"/>
              <a:t>‹#›</a:t>
            </a:fld>
            <a:endParaRPr lang="en-US"/>
          </a:p>
        </p:txBody>
      </p:sp>
    </p:spTree>
    <p:extLst>
      <p:ext uri="{BB962C8B-B14F-4D97-AF65-F5344CB8AC3E}">
        <p14:creationId xmlns:p14="http://schemas.microsoft.com/office/powerpoint/2010/main" val="1473590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6372E-B1A4-D336-D790-D89C1E7913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A17E8D-C5B1-602E-EAC6-EB6FA3EE17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8AB62D6-18E8-14F8-E378-8E10073C87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B366E2-2C5F-9236-3F60-A87A6B3495EF}"/>
              </a:ext>
            </a:extLst>
          </p:cNvPr>
          <p:cNvSpPr>
            <a:spLocks noGrp="1"/>
          </p:cNvSpPr>
          <p:nvPr>
            <p:ph type="dt" sz="half" idx="10"/>
          </p:nvPr>
        </p:nvSpPr>
        <p:spPr/>
        <p:txBody>
          <a:bodyPr/>
          <a:lstStyle/>
          <a:p>
            <a:fld id="{525D0A84-A933-1948-B4BF-E9164DAEF53F}" type="datetime1">
              <a:t>11/26/25</a:t>
            </a:fld>
            <a:endParaRPr lang="en-US"/>
          </a:p>
        </p:txBody>
      </p:sp>
      <p:sp>
        <p:nvSpPr>
          <p:cNvPr id="6" name="Footer Placeholder 5">
            <a:extLst>
              <a:ext uri="{FF2B5EF4-FFF2-40B4-BE49-F238E27FC236}">
                <a16:creationId xmlns:a16="http://schemas.microsoft.com/office/drawing/2014/main" id="{66A63519-F2FC-412C-3914-030E96B37E27}"/>
              </a:ext>
            </a:extLst>
          </p:cNvPr>
          <p:cNvSpPr>
            <a:spLocks noGrp="1"/>
          </p:cNvSpPr>
          <p:nvPr>
            <p:ph type="ftr" sz="quarter" idx="11"/>
          </p:nvPr>
        </p:nvSpPr>
        <p:spPr/>
        <p:txBody>
          <a:bodyPr/>
          <a:lstStyle/>
          <a:p>
            <a:r>
              <a:rPr lang="en-US"/>
              <a:t>ASE - Functional Programming</a:t>
            </a:r>
          </a:p>
        </p:txBody>
      </p:sp>
      <p:sp>
        <p:nvSpPr>
          <p:cNvPr id="7" name="Slide Number Placeholder 6">
            <a:extLst>
              <a:ext uri="{FF2B5EF4-FFF2-40B4-BE49-F238E27FC236}">
                <a16:creationId xmlns:a16="http://schemas.microsoft.com/office/drawing/2014/main" id="{2E3F7ABC-C7BA-0E16-8652-D4FB52E886D7}"/>
              </a:ext>
            </a:extLst>
          </p:cNvPr>
          <p:cNvSpPr>
            <a:spLocks noGrp="1"/>
          </p:cNvSpPr>
          <p:nvPr>
            <p:ph type="sldNum" sz="quarter" idx="12"/>
          </p:nvPr>
        </p:nvSpPr>
        <p:spPr/>
        <p:txBody>
          <a:bodyPr/>
          <a:lstStyle/>
          <a:p>
            <a:fld id="{23D81C8F-CB39-4E4D-98E4-8C3FEDF75126}" type="slidenum">
              <a:rPr lang="en-US" smtClean="0"/>
              <a:t>‹#›</a:t>
            </a:fld>
            <a:endParaRPr lang="en-US"/>
          </a:p>
        </p:txBody>
      </p:sp>
    </p:spTree>
    <p:extLst>
      <p:ext uri="{BB962C8B-B14F-4D97-AF65-F5344CB8AC3E}">
        <p14:creationId xmlns:p14="http://schemas.microsoft.com/office/powerpoint/2010/main" val="1235221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A9EAA-6C94-CE7A-96FB-FF6B2F18073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842EFD-CF2B-1D2E-7819-E2EBC8E190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4380BC-743C-1D56-4519-FAAC1140ED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E74647-A3CD-CD27-25B6-C1CB380354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BD464C-F134-5223-06A8-93C17D00FB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A3B48B-CF79-443F-E609-240A9AD958CD}"/>
              </a:ext>
            </a:extLst>
          </p:cNvPr>
          <p:cNvSpPr>
            <a:spLocks noGrp="1"/>
          </p:cNvSpPr>
          <p:nvPr>
            <p:ph type="dt" sz="half" idx="10"/>
          </p:nvPr>
        </p:nvSpPr>
        <p:spPr/>
        <p:txBody>
          <a:bodyPr/>
          <a:lstStyle/>
          <a:p>
            <a:fld id="{7CC55DA2-34EB-4C47-9CFF-0285DA3582C4}" type="datetime1">
              <a:t>11/26/25</a:t>
            </a:fld>
            <a:endParaRPr lang="en-US"/>
          </a:p>
        </p:txBody>
      </p:sp>
      <p:sp>
        <p:nvSpPr>
          <p:cNvPr id="8" name="Footer Placeholder 7">
            <a:extLst>
              <a:ext uri="{FF2B5EF4-FFF2-40B4-BE49-F238E27FC236}">
                <a16:creationId xmlns:a16="http://schemas.microsoft.com/office/drawing/2014/main" id="{21D2D30F-6B06-D928-93A9-7BFCC033B752}"/>
              </a:ext>
            </a:extLst>
          </p:cNvPr>
          <p:cNvSpPr>
            <a:spLocks noGrp="1"/>
          </p:cNvSpPr>
          <p:nvPr>
            <p:ph type="ftr" sz="quarter" idx="11"/>
          </p:nvPr>
        </p:nvSpPr>
        <p:spPr/>
        <p:txBody>
          <a:bodyPr/>
          <a:lstStyle/>
          <a:p>
            <a:r>
              <a:rPr lang="en-US"/>
              <a:t>ASE - Functional Programming</a:t>
            </a:r>
          </a:p>
        </p:txBody>
      </p:sp>
      <p:sp>
        <p:nvSpPr>
          <p:cNvPr id="9" name="Slide Number Placeholder 8">
            <a:extLst>
              <a:ext uri="{FF2B5EF4-FFF2-40B4-BE49-F238E27FC236}">
                <a16:creationId xmlns:a16="http://schemas.microsoft.com/office/drawing/2014/main" id="{A55A9A56-6E9F-7FCB-C081-AB1C0B13D6A4}"/>
              </a:ext>
            </a:extLst>
          </p:cNvPr>
          <p:cNvSpPr>
            <a:spLocks noGrp="1"/>
          </p:cNvSpPr>
          <p:nvPr>
            <p:ph type="sldNum" sz="quarter" idx="12"/>
          </p:nvPr>
        </p:nvSpPr>
        <p:spPr/>
        <p:txBody>
          <a:bodyPr/>
          <a:lstStyle/>
          <a:p>
            <a:fld id="{23D81C8F-CB39-4E4D-98E4-8C3FEDF75126}" type="slidenum">
              <a:rPr lang="en-US" smtClean="0"/>
              <a:t>‹#›</a:t>
            </a:fld>
            <a:endParaRPr lang="en-US"/>
          </a:p>
        </p:txBody>
      </p:sp>
    </p:spTree>
    <p:extLst>
      <p:ext uri="{BB962C8B-B14F-4D97-AF65-F5344CB8AC3E}">
        <p14:creationId xmlns:p14="http://schemas.microsoft.com/office/powerpoint/2010/main" val="1876718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BFFED-3B7D-D363-F6D8-89AB1CD5D2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B69165-4CDC-A611-C121-3CA7DEA95530}"/>
              </a:ext>
            </a:extLst>
          </p:cNvPr>
          <p:cNvSpPr>
            <a:spLocks noGrp="1"/>
          </p:cNvSpPr>
          <p:nvPr>
            <p:ph type="dt" sz="half" idx="10"/>
          </p:nvPr>
        </p:nvSpPr>
        <p:spPr/>
        <p:txBody>
          <a:bodyPr/>
          <a:lstStyle/>
          <a:p>
            <a:fld id="{7CAB8E56-0D8A-EC4F-9E46-96012B948B66}" type="datetime1">
              <a:t>11/26/25</a:t>
            </a:fld>
            <a:endParaRPr lang="en-US"/>
          </a:p>
        </p:txBody>
      </p:sp>
      <p:sp>
        <p:nvSpPr>
          <p:cNvPr id="4" name="Footer Placeholder 3">
            <a:extLst>
              <a:ext uri="{FF2B5EF4-FFF2-40B4-BE49-F238E27FC236}">
                <a16:creationId xmlns:a16="http://schemas.microsoft.com/office/drawing/2014/main" id="{F4A37B45-F436-35A0-1A11-3847788ADAA4}"/>
              </a:ext>
            </a:extLst>
          </p:cNvPr>
          <p:cNvSpPr>
            <a:spLocks noGrp="1"/>
          </p:cNvSpPr>
          <p:nvPr>
            <p:ph type="ftr" sz="quarter" idx="11"/>
          </p:nvPr>
        </p:nvSpPr>
        <p:spPr/>
        <p:txBody>
          <a:bodyPr/>
          <a:lstStyle/>
          <a:p>
            <a:r>
              <a:rPr lang="en-US"/>
              <a:t>ASE - Functional Programming</a:t>
            </a:r>
          </a:p>
        </p:txBody>
      </p:sp>
      <p:sp>
        <p:nvSpPr>
          <p:cNvPr id="5" name="Slide Number Placeholder 4">
            <a:extLst>
              <a:ext uri="{FF2B5EF4-FFF2-40B4-BE49-F238E27FC236}">
                <a16:creationId xmlns:a16="http://schemas.microsoft.com/office/drawing/2014/main" id="{6B1E249D-E148-E80F-8FD8-12216ADDDFE8}"/>
              </a:ext>
            </a:extLst>
          </p:cNvPr>
          <p:cNvSpPr>
            <a:spLocks noGrp="1"/>
          </p:cNvSpPr>
          <p:nvPr>
            <p:ph type="sldNum" sz="quarter" idx="12"/>
          </p:nvPr>
        </p:nvSpPr>
        <p:spPr/>
        <p:txBody>
          <a:bodyPr/>
          <a:lstStyle/>
          <a:p>
            <a:fld id="{23D81C8F-CB39-4E4D-98E4-8C3FEDF75126}" type="slidenum">
              <a:rPr lang="en-US" smtClean="0"/>
              <a:t>‹#›</a:t>
            </a:fld>
            <a:endParaRPr lang="en-US"/>
          </a:p>
        </p:txBody>
      </p:sp>
    </p:spTree>
    <p:extLst>
      <p:ext uri="{BB962C8B-B14F-4D97-AF65-F5344CB8AC3E}">
        <p14:creationId xmlns:p14="http://schemas.microsoft.com/office/powerpoint/2010/main" val="957621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329C19-6C7E-FBCF-C0D3-BC2825CF7240}"/>
              </a:ext>
            </a:extLst>
          </p:cNvPr>
          <p:cNvSpPr>
            <a:spLocks noGrp="1"/>
          </p:cNvSpPr>
          <p:nvPr>
            <p:ph type="dt" sz="half" idx="10"/>
          </p:nvPr>
        </p:nvSpPr>
        <p:spPr/>
        <p:txBody>
          <a:bodyPr/>
          <a:lstStyle/>
          <a:p>
            <a:fld id="{F1287D89-07E6-9442-9D3D-73ECDABC9DFD}" type="datetime1">
              <a:t>11/26/25</a:t>
            </a:fld>
            <a:endParaRPr lang="en-US"/>
          </a:p>
        </p:txBody>
      </p:sp>
      <p:sp>
        <p:nvSpPr>
          <p:cNvPr id="3" name="Footer Placeholder 2">
            <a:extLst>
              <a:ext uri="{FF2B5EF4-FFF2-40B4-BE49-F238E27FC236}">
                <a16:creationId xmlns:a16="http://schemas.microsoft.com/office/drawing/2014/main" id="{2EF8B7D5-B148-1242-4C00-81D88102D58C}"/>
              </a:ext>
            </a:extLst>
          </p:cNvPr>
          <p:cNvSpPr>
            <a:spLocks noGrp="1"/>
          </p:cNvSpPr>
          <p:nvPr>
            <p:ph type="ftr" sz="quarter" idx="11"/>
          </p:nvPr>
        </p:nvSpPr>
        <p:spPr/>
        <p:txBody>
          <a:bodyPr/>
          <a:lstStyle/>
          <a:p>
            <a:r>
              <a:rPr lang="en-US"/>
              <a:t>ASE - Functional Programming</a:t>
            </a:r>
          </a:p>
        </p:txBody>
      </p:sp>
      <p:sp>
        <p:nvSpPr>
          <p:cNvPr id="4" name="Slide Number Placeholder 3">
            <a:extLst>
              <a:ext uri="{FF2B5EF4-FFF2-40B4-BE49-F238E27FC236}">
                <a16:creationId xmlns:a16="http://schemas.microsoft.com/office/drawing/2014/main" id="{6DC565B3-A8E1-6528-1396-C3E42F71514F}"/>
              </a:ext>
            </a:extLst>
          </p:cNvPr>
          <p:cNvSpPr>
            <a:spLocks noGrp="1"/>
          </p:cNvSpPr>
          <p:nvPr>
            <p:ph type="sldNum" sz="quarter" idx="12"/>
          </p:nvPr>
        </p:nvSpPr>
        <p:spPr/>
        <p:txBody>
          <a:bodyPr/>
          <a:lstStyle/>
          <a:p>
            <a:fld id="{23D81C8F-CB39-4E4D-98E4-8C3FEDF75126}" type="slidenum">
              <a:rPr lang="en-US" smtClean="0"/>
              <a:t>‹#›</a:t>
            </a:fld>
            <a:endParaRPr lang="en-US"/>
          </a:p>
        </p:txBody>
      </p:sp>
    </p:spTree>
    <p:extLst>
      <p:ext uri="{BB962C8B-B14F-4D97-AF65-F5344CB8AC3E}">
        <p14:creationId xmlns:p14="http://schemas.microsoft.com/office/powerpoint/2010/main" val="4047857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B6B0A-0FFE-C59A-0FDB-B712E2B38C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2C6137-AB91-B024-3858-0625F2A854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472223-1D56-3876-37AB-AB827894AB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85145A-5ACE-4F2E-8C10-D81F5A60BBA7}"/>
              </a:ext>
            </a:extLst>
          </p:cNvPr>
          <p:cNvSpPr>
            <a:spLocks noGrp="1"/>
          </p:cNvSpPr>
          <p:nvPr>
            <p:ph type="dt" sz="half" idx="10"/>
          </p:nvPr>
        </p:nvSpPr>
        <p:spPr/>
        <p:txBody>
          <a:bodyPr/>
          <a:lstStyle/>
          <a:p>
            <a:fld id="{2D1223F8-42EB-7C44-A39D-C4E4D7BD17BC}" type="datetime1">
              <a:t>11/26/25</a:t>
            </a:fld>
            <a:endParaRPr lang="en-US"/>
          </a:p>
        </p:txBody>
      </p:sp>
      <p:sp>
        <p:nvSpPr>
          <p:cNvPr id="6" name="Footer Placeholder 5">
            <a:extLst>
              <a:ext uri="{FF2B5EF4-FFF2-40B4-BE49-F238E27FC236}">
                <a16:creationId xmlns:a16="http://schemas.microsoft.com/office/drawing/2014/main" id="{13D1CE9C-37C5-A4EB-2D87-B45D168BB4FB}"/>
              </a:ext>
            </a:extLst>
          </p:cNvPr>
          <p:cNvSpPr>
            <a:spLocks noGrp="1"/>
          </p:cNvSpPr>
          <p:nvPr>
            <p:ph type="ftr" sz="quarter" idx="11"/>
          </p:nvPr>
        </p:nvSpPr>
        <p:spPr/>
        <p:txBody>
          <a:bodyPr/>
          <a:lstStyle/>
          <a:p>
            <a:r>
              <a:rPr lang="en-US"/>
              <a:t>ASE - Functional Programming</a:t>
            </a:r>
          </a:p>
        </p:txBody>
      </p:sp>
      <p:sp>
        <p:nvSpPr>
          <p:cNvPr id="7" name="Slide Number Placeholder 6">
            <a:extLst>
              <a:ext uri="{FF2B5EF4-FFF2-40B4-BE49-F238E27FC236}">
                <a16:creationId xmlns:a16="http://schemas.microsoft.com/office/drawing/2014/main" id="{288DA687-831D-6087-7C77-C236A471CAB9}"/>
              </a:ext>
            </a:extLst>
          </p:cNvPr>
          <p:cNvSpPr>
            <a:spLocks noGrp="1"/>
          </p:cNvSpPr>
          <p:nvPr>
            <p:ph type="sldNum" sz="quarter" idx="12"/>
          </p:nvPr>
        </p:nvSpPr>
        <p:spPr/>
        <p:txBody>
          <a:bodyPr/>
          <a:lstStyle/>
          <a:p>
            <a:fld id="{23D81C8F-CB39-4E4D-98E4-8C3FEDF75126}" type="slidenum">
              <a:rPr lang="en-US" smtClean="0"/>
              <a:t>‹#›</a:t>
            </a:fld>
            <a:endParaRPr lang="en-US"/>
          </a:p>
        </p:txBody>
      </p:sp>
    </p:spTree>
    <p:extLst>
      <p:ext uri="{BB962C8B-B14F-4D97-AF65-F5344CB8AC3E}">
        <p14:creationId xmlns:p14="http://schemas.microsoft.com/office/powerpoint/2010/main" val="3034810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45D35-BDA7-8A9B-5FE8-19ED22B149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99E14BC-B1A6-7914-CA5E-3491D5093C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69EAF5-4292-2E66-1BA9-931773EEC4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FD9A49-D6E3-429F-B82D-DD18B58F546F}"/>
              </a:ext>
            </a:extLst>
          </p:cNvPr>
          <p:cNvSpPr>
            <a:spLocks noGrp="1"/>
          </p:cNvSpPr>
          <p:nvPr>
            <p:ph type="dt" sz="half" idx="10"/>
          </p:nvPr>
        </p:nvSpPr>
        <p:spPr/>
        <p:txBody>
          <a:bodyPr/>
          <a:lstStyle/>
          <a:p>
            <a:fld id="{8A0A78F3-6C49-9949-BEC9-7321A445B87F}" type="datetime1">
              <a:t>11/26/25</a:t>
            </a:fld>
            <a:endParaRPr lang="en-US"/>
          </a:p>
        </p:txBody>
      </p:sp>
      <p:sp>
        <p:nvSpPr>
          <p:cNvPr id="6" name="Footer Placeholder 5">
            <a:extLst>
              <a:ext uri="{FF2B5EF4-FFF2-40B4-BE49-F238E27FC236}">
                <a16:creationId xmlns:a16="http://schemas.microsoft.com/office/drawing/2014/main" id="{7AA0FD04-DB58-C9EB-75F0-97413C2C592D}"/>
              </a:ext>
            </a:extLst>
          </p:cNvPr>
          <p:cNvSpPr>
            <a:spLocks noGrp="1"/>
          </p:cNvSpPr>
          <p:nvPr>
            <p:ph type="ftr" sz="quarter" idx="11"/>
          </p:nvPr>
        </p:nvSpPr>
        <p:spPr/>
        <p:txBody>
          <a:bodyPr/>
          <a:lstStyle/>
          <a:p>
            <a:r>
              <a:rPr lang="en-US"/>
              <a:t>ASE - Functional Programming</a:t>
            </a:r>
          </a:p>
        </p:txBody>
      </p:sp>
      <p:sp>
        <p:nvSpPr>
          <p:cNvPr id="7" name="Slide Number Placeholder 6">
            <a:extLst>
              <a:ext uri="{FF2B5EF4-FFF2-40B4-BE49-F238E27FC236}">
                <a16:creationId xmlns:a16="http://schemas.microsoft.com/office/drawing/2014/main" id="{66B13049-D1B6-FDF7-C4FA-F1C43AC61863}"/>
              </a:ext>
            </a:extLst>
          </p:cNvPr>
          <p:cNvSpPr>
            <a:spLocks noGrp="1"/>
          </p:cNvSpPr>
          <p:nvPr>
            <p:ph type="sldNum" sz="quarter" idx="12"/>
          </p:nvPr>
        </p:nvSpPr>
        <p:spPr/>
        <p:txBody>
          <a:bodyPr/>
          <a:lstStyle/>
          <a:p>
            <a:fld id="{23D81C8F-CB39-4E4D-98E4-8C3FEDF75126}" type="slidenum">
              <a:rPr lang="en-US" smtClean="0"/>
              <a:t>‹#›</a:t>
            </a:fld>
            <a:endParaRPr lang="en-US"/>
          </a:p>
        </p:txBody>
      </p:sp>
    </p:spTree>
    <p:extLst>
      <p:ext uri="{BB962C8B-B14F-4D97-AF65-F5344CB8AC3E}">
        <p14:creationId xmlns:p14="http://schemas.microsoft.com/office/powerpoint/2010/main" val="781124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7E8EE-477E-ECFB-0E65-CD52E05BF6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E19C616-6082-E08E-4642-B87DE66B81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B289D1-5083-F77D-B918-E888FE2BD229}"/>
              </a:ext>
            </a:extLst>
          </p:cNvPr>
          <p:cNvSpPr>
            <a:spLocks noGrp="1"/>
          </p:cNvSpPr>
          <p:nvPr>
            <p:ph type="dt" sz="half" idx="10"/>
          </p:nvPr>
        </p:nvSpPr>
        <p:spPr/>
        <p:txBody>
          <a:bodyPr/>
          <a:lstStyle/>
          <a:p>
            <a:fld id="{96FD0179-B5BE-DD4B-AF31-3577D594C674}" type="datetime1">
              <a:t>11/26/25</a:t>
            </a:fld>
            <a:endParaRPr lang="en-US"/>
          </a:p>
        </p:txBody>
      </p:sp>
      <p:sp>
        <p:nvSpPr>
          <p:cNvPr id="5" name="Footer Placeholder 4">
            <a:extLst>
              <a:ext uri="{FF2B5EF4-FFF2-40B4-BE49-F238E27FC236}">
                <a16:creationId xmlns:a16="http://schemas.microsoft.com/office/drawing/2014/main" id="{13B9B412-8604-155E-9048-BCEAA5F805C6}"/>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68DB81FC-B75F-EB66-0310-834FD5ED80AD}"/>
              </a:ext>
            </a:extLst>
          </p:cNvPr>
          <p:cNvSpPr>
            <a:spLocks noGrp="1"/>
          </p:cNvSpPr>
          <p:nvPr>
            <p:ph type="sldNum" sz="quarter" idx="12"/>
          </p:nvPr>
        </p:nvSpPr>
        <p:spPr/>
        <p:txBody>
          <a:bodyPr/>
          <a:lstStyle/>
          <a:p>
            <a:fld id="{23D81C8F-CB39-4E4D-98E4-8C3FEDF75126}" type="slidenum">
              <a:rPr lang="en-US" smtClean="0"/>
              <a:t>‹#›</a:t>
            </a:fld>
            <a:endParaRPr lang="en-US"/>
          </a:p>
        </p:txBody>
      </p:sp>
    </p:spTree>
    <p:extLst>
      <p:ext uri="{BB962C8B-B14F-4D97-AF65-F5344CB8AC3E}">
        <p14:creationId xmlns:p14="http://schemas.microsoft.com/office/powerpoint/2010/main" val="386673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4BFC86-9762-DFC3-7CD6-D3F9D73D9F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A56E57-9E5C-69B9-F8AE-49A68E29D5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BED425-82B9-9E5C-85DE-50375387C2C0}"/>
              </a:ext>
            </a:extLst>
          </p:cNvPr>
          <p:cNvSpPr>
            <a:spLocks noGrp="1"/>
          </p:cNvSpPr>
          <p:nvPr>
            <p:ph type="dt" sz="half" idx="10"/>
          </p:nvPr>
        </p:nvSpPr>
        <p:spPr/>
        <p:txBody>
          <a:bodyPr/>
          <a:lstStyle/>
          <a:p>
            <a:fld id="{4C688B05-DCA8-9244-9A1E-C94DAD8650C6}" type="datetime1">
              <a:t>11/26/25</a:t>
            </a:fld>
            <a:endParaRPr lang="en-US"/>
          </a:p>
        </p:txBody>
      </p:sp>
      <p:sp>
        <p:nvSpPr>
          <p:cNvPr id="5" name="Footer Placeholder 4">
            <a:extLst>
              <a:ext uri="{FF2B5EF4-FFF2-40B4-BE49-F238E27FC236}">
                <a16:creationId xmlns:a16="http://schemas.microsoft.com/office/drawing/2014/main" id="{C63633BA-4ED4-16BD-862C-CA2CC2E39481}"/>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111C00BD-6373-F5B3-CF96-94569E933ADC}"/>
              </a:ext>
            </a:extLst>
          </p:cNvPr>
          <p:cNvSpPr>
            <a:spLocks noGrp="1"/>
          </p:cNvSpPr>
          <p:nvPr>
            <p:ph type="sldNum" sz="quarter" idx="12"/>
          </p:nvPr>
        </p:nvSpPr>
        <p:spPr/>
        <p:txBody>
          <a:bodyPr/>
          <a:lstStyle/>
          <a:p>
            <a:fld id="{23D81C8F-CB39-4E4D-98E4-8C3FEDF75126}" type="slidenum">
              <a:rPr lang="en-US" smtClean="0"/>
              <a:t>‹#›</a:t>
            </a:fld>
            <a:endParaRPr lang="en-US"/>
          </a:p>
        </p:txBody>
      </p:sp>
    </p:spTree>
    <p:extLst>
      <p:ext uri="{BB962C8B-B14F-4D97-AF65-F5344CB8AC3E}">
        <p14:creationId xmlns:p14="http://schemas.microsoft.com/office/powerpoint/2010/main" val="678702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B6CD59-EDAF-CA69-6ACB-CAD4CEB9C4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6553310-4114-A479-F299-36FC9ECFE5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F66501-C88C-FFD9-4D05-DAEFB3B811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A87C20C-68E6-CA4F-A5A8-3810CF5C5075}" type="datetime1">
              <a:t>11/26/25</a:t>
            </a:fld>
            <a:endParaRPr lang="en-US"/>
          </a:p>
        </p:txBody>
      </p:sp>
      <p:sp>
        <p:nvSpPr>
          <p:cNvPr id="5" name="Footer Placeholder 4">
            <a:extLst>
              <a:ext uri="{FF2B5EF4-FFF2-40B4-BE49-F238E27FC236}">
                <a16:creationId xmlns:a16="http://schemas.microsoft.com/office/drawing/2014/main" id="{0741AE9D-4006-22D3-9F53-03EFBB7E47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ASE - Functional Programming</a:t>
            </a:r>
          </a:p>
        </p:txBody>
      </p:sp>
      <p:sp>
        <p:nvSpPr>
          <p:cNvPr id="6" name="Slide Number Placeholder 5">
            <a:extLst>
              <a:ext uri="{FF2B5EF4-FFF2-40B4-BE49-F238E27FC236}">
                <a16:creationId xmlns:a16="http://schemas.microsoft.com/office/drawing/2014/main" id="{38D99D29-9B98-65F3-7AC9-22F3C883F3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3D81C8F-CB39-4E4D-98E4-8C3FEDF75126}" type="slidenum">
              <a:rPr lang="en-US" smtClean="0"/>
              <a:t>‹#›</a:t>
            </a:fld>
            <a:endParaRPr lang="en-US"/>
          </a:p>
        </p:txBody>
      </p:sp>
    </p:spTree>
    <p:extLst>
      <p:ext uri="{BB962C8B-B14F-4D97-AF65-F5344CB8AC3E}">
        <p14:creationId xmlns:p14="http://schemas.microsoft.com/office/powerpoint/2010/main" val="3208297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36CC111-4FC3-7E6E-DA79-351238E3FC6C}"/>
              </a:ext>
            </a:extLst>
          </p:cNvPr>
          <p:cNvSpPr txBox="1"/>
          <p:nvPr/>
        </p:nvSpPr>
        <p:spPr>
          <a:xfrm>
            <a:off x="535709" y="1582340"/>
            <a:ext cx="3845155" cy="3139321"/>
          </a:xfrm>
          <a:prstGeom prst="rect">
            <a:avLst/>
          </a:prstGeom>
          <a:noFill/>
        </p:spPr>
        <p:txBody>
          <a:bodyPr wrap="none" rtlCol="0">
            <a:spAutoFit/>
          </a:bodyPr>
          <a:lstStyle/>
          <a:p>
            <a:pPr marL="285750" indent="-285750">
              <a:buFontTx/>
              <a:buChar char="-"/>
            </a:pPr>
            <a:r>
              <a:rPr lang="en-US" dirty="0"/>
              <a:t>Functional programming</a:t>
            </a:r>
            <a:br>
              <a:rPr lang="en-US" dirty="0"/>
            </a:br>
            <a:endParaRPr lang="en-US" dirty="0"/>
          </a:p>
          <a:p>
            <a:pPr marL="742950" lvl="1" indent="-285750">
              <a:buFontTx/>
              <a:buChar char="-"/>
            </a:pPr>
            <a:r>
              <a:rPr lang="en-US" dirty="0"/>
              <a:t>What is it and why do we care</a:t>
            </a:r>
          </a:p>
          <a:p>
            <a:pPr marL="742950" lvl="1" indent="-285750">
              <a:buFontTx/>
              <a:buChar char="-"/>
            </a:pPr>
            <a:endParaRPr lang="en-US" dirty="0"/>
          </a:p>
          <a:p>
            <a:pPr marL="742950" lvl="1" indent="-285750">
              <a:buFontTx/>
              <a:buChar char="-"/>
            </a:pPr>
            <a:r>
              <a:rPr lang="en-US" dirty="0"/>
              <a:t>Immutability</a:t>
            </a:r>
          </a:p>
          <a:p>
            <a:pPr marL="742950" lvl="1" indent="-285750">
              <a:buFontTx/>
              <a:buChar char="-"/>
            </a:pPr>
            <a:endParaRPr lang="en-US" dirty="0"/>
          </a:p>
          <a:p>
            <a:pPr marL="742950" lvl="1" indent="-285750">
              <a:buFontTx/>
              <a:buChar char="-"/>
            </a:pPr>
            <a:r>
              <a:rPr lang="en-US" dirty="0"/>
              <a:t>Pure functions</a:t>
            </a:r>
          </a:p>
          <a:p>
            <a:pPr marL="742950" lvl="1" indent="-285750">
              <a:buFontTx/>
              <a:buChar char="-"/>
            </a:pPr>
            <a:endParaRPr lang="en-US" dirty="0"/>
          </a:p>
          <a:p>
            <a:pPr marL="742950" lvl="1" indent="-285750">
              <a:buFontTx/>
              <a:buChar char="-"/>
            </a:pPr>
            <a:r>
              <a:rPr lang="en-US" dirty="0"/>
              <a:t>First-class citizens</a:t>
            </a:r>
          </a:p>
          <a:p>
            <a:pPr marL="742950" lvl="1" indent="-285750">
              <a:buFontTx/>
              <a:buChar char="-"/>
            </a:pPr>
            <a:endParaRPr lang="en-US" dirty="0"/>
          </a:p>
          <a:p>
            <a:pPr marL="742950" lvl="1" indent="-285750">
              <a:buFontTx/>
              <a:buChar char="-"/>
            </a:pPr>
            <a:r>
              <a:rPr lang="en-US" dirty="0"/>
              <a:t>Higher-order</a:t>
            </a:r>
          </a:p>
        </p:txBody>
      </p:sp>
      <p:sp>
        <p:nvSpPr>
          <p:cNvPr id="3" name="Footer Placeholder 2">
            <a:extLst>
              <a:ext uri="{FF2B5EF4-FFF2-40B4-BE49-F238E27FC236}">
                <a16:creationId xmlns:a16="http://schemas.microsoft.com/office/drawing/2014/main" id="{DBDAC65D-2BF1-A1DC-E10D-231A3F2AE905}"/>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89F66554-06DA-C448-4970-80727A8BDE6D}"/>
              </a:ext>
            </a:extLst>
          </p:cNvPr>
          <p:cNvSpPr>
            <a:spLocks noGrp="1"/>
          </p:cNvSpPr>
          <p:nvPr>
            <p:ph type="sldNum" sz="quarter" idx="12"/>
          </p:nvPr>
        </p:nvSpPr>
        <p:spPr/>
        <p:txBody>
          <a:bodyPr/>
          <a:lstStyle/>
          <a:p>
            <a:fld id="{23D81C8F-CB39-4E4D-98E4-8C3FEDF75126}" type="slidenum">
              <a:rPr lang="en-US" smtClean="0"/>
              <a:t>1</a:t>
            </a:fld>
            <a:endParaRPr lang="en-US"/>
          </a:p>
        </p:txBody>
      </p:sp>
      <p:sp>
        <p:nvSpPr>
          <p:cNvPr id="7" name="TextBox 6">
            <a:extLst>
              <a:ext uri="{FF2B5EF4-FFF2-40B4-BE49-F238E27FC236}">
                <a16:creationId xmlns:a16="http://schemas.microsoft.com/office/drawing/2014/main" id="{8B9B88B0-1855-2B75-F573-938C6C9A3F46}"/>
              </a:ext>
            </a:extLst>
          </p:cNvPr>
          <p:cNvSpPr txBox="1"/>
          <p:nvPr/>
        </p:nvSpPr>
        <p:spPr>
          <a:xfrm>
            <a:off x="535709" y="304800"/>
            <a:ext cx="821828" cy="369332"/>
          </a:xfrm>
          <a:prstGeom prst="rect">
            <a:avLst/>
          </a:prstGeom>
          <a:noFill/>
        </p:spPr>
        <p:txBody>
          <a:bodyPr wrap="none" rtlCol="0">
            <a:spAutoFit/>
          </a:bodyPr>
          <a:lstStyle/>
          <a:p>
            <a:r>
              <a:rPr lang="en-US" dirty="0"/>
              <a:t>Topics</a:t>
            </a:r>
          </a:p>
        </p:txBody>
      </p:sp>
      <p:sp>
        <p:nvSpPr>
          <p:cNvPr id="2" name="TextBox 1">
            <a:extLst>
              <a:ext uri="{FF2B5EF4-FFF2-40B4-BE49-F238E27FC236}">
                <a16:creationId xmlns:a16="http://schemas.microsoft.com/office/drawing/2014/main" id="{AE937FD6-937C-4405-B267-DF085546171F}"/>
              </a:ext>
            </a:extLst>
          </p:cNvPr>
          <p:cNvSpPr txBox="1"/>
          <p:nvPr/>
        </p:nvSpPr>
        <p:spPr>
          <a:xfrm>
            <a:off x="7658076" y="2136337"/>
            <a:ext cx="2225289" cy="2031325"/>
          </a:xfrm>
          <a:prstGeom prst="rect">
            <a:avLst/>
          </a:prstGeom>
          <a:noFill/>
        </p:spPr>
        <p:txBody>
          <a:bodyPr wrap="none" rtlCol="0">
            <a:spAutoFit/>
          </a:bodyPr>
          <a:lstStyle/>
          <a:p>
            <a:pPr marL="742950" lvl="1" indent="-285750">
              <a:buFontTx/>
              <a:buChar char="-"/>
            </a:pPr>
            <a:r>
              <a:rPr lang="en-US" dirty="0"/>
              <a:t>Composition</a:t>
            </a:r>
          </a:p>
          <a:p>
            <a:pPr marL="742950" lvl="1" indent="-285750">
              <a:buFontTx/>
              <a:buChar char="-"/>
            </a:pPr>
            <a:endParaRPr lang="en-US" dirty="0"/>
          </a:p>
          <a:p>
            <a:pPr marL="742950" lvl="1" indent="-285750">
              <a:buFontTx/>
              <a:buChar char="-"/>
            </a:pPr>
            <a:r>
              <a:rPr lang="en-US" dirty="0"/>
              <a:t>Currying</a:t>
            </a:r>
            <a:br>
              <a:rPr lang="en-US" dirty="0"/>
            </a:br>
            <a:endParaRPr lang="en-US" dirty="0"/>
          </a:p>
          <a:p>
            <a:pPr marL="742950" lvl="1" indent="-285750">
              <a:buFontTx/>
              <a:buChar char="-"/>
            </a:pPr>
            <a:r>
              <a:rPr lang="en-US" dirty="0"/>
              <a:t>Closures</a:t>
            </a:r>
          </a:p>
          <a:p>
            <a:pPr marL="742950" lvl="1" indent="-285750">
              <a:buFontTx/>
              <a:buChar char="-"/>
            </a:pPr>
            <a:endParaRPr lang="en-US" dirty="0"/>
          </a:p>
          <a:p>
            <a:pPr marL="742950" lvl="1" indent="-285750">
              <a:buFontTx/>
              <a:buChar char="-"/>
            </a:pPr>
            <a:r>
              <a:rPr lang="en-US" dirty="0"/>
              <a:t>Monads</a:t>
            </a:r>
          </a:p>
        </p:txBody>
      </p:sp>
    </p:spTree>
    <p:extLst>
      <p:ext uri="{BB962C8B-B14F-4D97-AF65-F5344CB8AC3E}">
        <p14:creationId xmlns:p14="http://schemas.microsoft.com/office/powerpoint/2010/main" val="2953013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592D3-F30D-4DF3-492E-0C33E251781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406D104-9EDC-D46B-637B-706E48A810B7}"/>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C9C381AA-ACD9-DFF0-0194-EDFA4AA0FD82}"/>
              </a:ext>
            </a:extLst>
          </p:cNvPr>
          <p:cNvSpPr>
            <a:spLocks noGrp="1"/>
          </p:cNvSpPr>
          <p:nvPr>
            <p:ph type="sldNum" sz="quarter" idx="12"/>
          </p:nvPr>
        </p:nvSpPr>
        <p:spPr/>
        <p:txBody>
          <a:bodyPr/>
          <a:lstStyle/>
          <a:p>
            <a:fld id="{23D81C8F-CB39-4E4D-98E4-8C3FEDF75126}" type="slidenum">
              <a:rPr lang="en-US" smtClean="0"/>
              <a:t>2</a:t>
            </a:fld>
            <a:endParaRPr lang="en-US"/>
          </a:p>
        </p:txBody>
      </p:sp>
      <p:sp>
        <p:nvSpPr>
          <p:cNvPr id="7" name="TextBox 6">
            <a:extLst>
              <a:ext uri="{FF2B5EF4-FFF2-40B4-BE49-F238E27FC236}">
                <a16:creationId xmlns:a16="http://schemas.microsoft.com/office/drawing/2014/main" id="{74894FC4-9AAE-0409-A05F-029F6B74CB3C}"/>
              </a:ext>
            </a:extLst>
          </p:cNvPr>
          <p:cNvSpPr txBox="1"/>
          <p:nvPr/>
        </p:nvSpPr>
        <p:spPr>
          <a:xfrm>
            <a:off x="535709" y="194055"/>
            <a:ext cx="2618089" cy="369332"/>
          </a:xfrm>
          <a:prstGeom prst="rect">
            <a:avLst/>
          </a:prstGeom>
          <a:noFill/>
        </p:spPr>
        <p:txBody>
          <a:bodyPr wrap="none" rtlCol="0">
            <a:spAutoFit/>
          </a:bodyPr>
          <a:lstStyle/>
          <a:p>
            <a:r>
              <a:rPr lang="en-US" dirty="0"/>
              <a:t>Functional programming</a:t>
            </a:r>
          </a:p>
        </p:txBody>
      </p:sp>
      <p:sp>
        <p:nvSpPr>
          <p:cNvPr id="9" name="TextBox 8">
            <a:extLst>
              <a:ext uri="{FF2B5EF4-FFF2-40B4-BE49-F238E27FC236}">
                <a16:creationId xmlns:a16="http://schemas.microsoft.com/office/drawing/2014/main" id="{CB9E2262-B327-71D3-877B-63BA2114D7A4}"/>
              </a:ext>
            </a:extLst>
          </p:cNvPr>
          <p:cNvSpPr txBox="1"/>
          <p:nvPr/>
        </p:nvSpPr>
        <p:spPr>
          <a:xfrm>
            <a:off x="535709" y="809115"/>
            <a:ext cx="10818091" cy="5355312"/>
          </a:xfrm>
          <a:prstGeom prst="rect">
            <a:avLst/>
          </a:prstGeom>
          <a:noFill/>
        </p:spPr>
        <p:txBody>
          <a:bodyPr wrap="square" rtlCol="0">
            <a:spAutoFit/>
          </a:bodyPr>
          <a:lstStyle/>
          <a:p>
            <a:r>
              <a:rPr lang="en-US"/>
              <a:t>Functional programming is a paradigm where programs are constructed by applying and composing functions.</a:t>
            </a:r>
          </a:p>
          <a:p>
            <a:endParaRPr lang="en-US"/>
          </a:p>
          <a:p>
            <a:r>
              <a:rPr lang="en-US"/>
              <a:t>Compared to standard programming, where we evolve through states using statements, here we map values to other values using expressions.</a:t>
            </a:r>
          </a:p>
          <a:p>
            <a:endParaRPr lang="en-US"/>
          </a:p>
          <a:p>
            <a:r>
              <a:rPr lang="en-US"/>
              <a:t>In functional programming, the main type is ... Function!</a:t>
            </a:r>
          </a:p>
          <a:p>
            <a:endParaRPr lang="en-US"/>
          </a:p>
          <a:p>
            <a:r>
              <a:rPr lang="en-US"/>
              <a:t>Functional programming avoids “side effects”: as we never change the state of the current variables, but we always map them to new ones at any operation, each variable can always be replaced with its actual value.</a:t>
            </a:r>
          </a:p>
          <a:p>
            <a:endParaRPr lang="en-US"/>
          </a:p>
          <a:p>
            <a:r>
              <a:rPr lang="en-US"/>
              <a:t>This can lead to:</a:t>
            </a:r>
          </a:p>
          <a:p>
            <a:pPr marL="285750" indent="-285750">
              <a:buFontTx/>
              <a:buChar char="-"/>
            </a:pPr>
            <a:r>
              <a:rPr lang="en-US"/>
              <a:t>more efficiency on compiler side, because it can make performance assumptions usually not possible with imperative programming (further inlining)</a:t>
            </a:r>
          </a:p>
          <a:p>
            <a:pPr marL="285750" indent="-285750">
              <a:buFontTx/>
              <a:buChar char="-"/>
            </a:pPr>
            <a:r>
              <a:rPr lang="en-US"/>
              <a:t>as we deal with immutable data, it can improve safety in concurrent programming</a:t>
            </a:r>
          </a:p>
          <a:p>
            <a:pPr marL="285750" indent="-285750">
              <a:buFontTx/>
              <a:buChar char="-"/>
            </a:pPr>
            <a:endParaRPr lang="en-US"/>
          </a:p>
          <a:p>
            <a:pPr marL="285750" indent="-285750">
              <a:buFontTx/>
              <a:buChar char="-"/>
            </a:pPr>
            <a:r>
              <a:rPr lang="en-US"/>
              <a:t>less efficient on the CPU/memory usage side: we copy data all over, so, unless some CPU extensions are used, we could risk to be slower and use much more memory</a:t>
            </a:r>
          </a:p>
          <a:p>
            <a:pPr marL="285750" indent="-285750">
              <a:buFontTx/>
              <a:buChar char="-"/>
            </a:pPr>
            <a:r>
              <a:rPr lang="en-US"/>
              <a:t>a programming language system can have hard time optimizing higher-order functions</a:t>
            </a:r>
          </a:p>
        </p:txBody>
      </p:sp>
    </p:spTree>
    <p:extLst>
      <p:ext uri="{BB962C8B-B14F-4D97-AF65-F5344CB8AC3E}">
        <p14:creationId xmlns:p14="http://schemas.microsoft.com/office/powerpoint/2010/main" val="3748922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4B5DA20-5401-2C7E-EF82-0D3A85EA6B60}"/>
              </a:ext>
            </a:extLst>
          </p:cNvPr>
          <p:cNvSpPr>
            <a:spLocks noGrp="1"/>
          </p:cNvSpPr>
          <p:nvPr>
            <p:ph type="ftr" sz="quarter" idx="11"/>
          </p:nvPr>
        </p:nvSpPr>
        <p:spPr/>
        <p:txBody>
          <a:bodyPr/>
          <a:lstStyle/>
          <a:p>
            <a:r>
              <a:rPr lang="en-US"/>
              <a:t>ASE - Functional Programming</a:t>
            </a:r>
          </a:p>
        </p:txBody>
      </p:sp>
      <p:sp>
        <p:nvSpPr>
          <p:cNvPr id="5" name="Slide Number Placeholder 4">
            <a:extLst>
              <a:ext uri="{FF2B5EF4-FFF2-40B4-BE49-F238E27FC236}">
                <a16:creationId xmlns:a16="http://schemas.microsoft.com/office/drawing/2014/main" id="{E6B5970B-9686-3A5A-9436-CC6175F53A1A}"/>
              </a:ext>
            </a:extLst>
          </p:cNvPr>
          <p:cNvSpPr>
            <a:spLocks noGrp="1"/>
          </p:cNvSpPr>
          <p:nvPr>
            <p:ph type="sldNum" sz="quarter" idx="12"/>
          </p:nvPr>
        </p:nvSpPr>
        <p:spPr/>
        <p:txBody>
          <a:bodyPr/>
          <a:lstStyle/>
          <a:p>
            <a:fld id="{23D81C8F-CB39-4E4D-98E4-8C3FEDF75126}" type="slidenum">
              <a:rPr lang="en-US" smtClean="0"/>
              <a:t>3</a:t>
            </a:fld>
            <a:endParaRPr lang="en-US"/>
          </a:p>
        </p:txBody>
      </p:sp>
      <p:sp>
        <p:nvSpPr>
          <p:cNvPr id="8" name="TextBox 7">
            <a:extLst>
              <a:ext uri="{FF2B5EF4-FFF2-40B4-BE49-F238E27FC236}">
                <a16:creationId xmlns:a16="http://schemas.microsoft.com/office/drawing/2014/main" id="{6730ABA9-4BBC-80E4-79E4-652F2A6A849A}"/>
              </a:ext>
            </a:extLst>
          </p:cNvPr>
          <p:cNvSpPr txBox="1"/>
          <p:nvPr/>
        </p:nvSpPr>
        <p:spPr>
          <a:xfrm>
            <a:off x="625151" y="447870"/>
            <a:ext cx="2148730" cy="400110"/>
          </a:xfrm>
          <a:prstGeom prst="rect">
            <a:avLst/>
          </a:prstGeom>
          <a:noFill/>
        </p:spPr>
        <p:txBody>
          <a:bodyPr wrap="none" rtlCol="0">
            <a:spAutoFit/>
          </a:bodyPr>
          <a:lstStyle/>
          <a:p>
            <a:r>
              <a:rPr lang="en-US" sz="2000"/>
              <a:t>Three Pillars of FP</a:t>
            </a:r>
          </a:p>
        </p:txBody>
      </p:sp>
      <p:sp>
        <p:nvSpPr>
          <p:cNvPr id="9" name="TextBox 8">
            <a:extLst>
              <a:ext uri="{FF2B5EF4-FFF2-40B4-BE49-F238E27FC236}">
                <a16:creationId xmlns:a16="http://schemas.microsoft.com/office/drawing/2014/main" id="{6A61C01E-EA2E-3F41-766D-DD22BC021334}"/>
              </a:ext>
            </a:extLst>
          </p:cNvPr>
          <p:cNvSpPr txBox="1"/>
          <p:nvPr/>
        </p:nvSpPr>
        <p:spPr>
          <a:xfrm>
            <a:off x="818763" y="968320"/>
            <a:ext cx="7334637" cy="1477328"/>
          </a:xfrm>
          <a:prstGeom prst="rect">
            <a:avLst/>
          </a:prstGeom>
          <a:noFill/>
        </p:spPr>
        <p:txBody>
          <a:bodyPr wrap="none" rtlCol="0">
            <a:spAutoFit/>
          </a:bodyPr>
          <a:lstStyle/>
          <a:p>
            <a:pPr marL="342900" indent="-342900">
              <a:buFont typeface="+mj-lt"/>
              <a:buAutoNum type="arabicPeriod"/>
            </a:pPr>
            <a:r>
              <a:rPr lang="en-US" b="1">
                <a:solidFill>
                  <a:srgbClr val="FF0000"/>
                </a:solidFill>
              </a:rPr>
              <a:t>Composability</a:t>
            </a:r>
            <a:r>
              <a:rPr lang="en-US"/>
              <a:t> - Building larger systems from small, reusable pieces</a:t>
            </a:r>
          </a:p>
          <a:p>
            <a:pPr marL="342900" indent="-342900">
              <a:buFont typeface="+mj-lt"/>
              <a:buAutoNum type="arabicPeriod"/>
            </a:pPr>
            <a:endParaRPr lang="en-US" b="1">
              <a:solidFill>
                <a:srgbClr val="00B0F0"/>
              </a:solidFill>
            </a:endParaRPr>
          </a:p>
          <a:p>
            <a:pPr marL="342900" indent="-342900">
              <a:buFont typeface="+mj-lt"/>
              <a:buAutoNum type="arabicPeriod"/>
            </a:pPr>
            <a:r>
              <a:rPr lang="en-US" b="1">
                <a:solidFill>
                  <a:srgbClr val="00B0F0"/>
                </a:solidFill>
              </a:rPr>
              <a:t>Functional Purity </a:t>
            </a:r>
            <a:r>
              <a:rPr lang="en-US"/>
              <a:t>- Functions without side effects</a:t>
            </a:r>
          </a:p>
          <a:p>
            <a:pPr marL="342900" indent="-342900">
              <a:buFont typeface="+mj-lt"/>
              <a:buAutoNum type="arabicPeriod"/>
            </a:pPr>
            <a:endParaRPr lang="en-US"/>
          </a:p>
          <a:p>
            <a:pPr marL="342900" indent="-342900">
              <a:buFont typeface="+mj-lt"/>
              <a:buAutoNum type="arabicPeriod"/>
            </a:pPr>
            <a:r>
              <a:rPr lang="en-US" b="1">
                <a:solidFill>
                  <a:schemeClr val="accent6"/>
                </a:solidFill>
              </a:rPr>
              <a:t>Immutability - </a:t>
            </a:r>
            <a:r>
              <a:rPr lang="en-US"/>
              <a:t>Data should not be modified after creation</a:t>
            </a:r>
          </a:p>
        </p:txBody>
      </p:sp>
      <p:sp>
        <p:nvSpPr>
          <p:cNvPr id="12" name="TextBox 11">
            <a:extLst>
              <a:ext uri="{FF2B5EF4-FFF2-40B4-BE49-F238E27FC236}">
                <a16:creationId xmlns:a16="http://schemas.microsoft.com/office/drawing/2014/main" id="{0F0538BA-B7A9-ED80-1AEB-5BECF0EF1C0C}"/>
              </a:ext>
            </a:extLst>
          </p:cNvPr>
          <p:cNvSpPr txBox="1"/>
          <p:nvPr/>
        </p:nvSpPr>
        <p:spPr>
          <a:xfrm>
            <a:off x="625151" y="3059668"/>
            <a:ext cx="1745350" cy="369332"/>
          </a:xfrm>
          <a:prstGeom prst="rect">
            <a:avLst/>
          </a:prstGeom>
          <a:noFill/>
        </p:spPr>
        <p:txBody>
          <a:bodyPr wrap="none" rtlCol="0">
            <a:spAutoFit/>
          </a:bodyPr>
          <a:lstStyle/>
          <a:p>
            <a:r>
              <a:rPr lang="en-US"/>
              <a:t>Why FP matters</a:t>
            </a:r>
          </a:p>
        </p:txBody>
      </p:sp>
      <p:sp>
        <p:nvSpPr>
          <p:cNvPr id="14" name="TextBox 13">
            <a:extLst>
              <a:ext uri="{FF2B5EF4-FFF2-40B4-BE49-F238E27FC236}">
                <a16:creationId xmlns:a16="http://schemas.microsoft.com/office/drawing/2014/main" id="{CBBFCBEB-1F48-84E8-41CF-68E5210ACF1D}"/>
              </a:ext>
            </a:extLst>
          </p:cNvPr>
          <p:cNvSpPr txBox="1"/>
          <p:nvPr/>
        </p:nvSpPr>
        <p:spPr>
          <a:xfrm>
            <a:off x="818763" y="3553349"/>
            <a:ext cx="6703182" cy="2585323"/>
          </a:xfrm>
          <a:prstGeom prst="rect">
            <a:avLst/>
          </a:prstGeom>
          <a:noFill/>
        </p:spPr>
        <p:txBody>
          <a:bodyPr wrap="none" rtlCol="0">
            <a:spAutoFit/>
          </a:bodyPr>
          <a:lstStyle/>
          <a:p>
            <a:pPr marL="342900" indent="-342900">
              <a:buFont typeface="+mj-lt"/>
              <a:buAutoNum type="arabicPeriod"/>
            </a:pPr>
            <a:r>
              <a:rPr lang="en-US" b="1"/>
              <a:t>Concurrency Safety </a:t>
            </a:r>
            <a:r>
              <a:rPr lang="en-US"/>
              <a:t>- Immutability eliminates race conditions</a:t>
            </a:r>
          </a:p>
          <a:p>
            <a:pPr marL="342900" indent="-342900">
              <a:buFont typeface="+mj-lt"/>
              <a:buAutoNum type="arabicPeriod"/>
            </a:pPr>
            <a:endParaRPr lang="en-US"/>
          </a:p>
          <a:p>
            <a:pPr marL="342900" indent="-342900">
              <a:buFont typeface="+mj-lt"/>
              <a:buAutoNum type="arabicPeriod"/>
            </a:pPr>
            <a:r>
              <a:rPr lang="en-US" b="1"/>
              <a:t>Testability</a:t>
            </a:r>
            <a:r>
              <a:rPr lang="en-US"/>
              <a:t> - Pure functions with predictable outputs</a:t>
            </a:r>
          </a:p>
          <a:p>
            <a:pPr marL="342900" indent="-342900">
              <a:buFont typeface="+mj-lt"/>
              <a:buAutoNum type="arabicPeriod"/>
            </a:pPr>
            <a:endParaRPr lang="en-US"/>
          </a:p>
          <a:p>
            <a:pPr marL="342900" indent="-342900">
              <a:buFont typeface="+mj-lt"/>
              <a:buAutoNum type="arabicPeriod"/>
            </a:pPr>
            <a:r>
              <a:rPr lang="en-US" b="1"/>
              <a:t>Maintainability</a:t>
            </a:r>
            <a:r>
              <a:rPr lang="en-US"/>
              <a:t> - Easier reasoning about code behavior</a:t>
            </a:r>
          </a:p>
          <a:p>
            <a:pPr marL="342900" indent="-342900">
              <a:buFont typeface="+mj-lt"/>
              <a:buAutoNum type="arabicPeriod"/>
            </a:pPr>
            <a:endParaRPr lang="en-US"/>
          </a:p>
          <a:p>
            <a:pPr marL="342900" indent="-342900">
              <a:buFont typeface="+mj-lt"/>
              <a:buAutoNum type="arabicPeriod"/>
            </a:pPr>
            <a:r>
              <a:rPr lang="en-US" b="1"/>
              <a:t>Reusability</a:t>
            </a:r>
            <a:r>
              <a:rPr lang="en-US"/>
              <a:t> - Small, focused functions compose well</a:t>
            </a:r>
          </a:p>
          <a:p>
            <a:pPr marL="342900" indent="-342900">
              <a:buFont typeface="+mj-lt"/>
              <a:buAutoNum type="arabicPeriod"/>
            </a:pPr>
            <a:endParaRPr lang="en-US"/>
          </a:p>
          <a:p>
            <a:pPr marL="342900" indent="-342900">
              <a:buFont typeface="+mj-lt"/>
              <a:buAutoNum type="arabicPeriod"/>
            </a:pPr>
            <a:r>
              <a:rPr lang="en-US" b="1"/>
              <a:t>Parallelizability</a:t>
            </a:r>
            <a:r>
              <a:rPr lang="en-US"/>
              <a:t> - No shared mutable state</a:t>
            </a:r>
          </a:p>
        </p:txBody>
      </p:sp>
    </p:spTree>
    <p:extLst>
      <p:ext uri="{BB962C8B-B14F-4D97-AF65-F5344CB8AC3E}">
        <p14:creationId xmlns:p14="http://schemas.microsoft.com/office/powerpoint/2010/main" val="4166251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2"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468E1-C08A-A47B-0122-C343FDB2F71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FD04861-13AB-F4C5-2C5D-D056EE0C1398}"/>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D6FB94FB-9167-FEB7-CB0B-F1D5611AF47C}"/>
              </a:ext>
            </a:extLst>
          </p:cNvPr>
          <p:cNvSpPr>
            <a:spLocks noGrp="1"/>
          </p:cNvSpPr>
          <p:nvPr>
            <p:ph type="sldNum" sz="quarter" idx="12"/>
          </p:nvPr>
        </p:nvSpPr>
        <p:spPr/>
        <p:txBody>
          <a:bodyPr/>
          <a:lstStyle/>
          <a:p>
            <a:fld id="{23D81C8F-CB39-4E4D-98E4-8C3FEDF75126}" type="slidenum">
              <a:rPr lang="en-US" smtClean="0"/>
              <a:t>4</a:t>
            </a:fld>
            <a:endParaRPr lang="en-US"/>
          </a:p>
        </p:txBody>
      </p:sp>
      <p:sp>
        <p:nvSpPr>
          <p:cNvPr id="7" name="TextBox 6">
            <a:extLst>
              <a:ext uri="{FF2B5EF4-FFF2-40B4-BE49-F238E27FC236}">
                <a16:creationId xmlns:a16="http://schemas.microsoft.com/office/drawing/2014/main" id="{DB6E9335-3352-C388-CAC7-7E12810DA651}"/>
              </a:ext>
            </a:extLst>
          </p:cNvPr>
          <p:cNvSpPr txBox="1"/>
          <p:nvPr/>
        </p:nvSpPr>
        <p:spPr>
          <a:xfrm>
            <a:off x="535709" y="194055"/>
            <a:ext cx="1442126" cy="369332"/>
          </a:xfrm>
          <a:prstGeom prst="rect">
            <a:avLst/>
          </a:prstGeom>
          <a:noFill/>
        </p:spPr>
        <p:txBody>
          <a:bodyPr wrap="none" rtlCol="0">
            <a:spAutoFit/>
          </a:bodyPr>
          <a:lstStyle/>
          <a:p>
            <a:r>
              <a:rPr lang="en-US" dirty="0"/>
              <a:t>Immutability</a:t>
            </a:r>
          </a:p>
        </p:txBody>
      </p:sp>
      <p:sp>
        <p:nvSpPr>
          <p:cNvPr id="4" name="TextBox 3">
            <a:extLst>
              <a:ext uri="{FF2B5EF4-FFF2-40B4-BE49-F238E27FC236}">
                <a16:creationId xmlns:a16="http://schemas.microsoft.com/office/drawing/2014/main" id="{2703939F-164E-8A04-F1D6-A617F4080D51}"/>
              </a:ext>
            </a:extLst>
          </p:cNvPr>
          <p:cNvSpPr txBox="1"/>
          <p:nvPr/>
        </p:nvSpPr>
        <p:spPr>
          <a:xfrm>
            <a:off x="535709" y="923636"/>
            <a:ext cx="9557232" cy="2031325"/>
          </a:xfrm>
          <a:prstGeom prst="rect">
            <a:avLst/>
          </a:prstGeom>
          <a:noFill/>
        </p:spPr>
        <p:txBody>
          <a:bodyPr wrap="none" rtlCol="0">
            <a:spAutoFit/>
          </a:bodyPr>
          <a:lstStyle/>
          <a:p>
            <a:r>
              <a:rPr lang="en-US"/>
              <a:t>Immutability means that variables never change their values during the execution of a program.</a:t>
            </a:r>
          </a:p>
          <a:p>
            <a:endParaRPr lang="en-US"/>
          </a:p>
          <a:p>
            <a:r>
              <a:rPr lang="en-US"/>
              <a:t>Advantages:</a:t>
            </a:r>
          </a:p>
          <a:p>
            <a:endParaRPr lang="en-US"/>
          </a:p>
          <a:p>
            <a:pPr marL="285750" indent="-285750">
              <a:buFontTx/>
              <a:buChar char="-"/>
            </a:pPr>
            <a:r>
              <a:rPr lang="en-US"/>
              <a:t>predictable: you can rely on a variable value in any state of the program</a:t>
            </a:r>
          </a:p>
          <a:p>
            <a:pPr marL="285750" indent="-285750">
              <a:buFontTx/>
              <a:buChar char="-"/>
            </a:pPr>
            <a:endParaRPr lang="en-US"/>
          </a:p>
          <a:p>
            <a:pPr marL="285750" indent="-285750">
              <a:buFontTx/>
              <a:buChar char="-"/>
            </a:pPr>
            <a:r>
              <a:rPr lang="en-US"/>
              <a:t>thread-safe: no need to lock for a shared access</a:t>
            </a:r>
          </a:p>
        </p:txBody>
      </p:sp>
      <p:sp>
        <p:nvSpPr>
          <p:cNvPr id="5" name="TextBox 4">
            <a:extLst>
              <a:ext uri="{FF2B5EF4-FFF2-40B4-BE49-F238E27FC236}">
                <a16:creationId xmlns:a16="http://schemas.microsoft.com/office/drawing/2014/main" id="{A6536356-A219-1E28-3DF4-4EA5E28BDCBB}"/>
              </a:ext>
            </a:extLst>
          </p:cNvPr>
          <p:cNvSpPr txBox="1"/>
          <p:nvPr/>
        </p:nvSpPr>
        <p:spPr>
          <a:xfrm>
            <a:off x="1977835" y="3315210"/>
            <a:ext cx="2787943" cy="2677656"/>
          </a:xfrm>
          <a:prstGeom prst="rect">
            <a:avLst/>
          </a:prstGeom>
          <a:solidFill>
            <a:schemeClr val="accent2">
              <a:lumMod val="20000"/>
              <a:lumOff val="80000"/>
            </a:schemeClr>
          </a:solidFill>
        </p:spPr>
        <p:txBody>
          <a:bodyPr wrap="none" rtlCol="0">
            <a:spAutoFit/>
          </a:bodyPr>
          <a:lstStyle/>
          <a:p>
            <a:r>
              <a:rPr lang="en-US" sz="1200">
                <a:latin typeface="Courier New" panose="02070309020205020404" pitchFamily="49" charset="0"/>
                <a:cs typeface="Courier New" panose="02070309020205020404" pitchFamily="49" charset="0"/>
              </a:rPr>
              <a:t>interface Order {</a:t>
            </a:r>
          </a:p>
          <a:p>
            <a:r>
              <a:rPr lang="en-US" sz="1200">
                <a:latin typeface="Courier New" panose="02070309020205020404" pitchFamily="49" charset="0"/>
                <a:cs typeface="Courier New" panose="02070309020205020404" pitchFamily="49" charset="0"/>
              </a:rPr>
              <a:t>  id: number;</a:t>
            </a:r>
          </a:p>
          <a:p>
            <a:r>
              <a:rPr lang="en-US" sz="1200">
                <a:latin typeface="Courier New" panose="02070309020205020404" pitchFamily="49" charset="0"/>
                <a:cs typeface="Courier New" panose="02070309020205020404" pitchFamily="49" charset="0"/>
              </a:rPr>
              <a:t>  items: string[];</a:t>
            </a:r>
          </a:p>
          <a:p>
            <a:r>
              <a:rPr lang="en-US" sz="1200">
                <a:latin typeface="Courier New" panose="02070309020205020404" pitchFamily="49" charset="0"/>
                <a:cs typeface="Courier New" panose="02070309020205020404" pitchFamily="49" charset="0"/>
              </a:rPr>
              <a:t>  totalPrice: number;</a:t>
            </a:r>
          </a:p>
          <a:p>
            <a:r>
              <a:rPr lang="en-US" sz="1200">
                <a:latin typeface="Courier New" panose="02070309020205020404" pitchFamily="49" charset="0"/>
                <a:cs typeface="Courier New" panose="02070309020205020404" pitchFamily="49" charset="0"/>
              </a:rPr>
              <a:t>}</a:t>
            </a:r>
          </a:p>
          <a:p>
            <a:endParaRPr lang="en-US" sz="1200">
              <a:latin typeface="Courier New" panose="02070309020205020404" pitchFamily="49" charset="0"/>
              <a:cs typeface="Courier New" panose="02070309020205020404" pitchFamily="49" charset="0"/>
            </a:endParaRPr>
          </a:p>
          <a:p>
            <a:r>
              <a:rPr lang="en-US" sz="1200">
                <a:latin typeface="Courier New" panose="02070309020205020404" pitchFamily="49" charset="0"/>
                <a:cs typeface="Courier New" panose="02070309020205020404" pitchFamily="49" charset="0"/>
              </a:rPr>
              <a:t>let order: Order = {</a:t>
            </a:r>
          </a:p>
          <a:p>
            <a:r>
              <a:rPr lang="en-US" sz="1200">
                <a:latin typeface="Courier New" panose="02070309020205020404" pitchFamily="49" charset="0"/>
                <a:cs typeface="Courier New" panose="02070309020205020404" pitchFamily="49" charset="0"/>
              </a:rPr>
              <a:t>  id: 1,</a:t>
            </a:r>
          </a:p>
          <a:p>
            <a:r>
              <a:rPr lang="en-US" sz="1200">
                <a:latin typeface="Courier New" panose="02070309020205020404" pitchFamily="49" charset="0"/>
                <a:cs typeface="Courier New" panose="02070309020205020404" pitchFamily="49" charset="0"/>
              </a:rPr>
              <a:t>  items: ["Laptop"],</a:t>
            </a:r>
          </a:p>
          <a:p>
            <a:r>
              <a:rPr lang="en-US" sz="1200">
                <a:latin typeface="Courier New" panose="02070309020205020404" pitchFamily="49" charset="0"/>
                <a:cs typeface="Courier New" panose="02070309020205020404" pitchFamily="49" charset="0"/>
              </a:rPr>
              <a:t>  totalPrice: 1000</a:t>
            </a:r>
          </a:p>
          <a:p>
            <a:r>
              <a:rPr lang="en-US" sz="1200">
                <a:latin typeface="Courier New" panose="02070309020205020404" pitchFamily="49" charset="0"/>
                <a:cs typeface="Courier New" panose="02070309020205020404" pitchFamily="49" charset="0"/>
              </a:rPr>
              <a:t>};</a:t>
            </a:r>
          </a:p>
          <a:p>
            <a:endParaRPr lang="en-US" sz="1200">
              <a:latin typeface="Courier New" panose="02070309020205020404" pitchFamily="49" charset="0"/>
              <a:cs typeface="Courier New" panose="02070309020205020404" pitchFamily="49" charset="0"/>
            </a:endParaRPr>
          </a:p>
          <a:p>
            <a:r>
              <a:rPr lang="en-US" sz="1200">
                <a:latin typeface="Courier New" panose="02070309020205020404" pitchFamily="49" charset="0"/>
                <a:cs typeface="Courier New" panose="02070309020205020404" pitchFamily="49" charset="0"/>
              </a:rPr>
              <a:t>order.items.push("Mouse");  </a:t>
            </a:r>
          </a:p>
          <a:p>
            <a:r>
              <a:rPr lang="en-US" sz="1200">
                <a:latin typeface="Courier New" panose="02070309020205020404" pitchFamily="49" charset="0"/>
                <a:cs typeface="Courier New" panose="02070309020205020404" pitchFamily="49" charset="0"/>
              </a:rPr>
              <a:t>order.totalPrice += 50;</a:t>
            </a:r>
          </a:p>
        </p:txBody>
      </p:sp>
      <p:sp>
        <p:nvSpPr>
          <p:cNvPr id="8" name="TextBox 7">
            <a:extLst>
              <a:ext uri="{FF2B5EF4-FFF2-40B4-BE49-F238E27FC236}">
                <a16:creationId xmlns:a16="http://schemas.microsoft.com/office/drawing/2014/main" id="{7CE72700-0A94-B433-5B46-D35010999F47}"/>
              </a:ext>
            </a:extLst>
          </p:cNvPr>
          <p:cNvSpPr txBox="1"/>
          <p:nvPr/>
        </p:nvSpPr>
        <p:spPr>
          <a:xfrm>
            <a:off x="5799574" y="2370644"/>
            <a:ext cx="5622052" cy="3985706"/>
          </a:xfrm>
          <a:prstGeom prst="rect">
            <a:avLst/>
          </a:prstGeom>
          <a:solidFill>
            <a:schemeClr val="accent6">
              <a:lumMod val="20000"/>
              <a:lumOff val="80000"/>
            </a:schemeClr>
          </a:solidFill>
        </p:spPr>
        <p:txBody>
          <a:bodyPr wrap="none" rtlCol="0">
            <a:spAutoFit/>
          </a:bodyPr>
          <a:lstStyle/>
          <a:p>
            <a:r>
              <a:rPr lang="en-US" sz="1100">
                <a:latin typeface="Courier New" panose="02070309020205020404" pitchFamily="49" charset="0"/>
                <a:cs typeface="Courier New" panose="02070309020205020404" pitchFamily="49" charset="0"/>
              </a:rPr>
              <a:t>const addItemToOrder = (</a:t>
            </a:r>
          </a:p>
          <a:p>
            <a:r>
              <a:rPr lang="en-US" sz="1100">
                <a:latin typeface="Courier New" panose="02070309020205020404" pitchFamily="49" charset="0"/>
                <a:cs typeface="Courier New" panose="02070309020205020404" pitchFamily="49" charset="0"/>
              </a:rPr>
              <a:t>  order: Order, newItem: string, price: number</a:t>
            </a:r>
          </a:p>
          <a:p>
            <a:r>
              <a:rPr lang="en-US" sz="1100">
                <a:latin typeface="Courier New" panose="02070309020205020404" pitchFamily="49" charset="0"/>
                <a:cs typeface="Courier New" panose="02070309020205020404" pitchFamily="49" charset="0"/>
              </a:rPr>
              <a:t>): Order =&gt; {</a:t>
            </a:r>
          </a:p>
          <a:p>
            <a:r>
              <a:rPr lang="en-US" sz="1100">
                <a:latin typeface="Courier New" panose="02070309020205020404" pitchFamily="49" charset="0"/>
                <a:cs typeface="Courier New" panose="02070309020205020404" pitchFamily="49" charset="0"/>
              </a:rPr>
              <a:t>  return {</a:t>
            </a:r>
          </a:p>
          <a:p>
            <a:r>
              <a:rPr lang="en-US" sz="1100">
                <a:latin typeface="Courier New" panose="02070309020205020404" pitchFamily="49" charset="0"/>
                <a:cs typeface="Courier New" panose="02070309020205020404" pitchFamily="49" charset="0"/>
              </a:rPr>
              <a:t>    ...order,</a:t>
            </a:r>
          </a:p>
          <a:p>
            <a:r>
              <a:rPr lang="en-US" sz="1100">
                <a:latin typeface="Courier New" panose="02070309020205020404" pitchFamily="49" charset="0"/>
                <a:cs typeface="Courier New" panose="02070309020205020404" pitchFamily="49" charset="0"/>
              </a:rPr>
              <a:t>    items: [...order.items, newItem],</a:t>
            </a:r>
          </a:p>
          <a:p>
            <a:r>
              <a:rPr lang="en-US" sz="1100">
                <a:latin typeface="Courier New" panose="02070309020205020404" pitchFamily="49" charset="0"/>
                <a:cs typeface="Courier New" panose="02070309020205020404" pitchFamily="49" charset="0"/>
              </a:rPr>
              <a:t>    totalPrice: order.totalPrice + price</a:t>
            </a:r>
          </a:p>
          <a:p>
            <a:r>
              <a:rPr lang="en-US" sz="1100">
                <a:latin typeface="Courier New" panose="02070309020205020404" pitchFamily="49" charset="0"/>
                <a:cs typeface="Courier New" panose="02070309020205020404" pitchFamily="49" charset="0"/>
              </a:rPr>
              <a:t> };</a:t>
            </a:r>
          </a:p>
          <a:p>
            <a:r>
              <a:rPr lang="en-US" sz="1100">
                <a:latin typeface="Courier New" panose="02070309020205020404" pitchFamily="49" charset="0"/>
                <a:cs typeface="Courier New" panose="02070309020205020404" pitchFamily="49" charset="0"/>
              </a:rPr>
              <a:t>};</a:t>
            </a:r>
          </a:p>
          <a:p>
            <a:endParaRPr lang="en-US" sz="1100">
              <a:latin typeface="Courier New" panose="02070309020205020404" pitchFamily="49" charset="0"/>
              <a:cs typeface="Courier New" panose="02070309020205020404" pitchFamily="49" charset="0"/>
            </a:endParaRPr>
          </a:p>
          <a:p>
            <a:r>
              <a:rPr lang="en-US" sz="1100">
                <a:latin typeface="Courier New" panose="02070309020205020404" pitchFamily="49" charset="0"/>
                <a:cs typeface="Courier New" panose="02070309020205020404" pitchFamily="49" charset="0"/>
              </a:rPr>
              <a:t>const originalOrder: Order = {</a:t>
            </a:r>
          </a:p>
          <a:p>
            <a:r>
              <a:rPr lang="en-US" sz="1100">
                <a:latin typeface="Courier New" panose="02070309020205020404" pitchFamily="49" charset="0"/>
                <a:cs typeface="Courier New" panose="02070309020205020404" pitchFamily="49" charset="0"/>
              </a:rPr>
              <a:t>  id: 1,</a:t>
            </a:r>
          </a:p>
          <a:p>
            <a:r>
              <a:rPr lang="en-US" sz="1100">
                <a:latin typeface="Courier New" panose="02070309020205020404" pitchFamily="49" charset="0"/>
                <a:cs typeface="Courier New" panose="02070309020205020404" pitchFamily="49" charset="0"/>
              </a:rPr>
              <a:t>  items: ["Laptop"],</a:t>
            </a:r>
          </a:p>
          <a:p>
            <a:r>
              <a:rPr lang="en-US" sz="1100">
                <a:latin typeface="Courier New" panose="02070309020205020404" pitchFamily="49" charset="0"/>
                <a:cs typeface="Courier New" panose="02070309020205020404" pitchFamily="49" charset="0"/>
              </a:rPr>
              <a:t>  totalPrice: 1000</a:t>
            </a:r>
          </a:p>
          <a:p>
            <a:r>
              <a:rPr lang="en-US" sz="1100">
                <a:latin typeface="Courier New" panose="02070309020205020404" pitchFamily="49" charset="0"/>
                <a:cs typeface="Courier New" panose="02070309020205020404" pitchFamily="49" charset="0"/>
              </a:rPr>
              <a:t>};</a:t>
            </a:r>
          </a:p>
          <a:p>
            <a:endParaRPr lang="en-US" sz="1100">
              <a:latin typeface="Courier New" panose="02070309020205020404" pitchFamily="49" charset="0"/>
              <a:cs typeface="Courier New" panose="02070309020205020404" pitchFamily="49" charset="0"/>
            </a:endParaRPr>
          </a:p>
          <a:p>
            <a:r>
              <a:rPr lang="en-US" sz="1100">
                <a:latin typeface="Courier New" panose="02070309020205020404" pitchFamily="49" charset="0"/>
                <a:cs typeface="Courier New" panose="02070309020205020404" pitchFamily="49" charset="0"/>
              </a:rPr>
              <a:t>const updatedOrder = addItemToOrder(originalOrder, "Mouse", 50);</a:t>
            </a:r>
          </a:p>
          <a:p>
            <a:endParaRPr lang="en-US" sz="1100">
              <a:latin typeface="Courier New" panose="02070309020205020404" pitchFamily="49" charset="0"/>
              <a:cs typeface="Courier New" panose="02070309020205020404" pitchFamily="49" charset="0"/>
            </a:endParaRPr>
          </a:p>
          <a:p>
            <a:r>
              <a:rPr lang="en-US" sz="1100">
                <a:latin typeface="Courier New" panose="02070309020205020404" pitchFamily="49" charset="0"/>
                <a:cs typeface="Courier New" panose="02070309020205020404" pitchFamily="49" charset="0"/>
              </a:rPr>
              <a:t>console.log(originalOrder);</a:t>
            </a:r>
          </a:p>
          <a:p>
            <a:r>
              <a:rPr lang="en-US" sz="1100">
                <a:solidFill>
                  <a:schemeClr val="tx1">
                    <a:lumMod val="50000"/>
                    <a:lumOff val="50000"/>
                  </a:schemeClr>
                </a:solidFill>
                <a:latin typeface="Courier New" panose="02070309020205020404" pitchFamily="49" charset="0"/>
                <a:cs typeface="Courier New" panose="02070309020205020404" pitchFamily="49" charset="0"/>
              </a:rPr>
              <a:t>// { id: 1, items: [ 'Laptop' ], totalPrice: 1000 }</a:t>
            </a:r>
            <a:br>
              <a:rPr lang="en-US" sz="1100">
                <a:solidFill>
                  <a:schemeClr val="tx1">
                    <a:lumMod val="50000"/>
                    <a:lumOff val="50000"/>
                  </a:schemeClr>
                </a:solidFill>
                <a:latin typeface="Courier New" panose="02070309020205020404" pitchFamily="49" charset="0"/>
                <a:cs typeface="Courier New" panose="02070309020205020404" pitchFamily="49" charset="0"/>
              </a:rPr>
            </a:br>
            <a:endParaRPr lang="en-US" sz="1100">
              <a:solidFill>
                <a:schemeClr val="tx1">
                  <a:lumMod val="50000"/>
                  <a:lumOff val="50000"/>
                </a:schemeClr>
              </a:solidFill>
              <a:latin typeface="Courier New" panose="02070309020205020404" pitchFamily="49" charset="0"/>
              <a:cs typeface="Courier New" panose="02070309020205020404" pitchFamily="49" charset="0"/>
            </a:endParaRPr>
          </a:p>
          <a:p>
            <a:r>
              <a:rPr lang="en-US" sz="1100">
                <a:latin typeface="Courier New" panose="02070309020205020404" pitchFamily="49" charset="0"/>
                <a:cs typeface="Courier New" panose="02070309020205020404" pitchFamily="49" charset="0"/>
              </a:rPr>
              <a:t>console.log(updatedOrder);</a:t>
            </a:r>
          </a:p>
          <a:p>
            <a:r>
              <a:rPr lang="en-US" sz="1100">
                <a:solidFill>
                  <a:schemeClr val="tx1">
                    <a:lumMod val="50000"/>
                    <a:lumOff val="50000"/>
                  </a:schemeClr>
                </a:solidFill>
                <a:latin typeface="Courier New" panose="02070309020205020404" pitchFamily="49" charset="0"/>
                <a:cs typeface="Courier New" panose="02070309020205020404" pitchFamily="49" charset="0"/>
              </a:rPr>
              <a:t>// { id: 1, items: [ 'Laptop', 'Mouse' ], totalPrice: 1050 }</a:t>
            </a:r>
          </a:p>
        </p:txBody>
      </p:sp>
    </p:spTree>
    <p:extLst>
      <p:ext uri="{BB962C8B-B14F-4D97-AF65-F5344CB8AC3E}">
        <p14:creationId xmlns:p14="http://schemas.microsoft.com/office/powerpoint/2010/main" val="2709195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6C7BD-4BC5-3CDA-D169-4254ECD3905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A8E61D5-8438-D78C-1B5D-9157DD68040D}"/>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09A7C888-D0D9-59D9-7630-B45A823F51B5}"/>
              </a:ext>
            </a:extLst>
          </p:cNvPr>
          <p:cNvSpPr>
            <a:spLocks noGrp="1"/>
          </p:cNvSpPr>
          <p:nvPr>
            <p:ph type="sldNum" sz="quarter" idx="12"/>
          </p:nvPr>
        </p:nvSpPr>
        <p:spPr/>
        <p:txBody>
          <a:bodyPr/>
          <a:lstStyle/>
          <a:p>
            <a:fld id="{23D81C8F-CB39-4E4D-98E4-8C3FEDF75126}" type="slidenum">
              <a:rPr lang="en-US" smtClean="0"/>
              <a:t>5</a:t>
            </a:fld>
            <a:endParaRPr lang="en-US"/>
          </a:p>
        </p:txBody>
      </p:sp>
      <p:sp>
        <p:nvSpPr>
          <p:cNvPr id="7" name="TextBox 6">
            <a:extLst>
              <a:ext uri="{FF2B5EF4-FFF2-40B4-BE49-F238E27FC236}">
                <a16:creationId xmlns:a16="http://schemas.microsoft.com/office/drawing/2014/main" id="{C1ABD3B2-CD5C-F955-EB52-F91F3B201A93}"/>
              </a:ext>
            </a:extLst>
          </p:cNvPr>
          <p:cNvSpPr txBox="1"/>
          <p:nvPr/>
        </p:nvSpPr>
        <p:spPr>
          <a:xfrm>
            <a:off x="535709" y="194055"/>
            <a:ext cx="1622047" cy="369332"/>
          </a:xfrm>
          <a:prstGeom prst="rect">
            <a:avLst/>
          </a:prstGeom>
          <a:noFill/>
        </p:spPr>
        <p:txBody>
          <a:bodyPr wrap="none" rtlCol="0">
            <a:spAutoFit/>
          </a:bodyPr>
          <a:lstStyle/>
          <a:p>
            <a:r>
              <a:rPr lang="en-US" dirty="0"/>
              <a:t>Pure functions</a:t>
            </a:r>
          </a:p>
        </p:txBody>
      </p:sp>
      <p:sp>
        <p:nvSpPr>
          <p:cNvPr id="4" name="TextBox 3">
            <a:extLst>
              <a:ext uri="{FF2B5EF4-FFF2-40B4-BE49-F238E27FC236}">
                <a16:creationId xmlns:a16="http://schemas.microsoft.com/office/drawing/2014/main" id="{957ABFA4-1628-6162-A642-E3CADDD03BA5}"/>
              </a:ext>
            </a:extLst>
          </p:cNvPr>
          <p:cNvSpPr txBox="1"/>
          <p:nvPr/>
        </p:nvSpPr>
        <p:spPr>
          <a:xfrm>
            <a:off x="497622" y="714084"/>
            <a:ext cx="10913244" cy="2031325"/>
          </a:xfrm>
          <a:prstGeom prst="rect">
            <a:avLst/>
          </a:prstGeom>
          <a:noFill/>
        </p:spPr>
        <p:txBody>
          <a:bodyPr wrap="none" rtlCol="0">
            <a:spAutoFit/>
          </a:bodyPr>
          <a:lstStyle/>
          <a:p>
            <a:r>
              <a:rPr lang="en-US"/>
              <a:t>A pure function is a function that has the following properties:</a:t>
            </a:r>
          </a:p>
          <a:p>
            <a:endParaRPr lang="en-US"/>
          </a:p>
          <a:p>
            <a:pPr marL="285750" indent="-285750">
              <a:buFont typeface="Arial" panose="020B0604020202020204" pitchFamily="34" charset="0"/>
              <a:buChar char="•"/>
            </a:pPr>
            <a:r>
              <a:rPr lang="en-US"/>
              <a:t>identical arguments =&gt; identical return values (no variation with local static variables, non-local variables,</a:t>
            </a:r>
            <a:br>
              <a:rPr lang="en-US"/>
            </a:br>
            <a:r>
              <a:rPr lang="en-US"/>
              <a:t>mutable reference arguments or input streams, i.e., referential transparency)</a:t>
            </a:r>
          </a:p>
          <a:p>
            <a:endParaRPr lang="en-US"/>
          </a:p>
          <a:p>
            <a:pPr marL="285750" indent="-285750">
              <a:buFont typeface="Arial" panose="020B0604020202020204" pitchFamily="34" charset="0"/>
              <a:buChar char="•"/>
            </a:pPr>
            <a:r>
              <a:rPr lang="en-US"/>
              <a:t>no side effects (i.e. no internal mutations)</a:t>
            </a:r>
            <a:br>
              <a:rPr lang="en-US"/>
            </a:br>
            <a:r>
              <a:rPr lang="en-US"/>
              <a:t>(I/O is inherently impure)</a:t>
            </a:r>
          </a:p>
        </p:txBody>
      </p:sp>
      <p:sp>
        <p:nvSpPr>
          <p:cNvPr id="2" name="TextBox 1">
            <a:extLst>
              <a:ext uri="{FF2B5EF4-FFF2-40B4-BE49-F238E27FC236}">
                <a16:creationId xmlns:a16="http://schemas.microsoft.com/office/drawing/2014/main" id="{25B34D99-8FB9-725B-935F-6640B04F1140}"/>
              </a:ext>
            </a:extLst>
          </p:cNvPr>
          <p:cNvSpPr txBox="1"/>
          <p:nvPr/>
        </p:nvSpPr>
        <p:spPr>
          <a:xfrm>
            <a:off x="1089527" y="3244208"/>
            <a:ext cx="2323072" cy="646331"/>
          </a:xfrm>
          <a:prstGeom prst="rect">
            <a:avLst/>
          </a:prstGeom>
          <a:solidFill>
            <a:schemeClr val="accent6">
              <a:lumMod val="20000"/>
              <a:lumOff val="80000"/>
            </a:schemeClr>
          </a:solidFill>
        </p:spPr>
        <p:txBody>
          <a:bodyPr wrap="none" rtlCol="0">
            <a:spAutoFit/>
          </a:bodyPr>
          <a:lstStyle/>
          <a:p>
            <a:r>
              <a:rPr lang="en-US" sz="1200">
                <a:latin typeface="Courier New" panose="02070309020205020404" pitchFamily="49" charset="0"/>
                <a:cs typeface="Courier New" panose="02070309020205020404" pitchFamily="49" charset="0"/>
              </a:rPr>
              <a:t>int sum(int a, int b) {</a:t>
            </a:r>
          </a:p>
          <a:p>
            <a:r>
              <a:rPr lang="en-US" sz="1200">
                <a:latin typeface="Courier New" panose="02070309020205020404" pitchFamily="49" charset="0"/>
                <a:cs typeface="Courier New" panose="02070309020205020404" pitchFamily="49" charset="0"/>
              </a:rPr>
              <a:t>  return a + b;</a:t>
            </a:r>
          </a:p>
          <a:p>
            <a:r>
              <a:rPr lang="en-US" sz="1200">
                <a:latin typeface="Courier New" panose="02070309020205020404" pitchFamily="49" charset="0"/>
                <a:cs typeface="Courier New" panose="02070309020205020404" pitchFamily="49" charset="0"/>
              </a:rPr>
              <a:t>}</a:t>
            </a:r>
          </a:p>
        </p:txBody>
      </p:sp>
      <p:grpSp>
        <p:nvGrpSpPr>
          <p:cNvPr id="13" name="Group 12">
            <a:extLst>
              <a:ext uri="{FF2B5EF4-FFF2-40B4-BE49-F238E27FC236}">
                <a16:creationId xmlns:a16="http://schemas.microsoft.com/office/drawing/2014/main" id="{89FCF9B3-2F83-03AF-3ED2-D2F504EB153C}"/>
              </a:ext>
            </a:extLst>
          </p:cNvPr>
          <p:cNvGrpSpPr/>
          <p:nvPr/>
        </p:nvGrpSpPr>
        <p:grpSpPr>
          <a:xfrm>
            <a:off x="5754195" y="2301164"/>
            <a:ext cx="4989312" cy="3647152"/>
            <a:chOff x="5138728" y="2555081"/>
            <a:chExt cx="4989312" cy="3647152"/>
          </a:xfrm>
          <a:solidFill>
            <a:schemeClr val="accent2">
              <a:lumMod val="20000"/>
              <a:lumOff val="80000"/>
            </a:schemeClr>
          </a:solidFill>
        </p:grpSpPr>
        <p:sp>
          <p:nvSpPr>
            <p:cNvPr id="10" name="TextBox 9">
              <a:extLst>
                <a:ext uri="{FF2B5EF4-FFF2-40B4-BE49-F238E27FC236}">
                  <a16:creationId xmlns:a16="http://schemas.microsoft.com/office/drawing/2014/main" id="{270641C4-C211-BDC6-E05C-51273F938DDB}"/>
                </a:ext>
              </a:extLst>
            </p:cNvPr>
            <p:cNvSpPr txBox="1"/>
            <p:nvPr/>
          </p:nvSpPr>
          <p:spPr>
            <a:xfrm>
              <a:off x="5138728" y="2555081"/>
              <a:ext cx="2138727" cy="3647152"/>
            </a:xfrm>
            <a:prstGeom prst="rect">
              <a:avLst/>
            </a:prstGeom>
            <a:grpFill/>
          </p:spPr>
          <p:txBody>
            <a:bodyPr wrap="none" rtlCol="0">
              <a:spAutoFit/>
            </a:bodyPr>
            <a:lstStyle/>
            <a:p>
              <a:r>
                <a:rPr lang="en-US" sz="1100">
                  <a:latin typeface="Courier New" panose="02070309020205020404" pitchFamily="49" charset="0"/>
                  <a:cs typeface="Courier New" panose="02070309020205020404" pitchFamily="49" charset="0"/>
                </a:rPr>
                <a:t>int myInt = 0;</a:t>
              </a:r>
              <a:br>
                <a:rPr lang="en-US" sz="1100">
                  <a:latin typeface="Courier New" panose="02070309020205020404" pitchFamily="49" charset="0"/>
                  <a:cs typeface="Courier New" panose="02070309020205020404" pitchFamily="49" charset="0"/>
                </a:rPr>
              </a:br>
              <a:br>
                <a:rPr lang="en-US" sz="1100">
                  <a:latin typeface="Courier New" panose="02070309020205020404" pitchFamily="49" charset="0"/>
                  <a:cs typeface="Courier New" panose="02070309020205020404" pitchFamily="49" charset="0"/>
                </a:rPr>
              </a:br>
              <a:r>
                <a:rPr lang="en-US" sz="1100">
                  <a:latin typeface="Courier New" panose="02070309020205020404" pitchFamily="49" charset="0"/>
                  <a:cs typeface="Courier New" panose="02070309020205020404" pitchFamily="49" charset="0"/>
                </a:rPr>
                <a:t>int testFunction() {</a:t>
              </a:r>
            </a:p>
            <a:p>
              <a:r>
                <a:rPr lang="en-US" sz="1100">
                  <a:latin typeface="Courier New" panose="02070309020205020404" pitchFamily="49" charset="0"/>
                  <a:cs typeface="Courier New" panose="02070309020205020404" pitchFamily="49" charset="0"/>
                </a:rPr>
                <a:t>  static int x = 0;</a:t>
              </a:r>
            </a:p>
            <a:p>
              <a:r>
                <a:rPr lang="en-US" sz="1100">
                  <a:latin typeface="Courier New" panose="02070309020205020404" pitchFamily="49" charset="0"/>
                  <a:cs typeface="Courier New" panose="02070309020205020404" pitchFamily="49" charset="0"/>
                </a:rPr>
                <a:t>  ++x;</a:t>
              </a:r>
            </a:p>
            <a:p>
              <a:r>
                <a:rPr lang="en-US" sz="1100">
                  <a:latin typeface="Courier New" panose="02070309020205020404" pitchFamily="49" charset="0"/>
                  <a:cs typeface="Courier New" panose="02070309020205020404" pitchFamily="49" charset="0"/>
                </a:rPr>
                <a:t>  return x;</a:t>
              </a:r>
            </a:p>
            <a:p>
              <a:r>
                <a:rPr lang="en-US" sz="1100">
                  <a:latin typeface="Courier New" panose="02070309020205020404" pitchFamily="49" charset="0"/>
                  <a:cs typeface="Courier New" panose="02070309020205020404" pitchFamily="49" charset="0"/>
                </a:rPr>
                <a:t>}</a:t>
              </a:r>
            </a:p>
            <a:p>
              <a:endParaRPr lang="en-US" sz="1100">
                <a:latin typeface="Courier New" panose="02070309020205020404" pitchFamily="49" charset="0"/>
                <a:cs typeface="Courier New" panose="02070309020205020404" pitchFamily="49" charset="0"/>
              </a:endParaRPr>
            </a:p>
            <a:p>
              <a:r>
                <a:rPr lang="en-US" sz="1100">
                  <a:latin typeface="Courier New" panose="02070309020205020404" pitchFamily="49" charset="0"/>
                  <a:cs typeface="Courier New" panose="02070309020205020404" pitchFamily="49" charset="0"/>
                </a:rPr>
                <a:t>int returnGlobal() {</a:t>
              </a:r>
            </a:p>
            <a:p>
              <a:r>
                <a:rPr lang="en-US" sz="1100">
                  <a:latin typeface="Courier New" panose="02070309020205020404" pitchFamily="49" charset="0"/>
                  <a:cs typeface="Courier New" panose="02070309020205020404" pitchFamily="49" charset="0"/>
                </a:rPr>
                <a:t>  return myInt;</a:t>
              </a:r>
            </a:p>
            <a:p>
              <a:r>
                <a:rPr lang="en-US" sz="1100">
                  <a:latin typeface="Courier New" panose="02070309020205020404" pitchFamily="49" charset="0"/>
                  <a:cs typeface="Courier New" panose="02070309020205020404" pitchFamily="49" charset="0"/>
                </a:rPr>
                <a:t>}</a:t>
              </a:r>
            </a:p>
            <a:p>
              <a:endParaRPr lang="en-US" sz="1100">
                <a:latin typeface="Courier New" panose="02070309020205020404" pitchFamily="49" charset="0"/>
                <a:cs typeface="Courier New" panose="02070309020205020404" pitchFamily="49" charset="0"/>
              </a:endParaRPr>
            </a:p>
            <a:p>
              <a:r>
                <a:rPr lang="en-US" sz="1100">
                  <a:latin typeface="Courier New" panose="02070309020205020404" pitchFamily="49" charset="0"/>
                  <a:cs typeface="Courier New" panose="02070309020205020404" pitchFamily="49" charset="0"/>
                </a:rPr>
                <a:t>int returnRef(int* x) {</a:t>
              </a:r>
            </a:p>
            <a:p>
              <a:r>
                <a:rPr lang="en-US" sz="1100">
                  <a:latin typeface="Courier New" panose="02070309020205020404" pitchFamily="49" charset="0"/>
                  <a:cs typeface="Courier New" panose="02070309020205020404" pitchFamily="49" charset="0"/>
                </a:rPr>
                <a:t>  return *x;</a:t>
              </a:r>
            </a:p>
            <a:p>
              <a:r>
                <a:rPr lang="en-US" sz="1100">
                  <a:latin typeface="Courier New" panose="02070309020205020404" pitchFamily="49" charset="0"/>
                  <a:cs typeface="Courier New" panose="02070309020205020404" pitchFamily="49" charset="0"/>
                </a:rPr>
                <a:t>}</a:t>
              </a:r>
            </a:p>
            <a:p>
              <a:endParaRPr lang="en-US" sz="1100">
                <a:latin typeface="Courier New" panose="02070309020205020404" pitchFamily="49" charset="0"/>
                <a:cs typeface="Courier New" panose="02070309020205020404" pitchFamily="49" charset="0"/>
              </a:endParaRPr>
            </a:p>
            <a:p>
              <a:r>
                <a:rPr lang="en-US" sz="1100">
                  <a:latin typeface="Courier New" panose="02070309020205020404" pitchFamily="49" charset="0"/>
                  <a:cs typeface="Courier New" panose="02070309020205020404" pitchFamily="49" charset="0"/>
                </a:rPr>
                <a:t>int readFromStream() {</a:t>
              </a:r>
            </a:p>
            <a:p>
              <a:r>
                <a:rPr lang="en-US" sz="1100">
                  <a:latin typeface="Courier New" panose="02070309020205020404" pitchFamily="49" charset="0"/>
                  <a:cs typeface="Courier New" panose="02070309020205020404" pitchFamily="49" charset="0"/>
                </a:rPr>
                <a:t>  int x;</a:t>
              </a:r>
            </a:p>
            <a:p>
              <a:r>
                <a:rPr lang="en-US" sz="1100">
                  <a:latin typeface="Courier New" panose="02070309020205020404" pitchFamily="49" charset="0"/>
                  <a:cs typeface="Courier New" panose="02070309020205020404" pitchFamily="49" charset="0"/>
                </a:rPr>
                <a:t>  cin &gt;&gt; x;</a:t>
              </a:r>
            </a:p>
            <a:p>
              <a:r>
                <a:rPr lang="en-US" sz="1100">
                  <a:latin typeface="Courier New" panose="02070309020205020404" pitchFamily="49" charset="0"/>
                  <a:cs typeface="Courier New" panose="02070309020205020404" pitchFamily="49" charset="0"/>
                </a:rPr>
                <a:t>  return x;</a:t>
              </a:r>
            </a:p>
            <a:p>
              <a:r>
                <a:rPr lang="en-US" sz="1100">
                  <a:latin typeface="Courier New" panose="02070309020205020404" pitchFamily="49" charset="0"/>
                  <a:cs typeface="Courier New" panose="02070309020205020404" pitchFamily="49" charset="0"/>
                </a:rPr>
                <a:t>}</a:t>
              </a:r>
            </a:p>
          </p:txBody>
        </p:sp>
        <p:sp>
          <p:nvSpPr>
            <p:cNvPr id="11" name="TextBox 10">
              <a:extLst>
                <a:ext uri="{FF2B5EF4-FFF2-40B4-BE49-F238E27FC236}">
                  <a16:creationId xmlns:a16="http://schemas.microsoft.com/office/drawing/2014/main" id="{25803682-3C02-5382-B2A0-9A7062691A53}"/>
                </a:ext>
              </a:extLst>
            </p:cNvPr>
            <p:cNvSpPr txBox="1"/>
            <p:nvPr/>
          </p:nvSpPr>
          <p:spPr>
            <a:xfrm>
              <a:off x="7904354" y="2805501"/>
              <a:ext cx="2223686" cy="3139321"/>
            </a:xfrm>
            <a:prstGeom prst="rect">
              <a:avLst/>
            </a:prstGeom>
            <a:grpFill/>
          </p:spPr>
          <p:txBody>
            <a:bodyPr wrap="none" rtlCol="0">
              <a:spAutoFit/>
            </a:bodyPr>
            <a:lstStyle/>
            <a:p>
              <a:r>
                <a:rPr lang="en-US" sz="1100">
                  <a:latin typeface="Courier New" panose="02070309020205020404" pitchFamily="49" charset="0"/>
                  <a:cs typeface="Courier New" panose="02070309020205020404" pitchFamily="49" charset="0"/>
                </a:rPr>
                <a:t>int myInt = 0;</a:t>
              </a:r>
              <a:br>
                <a:rPr lang="en-US" sz="1100">
                  <a:latin typeface="Courier New" panose="02070309020205020404" pitchFamily="49" charset="0"/>
                  <a:cs typeface="Courier New" panose="02070309020205020404" pitchFamily="49" charset="0"/>
                </a:rPr>
              </a:br>
              <a:br>
                <a:rPr lang="en-US" sz="1100">
                  <a:latin typeface="Courier New" panose="02070309020205020404" pitchFamily="49" charset="0"/>
                  <a:cs typeface="Courier New" panose="02070309020205020404" pitchFamily="49" charset="0"/>
                </a:rPr>
              </a:br>
              <a:r>
                <a:rPr lang="en-US" sz="1100">
                  <a:latin typeface="Courier New" panose="02070309020205020404" pitchFamily="49" charset="0"/>
                  <a:cs typeface="Courier New" panose="02070309020205020404" pitchFamily="49" charset="0"/>
                </a:rPr>
                <a:t>void testFunction() {</a:t>
              </a:r>
            </a:p>
            <a:p>
              <a:r>
                <a:rPr lang="en-US" sz="1100">
                  <a:latin typeface="Courier New" panose="02070309020205020404" pitchFamily="49" charset="0"/>
                  <a:cs typeface="Courier New" panose="02070309020205020404" pitchFamily="49" charset="0"/>
                </a:rPr>
                <a:t>  static x = 0;</a:t>
              </a:r>
            </a:p>
            <a:p>
              <a:r>
                <a:rPr lang="en-US" sz="1100">
                  <a:latin typeface="Courier New" panose="02070309020205020404" pitchFamily="49" charset="0"/>
                  <a:cs typeface="Courier New" panose="02070309020205020404" pitchFamily="49" charset="0"/>
                </a:rPr>
                <a:t>  ++x;</a:t>
              </a:r>
            </a:p>
            <a:p>
              <a:r>
                <a:rPr lang="en-US" sz="1100">
                  <a:latin typeface="Courier New" panose="02070309020205020404" pitchFamily="49" charset="0"/>
                  <a:cs typeface="Courier New" panose="02070309020205020404" pitchFamily="49" charset="0"/>
                </a:rPr>
                <a:t>}</a:t>
              </a:r>
            </a:p>
            <a:p>
              <a:endParaRPr lang="en-US" sz="1100">
                <a:latin typeface="Courier New" panose="02070309020205020404" pitchFamily="49" charset="0"/>
                <a:cs typeface="Courier New" panose="02070309020205020404" pitchFamily="49" charset="0"/>
              </a:endParaRPr>
            </a:p>
            <a:p>
              <a:r>
                <a:rPr lang="en-US" sz="1100">
                  <a:latin typeface="Courier New" panose="02070309020205020404" pitchFamily="49" charset="0"/>
                  <a:cs typeface="Courier New" panose="02070309020205020404" pitchFamily="49" charset="0"/>
                </a:rPr>
                <a:t>void changeGlobal() {</a:t>
              </a:r>
            </a:p>
            <a:p>
              <a:r>
                <a:rPr lang="en-US" sz="1100">
                  <a:latin typeface="Courier New" panose="02070309020205020404" pitchFamily="49" charset="0"/>
                  <a:cs typeface="Courier New" panose="02070309020205020404" pitchFamily="49" charset="0"/>
                </a:rPr>
                <a:t>  ++myInt;</a:t>
              </a:r>
            </a:p>
            <a:p>
              <a:r>
                <a:rPr lang="en-US" sz="1100">
                  <a:latin typeface="Courier New" panose="02070309020205020404" pitchFamily="49" charset="0"/>
                  <a:cs typeface="Courier New" panose="02070309020205020404" pitchFamily="49" charset="0"/>
                </a:rPr>
                <a:t>}</a:t>
              </a:r>
            </a:p>
            <a:p>
              <a:endParaRPr lang="en-US" sz="1100">
                <a:latin typeface="Courier New" panose="02070309020205020404" pitchFamily="49" charset="0"/>
                <a:cs typeface="Courier New" panose="02070309020205020404" pitchFamily="49" charset="0"/>
              </a:endParaRPr>
            </a:p>
            <a:p>
              <a:r>
                <a:rPr lang="en-US" sz="1100">
                  <a:latin typeface="Courier New" panose="02070309020205020404" pitchFamily="49" charset="0"/>
                  <a:cs typeface="Courier New" panose="02070309020205020404" pitchFamily="49" charset="0"/>
                </a:rPr>
                <a:t>void returnRef(int* x) {</a:t>
              </a:r>
            </a:p>
            <a:p>
              <a:r>
                <a:rPr lang="en-US" sz="1100">
                  <a:latin typeface="Courier New" panose="02070309020205020404" pitchFamily="49" charset="0"/>
                  <a:cs typeface="Courier New" panose="02070309020205020404" pitchFamily="49" charset="0"/>
                </a:rPr>
                <a:t>  ++*x;</a:t>
              </a:r>
            </a:p>
            <a:p>
              <a:r>
                <a:rPr lang="en-US" sz="1100">
                  <a:latin typeface="Courier New" panose="02070309020205020404" pitchFamily="49" charset="0"/>
                  <a:cs typeface="Courier New" panose="02070309020205020404" pitchFamily="49" charset="0"/>
                </a:rPr>
                <a:t>}</a:t>
              </a:r>
            </a:p>
            <a:p>
              <a:endParaRPr lang="en-US" sz="1100">
                <a:latin typeface="Courier New" panose="02070309020205020404" pitchFamily="49" charset="0"/>
                <a:cs typeface="Courier New" panose="02070309020205020404" pitchFamily="49" charset="0"/>
              </a:endParaRPr>
            </a:p>
            <a:p>
              <a:r>
                <a:rPr lang="en-US" sz="1100">
                  <a:latin typeface="Courier New" panose="02070309020205020404" pitchFamily="49" charset="0"/>
                  <a:cs typeface="Courier New" panose="02070309020205020404" pitchFamily="49" charset="0"/>
                </a:rPr>
                <a:t>int writeToStream() {</a:t>
              </a:r>
            </a:p>
            <a:p>
              <a:r>
                <a:rPr lang="en-US" sz="1100">
                  <a:latin typeface="Courier New" panose="02070309020205020404" pitchFamily="49" charset="0"/>
                  <a:cs typeface="Courier New" panose="02070309020205020404" pitchFamily="49" charset="0"/>
                </a:rPr>
                <a:t>  cout &lt;&lt; “hey”;</a:t>
              </a:r>
            </a:p>
            <a:p>
              <a:r>
                <a:rPr lang="en-US" sz="1100">
                  <a:latin typeface="Courier New" panose="02070309020205020404" pitchFamily="49" charset="0"/>
                  <a:cs typeface="Courier New" panose="02070309020205020404" pitchFamily="49" charset="0"/>
                </a:rPr>
                <a:t>}</a:t>
              </a:r>
            </a:p>
          </p:txBody>
        </p:sp>
      </p:grpSp>
      <p:cxnSp>
        <p:nvCxnSpPr>
          <p:cNvPr id="8" name="Straight Arrow Connector 7">
            <a:extLst>
              <a:ext uri="{FF2B5EF4-FFF2-40B4-BE49-F238E27FC236}">
                <a16:creationId xmlns:a16="http://schemas.microsoft.com/office/drawing/2014/main" id="{CD509E10-61E3-5BE7-EF39-07044983D6C6}"/>
              </a:ext>
            </a:extLst>
          </p:cNvPr>
          <p:cNvCxnSpPr>
            <a:cxnSpLocks/>
          </p:cNvCxnSpPr>
          <p:nvPr/>
        </p:nvCxnSpPr>
        <p:spPr>
          <a:xfrm>
            <a:off x="5364401" y="2937173"/>
            <a:ext cx="546177" cy="3070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DB91245-A2AD-C2D2-3E87-F53E1CC62537}"/>
              </a:ext>
            </a:extLst>
          </p:cNvPr>
          <p:cNvSpPr txBox="1"/>
          <p:nvPr/>
        </p:nvSpPr>
        <p:spPr>
          <a:xfrm>
            <a:off x="4631871" y="2626768"/>
            <a:ext cx="990849" cy="461665"/>
          </a:xfrm>
          <a:prstGeom prst="rect">
            <a:avLst/>
          </a:prstGeom>
          <a:noFill/>
        </p:spPr>
        <p:txBody>
          <a:bodyPr wrap="none" rtlCol="0">
            <a:spAutoFit/>
          </a:bodyPr>
          <a:lstStyle/>
          <a:p>
            <a:r>
              <a:rPr lang="en-US" sz="1200"/>
              <a:t>return static</a:t>
            </a:r>
            <a:br>
              <a:rPr lang="en-US" sz="1200"/>
            </a:br>
            <a:r>
              <a:rPr lang="en-US" sz="1200"/>
              <a:t>variable</a:t>
            </a:r>
          </a:p>
        </p:txBody>
      </p:sp>
      <p:sp>
        <p:nvSpPr>
          <p:cNvPr id="15" name="TextBox 14">
            <a:extLst>
              <a:ext uri="{FF2B5EF4-FFF2-40B4-BE49-F238E27FC236}">
                <a16:creationId xmlns:a16="http://schemas.microsoft.com/office/drawing/2014/main" id="{A97F2766-79BC-3499-143A-5EF9EFB09977}"/>
              </a:ext>
            </a:extLst>
          </p:cNvPr>
          <p:cNvSpPr txBox="1"/>
          <p:nvPr/>
        </p:nvSpPr>
        <p:spPr>
          <a:xfrm>
            <a:off x="4631871" y="3475040"/>
            <a:ext cx="1028936" cy="461665"/>
          </a:xfrm>
          <a:prstGeom prst="rect">
            <a:avLst/>
          </a:prstGeom>
          <a:noFill/>
        </p:spPr>
        <p:txBody>
          <a:bodyPr wrap="none" rtlCol="0">
            <a:spAutoFit/>
          </a:bodyPr>
          <a:lstStyle/>
          <a:p>
            <a:r>
              <a:rPr lang="en-US" sz="1200"/>
              <a:t>return global</a:t>
            </a:r>
            <a:br>
              <a:rPr lang="en-US" sz="1200"/>
            </a:br>
            <a:r>
              <a:rPr lang="en-US" sz="1200"/>
              <a:t>variable</a:t>
            </a:r>
          </a:p>
        </p:txBody>
      </p:sp>
      <p:cxnSp>
        <p:nvCxnSpPr>
          <p:cNvPr id="16" name="Straight Arrow Connector 15">
            <a:extLst>
              <a:ext uri="{FF2B5EF4-FFF2-40B4-BE49-F238E27FC236}">
                <a16:creationId xmlns:a16="http://schemas.microsoft.com/office/drawing/2014/main" id="{832CB689-A809-A7E3-FB01-FE6B4EE67BEC}"/>
              </a:ext>
            </a:extLst>
          </p:cNvPr>
          <p:cNvCxnSpPr>
            <a:cxnSpLocks/>
          </p:cNvCxnSpPr>
          <p:nvPr/>
        </p:nvCxnSpPr>
        <p:spPr>
          <a:xfrm>
            <a:off x="5364401" y="3777560"/>
            <a:ext cx="546177" cy="1591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9C8FCDE1-4FAF-9517-F435-6FCCE891FA5B}"/>
              </a:ext>
            </a:extLst>
          </p:cNvPr>
          <p:cNvSpPr txBox="1"/>
          <p:nvPr/>
        </p:nvSpPr>
        <p:spPr>
          <a:xfrm>
            <a:off x="4593784" y="4127177"/>
            <a:ext cx="1177438" cy="461665"/>
          </a:xfrm>
          <a:prstGeom prst="rect">
            <a:avLst/>
          </a:prstGeom>
          <a:noFill/>
        </p:spPr>
        <p:txBody>
          <a:bodyPr wrap="none" rtlCol="0">
            <a:spAutoFit/>
          </a:bodyPr>
          <a:lstStyle/>
          <a:p>
            <a:r>
              <a:rPr lang="en-US" sz="1200"/>
              <a:t>return mutable</a:t>
            </a:r>
            <a:br>
              <a:rPr lang="en-US" sz="1200"/>
            </a:br>
            <a:r>
              <a:rPr lang="en-US" sz="1200"/>
              <a:t>argument</a:t>
            </a:r>
          </a:p>
        </p:txBody>
      </p:sp>
      <p:cxnSp>
        <p:nvCxnSpPr>
          <p:cNvPr id="20" name="Straight Arrow Connector 19">
            <a:extLst>
              <a:ext uri="{FF2B5EF4-FFF2-40B4-BE49-F238E27FC236}">
                <a16:creationId xmlns:a16="http://schemas.microsoft.com/office/drawing/2014/main" id="{ACF37FD7-0928-2AF2-623B-9EDC2B324B4D}"/>
              </a:ext>
            </a:extLst>
          </p:cNvPr>
          <p:cNvCxnSpPr>
            <a:cxnSpLocks/>
          </p:cNvCxnSpPr>
          <p:nvPr/>
        </p:nvCxnSpPr>
        <p:spPr>
          <a:xfrm>
            <a:off x="5467133" y="4416790"/>
            <a:ext cx="405358" cy="1720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2F52D00F-F4CD-7A38-898E-F15D3557CACF}"/>
              </a:ext>
            </a:extLst>
          </p:cNvPr>
          <p:cNvSpPr txBox="1"/>
          <p:nvPr/>
        </p:nvSpPr>
        <p:spPr>
          <a:xfrm>
            <a:off x="4444622" y="5068927"/>
            <a:ext cx="1177438" cy="461665"/>
          </a:xfrm>
          <a:prstGeom prst="rect">
            <a:avLst/>
          </a:prstGeom>
          <a:noFill/>
        </p:spPr>
        <p:txBody>
          <a:bodyPr wrap="square" rtlCol="0">
            <a:spAutoFit/>
          </a:bodyPr>
          <a:lstStyle/>
          <a:p>
            <a:r>
              <a:rPr lang="en-US" sz="1200"/>
              <a:t>return value</a:t>
            </a:r>
            <a:br>
              <a:rPr lang="en-US" sz="1200"/>
            </a:br>
            <a:r>
              <a:rPr lang="en-US" sz="1200"/>
              <a:t>from input</a:t>
            </a:r>
          </a:p>
        </p:txBody>
      </p:sp>
      <p:cxnSp>
        <p:nvCxnSpPr>
          <p:cNvPr id="25" name="Straight Arrow Connector 24">
            <a:extLst>
              <a:ext uri="{FF2B5EF4-FFF2-40B4-BE49-F238E27FC236}">
                <a16:creationId xmlns:a16="http://schemas.microsoft.com/office/drawing/2014/main" id="{02401E35-714B-B18B-C2E0-5ABA541501C9}"/>
              </a:ext>
            </a:extLst>
          </p:cNvPr>
          <p:cNvCxnSpPr>
            <a:cxnSpLocks/>
          </p:cNvCxnSpPr>
          <p:nvPr/>
        </p:nvCxnSpPr>
        <p:spPr>
          <a:xfrm>
            <a:off x="5317971" y="5358540"/>
            <a:ext cx="592607" cy="8120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4091D0DE-297D-5D35-91A8-A68176193CFD}"/>
              </a:ext>
            </a:extLst>
          </p:cNvPr>
          <p:cNvCxnSpPr>
            <a:cxnSpLocks/>
          </p:cNvCxnSpPr>
          <p:nvPr/>
        </p:nvCxnSpPr>
        <p:spPr>
          <a:xfrm flipH="1">
            <a:off x="10234518" y="2898436"/>
            <a:ext cx="676391" cy="3220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4210224D-FC19-A195-BB01-511FDD71E0E5}"/>
              </a:ext>
            </a:extLst>
          </p:cNvPr>
          <p:cNvSpPr txBox="1"/>
          <p:nvPr/>
        </p:nvSpPr>
        <p:spPr>
          <a:xfrm>
            <a:off x="10863536" y="2551584"/>
            <a:ext cx="1191416" cy="461665"/>
          </a:xfrm>
          <a:prstGeom prst="rect">
            <a:avLst/>
          </a:prstGeom>
          <a:noFill/>
        </p:spPr>
        <p:txBody>
          <a:bodyPr wrap="none" rtlCol="0">
            <a:spAutoFit/>
          </a:bodyPr>
          <a:lstStyle/>
          <a:p>
            <a:r>
              <a:rPr lang="en-US" sz="1200"/>
              <a:t>mutation static</a:t>
            </a:r>
            <a:br>
              <a:rPr lang="en-US" sz="1200"/>
            </a:br>
            <a:r>
              <a:rPr lang="en-US" sz="1200"/>
              <a:t>variable</a:t>
            </a:r>
          </a:p>
        </p:txBody>
      </p:sp>
      <p:cxnSp>
        <p:nvCxnSpPr>
          <p:cNvPr id="31" name="Straight Arrow Connector 30">
            <a:extLst>
              <a:ext uri="{FF2B5EF4-FFF2-40B4-BE49-F238E27FC236}">
                <a16:creationId xmlns:a16="http://schemas.microsoft.com/office/drawing/2014/main" id="{C26F446C-0F48-9764-E448-445B545F19AD}"/>
              </a:ext>
            </a:extLst>
          </p:cNvPr>
          <p:cNvCxnSpPr>
            <a:cxnSpLocks/>
          </p:cNvCxnSpPr>
          <p:nvPr/>
        </p:nvCxnSpPr>
        <p:spPr>
          <a:xfrm flipH="1">
            <a:off x="10234518" y="3821892"/>
            <a:ext cx="723764" cy="2089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1D0F27C6-638F-1BF8-19EF-3EE9F2B40C88}"/>
              </a:ext>
            </a:extLst>
          </p:cNvPr>
          <p:cNvSpPr txBox="1"/>
          <p:nvPr/>
        </p:nvSpPr>
        <p:spPr>
          <a:xfrm>
            <a:off x="11000584" y="3474913"/>
            <a:ext cx="830632" cy="646331"/>
          </a:xfrm>
          <a:prstGeom prst="rect">
            <a:avLst/>
          </a:prstGeom>
          <a:noFill/>
        </p:spPr>
        <p:txBody>
          <a:bodyPr wrap="square" rtlCol="0">
            <a:spAutoFit/>
          </a:bodyPr>
          <a:lstStyle/>
          <a:p>
            <a:r>
              <a:rPr lang="en-US" sz="1200"/>
              <a:t>mutation global</a:t>
            </a:r>
            <a:br>
              <a:rPr lang="en-US" sz="1200"/>
            </a:br>
            <a:r>
              <a:rPr lang="en-US" sz="1200"/>
              <a:t>variable</a:t>
            </a:r>
          </a:p>
        </p:txBody>
      </p:sp>
      <p:cxnSp>
        <p:nvCxnSpPr>
          <p:cNvPr id="34" name="Straight Arrow Connector 33">
            <a:extLst>
              <a:ext uri="{FF2B5EF4-FFF2-40B4-BE49-F238E27FC236}">
                <a16:creationId xmlns:a16="http://schemas.microsoft.com/office/drawing/2014/main" id="{1EE71654-002C-F38E-61F8-2D1882EAE535}"/>
              </a:ext>
            </a:extLst>
          </p:cNvPr>
          <p:cNvCxnSpPr>
            <a:cxnSpLocks/>
          </p:cNvCxnSpPr>
          <p:nvPr/>
        </p:nvCxnSpPr>
        <p:spPr>
          <a:xfrm flipH="1">
            <a:off x="10234518" y="4702426"/>
            <a:ext cx="82565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459B1661-2B23-B573-C13B-4DC97A600DF2}"/>
              </a:ext>
            </a:extLst>
          </p:cNvPr>
          <p:cNvSpPr txBox="1"/>
          <p:nvPr/>
        </p:nvSpPr>
        <p:spPr>
          <a:xfrm>
            <a:off x="11102473" y="4355447"/>
            <a:ext cx="830632" cy="646331"/>
          </a:xfrm>
          <a:prstGeom prst="rect">
            <a:avLst/>
          </a:prstGeom>
          <a:noFill/>
        </p:spPr>
        <p:txBody>
          <a:bodyPr wrap="square" rtlCol="0">
            <a:spAutoFit/>
          </a:bodyPr>
          <a:lstStyle/>
          <a:p>
            <a:r>
              <a:rPr lang="en-US" sz="1200"/>
              <a:t>mutation mutable</a:t>
            </a:r>
            <a:br>
              <a:rPr lang="en-US" sz="1200"/>
            </a:br>
            <a:r>
              <a:rPr lang="en-US" sz="1200"/>
              <a:t>argument</a:t>
            </a:r>
          </a:p>
        </p:txBody>
      </p:sp>
      <p:cxnSp>
        <p:nvCxnSpPr>
          <p:cNvPr id="37" name="Straight Arrow Connector 36">
            <a:extLst>
              <a:ext uri="{FF2B5EF4-FFF2-40B4-BE49-F238E27FC236}">
                <a16:creationId xmlns:a16="http://schemas.microsoft.com/office/drawing/2014/main" id="{B9D32859-8060-8AB3-BC61-B522B151C339}"/>
              </a:ext>
            </a:extLst>
          </p:cNvPr>
          <p:cNvCxnSpPr>
            <a:cxnSpLocks/>
          </p:cNvCxnSpPr>
          <p:nvPr/>
        </p:nvCxnSpPr>
        <p:spPr>
          <a:xfrm flipH="1" flipV="1">
            <a:off x="10105053" y="5367872"/>
            <a:ext cx="902737" cy="3468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FB0183CA-CDFE-7185-0F46-80942EA597CA}"/>
              </a:ext>
            </a:extLst>
          </p:cNvPr>
          <p:cNvSpPr txBox="1"/>
          <p:nvPr/>
        </p:nvSpPr>
        <p:spPr>
          <a:xfrm>
            <a:off x="11050092" y="5367739"/>
            <a:ext cx="830632" cy="461665"/>
          </a:xfrm>
          <a:prstGeom prst="rect">
            <a:avLst/>
          </a:prstGeom>
          <a:noFill/>
        </p:spPr>
        <p:txBody>
          <a:bodyPr wrap="square" rtlCol="0">
            <a:spAutoFit/>
          </a:bodyPr>
          <a:lstStyle/>
          <a:p>
            <a:r>
              <a:rPr lang="en-US" sz="1200"/>
              <a:t>mutation output</a:t>
            </a:r>
          </a:p>
        </p:txBody>
      </p:sp>
      <p:sp>
        <p:nvSpPr>
          <p:cNvPr id="41" name="TextBox 40">
            <a:extLst>
              <a:ext uri="{FF2B5EF4-FFF2-40B4-BE49-F238E27FC236}">
                <a16:creationId xmlns:a16="http://schemas.microsoft.com/office/drawing/2014/main" id="{487AE55A-FC02-8DC0-DA7A-802588E3BFC6}"/>
              </a:ext>
            </a:extLst>
          </p:cNvPr>
          <p:cNvSpPr txBox="1"/>
          <p:nvPr/>
        </p:nvSpPr>
        <p:spPr>
          <a:xfrm>
            <a:off x="535709" y="5299759"/>
            <a:ext cx="1614673" cy="923330"/>
          </a:xfrm>
          <a:prstGeom prst="rect">
            <a:avLst/>
          </a:prstGeom>
          <a:noFill/>
        </p:spPr>
        <p:txBody>
          <a:bodyPr wrap="none" rtlCol="0">
            <a:spAutoFit/>
          </a:bodyPr>
          <a:lstStyle/>
          <a:p>
            <a:r>
              <a:rPr lang="en-US"/>
              <a:t>Benefits:</a:t>
            </a:r>
          </a:p>
          <a:p>
            <a:pPr marL="285750" indent="-285750">
              <a:buFontTx/>
              <a:buChar char="-"/>
            </a:pPr>
            <a:r>
              <a:rPr lang="en-US"/>
              <a:t>Predictable</a:t>
            </a:r>
          </a:p>
          <a:p>
            <a:pPr marL="285750" indent="-285750">
              <a:buFontTx/>
              <a:buChar char="-"/>
            </a:pPr>
            <a:r>
              <a:rPr lang="en-US"/>
              <a:t>Testable</a:t>
            </a:r>
          </a:p>
        </p:txBody>
      </p:sp>
    </p:spTree>
    <p:extLst>
      <p:ext uri="{BB962C8B-B14F-4D97-AF65-F5344CB8AC3E}">
        <p14:creationId xmlns:p14="http://schemas.microsoft.com/office/powerpoint/2010/main" val="2381637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8"/>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animBg="1"/>
      <p:bldP spid="14" grpId="0"/>
      <p:bldP spid="15" grpId="0"/>
      <p:bldP spid="19" grpId="0"/>
      <p:bldP spid="24" grpId="0"/>
      <p:bldP spid="28" grpId="0"/>
      <p:bldP spid="32" grpId="0"/>
      <p:bldP spid="35" grpId="0"/>
      <p:bldP spid="38" grpId="0"/>
      <p:bldP spid="4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0BE41-DDE7-9A28-E0DF-10A19C2B42C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BB680DF-5BC9-6BBB-D08F-C0F022B6F9E5}"/>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2D707C9A-F3A4-BB84-F310-9DA095249053}"/>
              </a:ext>
            </a:extLst>
          </p:cNvPr>
          <p:cNvSpPr>
            <a:spLocks noGrp="1"/>
          </p:cNvSpPr>
          <p:nvPr>
            <p:ph type="sldNum" sz="quarter" idx="12"/>
          </p:nvPr>
        </p:nvSpPr>
        <p:spPr/>
        <p:txBody>
          <a:bodyPr/>
          <a:lstStyle/>
          <a:p>
            <a:fld id="{23D81C8F-CB39-4E4D-98E4-8C3FEDF75126}" type="slidenum">
              <a:rPr lang="en-US" smtClean="0"/>
              <a:t>6</a:t>
            </a:fld>
            <a:endParaRPr lang="en-US"/>
          </a:p>
        </p:txBody>
      </p:sp>
      <p:sp>
        <p:nvSpPr>
          <p:cNvPr id="7" name="TextBox 6">
            <a:extLst>
              <a:ext uri="{FF2B5EF4-FFF2-40B4-BE49-F238E27FC236}">
                <a16:creationId xmlns:a16="http://schemas.microsoft.com/office/drawing/2014/main" id="{FE923741-764E-A806-472A-CA3AF65A53F3}"/>
              </a:ext>
            </a:extLst>
          </p:cNvPr>
          <p:cNvSpPr txBox="1"/>
          <p:nvPr/>
        </p:nvSpPr>
        <p:spPr>
          <a:xfrm>
            <a:off x="535709" y="194055"/>
            <a:ext cx="2942793" cy="369332"/>
          </a:xfrm>
          <a:prstGeom prst="rect">
            <a:avLst/>
          </a:prstGeom>
          <a:noFill/>
        </p:spPr>
        <p:txBody>
          <a:bodyPr wrap="none" rtlCol="0">
            <a:spAutoFit/>
          </a:bodyPr>
          <a:lstStyle/>
          <a:p>
            <a:r>
              <a:rPr lang="en-US" dirty="0"/>
              <a:t>Pure functions - advantages</a:t>
            </a:r>
          </a:p>
        </p:txBody>
      </p:sp>
      <p:sp>
        <p:nvSpPr>
          <p:cNvPr id="4" name="TextBox 3">
            <a:extLst>
              <a:ext uri="{FF2B5EF4-FFF2-40B4-BE49-F238E27FC236}">
                <a16:creationId xmlns:a16="http://schemas.microsoft.com/office/drawing/2014/main" id="{6FE5B853-3BBF-9251-5473-7E12B456C4AB}"/>
              </a:ext>
            </a:extLst>
          </p:cNvPr>
          <p:cNvSpPr txBox="1"/>
          <p:nvPr/>
        </p:nvSpPr>
        <p:spPr>
          <a:xfrm>
            <a:off x="535709" y="1390166"/>
            <a:ext cx="11487825" cy="4247317"/>
          </a:xfrm>
          <a:prstGeom prst="rect">
            <a:avLst/>
          </a:prstGeom>
          <a:noFill/>
        </p:spPr>
        <p:txBody>
          <a:bodyPr wrap="none" rtlCol="0">
            <a:spAutoFit/>
          </a:bodyPr>
          <a:lstStyle/>
          <a:p>
            <a:pPr marL="285750" indent="-285750">
              <a:buFontTx/>
              <a:buChar char="-"/>
            </a:pPr>
            <a:r>
              <a:rPr lang="en-US"/>
              <a:t>If the result of a pure expression is not used, you can remove the expression from the code, nothing changes</a:t>
            </a:r>
            <a:br>
              <a:rPr lang="en-US"/>
            </a:br>
            <a:endParaRPr lang="en-US"/>
          </a:p>
          <a:p>
            <a:pPr marL="285750" indent="-285750">
              <a:buFontTx/>
              <a:buChar char="-"/>
            </a:pPr>
            <a:endParaRPr lang="en-US"/>
          </a:p>
          <a:p>
            <a:pPr marL="285750" indent="-285750">
              <a:buFontTx/>
              <a:buChar char="-"/>
            </a:pPr>
            <a:r>
              <a:rPr lang="en-US"/>
              <a:t>If a pure function is called with arguments having no side-effects, the result is constant with respect to those</a:t>
            </a:r>
            <a:br>
              <a:rPr lang="en-US"/>
            </a:br>
            <a:r>
              <a:rPr lang="en-US"/>
              <a:t>arguments. </a:t>
            </a:r>
            <a:br>
              <a:rPr lang="en-US"/>
            </a:br>
            <a:endParaRPr lang="en-US"/>
          </a:p>
          <a:p>
            <a:pPr marL="285750" indent="-285750">
              <a:buFontTx/>
              <a:buChar char="-"/>
            </a:pPr>
            <a:endParaRPr lang="en-US"/>
          </a:p>
          <a:p>
            <a:pPr marL="285750" indent="-285750">
              <a:buFontTx/>
              <a:buChar char="-"/>
            </a:pPr>
            <a:r>
              <a:rPr lang="en-US"/>
              <a:t>If there’s no data dependency between expressions, you can call it in any order, or even parallelize the execution</a:t>
            </a:r>
            <a:br>
              <a:rPr lang="en-US"/>
            </a:br>
            <a:endParaRPr lang="en-US"/>
          </a:p>
          <a:p>
            <a:pPr marL="285750" indent="-285750">
              <a:buFontTx/>
              <a:buChar char="-"/>
            </a:pPr>
            <a:endParaRPr lang="en-US"/>
          </a:p>
          <a:p>
            <a:pPr marL="285750" indent="-285750">
              <a:buFontTx/>
              <a:buChar char="-"/>
            </a:pPr>
            <a:r>
              <a:rPr lang="en-US"/>
              <a:t>A programming language can decide to re-order/combine the evaluation of expressions, to maximize</a:t>
            </a:r>
            <a:br>
              <a:rPr lang="en-US"/>
            </a:br>
            <a:r>
              <a:rPr lang="en-US"/>
              <a:t>performance (assuming no side-effects)</a:t>
            </a:r>
          </a:p>
          <a:p>
            <a:pPr marL="285750" indent="-285750">
              <a:buFontTx/>
              <a:buChar char="-"/>
            </a:pPr>
            <a:endParaRPr lang="en-US"/>
          </a:p>
          <a:p>
            <a:pPr marL="285750" indent="-285750">
              <a:buFontTx/>
              <a:buChar char="-"/>
            </a:pPr>
            <a:endParaRPr lang="en-US"/>
          </a:p>
          <a:p>
            <a:pPr marL="285750" indent="-285750">
              <a:buFontTx/>
              <a:buChar char="-"/>
            </a:pPr>
            <a:r>
              <a:rPr lang="en-US"/>
              <a:t>Straightforward to test</a:t>
            </a:r>
          </a:p>
        </p:txBody>
      </p:sp>
    </p:spTree>
    <p:extLst>
      <p:ext uri="{BB962C8B-B14F-4D97-AF65-F5344CB8AC3E}">
        <p14:creationId xmlns:p14="http://schemas.microsoft.com/office/powerpoint/2010/main" val="1231537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44A872D-84BE-1FB9-A601-DA5B3D987EC1}"/>
              </a:ext>
            </a:extLst>
          </p:cNvPr>
          <p:cNvSpPr>
            <a:spLocks noGrp="1"/>
          </p:cNvSpPr>
          <p:nvPr>
            <p:ph type="ftr" sz="quarter" idx="11"/>
          </p:nvPr>
        </p:nvSpPr>
        <p:spPr/>
        <p:txBody>
          <a:bodyPr/>
          <a:lstStyle/>
          <a:p>
            <a:r>
              <a:rPr lang="en-US"/>
              <a:t>ASE - Functional Programming</a:t>
            </a:r>
          </a:p>
        </p:txBody>
      </p:sp>
      <p:sp>
        <p:nvSpPr>
          <p:cNvPr id="5" name="Slide Number Placeholder 4">
            <a:extLst>
              <a:ext uri="{FF2B5EF4-FFF2-40B4-BE49-F238E27FC236}">
                <a16:creationId xmlns:a16="http://schemas.microsoft.com/office/drawing/2014/main" id="{5E6A5B46-A7C0-6D59-ACC1-2A1B4E423769}"/>
              </a:ext>
            </a:extLst>
          </p:cNvPr>
          <p:cNvSpPr>
            <a:spLocks noGrp="1"/>
          </p:cNvSpPr>
          <p:nvPr>
            <p:ph type="sldNum" sz="quarter" idx="12"/>
          </p:nvPr>
        </p:nvSpPr>
        <p:spPr/>
        <p:txBody>
          <a:bodyPr/>
          <a:lstStyle/>
          <a:p>
            <a:fld id="{23D81C8F-CB39-4E4D-98E4-8C3FEDF75126}" type="slidenum">
              <a:rPr lang="en-US" smtClean="0"/>
              <a:t>7</a:t>
            </a:fld>
            <a:endParaRPr lang="en-US"/>
          </a:p>
        </p:txBody>
      </p:sp>
      <p:pic>
        <p:nvPicPr>
          <p:cNvPr id="11" name="Picture 10">
            <a:extLst>
              <a:ext uri="{FF2B5EF4-FFF2-40B4-BE49-F238E27FC236}">
                <a16:creationId xmlns:a16="http://schemas.microsoft.com/office/drawing/2014/main" id="{2D477D4B-A8F3-72D5-52D1-EF26C5A9AAE7}"/>
              </a:ext>
            </a:extLst>
          </p:cNvPr>
          <p:cNvPicPr>
            <a:picLocks noChangeAspect="1"/>
          </p:cNvPicPr>
          <p:nvPr/>
        </p:nvPicPr>
        <p:blipFill>
          <a:blip r:embed="rId2"/>
          <a:stretch>
            <a:fillRect/>
          </a:stretch>
        </p:blipFill>
        <p:spPr>
          <a:xfrm>
            <a:off x="223935" y="234944"/>
            <a:ext cx="11495314" cy="6121406"/>
          </a:xfrm>
          <a:prstGeom prst="rect">
            <a:avLst/>
          </a:prstGeom>
        </p:spPr>
      </p:pic>
    </p:spTree>
    <p:extLst>
      <p:ext uri="{BB962C8B-B14F-4D97-AF65-F5344CB8AC3E}">
        <p14:creationId xmlns:p14="http://schemas.microsoft.com/office/powerpoint/2010/main" val="1808883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468E1-C08A-A47B-0122-C343FDB2F71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FD04861-13AB-F4C5-2C5D-D056EE0C1398}"/>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D6FB94FB-9167-FEB7-CB0B-F1D5611AF47C}"/>
              </a:ext>
            </a:extLst>
          </p:cNvPr>
          <p:cNvSpPr>
            <a:spLocks noGrp="1"/>
          </p:cNvSpPr>
          <p:nvPr>
            <p:ph type="sldNum" sz="quarter" idx="12"/>
          </p:nvPr>
        </p:nvSpPr>
        <p:spPr/>
        <p:txBody>
          <a:bodyPr/>
          <a:lstStyle/>
          <a:p>
            <a:fld id="{23D81C8F-CB39-4E4D-98E4-8C3FEDF75126}" type="slidenum">
              <a:rPr lang="en-US" smtClean="0"/>
              <a:t>8</a:t>
            </a:fld>
            <a:endParaRPr lang="en-US"/>
          </a:p>
        </p:txBody>
      </p:sp>
      <p:sp>
        <p:nvSpPr>
          <p:cNvPr id="7" name="TextBox 6">
            <a:extLst>
              <a:ext uri="{FF2B5EF4-FFF2-40B4-BE49-F238E27FC236}">
                <a16:creationId xmlns:a16="http://schemas.microsoft.com/office/drawing/2014/main" id="{DB6E9335-3352-C388-CAC7-7E12810DA651}"/>
              </a:ext>
            </a:extLst>
          </p:cNvPr>
          <p:cNvSpPr txBox="1"/>
          <p:nvPr/>
        </p:nvSpPr>
        <p:spPr>
          <a:xfrm>
            <a:off x="535709" y="194055"/>
            <a:ext cx="2978444" cy="369332"/>
          </a:xfrm>
          <a:prstGeom prst="rect">
            <a:avLst/>
          </a:prstGeom>
          <a:noFill/>
        </p:spPr>
        <p:txBody>
          <a:bodyPr wrap="none" rtlCol="0">
            <a:spAutoFit/>
          </a:bodyPr>
          <a:lstStyle/>
          <a:p>
            <a:r>
              <a:rPr lang="en-US" dirty="0"/>
              <a:t>Function: first-class citizens</a:t>
            </a:r>
          </a:p>
        </p:txBody>
      </p:sp>
      <p:sp>
        <p:nvSpPr>
          <p:cNvPr id="9" name="TextBox 8">
            <a:extLst>
              <a:ext uri="{FF2B5EF4-FFF2-40B4-BE49-F238E27FC236}">
                <a16:creationId xmlns:a16="http://schemas.microsoft.com/office/drawing/2014/main" id="{E28129F9-5092-5D1A-E352-E3ED9AA60345}"/>
              </a:ext>
            </a:extLst>
          </p:cNvPr>
          <p:cNvSpPr txBox="1"/>
          <p:nvPr/>
        </p:nvSpPr>
        <p:spPr>
          <a:xfrm>
            <a:off x="4167909" y="752713"/>
            <a:ext cx="7185891" cy="5786199"/>
          </a:xfrm>
          <a:prstGeom prst="rect">
            <a:avLst/>
          </a:prstGeom>
          <a:noFill/>
        </p:spPr>
        <p:txBody>
          <a:bodyPr wrap="square" rtlCol="0">
            <a:spAutoFit/>
          </a:bodyPr>
          <a:lstStyle/>
          <a:p>
            <a:r>
              <a:rPr lang="en-US" sz="1000">
                <a:latin typeface="Courier New" panose="02070309020205020404" pitchFamily="49" charset="0"/>
                <a:cs typeface="Courier New" panose="02070309020205020404" pitchFamily="49" charset="0"/>
              </a:rPr>
              <a:t>#include &lt;iostream&gt;</a:t>
            </a:r>
          </a:p>
          <a:p>
            <a:r>
              <a:rPr lang="en-US" sz="1000">
                <a:latin typeface="Courier New" panose="02070309020205020404" pitchFamily="49" charset="0"/>
                <a:cs typeface="Courier New" panose="02070309020205020404" pitchFamily="49" charset="0"/>
              </a:rPr>
              <a:t>#include &lt;fstream&gt;</a:t>
            </a:r>
          </a:p>
          <a:p>
            <a:r>
              <a:rPr lang="en-US" sz="1000">
                <a:latin typeface="Courier New" panose="02070309020205020404" pitchFamily="49" charset="0"/>
                <a:cs typeface="Courier New" panose="02070309020205020404" pitchFamily="49" charset="0"/>
              </a:rPr>
              <a:t>#include &lt;functional&gt;</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 Different logging strategies</a:t>
            </a:r>
          </a:p>
          <a:p>
            <a:r>
              <a:rPr lang="en-US" sz="1000">
                <a:latin typeface="Courier New" panose="02070309020205020404" pitchFamily="49" charset="0"/>
                <a:cs typeface="Courier New" panose="02070309020205020404" pitchFamily="49" charset="0"/>
              </a:rPr>
              <a:t>void logToConsole(const std::string&amp; message) {</a:t>
            </a:r>
          </a:p>
          <a:p>
            <a:r>
              <a:rPr lang="en-US" sz="1000">
                <a:latin typeface="Courier New" panose="02070309020205020404" pitchFamily="49" charset="0"/>
                <a:cs typeface="Courier New" panose="02070309020205020404" pitchFamily="49" charset="0"/>
              </a:rPr>
              <a:t>    std::cout &lt;&lt; "[Console] " &lt;&lt; message &lt;&lt; std::endl;</a:t>
            </a:r>
          </a:p>
          <a:p>
            <a:r>
              <a:rPr lang="en-US" sz="1000">
                <a:latin typeface="Courier New" panose="02070309020205020404" pitchFamily="49" charset="0"/>
                <a:cs typeface="Courier New" panose="02070309020205020404" pitchFamily="49" charset="0"/>
              </a:rPr>
              <a:t>}</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void logToFile(const std::string&amp; message) {</a:t>
            </a:r>
          </a:p>
          <a:p>
            <a:r>
              <a:rPr lang="en-US" sz="1000">
                <a:latin typeface="Courier New" panose="02070309020205020404" pitchFamily="49" charset="0"/>
                <a:cs typeface="Courier New" panose="02070309020205020404" pitchFamily="49" charset="0"/>
              </a:rPr>
              <a:t>    std::ofstream file("log.txt", std::ios::app);</a:t>
            </a:r>
          </a:p>
          <a:p>
            <a:r>
              <a:rPr lang="en-US" sz="1000">
                <a:latin typeface="Courier New" panose="02070309020205020404" pitchFamily="49" charset="0"/>
                <a:cs typeface="Courier New" panose="02070309020205020404" pitchFamily="49" charset="0"/>
              </a:rPr>
              <a:t>    if (file.is_open()) {</a:t>
            </a:r>
          </a:p>
          <a:p>
            <a:r>
              <a:rPr lang="en-US" sz="1000">
                <a:latin typeface="Courier New" panose="02070309020205020404" pitchFamily="49" charset="0"/>
                <a:cs typeface="Courier New" panose="02070309020205020404" pitchFamily="49" charset="0"/>
              </a:rPr>
              <a:t>        file &lt;&lt; "[File] " &lt;&lt; message &lt;&lt; std::endl;</a:t>
            </a:r>
          </a:p>
          <a:p>
            <a:r>
              <a:rPr lang="en-US" sz="1000">
                <a:latin typeface="Courier New" panose="02070309020205020404" pitchFamily="49" charset="0"/>
                <a:cs typeface="Courier New" panose="02070309020205020404" pitchFamily="49" charset="0"/>
              </a:rPr>
              <a:t>    }</a:t>
            </a:r>
          </a:p>
          <a:p>
            <a:r>
              <a:rPr lang="en-US" sz="1000">
                <a:latin typeface="Courier New" panose="02070309020205020404" pitchFamily="49" charset="0"/>
                <a:cs typeface="Courier New" panose="02070309020205020404" pitchFamily="49" charset="0"/>
              </a:rPr>
              <a:t>}</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 Function that accepts a logging strategy as a parameter</a:t>
            </a:r>
          </a:p>
          <a:p>
            <a:r>
              <a:rPr lang="en-US" sz="1000">
                <a:latin typeface="Courier New" panose="02070309020205020404" pitchFamily="49" charset="0"/>
                <a:cs typeface="Courier New" panose="02070309020205020404" pitchFamily="49" charset="0"/>
              </a:rPr>
              <a:t>void performTask(const std::string&amp; task, </a:t>
            </a:r>
            <a:r>
              <a:rPr lang="en-US" sz="1000">
                <a:highlight>
                  <a:srgbClr val="FFFF00"/>
                </a:highlight>
                <a:latin typeface="Courier New" panose="02070309020205020404" pitchFamily="49" charset="0"/>
                <a:cs typeface="Courier New" panose="02070309020205020404" pitchFamily="49" charset="0"/>
              </a:rPr>
              <a:t>std::function&lt;void(const std::string&amp;)&gt; logger</a:t>
            </a:r>
            <a:r>
              <a:rPr lang="en-US" sz="1000">
                <a:latin typeface="Courier New" panose="02070309020205020404" pitchFamily="49" charset="0"/>
                <a:cs typeface="Courier New" panose="02070309020205020404" pitchFamily="49" charset="0"/>
              </a:rPr>
              <a:t>) {</a:t>
            </a:r>
          </a:p>
          <a:p>
            <a:r>
              <a:rPr lang="en-US" sz="1000">
                <a:latin typeface="Courier New" panose="02070309020205020404" pitchFamily="49" charset="0"/>
                <a:cs typeface="Courier New" panose="02070309020205020404" pitchFamily="49" charset="0"/>
              </a:rPr>
              <a:t>    </a:t>
            </a:r>
            <a:r>
              <a:rPr lang="en-US" sz="1000">
                <a:highlight>
                  <a:srgbClr val="00FFFF"/>
                </a:highlight>
                <a:latin typeface="Courier New" panose="02070309020205020404" pitchFamily="49" charset="0"/>
                <a:cs typeface="Courier New" panose="02070309020205020404" pitchFamily="49" charset="0"/>
              </a:rPr>
              <a:t>logger</a:t>
            </a:r>
            <a:r>
              <a:rPr lang="en-US" sz="1000">
                <a:latin typeface="Courier New" panose="02070309020205020404" pitchFamily="49" charset="0"/>
                <a:cs typeface="Courier New" panose="02070309020205020404" pitchFamily="49" charset="0"/>
              </a:rPr>
              <a:t>("Starting task: " + task);</a:t>
            </a:r>
          </a:p>
          <a:p>
            <a:r>
              <a:rPr lang="en-US" sz="1000">
                <a:latin typeface="Courier New" panose="02070309020205020404" pitchFamily="49" charset="0"/>
                <a:cs typeface="Courier New" panose="02070309020205020404" pitchFamily="49" charset="0"/>
              </a:rPr>
              <a:t>    // Simulate task execution</a:t>
            </a:r>
          </a:p>
          <a:p>
            <a:r>
              <a:rPr lang="en-US" sz="1000">
                <a:latin typeface="Courier New" panose="02070309020205020404" pitchFamily="49" charset="0"/>
                <a:cs typeface="Courier New" panose="02070309020205020404" pitchFamily="49" charset="0"/>
              </a:rPr>
              <a:t>    </a:t>
            </a:r>
            <a:r>
              <a:rPr lang="en-US" sz="1000">
                <a:highlight>
                  <a:srgbClr val="00FFFF"/>
                </a:highlight>
                <a:latin typeface="Courier New" panose="02070309020205020404" pitchFamily="49" charset="0"/>
                <a:cs typeface="Courier New" panose="02070309020205020404" pitchFamily="49" charset="0"/>
              </a:rPr>
              <a:t>logger</a:t>
            </a:r>
            <a:r>
              <a:rPr lang="en-US" sz="1000">
                <a:latin typeface="Courier New" panose="02070309020205020404" pitchFamily="49" charset="0"/>
                <a:cs typeface="Courier New" panose="02070309020205020404" pitchFamily="49" charset="0"/>
              </a:rPr>
              <a:t>("Task '" + task + "' completed.");</a:t>
            </a:r>
          </a:p>
          <a:p>
            <a:r>
              <a:rPr lang="en-US" sz="1000">
                <a:latin typeface="Courier New" panose="02070309020205020404" pitchFamily="49" charset="0"/>
                <a:cs typeface="Courier New" panose="02070309020205020404" pitchFamily="49" charset="0"/>
              </a:rPr>
              <a:t>}</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int main() {</a:t>
            </a:r>
          </a:p>
          <a:p>
            <a:r>
              <a:rPr lang="en-US" sz="1000">
                <a:latin typeface="Courier New" panose="02070309020205020404" pitchFamily="49" charset="0"/>
                <a:cs typeface="Courier New" panose="02070309020205020404" pitchFamily="49" charset="0"/>
              </a:rPr>
              <a:t>    // Using logToConsole</a:t>
            </a:r>
          </a:p>
          <a:p>
            <a:r>
              <a:rPr lang="en-US" sz="1000">
                <a:latin typeface="Courier New" panose="02070309020205020404" pitchFamily="49" charset="0"/>
                <a:cs typeface="Courier New" panose="02070309020205020404" pitchFamily="49" charset="0"/>
              </a:rPr>
              <a:t>    performTask("Data Processing", logToConsole);</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    // Using logToFile</a:t>
            </a:r>
          </a:p>
          <a:p>
            <a:r>
              <a:rPr lang="en-US" sz="1000">
                <a:latin typeface="Courier New" panose="02070309020205020404" pitchFamily="49" charset="0"/>
                <a:cs typeface="Courier New" panose="02070309020205020404" pitchFamily="49" charset="0"/>
              </a:rPr>
              <a:t>    performTask("File Backup", logToFile);</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    // Using an inline lambda function for custom logging</a:t>
            </a:r>
          </a:p>
          <a:p>
            <a:r>
              <a:rPr lang="en-US" sz="1000">
                <a:latin typeface="Courier New" panose="02070309020205020404" pitchFamily="49" charset="0"/>
                <a:cs typeface="Courier New" panose="02070309020205020404" pitchFamily="49" charset="0"/>
              </a:rPr>
              <a:t>    performTask("Security Check", [](const std::string&amp; msg) {</a:t>
            </a:r>
          </a:p>
          <a:p>
            <a:r>
              <a:rPr lang="en-US" sz="1000">
                <a:latin typeface="Courier New" panose="02070309020205020404" pitchFamily="49" charset="0"/>
                <a:cs typeface="Courier New" panose="02070309020205020404" pitchFamily="49" charset="0"/>
              </a:rPr>
              <a:t>        std::cerr &lt;&lt; "[Error Log] " &lt;&lt; msg &lt;&lt; std::endl;</a:t>
            </a:r>
          </a:p>
          <a:p>
            <a:r>
              <a:rPr lang="en-US" sz="1000">
                <a:latin typeface="Courier New" panose="02070309020205020404" pitchFamily="49" charset="0"/>
                <a:cs typeface="Courier New" panose="02070309020205020404" pitchFamily="49" charset="0"/>
              </a:rPr>
              <a:t>    });</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    return 0;</a:t>
            </a:r>
          </a:p>
          <a:p>
            <a:r>
              <a:rPr lang="en-US" sz="1000">
                <a:latin typeface="Courier New" panose="02070309020205020404" pitchFamily="49" charset="0"/>
                <a:cs typeface="Courier New" panose="02070309020205020404" pitchFamily="49" charset="0"/>
              </a:rPr>
              <a:t>}</a:t>
            </a:r>
          </a:p>
        </p:txBody>
      </p:sp>
      <p:sp>
        <p:nvSpPr>
          <p:cNvPr id="2" name="TextBox 1">
            <a:extLst>
              <a:ext uri="{FF2B5EF4-FFF2-40B4-BE49-F238E27FC236}">
                <a16:creationId xmlns:a16="http://schemas.microsoft.com/office/drawing/2014/main" id="{0F47074F-D309-2E2A-4A41-8C0AD54A6A77}"/>
              </a:ext>
            </a:extLst>
          </p:cNvPr>
          <p:cNvSpPr txBox="1"/>
          <p:nvPr/>
        </p:nvSpPr>
        <p:spPr>
          <a:xfrm>
            <a:off x="347376" y="2690336"/>
            <a:ext cx="3355109" cy="2308324"/>
          </a:xfrm>
          <a:prstGeom prst="rect">
            <a:avLst/>
          </a:prstGeom>
          <a:noFill/>
        </p:spPr>
        <p:txBody>
          <a:bodyPr wrap="square" rtlCol="0">
            <a:spAutoFit/>
          </a:bodyPr>
          <a:lstStyle/>
          <a:p>
            <a:r>
              <a:rPr lang="en-US"/>
              <a:t>A function is a first-class citizen if it can be assigned to a variable, passed as an argument, and returned from another function.</a:t>
            </a:r>
          </a:p>
          <a:p>
            <a:endParaRPr lang="en-US"/>
          </a:p>
          <a:p>
            <a:r>
              <a:rPr lang="en-US" b="1">
                <a:solidFill>
                  <a:srgbClr val="FF0000"/>
                </a:solidFill>
              </a:rPr>
              <a:t>That’s the fundamental brick of FP!</a:t>
            </a:r>
          </a:p>
        </p:txBody>
      </p:sp>
    </p:spTree>
    <p:extLst>
      <p:ext uri="{BB962C8B-B14F-4D97-AF65-F5344CB8AC3E}">
        <p14:creationId xmlns:p14="http://schemas.microsoft.com/office/powerpoint/2010/main" val="3319832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947E5-7D82-DD5D-E5C2-86425BA4A46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8DD56D2-C549-8B16-2B9B-15B3B85C4960}"/>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6D623C95-95CE-D109-2188-DFA2387F5485}"/>
              </a:ext>
            </a:extLst>
          </p:cNvPr>
          <p:cNvSpPr>
            <a:spLocks noGrp="1"/>
          </p:cNvSpPr>
          <p:nvPr>
            <p:ph type="sldNum" sz="quarter" idx="12"/>
          </p:nvPr>
        </p:nvSpPr>
        <p:spPr/>
        <p:txBody>
          <a:bodyPr/>
          <a:lstStyle/>
          <a:p>
            <a:fld id="{23D81C8F-CB39-4E4D-98E4-8C3FEDF75126}" type="slidenum">
              <a:rPr lang="en-US" smtClean="0"/>
              <a:t>9</a:t>
            </a:fld>
            <a:endParaRPr lang="en-US"/>
          </a:p>
        </p:txBody>
      </p:sp>
      <p:sp>
        <p:nvSpPr>
          <p:cNvPr id="7" name="TextBox 6">
            <a:extLst>
              <a:ext uri="{FF2B5EF4-FFF2-40B4-BE49-F238E27FC236}">
                <a16:creationId xmlns:a16="http://schemas.microsoft.com/office/drawing/2014/main" id="{24E06B8A-2BE3-6F65-F013-3F8CD21632F6}"/>
              </a:ext>
            </a:extLst>
          </p:cNvPr>
          <p:cNvSpPr txBox="1"/>
          <p:nvPr/>
        </p:nvSpPr>
        <p:spPr>
          <a:xfrm>
            <a:off x="535709" y="194055"/>
            <a:ext cx="2394053" cy="369332"/>
          </a:xfrm>
          <a:prstGeom prst="rect">
            <a:avLst/>
          </a:prstGeom>
          <a:noFill/>
        </p:spPr>
        <p:txBody>
          <a:bodyPr wrap="none" rtlCol="0">
            <a:spAutoFit/>
          </a:bodyPr>
          <a:lstStyle/>
          <a:p>
            <a:r>
              <a:rPr lang="en-US" dirty="0"/>
              <a:t>Function: higher-order</a:t>
            </a:r>
          </a:p>
        </p:txBody>
      </p:sp>
      <p:sp>
        <p:nvSpPr>
          <p:cNvPr id="9" name="TextBox 8">
            <a:extLst>
              <a:ext uri="{FF2B5EF4-FFF2-40B4-BE49-F238E27FC236}">
                <a16:creationId xmlns:a16="http://schemas.microsoft.com/office/drawing/2014/main" id="{E4232737-5310-CCC6-33F0-E93C79C7F9C7}"/>
              </a:ext>
            </a:extLst>
          </p:cNvPr>
          <p:cNvSpPr txBox="1"/>
          <p:nvPr/>
        </p:nvSpPr>
        <p:spPr>
          <a:xfrm>
            <a:off x="4167909" y="378721"/>
            <a:ext cx="7185891" cy="5940088"/>
          </a:xfrm>
          <a:prstGeom prst="rect">
            <a:avLst/>
          </a:prstGeom>
          <a:noFill/>
        </p:spPr>
        <p:txBody>
          <a:bodyPr wrap="square" rtlCol="0">
            <a:spAutoFit/>
          </a:bodyPr>
          <a:lstStyle/>
          <a:p>
            <a:r>
              <a:rPr lang="en-US" sz="1000">
                <a:latin typeface="Courier New" panose="02070309020205020404" pitchFamily="49" charset="0"/>
                <a:cs typeface="Courier New" panose="02070309020205020404" pitchFamily="49" charset="0"/>
              </a:rPr>
              <a:t>function retry&lt;T&gt;(operation: () =&gt; Promise&lt;T&gt;, maxAttempts: number, delayMs: number): () =&gt; Promise&lt;T&gt; {</a:t>
            </a:r>
          </a:p>
          <a:p>
            <a:r>
              <a:rPr lang="en-US" sz="1000">
                <a:latin typeface="Courier New" panose="02070309020205020404" pitchFamily="49" charset="0"/>
                <a:cs typeface="Courier New" panose="02070309020205020404" pitchFamily="49" charset="0"/>
              </a:rPr>
              <a:t>    return async function () {</a:t>
            </a:r>
          </a:p>
          <a:p>
            <a:r>
              <a:rPr lang="en-US" sz="1000">
                <a:latin typeface="Courier New" panose="02070309020205020404" pitchFamily="49" charset="0"/>
                <a:cs typeface="Courier New" panose="02070309020205020404" pitchFamily="49" charset="0"/>
              </a:rPr>
              <a:t>        for (let attempt = 1; attempt &lt;= maxAttempts; attempt++) {</a:t>
            </a:r>
          </a:p>
          <a:p>
            <a:r>
              <a:rPr lang="en-US" sz="1000">
                <a:latin typeface="Courier New" panose="02070309020205020404" pitchFamily="49" charset="0"/>
                <a:cs typeface="Courier New" panose="02070309020205020404" pitchFamily="49" charset="0"/>
              </a:rPr>
              <a:t>            try {</a:t>
            </a:r>
          </a:p>
          <a:p>
            <a:r>
              <a:rPr lang="en-US" sz="1000">
                <a:latin typeface="Courier New" panose="02070309020205020404" pitchFamily="49" charset="0"/>
                <a:cs typeface="Courier New" panose="02070309020205020404" pitchFamily="49" charset="0"/>
              </a:rPr>
              <a:t>                return await operation();</a:t>
            </a:r>
          </a:p>
          <a:p>
            <a:r>
              <a:rPr lang="en-US" sz="1000">
                <a:latin typeface="Courier New" panose="02070309020205020404" pitchFamily="49" charset="0"/>
                <a:cs typeface="Courier New" panose="02070309020205020404" pitchFamily="49" charset="0"/>
              </a:rPr>
              <a:t>            } catch (error) {</a:t>
            </a:r>
          </a:p>
          <a:p>
            <a:r>
              <a:rPr lang="en-US" sz="1000">
                <a:latin typeface="Courier New" panose="02070309020205020404" pitchFamily="49" charset="0"/>
                <a:cs typeface="Courier New" panose="02070309020205020404" pitchFamily="49" charset="0"/>
              </a:rPr>
              <a:t>                console.error(`Attempt ${attempt} failed: ${error}`);</a:t>
            </a:r>
          </a:p>
          <a:p>
            <a:r>
              <a:rPr lang="en-US" sz="1000">
                <a:latin typeface="Courier New" panose="02070309020205020404" pitchFamily="49" charset="0"/>
                <a:cs typeface="Courier New" panose="02070309020205020404" pitchFamily="49" charset="0"/>
              </a:rPr>
              <a:t>                if (attempt &lt; maxAttempts) {</a:t>
            </a:r>
          </a:p>
          <a:p>
            <a:r>
              <a:rPr lang="en-US" sz="1000">
                <a:latin typeface="Courier New" panose="02070309020205020404" pitchFamily="49" charset="0"/>
                <a:cs typeface="Courier New" panose="02070309020205020404" pitchFamily="49" charset="0"/>
              </a:rPr>
              <a:t>                    console.log(`Retrying in ${delayMs}ms...`);</a:t>
            </a:r>
          </a:p>
          <a:p>
            <a:r>
              <a:rPr lang="en-US" sz="1000">
                <a:latin typeface="Courier New" panose="02070309020205020404" pitchFamily="49" charset="0"/>
                <a:cs typeface="Courier New" panose="02070309020205020404" pitchFamily="49" charset="0"/>
              </a:rPr>
              <a:t>                    await new Promise(resolve =&gt; setTimeout(resolve, delayMs));</a:t>
            </a:r>
          </a:p>
          <a:p>
            <a:r>
              <a:rPr lang="en-US" sz="1000">
                <a:latin typeface="Courier New" panose="02070309020205020404" pitchFamily="49" charset="0"/>
                <a:cs typeface="Courier New" panose="02070309020205020404" pitchFamily="49" charset="0"/>
              </a:rPr>
              <a:t>                }</a:t>
            </a:r>
          </a:p>
          <a:p>
            <a:r>
              <a:rPr lang="en-US" sz="1000">
                <a:latin typeface="Courier New" panose="02070309020205020404" pitchFamily="49" charset="0"/>
                <a:cs typeface="Courier New" panose="02070309020205020404" pitchFamily="49" charset="0"/>
              </a:rPr>
              <a:t>            }</a:t>
            </a:r>
          </a:p>
          <a:p>
            <a:r>
              <a:rPr lang="en-US" sz="1000">
                <a:latin typeface="Courier New" panose="02070309020205020404" pitchFamily="49" charset="0"/>
                <a:cs typeface="Courier New" panose="02070309020205020404" pitchFamily="49" charset="0"/>
              </a:rPr>
              <a:t>        }</a:t>
            </a:r>
          </a:p>
          <a:p>
            <a:r>
              <a:rPr lang="en-US" sz="1000">
                <a:latin typeface="Courier New" panose="02070309020205020404" pitchFamily="49" charset="0"/>
                <a:cs typeface="Courier New" panose="02070309020205020404" pitchFamily="49" charset="0"/>
              </a:rPr>
              <a:t>        throw new Error(`Operation failed after ${maxAttempts} attempts.`);</a:t>
            </a:r>
          </a:p>
          <a:p>
            <a:r>
              <a:rPr lang="en-US" sz="1000">
                <a:latin typeface="Courier New" panose="02070309020205020404" pitchFamily="49" charset="0"/>
                <a:cs typeface="Courier New" panose="02070309020205020404" pitchFamily="49" charset="0"/>
              </a:rPr>
              <a:t>    };</a:t>
            </a:r>
          </a:p>
          <a:p>
            <a:r>
              <a:rPr lang="en-US" sz="1000">
                <a:latin typeface="Courier New" panose="02070309020205020404" pitchFamily="49" charset="0"/>
                <a:cs typeface="Courier New" panose="02070309020205020404" pitchFamily="49" charset="0"/>
              </a:rPr>
              <a:t>}</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 Simulated API call (random failure)</a:t>
            </a:r>
          </a:p>
          <a:p>
            <a:r>
              <a:rPr lang="en-US" sz="1000">
                <a:latin typeface="Courier New" panose="02070309020205020404" pitchFamily="49" charset="0"/>
                <a:cs typeface="Courier New" panose="02070309020205020404" pitchFamily="49" charset="0"/>
              </a:rPr>
              <a:t>async function unstableOperation(): Promise&lt;string&gt; {</a:t>
            </a:r>
          </a:p>
          <a:p>
            <a:r>
              <a:rPr lang="en-US" sz="1000">
                <a:latin typeface="Courier New" panose="02070309020205020404" pitchFamily="49" charset="0"/>
                <a:cs typeface="Courier New" panose="02070309020205020404" pitchFamily="49" charset="0"/>
              </a:rPr>
              <a:t>    return new Promise((resolve, reject) =&gt; {</a:t>
            </a:r>
          </a:p>
          <a:p>
            <a:r>
              <a:rPr lang="en-US" sz="1000">
                <a:latin typeface="Courier New" panose="02070309020205020404" pitchFamily="49" charset="0"/>
                <a:cs typeface="Courier New" panose="02070309020205020404" pitchFamily="49" charset="0"/>
              </a:rPr>
              <a:t>        setTimeout(() =&gt; {</a:t>
            </a:r>
          </a:p>
          <a:p>
            <a:r>
              <a:rPr lang="en-US" sz="1000">
                <a:latin typeface="Courier New" panose="02070309020205020404" pitchFamily="49" charset="0"/>
                <a:cs typeface="Courier New" panose="02070309020205020404" pitchFamily="49" charset="0"/>
              </a:rPr>
              <a:t>            Math.random() &gt; 0.3 ? resolve("Success!") : reject("Random failure.");</a:t>
            </a:r>
          </a:p>
          <a:p>
            <a:r>
              <a:rPr lang="en-US" sz="1000">
                <a:latin typeface="Courier New" panose="02070309020205020404" pitchFamily="49" charset="0"/>
                <a:cs typeface="Courier New" panose="02070309020205020404" pitchFamily="49" charset="0"/>
              </a:rPr>
              <a:t>        }, 300);</a:t>
            </a:r>
          </a:p>
          <a:p>
            <a:r>
              <a:rPr lang="en-US" sz="1000">
                <a:latin typeface="Courier New" panose="02070309020205020404" pitchFamily="49" charset="0"/>
                <a:cs typeface="Courier New" panose="02070309020205020404" pitchFamily="49" charset="0"/>
              </a:rPr>
              <a:t>    });</a:t>
            </a:r>
          </a:p>
          <a:p>
            <a:r>
              <a:rPr lang="en-US" sz="1000">
                <a:latin typeface="Courier New" panose="02070309020205020404" pitchFamily="49" charset="0"/>
                <a:cs typeface="Courier New" panose="02070309020205020404" pitchFamily="49" charset="0"/>
              </a:rPr>
              <a:t>}</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(async () =&gt; {</a:t>
            </a:r>
          </a:p>
          <a:p>
            <a:r>
              <a:rPr lang="en-US" sz="1000">
                <a:latin typeface="Courier New" panose="02070309020205020404" pitchFamily="49" charset="0"/>
                <a:cs typeface="Courier New" panose="02070309020205020404" pitchFamily="49" charset="0"/>
              </a:rPr>
              <a:t>    // Create a retry-wrapped version of unstableOperation with 5 retries and 500ms delay</a:t>
            </a:r>
          </a:p>
          <a:p>
            <a:r>
              <a:rPr lang="en-US" sz="1000">
                <a:latin typeface="Courier New" panose="02070309020205020404" pitchFamily="49" charset="0"/>
                <a:cs typeface="Courier New" panose="02070309020205020404" pitchFamily="49" charset="0"/>
              </a:rPr>
              <a:t>    const reliableOperation = retry(unstableOperation, 5, 500);</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    try {</a:t>
            </a:r>
          </a:p>
          <a:p>
            <a:r>
              <a:rPr lang="en-US" sz="1000">
                <a:latin typeface="Courier New" panose="02070309020205020404" pitchFamily="49" charset="0"/>
                <a:cs typeface="Courier New" panose="02070309020205020404" pitchFamily="49" charset="0"/>
              </a:rPr>
              <a:t>        const result = await reliableOperation();</a:t>
            </a:r>
          </a:p>
          <a:p>
            <a:r>
              <a:rPr lang="en-US" sz="1000">
                <a:latin typeface="Courier New" panose="02070309020205020404" pitchFamily="49" charset="0"/>
                <a:cs typeface="Courier New" panose="02070309020205020404" pitchFamily="49" charset="0"/>
              </a:rPr>
              <a:t>        console.log("Final result:", result);</a:t>
            </a:r>
          </a:p>
          <a:p>
            <a:r>
              <a:rPr lang="en-US" sz="1000">
                <a:latin typeface="Courier New" panose="02070309020205020404" pitchFamily="49" charset="0"/>
                <a:cs typeface="Courier New" panose="02070309020205020404" pitchFamily="49" charset="0"/>
              </a:rPr>
              <a:t>    } catch (error) {</a:t>
            </a:r>
          </a:p>
          <a:p>
            <a:r>
              <a:rPr lang="en-US" sz="1000">
                <a:latin typeface="Courier New" panose="02070309020205020404" pitchFamily="49" charset="0"/>
                <a:cs typeface="Courier New" panose="02070309020205020404" pitchFamily="49" charset="0"/>
              </a:rPr>
              <a:t>        console.error("Operation ultimately failed:", error);</a:t>
            </a:r>
          </a:p>
          <a:p>
            <a:r>
              <a:rPr lang="en-US" sz="1000">
                <a:latin typeface="Courier New" panose="02070309020205020404" pitchFamily="49" charset="0"/>
                <a:cs typeface="Courier New" panose="02070309020205020404" pitchFamily="49" charset="0"/>
              </a:rPr>
              <a:t>    }</a:t>
            </a:r>
          </a:p>
          <a:p>
            <a:r>
              <a:rPr lang="en-US" sz="1000">
                <a:latin typeface="Courier New" panose="02070309020205020404" pitchFamily="49" charset="0"/>
                <a:cs typeface="Courier New" panose="02070309020205020404" pitchFamily="49" charset="0"/>
              </a:rPr>
              <a:t>})();</a:t>
            </a:r>
          </a:p>
        </p:txBody>
      </p:sp>
      <p:sp>
        <p:nvSpPr>
          <p:cNvPr id="2" name="TextBox 1">
            <a:extLst>
              <a:ext uri="{FF2B5EF4-FFF2-40B4-BE49-F238E27FC236}">
                <a16:creationId xmlns:a16="http://schemas.microsoft.com/office/drawing/2014/main" id="{6AF42CED-37E3-1449-1892-459B466F0496}"/>
              </a:ext>
            </a:extLst>
          </p:cNvPr>
          <p:cNvSpPr txBox="1"/>
          <p:nvPr/>
        </p:nvSpPr>
        <p:spPr>
          <a:xfrm>
            <a:off x="535709" y="2136338"/>
            <a:ext cx="3355109" cy="2585323"/>
          </a:xfrm>
          <a:prstGeom prst="rect">
            <a:avLst/>
          </a:prstGeom>
          <a:noFill/>
        </p:spPr>
        <p:txBody>
          <a:bodyPr wrap="square" rtlCol="0">
            <a:spAutoFit/>
          </a:bodyPr>
          <a:lstStyle/>
          <a:p>
            <a:r>
              <a:rPr lang="en-US"/>
              <a:t>A HOF is a function that does at least one of the following:</a:t>
            </a:r>
          </a:p>
          <a:p>
            <a:endParaRPr lang="en-US"/>
          </a:p>
          <a:p>
            <a:pPr marL="285750" indent="-285750">
              <a:buFontTx/>
              <a:buChar char="-"/>
            </a:pPr>
            <a:r>
              <a:rPr lang="en-US"/>
              <a:t>takes one or more functions as arguments</a:t>
            </a:r>
          </a:p>
          <a:p>
            <a:pPr marL="285750" indent="-285750">
              <a:buFontTx/>
              <a:buChar char="-"/>
            </a:pPr>
            <a:r>
              <a:rPr lang="en-US"/>
              <a:t>returns a function as result</a:t>
            </a:r>
          </a:p>
          <a:p>
            <a:pPr marL="285750" indent="-285750">
              <a:buFontTx/>
              <a:buChar char="-"/>
            </a:pPr>
            <a:endParaRPr lang="en-US"/>
          </a:p>
          <a:p>
            <a:r>
              <a:rPr lang="en-US"/>
              <a:t>Well-known examples are map, filter and reduce.</a:t>
            </a:r>
          </a:p>
        </p:txBody>
      </p:sp>
    </p:spTree>
    <p:extLst>
      <p:ext uri="{BB962C8B-B14F-4D97-AF65-F5344CB8AC3E}">
        <p14:creationId xmlns:p14="http://schemas.microsoft.com/office/powerpoint/2010/main" val="843355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DB77E-AB6B-E559-6933-89308472B87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463D522-9A15-5642-3F72-F00BC1A3AB17}"/>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3855B69E-87A2-AF90-D590-B5F76ABEE7EF}"/>
              </a:ext>
            </a:extLst>
          </p:cNvPr>
          <p:cNvSpPr>
            <a:spLocks noGrp="1"/>
          </p:cNvSpPr>
          <p:nvPr>
            <p:ph type="sldNum" sz="quarter" idx="12"/>
          </p:nvPr>
        </p:nvSpPr>
        <p:spPr/>
        <p:txBody>
          <a:bodyPr/>
          <a:lstStyle/>
          <a:p>
            <a:fld id="{23D81C8F-CB39-4E4D-98E4-8C3FEDF75126}" type="slidenum">
              <a:rPr lang="en-US" smtClean="0"/>
              <a:t>10</a:t>
            </a:fld>
            <a:endParaRPr lang="en-US"/>
          </a:p>
        </p:txBody>
      </p:sp>
      <p:sp>
        <p:nvSpPr>
          <p:cNvPr id="7" name="TextBox 6">
            <a:extLst>
              <a:ext uri="{FF2B5EF4-FFF2-40B4-BE49-F238E27FC236}">
                <a16:creationId xmlns:a16="http://schemas.microsoft.com/office/drawing/2014/main" id="{ECFF0C4F-2EC5-01FB-385C-637534DC1A99}"/>
              </a:ext>
            </a:extLst>
          </p:cNvPr>
          <p:cNvSpPr txBox="1"/>
          <p:nvPr/>
        </p:nvSpPr>
        <p:spPr>
          <a:xfrm>
            <a:off x="535709" y="194055"/>
            <a:ext cx="6472669" cy="369332"/>
          </a:xfrm>
          <a:prstGeom prst="rect">
            <a:avLst/>
          </a:prstGeom>
          <a:noFill/>
        </p:spPr>
        <p:txBody>
          <a:bodyPr wrap="none" rtlCol="0">
            <a:spAutoFit/>
          </a:bodyPr>
          <a:lstStyle/>
          <a:p>
            <a:r>
              <a:rPr lang="en-US" dirty="0"/>
              <a:t>Most-used higher-order functions – map =&gt; Type transformation</a:t>
            </a:r>
          </a:p>
        </p:txBody>
      </p:sp>
      <p:sp>
        <p:nvSpPr>
          <p:cNvPr id="8" name="TextBox 7">
            <a:extLst>
              <a:ext uri="{FF2B5EF4-FFF2-40B4-BE49-F238E27FC236}">
                <a16:creationId xmlns:a16="http://schemas.microsoft.com/office/drawing/2014/main" id="{7FE83A5E-50ED-591A-419C-C0C9951E2FFA}"/>
              </a:ext>
            </a:extLst>
          </p:cNvPr>
          <p:cNvSpPr txBox="1"/>
          <p:nvPr/>
        </p:nvSpPr>
        <p:spPr>
          <a:xfrm>
            <a:off x="535709" y="838876"/>
            <a:ext cx="9389109" cy="553998"/>
          </a:xfrm>
          <a:prstGeom prst="rect">
            <a:avLst/>
          </a:prstGeom>
          <a:noFill/>
        </p:spPr>
        <p:txBody>
          <a:bodyPr wrap="none" rtlCol="0">
            <a:spAutoFit/>
          </a:bodyPr>
          <a:lstStyle/>
          <a:p>
            <a:r>
              <a:rPr lang="en-US"/>
              <a:t>map: transform a collection into another collection</a:t>
            </a:r>
          </a:p>
          <a:p>
            <a:r>
              <a:rPr lang="en-US" sz="1200">
                <a:latin typeface="Courier New" panose="02070309020205020404" pitchFamily="49" charset="0"/>
                <a:cs typeface="Courier New" panose="02070309020205020404" pitchFamily="49" charset="0"/>
              </a:rPr>
              <a:t>const target: string[] = [1, 2, 3, 4, 5].map(item =&gt; item.toString()); // [“1”, “2”, “3”, “4”, ”5”]</a:t>
            </a:r>
          </a:p>
        </p:txBody>
      </p:sp>
      <p:sp>
        <p:nvSpPr>
          <p:cNvPr id="2" name="TextBox 1">
            <a:extLst>
              <a:ext uri="{FF2B5EF4-FFF2-40B4-BE49-F238E27FC236}">
                <a16:creationId xmlns:a16="http://schemas.microsoft.com/office/drawing/2014/main" id="{10255975-A49E-9624-962E-38696B0B24A1}"/>
              </a:ext>
            </a:extLst>
          </p:cNvPr>
          <p:cNvSpPr txBox="1"/>
          <p:nvPr/>
        </p:nvSpPr>
        <p:spPr>
          <a:xfrm>
            <a:off x="1143491" y="1668363"/>
            <a:ext cx="7467109" cy="4031873"/>
          </a:xfrm>
          <a:prstGeom prst="rect">
            <a:avLst/>
          </a:prstGeom>
          <a:noFill/>
        </p:spPr>
        <p:txBody>
          <a:bodyPr wrap="none" rtlCol="0">
            <a:spAutoFit/>
          </a:bodyPr>
          <a:lstStyle/>
          <a:p>
            <a:r>
              <a:rPr lang="en-US" sz="1600">
                <a:latin typeface="Courier New" panose="02070309020205020404" pitchFamily="49" charset="0"/>
                <a:cs typeface="Courier New" panose="02070309020205020404" pitchFamily="49" charset="0"/>
              </a:rPr>
              <a:t>type </a:t>
            </a:r>
            <a:r>
              <a:rPr lang="en-US" sz="1600" b="1">
                <a:latin typeface="Courier New" panose="02070309020205020404" pitchFamily="49" charset="0"/>
                <a:cs typeface="Courier New" panose="02070309020205020404" pitchFamily="49" charset="0"/>
              </a:rPr>
              <a:t>Convert</a:t>
            </a:r>
            <a:r>
              <a:rPr lang="en-US" sz="1600">
                <a:latin typeface="Courier New" panose="02070309020205020404" pitchFamily="49" charset="0"/>
                <a:cs typeface="Courier New" panose="02070309020205020404" pitchFamily="49" charset="0"/>
              </a:rPr>
              <a:t>&lt;</a:t>
            </a:r>
            <a:r>
              <a:rPr lang="en-US" sz="1600" b="1">
                <a:solidFill>
                  <a:schemeClr val="accent2">
                    <a:lumMod val="75000"/>
                  </a:schemeClr>
                </a:solidFill>
                <a:latin typeface="Courier New" panose="02070309020205020404" pitchFamily="49" charset="0"/>
                <a:cs typeface="Courier New" panose="02070309020205020404" pitchFamily="49" charset="0"/>
              </a:rPr>
              <a:t>T</a:t>
            </a:r>
            <a:r>
              <a:rPr lang="en-US" sz="1600">
                <a:latin typeface="Courier New" panose="02070309020205020404" pitchFamily="49" charset="0"/>
                <a:cs typeface="Courier New" panose="02070309020205020404" pitchFamily="49" charset="0"/>
              </a:rPr>
              <a:t>, </a:t>
            </a:r>
            <a:r>
              <a:rPr lang="en-US" sz="1600" b="1">
                <a:solidFill>
                  <a:schemeClr val="accent6">
                    <a:lumMod val="50000"/>
                  </a:schemeClr>
                </a:solidFill>
                <a:latin typeface="Courier New" panose="02070309020205020404" pitchFamily="49" charset="0"/>
                <a:cs typeface="Courier New" panose="02070309020205020404" pitchFamily="49" charset="0"/>
              </a:rPr>
              <a:t>W</a:t>
            </a:r>
            <a:r>
              <a:rPr lang="en-US" sz="1600">
                <a:latin typeface="Courier New" panose="02070309020205020404" pitchFamily="49" charset="0"/>
                <a:cs typeface="Courier New" panose="02070309020205020404" pitchFamily="49" charset="0"/>
              </a:rPr>
              <a:t>&gt; = Function&lt;</a:t>
            </a:r>
            <a:r>
              <a:rPr lang="en-US" sz="1600" b="1">
                <a:solidFill>
                  <a:schemeClr val="accent6">
                    <a:lumMod val="50000"/>
                  </a:schemeClr>
                </a:solidFill>
                <a:latin typeface="Courier New" panose="02070309020205020404" pitchFamily="49" charset="0"/>
                <a:cs typeface="Courier New" panose="02070309020205020404" pitchFamily="49" charset="0"/>
              </a:rPr>
              <a:t>W</a:t>
            </a:r>
            <a:r>
              <a:rPr lang="en-US" sz="1600">
                <a:latin typeface="Courier New" panose="02070309020205020404" pitchFamily="49" charset="0"/>
                <a:cs typeface="Courier New" panose="02070309020205020404" pitchFamily="49" charset="0"/>
              </a:rPr>
              <a:t> (</a:t>
            </a:r>
            <a:r>
              <a:rPr lang="en-US" sz="1600" b="1">
                <a:solidFill>
                  <a:schemeClr val="accent2">
                    <a:lumMod val="75000"/>
                  </a:schemeClr>
                </a:solidFill>
                <a:latin typeface="Courier New" panose="02070309020205020404" pitchFamily="49" charset="0"/>
                <a:cs typeface="Courier New" panose="02070309020205020404" pitchFamily="49" charset="0"/>
              </a:rPr>
              <a:t>T</a:t>
            </a:r>
            <a:r>
              <a:rPr lang="en-US" sz="1600">
                <a:latin typeface="Courier New" panose="02070309020205020404" pitchFamily="49" charset="0"/>
                <a:cs typeface="Courier New" panose="02070309020205020404" pitchFamily="49" charset="0"/>
              </a:rPr>
              <a:t>)&gt;;</a:t>
            </a:r>
          </a:p>
          <a:p>
            <a:endParaRPr lang="en-US" sz="1600" b="1">
              <a:solidFill>
                <a:schemeClr val="accent6"/>
              </a:solidFill>
              <a:latin typeface="Courier New" panose="02070309020205020404" pitchFamily="49" charset="0"/>
              <a:cs typeface="Courier New" panose="02070309020205020404" pitchFamily="49" charset="0"/>
            </a:endParaRPr>
          </a:p>
          <a:p>
            <a:r>
              <a:rPr lang="en-US" sz="1600" b="1">
                <a:solidFill>
                  <a:schemeClr val="accent6">
                    <a:lumMod val="50000"/>
                  </a:schemeClr>
                </a:solidFill>
                <a:latin typeface="Courier New" panose="02070309020205020404" pitchFamily="49" charset="0"/>
                <a:cs typeface="Courier New" panose="02070309020205020404" pitchFamily="49" charset="0"/>
              </a:rPr>
              <a:t>W</a:t>
            </a:r>
            <a:r>
              <a:rPr lang="en-US" sz="1600">
                <a:latin typeface="Courier New" panose="02070309020205020404" pitchFamily="49" charset="0"/>
                <a:cs typeface="Courier New" panose="02070309020205020404" pitchFamily="49" charset="0"/>
              </a:rPr>
              <a:t> convert(</a:t>
            </a:r>
            <a:r>
              <a:rPr lang="en-US" sz="1600" b="1">
                <a:solidFill>
                  <a:schemeClr val="accent2">
                    <a:lumMod val="75000"/>
                  </a:schemeClr>
                </a:solidFill>
                <a:latin typeface="Courier New" panose="02070309020205020404" pitchFamily="49" charset="0"/>
                <a:cs typeface="Courier New" panose="02070309020205020404" pitchFamily="49" charset="0"/>
              </a:rPr>
              <a:t>T</a:t>
            </a:r>
            <a:r>
              <a:rPr lang="en-US" sz="1600">
                <a:latin typeface="Courier New" panose="02070309020205020404" pitchFamily="49" charset="0"/>
                <a:cs typeface="Courier New" panose="02070309020205020404" pitchFamily="49" charset="0"/>
              </a:rPr>
              <a:t> in) </a:t>
            </a:r>
            <a:r>
              <a:rPr lang="en-US" sz="1600">
                <a:solidFill>
                  <a:schemeClr val="bg2">
                    <a:lumMod val="75000"/>
                  </a:schemeClr>
                </a:solidFill>
                <a:latin typeface="Courier New" panose="02070309020205020404" pitchFamily="49" charset="0"/>
                <a:cs typeface="Courier New" panose="02070309020205020404" pitchFamily="49" charset="0"/>
              </a:rPr>
              <a:t>/* implements Convert&lt;T, W&gt; */</a:t>
            </a:r>
            <a:r>
              <a:rPr lang="en-US" sz="1600">
                <a:latin typeface="Courier New" panose="02070309020205020404" pitchFamily="49" charset="0"/>
                <a:cs typeface="Courier New" panose="02070309020205020404" pitchFamily="49" charset="0"/>
              </a:rPr>
              <a:t> {</a:t>
            </a:r>
          </a:p>
          <a:p>
            <a:r>
              <a:rPr lang="en-US" sz="1600">
                <a:latin typeface="Courier New" panose="02070309020205020404" pitchFamily="49" charset="0"/>
                <a:cs typeface="Courier New" panose="02070309020205020404" pitchFamily="49" charset="0"/>
              </a:rPr>
              <a:t>  ....</a:t>
            </a:r>
          </a:p>
          <a:p>
            <a:r>
              <a:rPr lang="en-US" sz="1600">
                <a:latin typeface="Courier New" panose="02070309020205020404" pitchFamily="49" charset="0"/>
                <a:cs typeface="Courier New" panose="02070309020205020404" pitchFamily="49" charset="0"/>
              </a:rPr>
              <a:t>}</a:t>
            </a:r>
          </a:p>
          <a:p>
            <a:endParaRPr lang="en-US" sz="1600">
              <a:latin typeface="Courier New" panose="02070309020205020404" pitchFamily="49" charset="0"/>
              <a:cs typeface="Courier New" panose="02070309020205020404" pitchFamily="49" charset="0"/>
            </a:endParaRPr>
          </a:p>
          <a:p>
            <a:endParaRPr lang="en-US" sz="1600">
              <a:latin typeface="Courier New" panose="02070309020205020404" pitchFamily="49" charset="0"/>
              <a:cs typeface="Courier New" panose="02070309020205020404" pitchFamily="49" charset="0"/>
            </a:endParaRPr>
          </a:p>
          <a:p>
            <a:r>
              <a:rPr lang="en-US" sz="1600" b="1">
                <a:solidFill>
                  <a:schemeClr val="accent6"/>
                </a:solidFill>
                <a:latin typeface="Courier New" panose="02070309020205020404" pitchFamily="49" charset="0"/>
                <a:cs typeface="Courier New" panose="02070309020205020404" pitchFamily="49" charset="0"/>
              </a:rPr>
              <a:t>SomethingElse&lt;</a:t>
            </a:r>
            <a:r>
              <a:rPr lang="en-US" sz="1600" b="1">
                <a:solidFill>
                  <a:schemeClr val="accent6">
                    <a:lumMod val="50000"/>
                  </a:schemeClr>
                </a:solidFill>
                <a:latin typeface="Courier New" panose="02070309020205020404" pitchFamily="49" charset="0"/>
                <a:cs typeface="Courier New" panose="02070309020205020404" pitchFamily="49" charset="0"/>
              </a:rPr>
              <a:t>W</a:t>
            </a:r>
            <a:r>
              <a:rPr lang="en-US" sz="1600" b="1">
                <a:solidFill>
                  <a:schemeClr val="accent6"/>
                </a:solidFill>
                <a:latin typeface="Courier New" panose="02070309020205020404" pitchFamily="49" charset="0"/>
                <a:cs typeface="Courier New" panose="02070309020205020404" pitchFamily="49" charset="0"/>
              </a:rPr>
              <a:t>&gt;</a:t>
            </a:r>
            <a:r>
              <a:rPr lang="en-US" sz="1600">
                <a:latin typeface="Courier New" panose="02070309020205020404" pitchFamily="49" charset="0"/>
                <a:cs typeface="Courier New" panose="02070309020205020404" pitchFamily="49" charset="0"/>
              </a:rPr>
              <a:t> map(</a:t>
            </a:r>
            <a:r>
              <a:rPr lang="en-US" sz="1600" b="1">
                <a:solidFill>
                  <a:srgbClr val="FF0000"/>
                </a:solidFill>
                <a:latin typeface="Courier New" panose="02070309020205020404" pitchFamily="49" charset="0"/>
                <a:cs typeface="Courier New" panose="02070309020205020404" pitchFamily="49" charset="0"/>
              </a:rPr>
              <a:t>Something&lt;T&gt;</a:t>
            </a:r>
            <a:r>
              <a:rPr lang="en-US" sz="1600">
                <a:latin typeface="Courier New" panose="02070309020205020404" pitchFamily="49" charset="0"/>
                <a:cs typeface="Courier New" panose="02070309020205020404" pitchFamily="49" charset="0"/>
              </a:rPr>
              <a:t> foo, </a:t>
            </a:r>
            <a:r>
              <a:rPr lang="en-US" sz="1600" b="1">
                <a:latin typeface="Courier New" panose="02070309020205020404" pitchFamily="49" charset="0"/>
                <a:cs typeface="Courier New" panose="02070309020205020404" pitchFamily="49" charset="0"/>
              </a:rPr>
              <a:t>Convert</a:t>
            </a:r>
            <a:r>
              <a:rPr lang="en-US" sz="1600">
                <a:latin typeface="Courier New" panose="02070309020205020404" pitchFamily="49" charset="0"/>
                <a:cs typeface="Courier New" panose="02070309020205020404" pitchFamily="49" charset="0"/>
              </a:rPr>
              <a:t>&lt;</a:t>
            </a:r>
            <a:r>
              <a:rPr lang="en-US" sz="1600" b="1">
                <a:solidFill>
                  <a:schemeClr val="accent2">
                    <a:lumMod val="75000"/>
                  </a:schemeClr>
                </a:solidFill>
                <a:latin typeface="Courier New" panose="02070309020205020404" pitchFamily="49" charset="0"/>
                <a:cs typeface="Courier New" panose="02070309020205020404" pitchFamily="49" charset="0"/>
              </a:rPr>
              <a:t>T</a:t>
            </a:r>
            <a:r>
              <a:rPr lang="en-US" sz="1600">
                <a:latin typeface="Courier New" panose="02070309020205020404" pitchFamily="49" charset="0"/>
                <a:cs typeface="Courier New" panose="02070309020205020404" pitchFamily="49" charset="0"/>
              </a:rPr>
              <a:t>, </a:t>
            </a:r>
            <a:r>
              <a:rPr lang="en-US" sz="1600" b="1">
                <a:solidFill>
                  <a:schemeClr val="accent6">
                    <a:lumMod val="50000"/>
                  </a:schemeClr>
                </a:solidFill>
                <a:latin typeface="Courier New" panose="02070309020205020404" pitchFamily="49" charset="0"/>
                <a:cs typeface="Courier New" panose="02070309020205020404" pitchFamily="49" charset="0"/>
              </a:rPr>
              <a:t>W</a:t>
            </a:r>
            <a:r>
              <a:rPr lang="en-US" sz="1600">
                <a:latin typeface="Courier New" panose="02070309020205020404" pitchFamily="49" charset="0"/>
                <a:cs typeface="Courier New" panose="02070309020205020404" pitchFamily="49" charset="0"/>
              </a:rPr>
              <a:t>&gt; cnv) {</a:t>
            </a:r>
          </a:p>
          <a:p>
            <a:r>
              <a:rPr lang="en-US" sz="1600">
                <a:latin typeface="Courier New" panose="02070309020205020404" pitchFamily="49" charset="0"/>
                <a:cs typeface="Courier New" panose="02070309020205020404" pitchFamily="49" charset="0"/>
              </a:rPr>
              <a:t>   </a:t>
            </a:r>
            <a:r>
              <a:rPr lang="en-US" sz="1600" b="1">
                <a:solidFill>
                  <a:schemeClr val="accent6"/>
                </a:solidFill>
                <a:latin typeface="Courier New" panose="02070309020205020404" pitchFamily="49" charset="0"/>
                <a:cs typeface="Courier New" panose="02070309020205020404" pitchFamily="49" charset="0"/>
              </a:rPr>
              <a:t>SomethingElse&lt;</a:t>
            </a:r>
            <a:r>
              <a:rPr lang="en-US" sz="1600" b="1">
                <a:solidFill>
                  <a:schemeClr val="accent6">
                    <a:lumMod val="50000"/>
                  </a:schemeClr>
                </a:solidFill>
                <a:latin typeface="Courier New" panose="02070309020205020404" pitchFamily="49" charset="0"/>
                <a:cs typeface="Courier New" panose="02070309020205020404" pitchFamily="49" charset="0"/>
              </a:rPr>
              <a:t>W</a:t>
            </a:r>
            <a:r>
              <a:rPr lang="en-US" sz="1600" b="1">
                <a:solidFill>
                  <a:schemeClr val="accent6"/>
                </a:solidFill>
                <a:latin typeface="Courier New" panose="02070309020205020404" pitchFamily="49" charset="0"/>
                <a:cs typeface="Courier New" panose="02070309020205020404" pitchFamily="49" charset="0"/>
              </a:rPr>
              <a:t>&gt;</a:t>
            </a:r>
            <a:r>
              <a:rPr lang="en-US" sz="1600">
                <a:latin typeface="Courier New" panose="02070309020205020404" pitchFamily="49" charset="0"/>
                <a:cs typeface="Courier New" panose="02070309020205020404" pitchFamily="49" charset="0"/>
              </a:rPr>
              <a:t> out = *empty* ;</a:t>
            </a:r>
          </a:p>
          <a:p>
            <a:endParaRPr lang="en-US" sz="1600">
              <a:latin typeface="Courier New" panose="02070309020205020404" pitchFamily="49" charset="0"/>
              <a:cs typeface="Courier New" panose="02070309020205020404" pitchFamily="49" charset="0"/>
            </a:endParaRPr>
          </a:p>
          <a:p>
            <a:r>
              <a:rPr lang="en-US" sz="1600">
                <a:latin typeface="Courier New" panose="02070309020205020404" pitchFamily="49" charset="0"/>
                <a:cs typeface="Courier New" panose="02070309020205020404" pitchFamily="49" charset="0"/>
              </a:rPr>
              <a:t>   for (T item in foo) {</a:t>
            </a:r>
          </a:p>
          <a:p>
            <a:r>
              <a:rPr lang="en-US" sz="1600">
                <a:latin typeface="Courier New" panose="02070309020205020404" pitchFamily="49" charset="0"/>
                <a:cs typeface="Courier New" panose="02070309020205020404" pitchFamily="49" charset="0"/>
              </a:rPr>
              <a:t>     out.add(cnv(item));</a:t>
            </a:r>
          </a:p>
          <a:p>
            <a:r>
              <a:rPr lang="en-US" sz="1600">
                <a:latin typeface="Courier New" panose="02070309020205020404" pitchFamily="49" charset="0"/>
                <a:cs typeface="Courier New" panose="02070309020205020404" pitchFamily="49" charset="0"/>
              </a:rPr>
              <a:t>   } </a:t>
            </a:r>
          </a:p>
          <a:p>
            <a:endParaRPr lang="en-US" sz="1600">
              <a:latin typeface="Courier New" panose="02070309020205020404" pitchFamily="49" charset="0"/>
              <a:cs typeface="Courier New" panose="02070309020205020404" pitchFamily="49" charset="0"/>
            </a:endParaRPr>
          </a:p>
          <a:p>
            <a:r>
              <a:rPr lang="en-US" sz="1600">
                <a:latin typeface="Courier New" panose="02070309020205020404" pitchFamily="49" charset="0"/>
                <a:cs typeface="Courier New" panose="02070309020205020404" pitchFamily="49" charset="0"/>
              </a:rPr>
              <a:t>   return out;</a:t>
            </a:r>
          </a:p>
          <a:p>
            <a:r>
              <a:rPr lang="en-US" sz="160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598687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C4098-DC71-D009-EF3B-BB1295FCA4C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F796DDF-AD0B-EAAF-5570-8B77556C34EC}"/>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ED0E0083-FE07-BBC1-4CDE-06364E460CC4}"/>
              </a:ext>
            </a:extLst>
          </p:cNvPr>
          <p:cNvSpPr>
            <a:spLocks noGrp="1"/>
          </p:cNvSpPr>
          <p:nvPr>
            <p:ph type="sldNum" sz="quarter" idx="12"/>
          </p:nvPr>
        </p:nvSpPr>
        <p:spPr/>
        <p:txBody>
          <a:bodyPr/>
          <a:lstStyle/>
          <a:p>
            <a:fld id="{23D81C8F-CB39-4E4D-98E4-8C3FEDF75126}" type="slidenum">
              <a:rPr lang="en-US" smtClean="0"/>
              <a:t>11</a:t>
            </a:fld>
            <a:endParaRPr lang="en-US"/>
          </a:p>
        </p:txBody>
      </p:sp>
      <p:sp>
        <p:nvSpPr>
          <p:cNvPr id="7" name="TextBox 6">
            <a:extLst>
              <a:ext uri="{FF2B5EF4-FFF2-40B4-BE49-F238E27FC236}">
                <a16:creationId xmlns:a16="http://schemas.microsoft.com/office/drawing/2014/main" id="{6E307783-015E-160A-C93D-9B80B67E1F10}"/>
              </a:ext>
            </a:extLst>
          </p:cNvPr>
          <p:cNvSpPr txBox="1"/>
          <p:nvPr/>
        </p:nvSpPr>
        <p:spPr>
          <a:xfrm>
            <a:off x="535709" y="194055"/>
            <a:ext cx="5738815" cy="369332"/>
          </a:xfrm>
          <a:prstGeom prst="rect">
            <a:avLst/>
          </a:prstGeom>
          <a:noFill/>
        </p:spPr>
        <p:txBody>
          <a:bodyPr wrap="none" rtlCol="0">
            <a:spAutoFit/>
          </a:bodyPr>
          <a:lstStyle/>
          <a:p>
            <a:r>
              <a:rPr lang="en-US" dirty="0"/>
              <a:t>Most-used higher-order functions – filter =&gt; Data filtering</a:t>
            </a:r>
          </a:p>
        </p:txBody>
      </p:sp>
      <p:sp>
        <p:nvSpPr>
          <p:cNvPr id="8" name="TextBox 7">
            <a:extLst>
              <a:ext uri="{FF2B5EF4-FFF2-40B4-BE49-F238E27FC236}">
                <a16:creationId xmlns:a16="http://schemas.microsoft.com/office/drawing/2014/main" id="{0C300185-B4B5-3BB6-C3DB-C78E918945FD}"/>
              </a:ext>
            </a:extLst>
          </p:cNvPr>
          <p:cNvSpPr txBox="1"/>
          <p:nvPr/>
        </p:nvSpPr>
        <p:spPr>
          <a:xfrm>
            <a:off x="434109" y="912912"/>
            <a:ext cx="9980168" cy="553998"/>
          </a:xfrm>
          <a:prstGeom prst="rect">
            <a:avLst/>
          </a:prstGeom>
          <a:noFill/>
        </p:spPr>
        <p:txBody>
          <a:bodyPr wrap="none" rtlCol="0">
            <a:spAutoFit/>
          </a:bodyPr>
          <a:lstStyle/>
          <a:p>
            <a:r>
              <a:rPr lang="en-US">
                <a:cs typeface="Courier New" panose="02070309020205020404" pitchFamily="49" charset="0"/>
              </a:rPr>
              <a:t>filter: returns a new collection containing only items in the source collection that satisfy a predicate</a:t>
            </a:r>
          </a:p>
          <a:p>
            <a:r>
              <a:rPr lang="en-US" sz="1200">
                <a:latin typeface="Courier New" panose="02070309020205020404" pitchFamily="49" charset="0"/>
                <a:cs typeface="Courier New" panose="02070309020205020404" pitchFamily="49" charset="0"/>
              </a:rPr>
              <a:t>const target: number[] = [1, 2, 3, 4, 5].filter(item =&gt; item % 2 === 0); // [2, 4]</a:t>
            </a:r>
          </a:p>
        </p:txBody>
      </p:sp>
      <p:sp>
        <p:nvSpPr>
          <p:cNvPr id="2" name="TextBox 1">
            <a:extLst>
              <a:ext uri="{FF2B5EF4-FFF2-40B4-BE49-F238E27FC236}">
                <a16:creationId xmlns:a16="http://schemas.microsoft.com/office/drawing/2014/main" id="{23248946-E306-9718-6ABA-A3CCD09A8FF5}"/>
              </a:ext>
            </a:extLst>
          </p:cNvPr>
          <p:cNvSpPr txBox="1"/>
          <p:nvPr/>
        </p:nvSpPr>
        <p:spPr>
          <a:xfrm>
            <a:off x="1303494" y="1649472"/>
            <a:ext cx="6973384" cy="4524315"/>
          </a:xfrm>
          <a:prstGeom prst="rect">
            <a:avLst/>
          </a:prstGeom>
          <a:noFill/>
        </p:spPr>
        <p:txBody>
          <a:bodyPr wrap="none" rtlCol="0">
            <a:spAutoFit/>
          </a:bodyPr>
          <a:lstStyle/>
          <a:p>
            <a:r>
              <a:rPr lang="en-US" sz="1600">
                <a:latin typeface="Courier New" panose="02070309020205020404" pitchFamily="49" charset="0"/>
                <a:cs typeface="Courier New" panose="02070309020205020404" pitchFamily="49" charset="0"/>
              </a:rPr>
              <a:t>type </a:t>
            </a:r>
            <a:r>
              <a:rPr lang="en-US" sz="1600" b="1">
                <a:latin typeface="Courier New" panose="02070309020205020404" pitchFamily="49" charset="0"/>
                <a:cs typeface="Courier New" panose="02070309020205020404" pitchFamily="49" charset="0"/>
              </a:rPr>
              <a:t>Predicate</a:t>
            </a:r>
            <a:r>
              <a:rPr lang="en-US" sz="1600">
                <a:latin typeface="Courier New" panose="02070309020205020404" pitchFamily="49" charset="0"/>
                <a:cs typeface="Courier New" panose="02070309020205020404" pitchFamily="49" charset="0"/>
              </a:rPr>
              <a:t>&lt;T&gt; = Function&lt;boolean (T)&gt;;</a:t>
            </a:r>
          </a:p>
          <a:p>
            <a:endParaRPr lang="en-US" sz="1600">
              <a:latin typeface="Courier New" panose="02070309020205020404" pitchFamily="49" charset="0"/>
              <a:cs typeface="Courier New" panose="02070309020205020404" pitchFamily="49" charset="0"/>
            </a:endParaRPr>
          </a:p>
          <a:p>
            <a:r>
              <a:rPr lang="en-US" sz="1600">
                <a:latin typeface="Courier New" panose="02070309020205020404" pitchFamily="49" charset="0"/>
                <a:cs typeface="Courier New" panose="02070309020205020404" pitchFamily="49" charset="0"/>
              </a:rPr>
              <a:t>boolean predicate(</a:t>
            </a:r>
            <a:r>
              <a:rPr lang="en-US" sz="1600" b="1">
                <a:solidFill>
                  <a:schemeClr val="accent6">
                    <a:lumMod val="75000"/>
                  </a:schemeClr>
                </a:solidFill>
                <a:latin typeface="Courier New" panose="02070309020205020404" pitchFamily="49" charset="0"/>
                <a:cs typeface="Courier New" panose="02070309020205020404" pitchFamily="49" charset="0"/>
              </a:rPr>
              <a:t>T</a:t>
            </a:r>
            <a:r>
              <a:rPr lang="en-US" sz="1600">
                <a:latin typeface="Courier New" panose="02070309020205020404" pitchFamily="49" charset="0"/>
                <a:cs typeface="Courier New" panose="02070309020205020404" pitchFamily="49" charset="0"/>
              </a:rPr>
              <a:t> in) </a:t>
            </a:r>
            <a:r>
              <a:rPr lang="en-US" sz="1600">
                <a:solidFill>
                  <a:schemeClr val="bg2">
                    <a:lumMod val="75000"/>
                  </a:schemeClr>
                </a:solidFill>
                <a:latin typeface="Courier New" panose="02070309020205020404" pitchFamily="49" charset="0"/>
                <a:cs typeface="Courier New" panose="02070309020205020404" pitchFamily="49" charset="0"/>
              </a:rPr>
              <a:t>/* implements Predicate&lt;T&gt; */ </a:t>
            </a:r>
            <a:r>
              <a:rPr lang="en-US" sz="1600">
                <a:latin typeface="Courier New" panose="02070309020205020404" pitchFamily="49" charset="0"/>
                <a:cs typeface="Courier New" panose="02070309020205020404" pitchFamily="49" charset="0"/>
              </a:rPr>
              <a:t>{</a:t>
            </a:r>
          </a:p>
          <a:p>
            <a:r>
              <a:rPr lang="en-US" sz="1600">
                <a:latin typeface="Courier New" panose="02070309020205020404" pitchFamily="49" charset="0"/>
                <a:cs typeface="Courier New" panose="02070309020205020404" pitchFamily="49" charset="0"/>
              </a:rPr>
              <a:t>  ....</a:t>
            </a:r>
          </a:p>
          <a:p>
            <a:r>
              <a:rPr lang="en-US" sz="1600">
                <a:latin typeface="Courier New" panose="02070309020205020404" pitchFamily="49" charset="0"/>
                <a:cs typeface="Courier New" panose="02070309020205020404" pitchFamily="49" charset="0"/>
              </a:rPr>
              <a:t>}</a:t>
            </a:r>
          </a:p>
          <a:p>
            <a:endParaRPr lang="en-US" sz="1600">
              <a:latin typeface="Courier New" panose="02070309020205020404" pitchFamily="49" charset="0"/>
              <a:cs typeface="Courier New" panose="02070309020205020404" pitchFamily="49" charset="0"/>
            </a:endParaRPr>
          </a:p>
          <a:p>
            <a:endParaRPr lang="en-US" sz="1600">
              <a:latin typeface="Courier New" panose="02070309020205020404" pitchFamily="49" charset="0"/>
              <a:cs typeface="Courier New" panose="02070309020205020404" pitchFamily="49" charset="0"/>
            </a:endParaRPr>
          </a:p>
          <a:p>
            <a:r>
              <a:rPr lang="en-US" sz="1600" b="1">
                <a:solidFill>
                  <a:srgbClr val="0070C0"/>
                </a:solidFill>
                <a:latin typeface="Courier New" panose="02070309020205020404" pitchFamily="49" charset="0"/>
                <a:cs typeface="Courier New" panose="02070309020205020404" pitchFamily="49" charset="0"/>
              </a:rPr>
              <a:t>Something&lt;</a:t>
            </a:r>
            <a:r>
              <a:rPr lang="en-US" sz="1600" b="1">
                <a:solidFill>
                  <a:schemeClr val="accent6">
                    <a:lumMod val="75000"/>
                  </a:schemeClr>
                </a:solidFill>
                <a:latin typeface="Courier New" panose="02070309020205020404" pitchFamily="49" charset="0"/>
                <a:cs typeface="Courier New" panose="02070309020205020404" pitchFamily="49" charset="0"/>
              </a:rPr>
              <a:t>T</a:t>
            </a:r>
            <a:r>
              <a:rPr lang="en-US" sz="1600" b="1">
                <a:solidFill>
                  <a:srgbClr val="0070C0"/>
                </a:solidFill>
                <a:latin typeface="Courier New" panose="02070309020205020404" pitchFamily="49" charset="0"/>
                <a:cs typeface="Courier New" panose="02070309020205020404" pitchFamily="49" charset="0"/>
              </a:rPr>
              <a:t>&gt;</a:t>
            </a:r>
            <a:r>
              <a:rPr lang="en-US" sz="1600">
                <a:latin typeface="Courier New" panose="02070309020205020404" pitchFamily="49" charset="0"/>
                <a:cs typeface="Courier New" panose="02070309020205020404" pitchFamily="49" charset="0"/>
              </a:rPr>
              <a:t> filter(</a:t>
            </a:r>
            <a:r>
              <a:rPr lang="en-US" sz="1600" b="1">
                <a:solidFill>
                  <a:srgbClr val="0070C0"/>
                </a:solidFill>
                <a:latin typeface="Courier New" panose="02070309020205020404" pitchFamily="49" charset="0"/>
                <a:cs typeface="Courier New" panose="02070309020205020404" pitchFamily="49" charset="0"/>
              </a:rPr>
              <a:t>Something&lt;</a:t>
            </a:r>
            <a:r>
              <a:rPr lang="en-US" sz="1600" b="1">
                <a:solidFill>
                  <a:schemeClr val="accent6">
                    <a:lumMod val="75000"/>
                  </a:schemeClr>
                </a:solidFill>
                <a:latin typeface="Courier New" panose="02070309020205020404" pitchFamily="49" charset="0"/>
                <a:cs typeface="Courier New" panose="02070309020205020404" pitchFamily="49" charset="0"/>
              </a:rPr>
              <a:t>T</a:t>
            </a:r>
            <a:r>
              <a:rPr lang="en-US" sz="1600" b="1">
                <a:solidFill>
                  <a:srgbClr val="0070C0"/>
                </a:solidFill>
                <a:latin typeface="Courier New" panose="02070309020205020404" pitchFamily="49" charset="0"/>
                <a:cs typeface="Courier New" panose="02070309020205020404" pitchFamily="49" charset="0"/>
              </a:rPr>
              <a:t>&gt;</a:t>
            </a:r>
            <a:r>
              <a:rPr lang="en-US" sz="1600">
                <a:latin typeface="Courier New" panose="02070309020205020404" pitchFamily="49" charset="0"/>
                <a:cs typeface="Courier New" panose="02070309020205020404" pitchFamily="49" charset="0"/>
              </a:rPr>
              <a:t> foo, </a:t>
            </a:r>
            <a:r>
              <a:rPr lang="en-US" sz="1600" b="1">
                <a:latin typeface="Courier New" panose="02070309020205020404" pitchFamily="49" charset="0"/>
                <a:cs typeface="Courier New" panose="02070309020205020404" pitchFamily="49" charset="0"/>
              </a:rPr>
              <a:t>Predicate</a:t>
            </a:r>
            <a:r>
              <a:rPr lang="en-US" sz="1600">
                <a:latin typeface="Courier New" panose="02070309020205020404" pitchFamily="49" charset="0"/>
                <a:cs typeface="Courier New" panose="02070309020205020404" pitchFamily="49" charset="0"/>
              </a:rPr>
              <a:t> pdc) {</a:t>
            </a:r>
          </a:p>
          <a:p>
            <a:r>
              <a:rPr lang="en-US" sz="1600">
                <a:latin typeface="Courier New" panose="02070309020205020404" pitchFamily="49" charset="0"/>
                <a:cs typeface="Courier New" panose="02070309020205020404" pitchFamily="49" charset="0"/>
              </a:rPr>
              <a:t>   </a:t>
            </a:r>
            <a:r>
              <a:rPr lang="en-US" sz="1600" b="1">
                <a:solidFill>
                  <a:srgbClr val="0070C0"/>
                </a:solidFill>
                <a:latin typeface="Courier New" panose="02070309020205020404" pitchFamily="49" charset="0"/>
                <a:cs typeface="Courier New" panose="02070309020205020404" pitchFamily="49" charset="0"/>
              </a:rPr>
              <a:t>Something&lt;</a:t>
            </a:r>
            <a:r>
              <a:rPr lang="en-US" sz="1600" b="1">
                <a:solidFill>
                  <a:schemeClr val="accent6">
                    <a:lumMod val="75000"/>
                  </a:schemeClr>
                </a:solidFill>
                <a:latin typeface="Courier New" panose="02070309020205020404" pitchFamily="49" charset="0"/>
                <a:cs typeface="Courier New" panose="02070309020205020404" pitchFamily="49" charset="0"/>
              </a:rPr>
              <a:t>T</a:t>
            </a:r>
            <a:r>
              <a:rPr lang="en-US" sz="1600" b="1">
                <a:solidFill>
                  <a:srgbClr val="0070C0"/>
                </a:solidFill>
                <a:latin typeface="Courier New" panose="02070309020205020404" pitchFamily="49" charset="0"/>
                <a:cs typeface="Courier New" panose="02070309020205020404" pitchFamily="49" charset="0"/>
              </a:rPr>
              <a:t>&gt;</a:t>
            </a:r>
            <a:r>
              <a:rPr lang="en-US" sz="1600">
                <a:latin typeface="Courier New" panose="02070309020205020404" pitchFamily="49" charset="0"/>
                <a:cs typeface="Courier New" panose="02070309020205020404" pitchFamily="49" charset="0"/>
              </a:rPr>
              <a:t> out = *empty* ;</a:t>
            </a:r>
          </a:p>
          <a:p>
            <a:endParaRPr lang="en-US" sz="1600">
              <a:latin typeface="Courier New" panose="02070309020205020404" pitchFamily="49" charset="0"/>
              <a:cs typeface="Courier New" panose="02070309020205020404" pitchFamily="49" charset="0"/>
            </a:endParaRPr>
          </a:p>
          <a:p>
            <a:r>
              <a:rPr lang="en-US" sz="1600">
                <a:latin typeface="Courier New" panose="02070309020205020404" pitchFamily="49" charset="0"/>
                <a:cs typeface="Courier New" panose="02070309020205020404" pitchFamily="49" charset="0"/>
              </a:rPr>
              <a:t>   for (T item in foo) {</a:t>
            </a:r>
          </a:p>
          <a:p>
            <a:r>
              <a:rPr lang="en-US" sz="1600">
                <a:latin typeface="Courier New" panose="02070309020205020404" pitchFamily="49" charset="0"/>
                <a:cs typeface="Courier New" panose="02070309020205020404" pitchFamily="49" charset="0"/>
              </a:rPr>
              <a:t>     if (pdc(item)) {</a:t>
            </a:r>
          </a:p>
          <a:p>
            <a:r>
              <a:rPr lang="en-US" sz="1600">
                <a:latin typeface="Courier New" panose="02070309020205020404" pitchFamily="49" charset="0"/>
                <a:cs typeface="Courier New" panose="02070309020205020404" pitchFamily="49" charset="0"/>
              </a:rPr>
              <a:t>       out.add(item); // clone!!!</a:t>
            </a:r>
          </a:p>
          <a:p>
            <a:r>
              <a:rPr lang="en-US" sz="1600">
                <a:latin typeface="Courier New" panose="02070309020205020404" pitchFamily="49" charset="0"/>
                <a:cs typeface="Courier New" panose="02070309020205020404" pitchFamily="49" charset="0"/>
              </a:rPr>
              <a:t>     }</a:t>
            </a:r>
          </a:p>
          <a:p>
            <a:r>
              <a:rPr lang="en-US" sz="1600">
                <a:latin typeface="Courier New" panose="02070309020205020404" pitchFamily="49" charset="0"/>
                <a:cs typeface="Courier New" panose="02070309020205020404" pitchFamily="49" charset="0"/>
              </a:rPr>
              <a:t>   } </a:t>
            </a:r>
          </a:p>
          <a:p>
            <a:endParaRPr lang="en-US" sz="1600">
              <a:latin typeface="Courier New" panose="02070309020205020404" pitchFamily="49" charset="0"/>
              <a:cs typeface="Courier New" panose="02070309020205020404" pitchFamily="49" charset="0"/>
            </a:endParaRPr>
          </a:p>
          <a:p>
            <a:r>
              <a:rPr lang="en-US" sz="1600">
                <a:latin typeface="Courier New" panose="02070309020205020404" pitchFamily="49" charset="0"/>
                <a:cs typeface="Courier New" panose="02070309020205020404" pitchFamily="49" charset="0"/>
              </a:rPr>
              <a:t>   return out;</a:t>
            </a:r>
          </a:p>
          <a:p>
            <a:r>
              <a:rPr lang="en-US" sz="160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436801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E1117-2C69-2553-6BCC-2B864966187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5AB6D0E-0C33-AB9D-7686-58AE54FEC859}"/>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96B3F0A2-3325-2ADD-4B22-08D9E219A6B0}"/>
              </a:ext>
            </a:extLst>
          </p:cNvPr>
          <p:cNvSpPr>
            <a:spLocks noGrp="1"/>
          </p:cNvSpPr>
          <p:nvPr>
            <p:ph type="sldNum" sz="quarter" idx="12"/>
          </p:nvPr>
        </p:nvSpPr>
        <p:spPr/>
        <p:txBody>
          <a:bodyPr/>
          <a:lstStyle/>
          <a:p>
            <a:fld id="{23D81C8F-CB39-4E4D-98E4-8C3FEDF75126}" type="slidenum">
              <a:rPr lang="en-US" smtClean="0"/>
              <a:t>12</a:t>
            </a:fld>
            <a:endParaRPr lang="en-US"/>
          </a:p>
        </p:txBody>
      </p:sp>
      <p:sp>
        <p:nvSpPr>
          <p:cNvPr id="7" name="TextBox 6">
            <a:extLst>
              <a:ext uri="{FF2B5EF4-FFF2-40B4-BE49-F238E27FC236}">
                <a16:creationId xmlns:a16="http://schemas.microsoft.com/office/drawing/2014/main" id="{B6CE7BE6-C3B7-D8E3-95C0-A265754034C8}"/>
              </a:ext>
            </a:extLst>
          </p:cNvPr>
          <p:cNvSpPr txBox="1"/>
          <p:nvPr/>
        </p:nvSpPr>
        <p:spPr>
          <a:xfrm>
            <a:off x="535709" y="194055"/>
            <a:ext cx="6715556" cy="369332"/>
          </a:xfrm>
          <a:prstGeom prst="rect">
            <a:avLst/>
          </a:prstGeom>
          <a:noFill/>
        </p:spPr>
        <p:txBody>
          <a:bodyPr wrap="none" rtlCol="0">
            <a:spAutoFit/>
          </a:bodyPr>
          <a:lstStyle/>
          <a:p>
            <a:r>
              <a:rPr lang="en-US" dirty="0"/>
              <a:t>Most-used higher-order functions – reduce =&gt; Dimension collapse</a:t>
            </a:r>
          </a:p>
        </p:txBody>
      </p:sp>
      <p:sp>
        <p:nvSpPr>
          <p:cNvPr id="8" name="TextBox 7">
            <a:extLst>
              <a:ext uri="{FF2B5EF4-FFF2-40B4-BE49-F238E27FC236}">
                <a16:creationId xmlns:a16="http://schemas.microsoft.com/office/drawing/2014/main" id="{ED876ED5-5C91-CEBE-5E54-4B25185B7301}"/>
              </a:ext>
            </a:extLst>
          </p:cNvPr>
          <p:cNvSpPr txBox="1"/>
          <p:nvPr/>
        </p:nvSpPr>
        <p:spPr>
          <a:xfrm>
            <a:off x="415448" y="736046"/>
            <a:ext cx="11025391" cy="4431983"/>
          </a:xfrm>
          <a:prstGeom prst="rect">
            <a:avLst/>
          </a:prstGeom>
          <a:noFill/>
        </p:spPr>
        <p:txBody>
          <a:bodyPr wrap="none" rtlCol="0">
            <a:spAutoFit/>
          </a:bodyPr>
          <a:lstStyle/>
          <a:p>
            <a:r>
              <a:rPr lang="en-US">
                <a:cs typeface="Courier New" panose="02070309020205020404" pitchFamily="49" charset="0"/>
              </a:rPr>
              <a:t>fold/reduce: collapse a hierarchy of a data structure, replacing a (N)-dim collection with a (N-1)-dim collection</a:t>
            </a:r>
          </a:p>
          <a:p>
            <a:endParaRPr lang="en-US" sz="1200">
              <a:latin typeface="Courier New" panose="02070309020205020404" pitchFamily="49" charset="0"/>
              <a:cs typeface="Courier New" panose="02070309020205020404" pitchFamily="49" charset="0"/>
            </a:endParaRPr>
          </a:p>
          <a:p>
            <a:r>
              <a:rPr lang="en-US" sz="1400">
                <a:latin typeface="Courier New" panose="02070309020205020404" pitchFamily="49" charset="0"/>
                <a:cs typeface="Courier New" panose="02070309020205020404" pitchFamily="49" charset="0"/>
              </a:rPr>
              <a:t>const elemsSum = [1, 2, 3, 4, 5].reduce(</a:t>
            </a:r>
          </a:p>
          <a:p>
            <a:r>
              <a:rPr lang="en-US" sz="1400">
                <a:latin typeface="Courier New" panose="02070309020205020404" pitchFamily="49" charset="0"/>
                <a:cs typeface="Courier New" panose="02070309020205020404" pitchFamily="49" charset="0"/>
              </a:rPr>
              <a:t>  (acc, item) =&gt; { acc += item; return acc; }, 0</a:t>
            </a:r>
          </a:p>
          <a:p>
            <a:r>
              <a:rPr lang="en-US" sz="1400">
                <a:latin typeface="Courier New" panose="02070309020205020404" pitchFamily="49" charset="0"/>
                <a:cs typeface="Courier New" panose="02070309020205020404" pitchFamily="49" charset="0"/>
              </a:rPr>
              <a:t>); // 15</a:t>
            </a:r>
          </a:p>
          <a:p>
            <a:endParaRPr lang="en-US" sz="1400">
              <a:latin typeface="Courier New" panose="02070309020205020404" pitchFamily="49" charset="0"/>
              <a:cs typeface="Courier New" panose="02070309020205020404" pitchFamily="49" charset="0"/>
            </a:endParaRPr>
          </a:p>
          <a:p>
            <a:endParaRPr lang="en-US" sz="1400">
              <a:latin typeface="Courier New" panose="02070309020205020404" pitchFamily="49" charset="0"/>
              <a:cs typeface="Courier New" panose="02070309020205020404" pitchFamily="49" charset="0"/>
            </a:endParaRPr>
          </a:p>
          <a:p>
            <a:r>
              <a:rPr lang="en-US" sz="1400">
                <a:latin typeface="Courier New" panose="02070309020205020404" pitchFamily="49" charset="0"/>
                <a:cs typeface="Courier New" panose="02070309020205020404" pitchFamily="49" charset="0"/>
              </a:rPr>
              <a:t>const firstCol: number[] = [[1, 2], [2, 3], [4, 5]].reduce(</a:t>
            </a:r>
          </a:p>
          <a:p>
            <a:r>
              <a:rPr lang="en-US" sz="1400">
                <a:latin typeface="Courier New" panose="02070309020205020404" pitchFamily="49" charset="0"/>
                <a:cs typeface="Courier New" panose="02070309020205020404" pitchFamily="49" charset="0"/>
              </a:rPr>
              <a:t>  (acc, row) =&gt; { acc.push(row[0]); return acc; }, []</a:t>
            </a:r>
          </a:p>
          <a:p>
            <a:r>
              <a:rPr lang="en-US" sz="1400">
                <a:latin typeface="Courier New" panose="02070309020205020404" pitchFamily="49" charset="0"/>
                <a:cs typeface="Courier New" panose="02070309020205020404" pitchFamily="49" charset="0"/>
              </a:rPr>
              <a:t>); // [1, 2, 4]</a:t>
            </a:r>
          </a:p>
          <a:p>
            <a:endParaRPr lang="en-US" sz="1400">
              <a:latin typeface="Courier New" panose="02070309020205020404" pitchFamily="49" charset="0"/>
              <a:cs typeface="Courier New" panose="02070309020205020404" pitchFamily="49" charset="0"/>
            </a:endParaRPr>
          </a:p>
          <a:p>
            <a:endParaRPr lang="en-US" sz="1400">
              <a:latin typeface="Courier New" panose="02070309020205020404" pitchFamily="49" charset="0"/>
              <a:cs typeface="Courier New" panose="02070309020205020404" pitchFamily="49" charset="0"/>
            </a:endParaRPr>
          </a:p>
          <a:p>
            <a:r>
              <a:rPr lang="en-US" sz="1400">
                <a:latin typeface="Courier New" panose="02070309020205020404" pitchFamily="49" charset="0"/>
                <a:cs typeface="Courier New" panose="02070309020205020404" pitchFamily="49" charset="0"/>
              </a:rPr>
              <a:t>const flattened: number[] = [[1, 2], [2, 3], [4, 5]].reduce(</a:t>
            </a:r>
          </a:p>
          <a:p>
            <a:r>
              <a:rPr lang="en-US" sz="1400">
                <a:latin typeface="Courier New" panose="02070309020205020404" pitchFamily="49" charset="0"/>
                <a:cs typeface="Courier New" panose="02070309020205020404" pitchFamily="49" charset="0"/>
              </a:rPr>
              <a:t>  (acc, row) =&gt; { acc.push(...row); return acc; }, []</a:t>
            </a:r>
          </a:p>
          <a:p>
            <a:r>
              <a:rPr lang="en-US" sz="1400">
                <a:latin typeface="Courier New" panose="02070309020205020404" pitchFamily="49" charset="0"/>
                <a:cs typeface="Courier New" panose="02070309020205020404" pitchFamily="49" charset="0"/>
              </a:rPr>
              <a:t>); // [1, 2, 2, 3, 4, 5]</a:t>
            </a:r>
          </a:p>
          <a:p>
            <a:endParaRPr lang="en-US" sz="1400">
              <a:latin typeface="Courier New" panose="02070309020205020404" pitchFamily="49" charset="0"/>
              <a:cs typeface="Courier New" panose="02070309020205020404" pitchFamily="49" charset="0"/>
            </a:endParaRPr>
          </a:p>
          <a:p>
            <a:endParaRPr lang="en-US" sz="1400">
              <a:latin typeface="Courier New" panose="02070309020205020404" pitchFamily="49" charset="0"/>
              <a:cs typeface="Courier New" panose="02070309020205020404" pitchFamily="49" charset="0"/>
            </a:endParaRPr>
          </a:p>
          <a:p>
            <a:r>
              <a:rPr lang="en-US" sz="1400">
                <a:latin typeface="Courier New" panose="02070309020205020404" pitchFamily="49" charset="0"/>
                <a:cs typeface="Courier New" panose="02070309020205020404" pitchFamily="49" charset="0"/>
              </a:rPr>
              <a:t>const concatToString = [1, 2, 3, 4, 5].reduce(</a:t>
            </a:r>
          </a:p>
          <a:p>
            <a:r>
              <a:rPr lang="en-US" sz="1400">
                <a:latin typeface="Courier New" panose="02070309020205020404" pitchFamily="49" charset="0"/>
                <a:cs typeface="Courier New" panose="02070309020205020404" pitchFamily="49" charset="0"/>
              </a:rPr>
              <a:t>  (acc, item) =&gt; { acc += item.toString(); return acc; }, ""</a:t>
            </a:r>
          </a:p>
          <a:p>
            <a:r>
              <a:rPr lang="en-US" sz="1400">
                <a:latin typeface="Courier New" panose="02070309020205020404" pitchFamily="49" charset="0"/>
                <a:cs typeface="Courier New" panose="02070309020205020404" pitchFamily="49" charset="0"/>
              </a:rPr>
              <a:t>); // "12345"</a:t>
            </a:r>
          </a:p>
        </p:txBody>
      </p:sp>
      <p:sp>
        <p:nvSpPr>
          <p:cNvPr id="4" name="Right Arrow 3">
            <a:extLst>
              <a:ext uri="{FF2B5EF4-FFF2-40B4-BE49-F238E27FC236}">
                <a16:creationId xmlns:a16="http://schemas.microsoft.com/office/drawing/2014/main" id="{EDB54122-F94E-E288-D03C-4F39EA3C51F8}"/>
              </a:ext>
            </a:extLst>
          </p:cNvPr>
          <p:cNvSpPr/>
          <p:nvPr/>
        </p:nvSpPr>
        <p:spPr>
          <a:xfrm rot="10800000">
            <a:off x="7511143" y="3601616"/>
            <a:ext cx="709126"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55CAAA5-07F9-4C18-9081-4E363B1BAF49}"/>
              </a:ext>
            </a:extLst>
          </p:cNvPr>
          <p:cNvSpPr txBox="1"/>
          <p:nvPr/>
        </p:nvSpPr>
        <p:spPr>
          <a:xfrm>
            <a:off x="8517919" y="3324169"/>
            <a:ext cx="2625270" cy="646331"/>
          </a:xfrm>
          <a:prstGeom prst="rect">
            <a:avLst/>
          </a:prstGeom>
          <a:noFill/>
        </p:spPr>
        <p:txBody>
          <a:bodyPr wrap="none" rtlCol="0">
            <a:spAutoFit/>
          </a:bodyPr>
          <a:lstStyle/>
          <a:p>
            <a:r>
              <a:rPr lang="en-US"/>
              <a:t>Usually already provided</a:t>
            </a:r>
          </a:p>
          <a:p>
            <a:r>
              <a:rPr lang="en-US"/>
              <a:t>as “flat” function</a:t>
            </a:r>
          </a:p>
        </p:txBody>
      </p:sp>
    </p:spTree>
    <p:extLst>
      <p:ext uri="{BB962C8B-B14F-4D97-AF65-F5344CB8AC3E}">
        <p14:creationId xmlns:p14="http://schemas.microsoft.com/office/powerpoint/2010/main" val="3732647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492A7-63E6-14CA-1690-6BAD04D894C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1872A37-AFF2-2F68-25EC-5FE0959DA7D7}"/>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8A781603-1657-F02A-316B-E6BF0F92A004}"/>
              </a:ext>
            </a:extLst>
          </p:cNvPr>
          <p:cNvSpPr>
            <a:spLocks noGrp="1"/>
          </p:cNvSpPr>
          <p:nvPr>
            <p:ph type="sldNum" sz="quarter" idx="12"/>
          </p:nvPr>
        </p:nvSpPr>
        <p:spPr/>
        <p:txBody>
          <a:bodyPr/>
          <a:lstStyle/>
          <a:p>
            <a:fld id="{23D81C8F-CB39-4E4D-98E4-8C3FEDF75126}" type="slidenum">
              <a:rPr lang="en-US" smtClean="0"/>
              <a:t>13</a:t>
            </a:fld>
            <a:endParaRPr lang="en-US"/>
          </a:p>
        </p:txBody>
      </p:sp>
      <p:sp>
        <p:nvSpPr>
          <p:cNvPr id="7" name="TextBox 6">
            <a:extLst>
              <a:ext uri="{FF2B5EF4-FFF2-40B4-BE49-F238E27FC236}">
                <a16:creationId xmlns:a16="http://schemas.microsoft.com/office/drawing/2014/main" id="{FC1B3B9A-03FE-286B-190D-8CFB7196820F}"/>
              </a:ext>
            </a:extLst>
          </p:cNvPr>
          <p:cNvSpPr txBox="1"/>
          <p:nvPr/>
        </p:nvSpPr>
        <p:spPr>
          <a:xfrm>
            <a:off x="535709" y="194055"/>
            <a:ext cx="6715556" cy="369332"/>
          </a:xfrm>
          <a:prstGeom prst="rect">
            <a:avLst/>
          </a:prstGeom>
          <a:noFill/>
        </p:spPr>
        <p:txBody>
          <a:bodyPr wrap="none" rtlCol="0">
            <a:spAutoFit/>
          </a:bodyPr>
          <a:lstStyle/>
          <a:p>
            <a:r>
              <a:rPr lang="en-US" dirty="0"/>
              <a:t>Most-used higher-order functions – reduce =&gt; Dimension collapse</a:t>
            </a:r>
          </a:p>
        </p:txBody>
      </p:sp>
      <p:sp>
        <p:nvSpPr>
          <p:cNvPr id="2" name="TextBox 1">
            <a:extLst>
              <a:ext uri="{FF2B5EF4-FFF2-40B4-BE49-F238E27FC236}">
                <a16:creationId xmlns:a16="http://schemas.microsoft.com/office/drawing/2014/main" id="{6FC760D6-EC6B-516E-70A4-D8C3D7530F23}"/>
              </a:ext>
            </a:extLst>
          </p:cNvPr>
          <p:cNvSpPr txBox="1"/>
          <p:nvPr/>
        </p:nvSpPr>
        <p:spPr>
          <a:xfrm>
            <a:off x="1020061" y="1043731"/>
            <a:ext cx="7590539" cy="4770537"/>
          </a:xfrm>
          <a:prstGeom prst="rect">
            <a:avLst/>
          </a:prstGeom>
          <a:noFill/>
        </p:spPr>
        <p:txBody>
          <a:bodyPr wrap="none" rtlCol="0">
            <a:spAutoFit/>
          </a:bodyPr>
          <a:lstStyle/>
          <a:p>
            <a:r>
              <a:rPr lang="en-US" sz="1600">
                <a:latin typeface="Courier New" panose="02070309020205020404" pitchFamily="49" charset="0"/>
                <a:cs typeface="Courier New" panose="02070309020205020404" pitchFamily="49" charset="0"/>
              </a:rPr>
              <a:t>type </a:t>
            </a:r>
            <a:r>
              <a:rPr lang="en-US" sz="1600" b="1">
                <a:latin typeface="Courier New" panose="02070309020205020404" pitchFamily="49" charset="0"/>
                <a:cs typeface="Courier New" panose="02070309020205020404" pitchFamily="49" charset="0"/>
              </a:rPr>
              <a:t>Compute</a:t>
            </a:r>
            <a:r>
              <a:rPr lang="en-US" sz="1600">
                <a:latin typeface="Courier New" panose="02070309020205020404" pitchFamily="49" charset="0"/>
                <a:cs typeface="Courier New" panose="02070309020205020404" pitchFamily="49" charset="0"/>
              </a:rPr>
              <a:t>&lt;</a:t>
            </a:r>
            <a:r>
              <a:rPr lang="en-US" sz="1600" b="1">
                <a:solidFill>
                  <a:schemeClr val="accent6"/>
                </a:solidFill>
                <a:latin typeface="Courier New" panose="02070309020205020404" pitchFamily="49" charset="0"/>
                <a:cs typeface="Courier New" panose="02070309020205020404" pitchFamily="49" charset="0"/>
              </a:rPr>
              <a:t>T</a:t>
            </a:r>
            <a:r>
              <a:rPr lang="en-US" sz="1600">
                <a:latin typeface="Courier New" panose="02070309020205020404" pitchFamily="49" charset="0"/>
                <a:cs typeface="Courier New" panose="02070309020205020404" pitchFamily="49" charset="0"/>
              </a:rPr>
              <a:t>, </a:t>
            </a:r>
            <a:r>
              <a:rPr lang="en-US" sz="1600" b="1">
                <a:solidFill>
                  <a:srgbClr val="FF0000"/>
                </a:solidFill>
                <a:latin typeface="Courier New" panose="02070309020205020404" pitchFamily="49" charset="0"/>
                <a:cs typeface="Courier New" panose="02070309020205020404" pitchFamily="49" charset="0"/>
              </a:rPr>
              <a:t>S</a:t>
            </a:r>
            <a:r>
              <a:rPr lang="en-US" sz="1600">
                <a:latin typeface="Courier New" panose="02070309020205020404" pitchFamily="49" charset="0"/>
                <a:cs typeface="Courier New" panose="02070309020205020404" pitchFamily="49" charset="0"/>
              </a:rPr>
              <a:t>&gt; = Function&lt;</a:t>
            </a:r>
            <a:r>
              <a:rPr lang="en-US" sz="1600" b="1">
                <a:solidFill>
                  <a:srgbClr val="FF0000"/>
                </a:solidFill>
                <a:latin typeface="Courier New" panose="02070309020205020404" pitchFamily="49" charset="0"/>
                <a:cs typeface="Courier New" panose="02070309020205020404" pitchFamily="49" charset="0"/>
              </a:rPr>
              <a:t>S</a:t>
            </a:r>
            <a:r>
              <a:rPr lang="en-US" sz="1600">
                <a:latin typeface="Courier New" panose="02070309020205020404" pitchFamily="49" charset="0"/>
                <a:cs typeface="Courier New" panose="02070309020205020404" pitchFamily="49" charset="0"/>
              </a:rPr>
              <a:t> (</a:t>
            </a:r>
            <a:r>
              <a:rPr lang="en-US" sz="1600" b="1">
                <a:solidFill>
                  <a:srgbClr val="FF0000"/>
                </a:solidFill>
                <a:latin typeface="Courier New" panose="02070309020205020404" pitchFamily="49" charset="0"/>
                <a:cs typeface="Courier New" panose="02070309020205020404" pitchFamily="49" charset="0"/>
              </a:rPr>
              <a:t>S</a:t>
            </a:r>
            <a:r>
              <a:rPr lang="en-US" sz="1600">
                <a:latin typeface="Courier New" panose="02070309020205020404" pitchFamily="49" charset="0"/>
                <a:cs typeface="Courier New" panose="02070309020205020404" pitchFamily="49" charset="0"/>
              </a:rPr>
              <a:t>, </a:t>
            </a:r>
            <a:r>
              <a:rPr lang="en-US" sz="1600" b="1">
                <a:solidFill>
                  <a:schemeClr val="accent6"/>
                </a:solidFill>
                <a:latin typeface="Courier New" panose="02070309020205020404" pitchFamily="49" charset="0"/>
                <a:cs typeface="Courier New" panose="02070309020205020404" pitchFamily="49" charset="0"/>
              </a:rPr>
              <a:t>T</a:t>
            </a:r>
            <a:r>
              <a:rPr lang="en-US" sz="1600">
                <a:latin typeface="Courier New" panose="02070309020205020404" pitchFamily="49" charset="0"/>
                <a:cs typeface="Courier New" panose="02070309020205020404" pitchFamily="49" charset="0"/>
              </a:rPr>
              <a:t>)&gt;;</a:t>
            </a:r>
          </a:p>
          <a:p>
            <a:endParaRPr lang="en-US" sz="1600">
              <a:latin typeface="Courier New" panose="02070309020205020404" pitchFamily="49" charset="0"/>
              <a:cs typeface="Courier New" panose="02070309020205020404" pitchFamily="49" charset="0"/>
            </a:endParaRPr>
          </a:p>
          <a:p>
            <a:r>
              <a:rPr lang="en-US" sz="1600" b="1">
                <a:solidFill>
                  <a:srgbClr val="FF0000"/>
                </a:solidFill>
                <a:latin typeface="Courier New" panose="02070309020205020404" pitchFamily="49" charset="0"/>
                <a:cs typeface="Courier New" panose="02070309020205020404" pitchFamily="49" charset="0"/>
              </a:rPr>
              <a:t>S</a:t>
            </a:r>
            <a:r>
              <a:rPr lang="en-US" sz="1600">
                <a:latin typeface="Courier New" panose="02070309020205020404" pitchFamily="49" charset="0"/>
                <a:cs typeface="Courier New" panose="02070309020205020404" pitchFamily="49" charset="0"/>
              </a:rPr>
              <a:t> compute(</a:t>
            </a:r>
            <a:r>
              <a:rPr lang="en-US" sz="1600" b="1">
                <a:solidFill>
                  <a:srgbClr val="FF0000"/>
                </a:solidFill>
                <a:latin typeface="Courier New" panose="02070309020205020404" pitchFamily="49" charset="0"/>
                <a:cs typeface="Courier New" panose="02070309020205020404" pitchFamily="49" charset="0"/>
              </a:rPr>
              <a:t>S</a:t>
            </a:r>
            <a:r>
              <a:rPr lang="en-US" sz="1600">
                <a:latin typeface="Courier New" panose="02070309020205020404" pitchFamily="49" charset="0"/>
                <a:cs typeface="Courier New" panose="02070309020205020404" pitchFamily="49" charset="0"/>
              </a:rPr>
              <a:t> oldState, </a:t>
            </a:r>
            <a:r>
              <a:rPr lang="en-US" sz="1600" b="1">
                <a:solidFill>
                  <a:schemeClr val="accent6">
                    <a:lumMod val="75000"/>
                  </a:schemeClr>
                </a:solidFill>
                <a:latin typeface="Courier New" panose="02070309020205020404" pitchFamily="49" charset="0"/>
                <a:cs typeface="Courier New" panose="02070309020205020404" pitchFamily="49" charset="0"/>
              </a:rPr>
              <a:t>T</a:t>
            </a:r>
            <a:r>
              <a:rPr lang="en-US" sz="1600">
                <a:latin typeface="Courier New" panose="02070309020205020404" pitchFamily="49" charset="0"/>
                <a:cs typeface="Courier New" panose="02070309020205020404" pitchFamily="49" charset="0"/>
              </a:rPr>
              <a:t> in) </a:t>
            </a:r>
            <a:r>
              <a:rPr lang="en-US" sz="1600">
                <a:solidFill>
                  <a:schemeClr val="bg2">
                    <a:lumMod val="75000"/>
                  </a:schemeClr>
                </a:solidFill>
                <a:latin typeface="Courier New" panose="02070309020205020404" pitchFamily="49" charset="0"/>
                <a:cs typeface="Courier New" panose="02070309020205020404" pitchFamily="49" charset="0"/>
              </a:rPr>
              <a:t>/* implements Compute&lt;T, S&gt; */ </a:t>
            </a:r>
            <a:r>
              <a:rPr lang="en-US" sz="1600">
                <a:latin typeface="Courier New" panose="02070309020205020404" pitchFamily="49" charset="0"/>
                <a:cs typeface="Courier New" panose="02070309020205020404" pitchFamily="49" charset="0"/>
              </a:rPr>
              <a:t>{</a:t>
            </a:r>
          </a:p>
          <a:p>
            <a:r>
              <a:rPr lang="en-US" sz="1600">
                <a:latin typeface="Courier New" panose="02070309020205020404" pitchFamily="49" charset="0"/>
                <a:cs typeface="Courier New" panose="02070309020205020404" pitchFamily="49" charset="0"/>
              </a:rPr>
              <a:t>  </a:t>
            </a:r>
            <a:r>
              <a:rPr lang="en-US" sz="1600" b="1">
                <a:solidFill>
                  <a:srgbClr val="FF0000"/>
                </a:solidFill>
                <a:latin typeface="Courier New" panose="02070309020205020404" pitchFamily="49" charset="0"/>
                <a:cs typeface="Courier New" panose="02070309020205020404" pitchFamily="49" charset="0"/>
              </a:rPr>
              <a:t>S</a:t>
            </a:r>
            <a:r>
              <a:rPr lang="en-US" sz="1600">
                <a:latin typeface="Courier New" panose="02070309020205020404" pitchFamily="49" charset="0"/>
                <a:cs typeface="Courier New" panose="02070309020205020404" pitchFamily="49" charset="0"/>
              </a:rPr>
              <a:t> newState = ...;</a:t>
            </a:r>
          </a:p>
          <a:p>
            <a:r>
              <a:rPr lang="en-US" sz="1600">
                <a:latin typeface="Courier New" panose="02070309020205020404" pitchFamily="49" charset="0"/>
                <a:cs typeface="Courier New" panose="02070309020205020404" pitchFamily="49" charset="0"/>
              </a:rPr>
              <a:t>  ....</a:t>
            </a:r>
          </a:p>
          <a:p>
            <a:endParaRPr lang="en-US" sz="1600">
              <a:latin typeface="Courier New" panose="02070309020205020404" pitchFamily="49" charset="0"/>
              <a:cs typeface="Courier New" panose="02070309020205020404" pitchFamily="49" charset="0"/>
            </a:endParaRPr>
          </a:p>
          <a:p>
            <a:r>
              <a:rPr lang="en-US" sz="1600">
                <a:latin typeface="Courier New" panose="02070309020205020404" pitchFamily="49" charset="0"/>
                <a:cs typeface="Courier New" panose="02070309020205020404" pitchFamily="49" charset="0"/>
              </a:rPr>
              <a:t>  return newState;</a:t>
            </a:r>
          </a:p>
          <a:p>
            <a:r>
              <a:rPr lang="en-US" sz="1600">
                <a:latin typeface="Courier New" panose="02070309020205020404" pitchFamily="49" charset="0"/>
                <a:cs typeface="Courier New" panose="02070309020205020404" pitchFamily="49" charset="0"/>
              </a:rPr>
              <a:t>}</a:t>
            </a:r>
          </a:p>
          <a:p>
            <a:endParaRPr lang="en-US" sz="1600">
              <a:latin typeface="Courier New" panose="02070309020205020404" pitchFamily="49" charset="0"/>
              <a:cs typeface="Courier New" panose="02070309020205020404" pitchFamily="49" charset="0"/>
            </a:endParaRPr>
          </a:p>
          <a:p>
            <a:endParaRPr lang="en-US" sz="1600">
              <a:latin typeface="Courier New" panose="02070309020205020404" pitchFamily="49" charset="0"/>
              <a:cs typeface="Courier New" panose="02070309020205020404" pitchFamily="49" charset="0"/>
            </a:endParaRPr>
          </a:p>
          <a:p>
            <a:r>
              <a:rPr lang="en-US" sz="1600" b="1">
                <a:solidFill>
                  <a:srgbClr val="FF0000"/>
                </a:solidFill>
                <a:latin typeface="Courier New" panose="02070309020205020404" pitchFamily="49" charset="0"/>
                <a:cs typeface="Courier New" panose="02070309020205020404" pitchFamily="49" charset="0"/>
              </a:rPr>
              <a:t>S</a:t>
            </a:r>
            <a:r>
              <a:rPr lang="en-US" sz="1600">
                <a:latin typeface="Courier New" panose="02070309020205020404" pitchFamily="49" charset="0"/>
                <a:cs typeface="Courier New" panose="02070309020205020404" pitchFamily="49" charset="0"/>
              </a:rPr>
              <a:t> reduce(</a:t>
            </a:r>
            <a:r>
              <a:rPr lang="en-US" sz="1600" b="1">
                <a:solidFill>
                  <a:srgbClr val="0070C0"/>
                </a:solidFill>
                <a:latin typeface="Courier New" panose="02070309020205020404" pitchFamily="49" charset="0"/>
                <a:cs typeface="Courier New" panose="02070309020205020404" pitchFamily="49" charset="0"/>
              </a:rPr>
              <a:t>Something&lt;</a:t>
            </a:r>
            <a:r>
              <a:rPr lang="en-US" sz="1600" b="1">
                <a:solidFill>
                  <a:schemeClr val="accent6">
                    <a:lumMod val="75000"/>
                  </a:schemeClr>
                </a:solidFill>
                <a:latin typeface="Courier New" panose="02070309020205020404" pitchFamily="49" charset="0"/>
                <a:cs typeface="Courier New" panose="02070309020205020404" pitchFamily="49" charset="0"/>
              </a:rPr>
              <a:t>T</a:t>
            </a:r>
            <a:r>
              <a:rPr lang="en-US" sz="1600" b="1">
                <a:solidFill>
                  <a:srgbClr val="0070C0"/>
                </a:solidFill>
                <a:latin typeface="Courier New" panose="02070309020205020404" pitchFamily="49" charset="0"/>
                <a:cs typeface="Courier New" panose="02070309020205020404" pitchFamily="49" charset="0"/>
              </a:rPr>
              <a:t>&gt;</a:t>
            </a:r>
            <a:r>
              <a:rPr lang="en-US" sz="1600">
                <a:latin typeface="Courier New" panose="02070309020205020404" pitchFamily="49" charset="0"/>
                <a:cs typeface="Courier New" panose="02070309020205020404" pitchFamily="49" charset="0"/>
              </a:rPr>
              <a:t> foo, </a:t>
            </a:r>
            <a:r>
              <a:rPr lang="en-US" sz="1600" b="1">
                <a:latin typeface="Courier New" panose="02070309020205020404" pitchFamily="49" charset="0"/>
                <a:cs typeface="Courier New" panose="02070309020205020404" pitchFamily="49" charset="0"/>
              </a:rPr>
              <a:t>Compute</a:t>
            </a:r>
            <a:r>
              <a:rPr lang="en-US" sz="1600">
                <a:latin typeface="Courier New" panose="02070309020205020404" pitchFamily="49" charset="0"/>
                <a:cs typeface="Courier New" panose="02070309020205020404" pitchFamily="49" charset="0"/>
              </a:rPr>
              <a:t> cpt, </a:t>
            </a:r>
            <a:r>
              <a:rPr lang="en-US" sz="1600" b="1">
                <a:solidFill>
                  <a:srgbClr val="FF0000"/>
                </a:solidFill>
                <a:latin typeface="Courier New" panose="02070309020205020404" pitchFamily="49" charset="0"/>
                <a:cs typeface="Courier New" panose="02070309020205020404" pitchFamily="49" charset="0"/>
              </a:rPr>
              <a:t>S</a:t>
            </a:r>
            <a:r>
              <a:rPr lang="en-US" sz="1600">
                <a:latin typeface="Courier New" panose="02070309020205020404" pitchFamily="49" charset="0"/>
                <a:cs typeface="Courier New" panose="02070309020205020404" pitchFamily="49" charset="0"/>
              </a:rPr>
              <a:t> initialState) {</a:t>
            </a:r>
          </a:p>
          <a:p>
            <a:r>
              <a:rPr lang="en-US" sz="1600">
                <a:latin typeface="Courier New" panose="02070309020205020404" pitchFamily="49" charset="0"/>
                <a:cs typeface="Courier New" panose="02070309020205020404" pitchFamily="49" charset="0"/>
              </a:rPr>
              <a:t>   </a:t>
            </a:r>
            <a:r>
              <a:rPr lang="en-US" sz="1600" b="1">
                <a:solidFill>
                  <a:srgbClr val="FF0000"/>
                </a:solidFill>
                <a:latin typeface="Courier New" panose="02070309020205020404" pitchFamily="49" charset="0"/>
                <a:cs typeface="Courier New" panose="02070309020205020404" pitchFamily="49" charset="0"/>
              </a:rPr>
              <a:t>S</a:t>
            </a:r>
            <a:r>
              <a:rPr lang="en-US" sz="1600">
                <a:latin typeface="Courier New" panose="02070309020205020404" pitchFamily="49" charset="0"/>
                <a:cs typeface="Courier New" panose="02070309020205020404" pitchFamily="49" charset="0"/>
              </a:rPr>
              <a:t> out = initialState;</a:t>
            </a:r>
          </a:p>
          <a:p>
            <a:endParaRPr lang="en-US" sz="1600">
              <a:latin typeface="Courier New" panose="02070309020205020404" pitchFamily="49" charset="0"/>
              <a:cs typeface="Courier New" panose="02070309020205020404" pitchFamily="49" charset="0"/>
            </a:endParaRPr>
          </a:p>
          <a:p>
            <a:r>
              <a:rPr lang="en-US" sz="1600">
                <a:latin typeface="Courier New" panose="02070309020205020404" pitchFamily="49" charset="0"/>
                <a:cs typeface="Courier New" panose="02070309020205020404" pitchFamily="49" charset="0"/>
              </a:rPr>
              <a:t>   for (T item in foo) {</a:t>
            </a:r>
          </a:p>
          <a:p>
            <a:r>
              <a:rPr lang="en-US" sz="1600">
                <a:latin typeface="Courier New" panose="02070309020205020404" pitchFamily="49" charset="0"/>
                <a:cs typeface="Courier New" panose="02070309020205020404" pitchFamily="49" charset="0"/>
              </a:rPr>
              <a:t>     out = cpt(out, item);</a:t>
            </a:r>
          </a:p>
          <a:p>
            <a:r>
              <a:rPr lang="en-US" sz="1600">
                <a:latin typeface="Courier New" panose="02070309020205020404" pitchFamily="49" charset="0"/>
                <a:cs typeface="Courier New" panose="02070309020205020404" pitchFamily="49" charset="0"/>
              </a:rPr>
              <a:t>   }</a:t>
            </a:r>
          </a:p>
          <a:p>
            <a:endParaRPr lang="en-US" sz="1600">
              <a:latin typeface="Courier New" panose="02070309020205020404" pitchFamily="49" charset="0"/>
              <a:cs typeface="Courier New" panose="02070309020205020404" pitchFamily="49" charset="0"/>
            </a:endParaRPr>
          </a:p>
          <a:p>
            <a:r>
              <a:rPr lang="en-US" sz="1600">
                <a:latin typeface="Courier New" panose="02070309020205020404" pitchFamily="49" charset="0"/>
                <a:cs typeface="Courier New" panose="02070309020205020404" pitchFamily="49" charset="0"/>
              </a:rPr>
              <a:t>   return out;</a:t>
            </a:r>
          </a:p>
          <a:p>
            <a:r>
              <a:rPr lang="en-US" sz="160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582031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A4880-3363-A1D9-76B8-83F552B5380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FE2CB28-BC20-FACC-D094-662AAA4214CF}"/>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0D05BF5D-4998-473C-EB70-80169420D116}"/>
              </a:ext>
            </a:extLst>
          </p:cNvPr>
          <p:cNvSpPr>
            <a:spLocks noGrp="1"/>
          </p:cNvSpPr>
          <p:nvPr>
            <p:ph type="sldNum" sz="quarter" idx="12"/>
          </p:nvPr>
        </p:nvSpPr>
        <p:spPr/>
        <p:txBody>
          <a:bodyPr/>
          <a:lstStyle/>
          <a:p>
            <a:fld id="{23D81C8F-CB39-4E4D-98E4-8C3FEDF75126}" type="slidenum">
              <a:rPr lang="en-US" smtClean="0"/>
              <a:t>14</a:t>
            </a:fld>
            <a:endParaRPr lang="en-US"/>
          </a:p>
        </p:txBody>
      </p:sp>
      <p:sp>
        <p:nvSpPr>
          <p:cNvPr id="7" name="TextBox 6">
            <a:extLst>
              <a:ext uri="{FF2B5EF4-FFF2-40B4-BE49-F238E27FC236}">
                <a16:creationId xmlns:a16="http://schemas.microsoft.com/office/drawing/2014/main" id="{FB4A3574-69E2-CCA2-9055-E90543CDCEA0}"/>
              </a:ext>
            </a:extLst>
          </p:cNvPr>
          <p:cNvSpPr txBox="1"/>
          <p:nvPr/>
        </p:nvSpPr>
        <p:spPr>
          <a:xfrm>
            <a:off x="535709" y="194055"/>
            <a:ext cx="5851474" cy="369332"/>
          </a:xfrm>
          <a:prstGeom prst="rect">
            <a:avLst/>
          </a:prstGeom>
          <a:noFill/>
        </p:spPr>
        <p:txBody>
          <a:bodyPr wrap="none" rtlCol="0">
            <a:spAutoFit/>
          </a:bodyPr>
          <a:lstStyle/>
          <a:p>
            <a:r>
              <a:rPr lang="en-US" dirty="0"/>
              <a:t>Most-used higher-order functions – Minor utility functions</a:t>
            </a:r>
          </a:p>
        </p:txBody>
      </p:sp>
      <p:sp>
        <p:nvSpPr>
          <p:cNvPr id="8" name="TextBox 7">
            <a:extLst>
              <a:ext uri="{FF2B5EF4-FFF2-40B4-BE49-F238E27FC236}">
                <a16:creationId xmlns:a16="http://schemas.microsoft.com/office/drawing/2014/main" id="{0AADD9E4-4A7D-0361-5DAD-EC9D51F8742F}"/>
              </a:ext>
            </a:extLst>
          </p:cNvPr>
          <p:cNvSpPr txBox="1"/>
          <p:nvPr/>
        </p:nvSpPr>
        <p:spPr>
          <a:xfrm>
            <a:off x="434109" y="1034473"/>
            <a:ext cx="10387780" cy="3631763"/>
          </a:xfrm>
          <a:prstGeom prst="rect">
            <a:avLst/>
          </a:prstGeom>
          <a:noFill/>
        </p:spPr>
        <p:txBody>
          <a:bodyPr wrap="none" rtlCol="0">
            <a:spAutoFit/>
          </a:bodyPr>
          <a:lstStyle/>
          <a:p>
            <a:r>
              <a:rPr lang="en-US">
                <a:cs typeface="Courier New" panose="02070309020205020404" pitchFamily="49" charset="0"/>
              </a:rPr>
              <a:t>range: generate a collection containing a sequence</a:t>
            </a:r>
          </a:p>
          <a:p>
            <a:r>
              <a:rPr lang="en-US" sz="1400">
                <a:latin typeface="Courier New" panose="02070309020205020404" pitchFamily="49" charset="0"/>
                <a:cs typeface="Courier New" panose="02070309020205020404" pitchFamily="49" charset="0"/>
              </a:rPr>
              <a:t>const range = (start: number, end: number, step = 1) =&gt; {</a:t>
            </a:r>
          </a:p>
          <a:p>
            <a:r>
              <a:rPr lang="en-US" sz="1400">
                <a:latin typeface="Courier New" panose="02070309020205020404" pitchFamily="49" charset="0"/>
                <a:cs typeface="Courier New" panose="02070309020205020404" pitchFamily="49" charset="0"/>
              </a:rPr>
              <a:t>    return Array.from({ length: Math.ceil((end - start) / step) }, (_, i) =&gt; start + i * step);</a:t>
            </a:r>
          </a:p>
          <a:p>
            <a:r>
              <a:rPr lang="en-US" sz="1400">
                <a:latin typeface="Courier New" panose="02070309020205020404" pitchFamily="49" charset="0"/>
                <a:cs typeface="Courier New" panose="02070309020205020404" pitchFamily="49" charset="0"/>
              </a:rPr>
              <a:t>};</a:t>
            </a:r>
          </a:p>
          <a:p>
            <a:r>
              <a:rPr lang="en-US" sz="1400">
                <a:latin typeface="Courier New" panose="02070309020205020404" pitchFamily="49" charset="0"/>
                <a:cs typeface="Courier New" panose="02070309020205020404" pitchFamily="49" charset="0"/>
              </a:rPr>
              <a:t>console.log(range(1, 10, 2)); // [1, 3, 5, 7, 9]</a:t>
            </a:r>
          </a:p>
          <a:p>
            <a:endParaRPr lang="en-US" sz="1200">
              <a:latin typeface="Courier New" panose="02070309020205020404" pitchFamily="49" charset="0"/>
              <a:cs typeface="Courier New" panose="02070309020205020404" pitchFamily="49" charset="0"/>
            </a:endParaRPr>
          </a:p>
          <a:p>
            <a:endParaRPr lang="en-US" sz="1200">
              <a:latin typeface="Courier New" panose="02070309020205020404" pitchFamily="49" charset="0"/>
              <a:cs typeface="Courier New" panose="02070309020205020404" pitchFamily="49" charset="0"/>
            </a:endParaRPr>
          </a:p>
          <a:p>
            <a:endParaRPr lang="en-US" sz="1200">
              <a:latin typeface="Courier New" panose="02070309020205020404" pitchFamily="49" charset="0"/>
              <a:cs typeface="Courier New" panose="02070309020205020404" pitchFamily="49" charset="0"/>
            </a:endParaRPr>
          </a:p>
          <a:p>
            <a:r>
              <a:rPr lang="en-US">
                <a:cs typeface="Courier New" panose="02070309020205020404" pitchFamily="49" charset="0"/>
              </a:rPr>
              <a:t>scan: like reduce, but not collapsing hierarchy, instead returning the same hierarchy populated with all</a:t>
            </a:r>
          </a:p>
          <a:p>
            <a:r>
              <a:rPr lang="en-US">
                <a:cs typeface="Courier New" panose="02070309020205020404" pitchFamily="49" charset="0"/>
              </a:rPr>
              <a:t>intermediate results</a:t>
            </a:r>
            <a:br>
              <a:rPr lang="en-US">
                <a:cs typeface="Courier New" panose="02070309020205020404" pitchFamily="49" charset="0"/>
              </a:rPr>
            </a:br>
            <a:r>
              <a:rPr lang="en-US" sz="1400">
                <a:latin typeface="Courier New" panose="02070309020205020404" pitchFamily="49" charset="0"/>
                <a:cs typeface="Courier New" panose="02070309020205020404" pitchFamily="49" charset="0"/>
              </a:rPr>
              <a:t>const take = &lt;T extends unknown&gt;(values: T[], idx: number): T[] =&gt; values.slice(0, idx);</a:t>
            </a:r>
          </a:p>
          <a:p>
            <a:endParaRPr lang="en-US" sz="1400">
              <a:latin typeface="Courier New" panose="02070309020205020404" pitchFamily="49" charset="0"/>
              <a:cs typeface="Courier New" panose="02070309020205020404" pitchFamily="49" charset="0"/>
            </a:endParaRPr>
          </a:p>
          <a:p>
            <a:r>
              <a:rPr lang="en-US" sz="1400">
                <a:latin typeface="Courier New" panose="02070309020205020404" pitchFamily="49" charset="0"/>
                <a:cs typeface="Courier New" panose="02070309020205020404" pitchFamily="49" charset="0"/>
              </a:rPr>
              <a:t>const scan = &lt;T extends unknown&gt;(values: T[], fn: (t1: T, t2: T) =&gt; T, initial: T): T[] =&gt;</a:t>
            </a:r>
          </a:p>
          <a:p>
            <a:r>
              <a:rPr lang="en-US" sz="1400">
                <a:latin typeface="Courier New" panose="02070309020205020404" pitchFamily="49" charset="0"/>
                <a:cs typeface="Courier New" panose="02070309020205020404" pitchFamily="49" charset="0"/>
              </a:rPr>
              <a:t>  range(1, values.length + 1).map(i =&gt; take(values, i)).map(a =&gt; a.reduce(fn, initial));</a:t>
            </a:r>
          </a:p>
          <a:p>
            <a:endParaRPr lang="en-US" sz="1400">
              <a:latin typeface="Courier New" panose="02070309020205020404" pitchFamily="49" charset="0"/>
              <a:cs typeface="Courier New" panose="02070309020205020404" pitchFamily="49" charset="0"/>
            </a:endParaRPr>
          </a:p>
          <a:p>
            <a:r>
              <a:rPr lang="en-US" sz="1400">
                <a:latin typeface="Courier New" panose="02070309020205020404" pitchFamily="49" charset="0"/>
                <a:cs typeface="Courier New" panose="02070309020205020404" pitchFamily="49" charset="0"/>
              </a:rPr>
              <a:t>console.log(scan([1, 2, 3, 4, 5], (a, b) =&gt; a + b, 0)) // [1, 3, 6, 10, 15]</a:t>
            </a:r>
          </a:p>
        </p:txBody>
      </p:sp>
    </p:spTree>
    <p:extLst>
      <p:ext uri="{BB962C8B-B14F-4D97-AF65-F5344CB8AC3E}">
        <p14:creationId xmlns:p14="http://schemas.microsoft.com/office/powerpoint/2010/main" val="1297583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33FFE-4DE9-9AEC-D30A-8FFC2370185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D4149F3-2550-3C0C-EF50-C325DADBA401}"/>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2213B03F-E8E0-59F7-AFC8-03B14D884B9C}"/>
              </a:ext>
            </a:extLst>
          </p:cNvPr>
          <p:cNvSpPr>
            <a:spLocks noGrp="1"/>
          </p:cNvSpPr>
          <p:nvPr>
            <p:ph type="sldNum" sz="quarter" idx="12"/>
          </p:nvPr>
        </p:nvSpPr>
        <p:spPr/>
        <p:txBody>
          <a:bodyPr/>
          <a:lstStyle/>
          <a:p>
            <a:fld id="{23D81C8F-CB39-4E4D-98E4-8C3FEDF75126}" type="slidenum">
              <a:rPr lang="en-US" smtClean="0"/>
              <a:t>15</a:t>
            </a:fld>
            <a:endParaRPr lang="en-US"/>
          </a:p>
        </p:txBody>
      </p:sp>
      <p:sp>
        <p:nvSpPr>
          <p:cNvPr id="7" name="TextBox 6">
            <a:extLst>
              <a:ext uri="{FF2B5EF4-FFF2-40B4-BE49-F238E27FC236}">
                <a16:creationId xmlns:a16="http://schemas.microsoft.com/office/drawing/2014/main" id="{E815FE5B-4513-0A5B-5EF6-3C6220C42A42}"/>
              </a:ext>
            </a:extLst>
          </p:cNvPr>
          <p:cNvSpPr txBox="1"/>
          <p:nvPr/>
        </p:nvSpPr>
        <p:spPr>
          <a:xfrm>
            <a:off x="535709" y="194055"/>
            <a:ext cx="3090911" cy="369332"/>
          </a:xfrm>
          <a:prstGeom prst="rect">
            <a:avLst/>
          </a:prstGeom>
          <a:noFill/>
        </p:spPr>
        <p:txBody>
          <a:bodyPr wrap="none" rtlCol="0">
            <a:spAutoFit/>
          </a:bodyPr>
          <a:lstStyle/>
          <a:p>
            <a:r>
              <a:rPr lang="en-US" dirty="0"/>
              <a:t>FP: higher-order – cool, but ...</a:t>
            </a:r>
          </a:p>
        </p:txBody>
      </p:sp>
      <p:sp>
        <p:nvSpPr>
          <p:cNvPr id="12" name="Rectangle 11">
            <a:extLst>
              <a:ext uri="{FF2B5EF4-FFF2-40B4-BE49-F238E27FC236}">
                <a16:creationId xmlns:a16="http://schemas.microsoft.com/office/drawing/2014/main" id="{DC5D366D-EED9-598F-2E64-B68F7111496A}"/>
              </a:ext>
            </a:extLst>
          </p:cNvPr>
          <p:cNvSpPr/>
          <p:nvPr/>
        </p:nvSpPr>
        <p:spPr>
          <a:xfrm>
            <a:off x="1155808" y="4023896"/>
            <a:ext cx="5765584" cy="1145309"/>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4CD0653-D4D5-6BC5-D53F-230B971B5711}"/>
              </a:ext>
            </a:extLst>
          </p:cNvPr>
          <p:cNvSpPr/>
          <p:nvPr/>
        </p:nvSpPr>
        <p:spPr>
          <a:xfrm>
            <a:off x="1155808" y="2213568"/>
            <a:ext cx="5765584" cy="1302328"/>
          </a:xfrm>
          <a:prstGeom prst="rect">
            <a:avLst/>
          </a:prstGeom>
          <a:solidFill>
            <a:srgbClr val="00B050">
              <a:alpha val="983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DDC5717-3D45-363C-402D-7E59BEE6BC04}"/>
              </a:ext>
            </a:extLst>
          </p:cNvPr>
          <p:cNvSpPr txBox="1"/>
          <p:nvPr/>
        </p:nvSpPr>
        <p:spPr>
          <a:xfrm>
            <a:off x="1155808" y="1259175"/>
            <a:ext cx="4647426" cy="4339650"/>
          </a:xfrm>
          <a:prstGeom prst="rect">
            <a:avLst/>
          </a:prstGeom>
          <a:noFill/>
        </p:spPr>
        <p:txBody>
          <a:bodyPr wrap="none" rtlCol="0">
            <a:spAutoFit/>
          </a:bodyPr>
          <a:lstStyle/>
          <a:p>
            <a:r>
              <a:rPr lang="en-US" sz="1200">
                <a:latin typeface="Courier New" panose="02070309020205020404" pitchFamily="49" charset="0"/>
                <a:cs typeface="Courier New" panose="02070309020205020404" pitchFamily="49" charset="0"/>
              </a:rPr>
              <a:t>let result = 0;</a:t>
            </a:r>
          </a:p>
          <a:p>
            <a:r>
              <a:rPr lang="en-US" sz="1200">
                <a:latin typeface="Courier New" panose="02070309020205020404" pitchFamily="49" charset="0"/>
                <a:cs typeface="Courier New" panose="02070309020205020404" pitchFamily="49" charset="0"/>
              </a:rPr>
              <a:t>const numList = [1, 2, 3, 4, 5, 6, 7, 8, 9, 10];</a:t>
            </a:r>
          </a:p>
          <a:p>
            <a:r>
              <a:rPr lang="en-US" sz="1200">
                <a:latin typeface="Courier New" panose="02070309020205020404" pitchFamily="49" charset="0"/>
                <a:cs typeface="Courier New" panose="02070309020205020404" pitchFamily="49" charset="0"/>
              </a:rPr>
              <a:t>const TRIES = 100000000;</a:t>
            </a:r>
          </a:p>
          <a:p>
            <a:endParaRPr lang="en-US" sz="1200">
              <a:latin typeface="Courier New" panose="02070309020205020404" pitchFamily="49" charset="0"/>
              <a:cs typeface="Courier New" panose="02070309020205020404" pitchFamily="49" charset="0"/>
            </a:endParaRPr>
          </a:p>
          <a:p>
            <a:r>
              <a:rPr lang="en-US" sz="1200">
                <a:latin typeface="Courier New" panose="02070309020205020404" pitchFamily="49" charset="0"/>
                <a:cs typeface="Courier New" panose="02070309020205020404" pitchFamily="49" charset="0"/>
              </a:rPr>
              <a:t>let start = Date.now();</a:t>
            </a:r>
          </a:p>
          <a:p>
            <a:r>
              <a:rPr lang="en-US" sz="1200">
                <a:latin typeface="Courier New" panose="02070309020205020404" pitchFamily="49" charset="0"/>
                <a:cs typeface="Courier New" panose="02070309020205020404" pitchFamily="49" charset="0"/>
              </a:rPr>
              <a:t>for (let cnt = 0; cnt &lt; TRIES; ++cnt) {</a:t>
            </a:r>
          </a:p>
          <a:p>
            <a:r>
              <a:rPr lang="en-US" sz="1200">
                <a:latin typeface="Courier New" panose="02070309020205020404" pitchFamily="49" charset="0"/>
                <a:cs typeface="Courier New" panose="02070309020205020404" pitchFamily="49" charset="0"/>
              </a:rPr>
              <a:t>  for (let i = 0; i &lt; numList.length; i++) {</a:t>
            </a:r>
          </a:p>
          <a:p>
            <a:r>
              <a:rPr lang="en-US" sz="1200">
                <a:latin typeface="Courier New" panose="02070309020205020404" pitchFamily="49" charset="0"/>
                <a:cs typeface="Courier New" panose="02070309020205020404" pitchFamily="49" charset="0"/>
              </a:rPr>
              <a:t>    if (numList[i] % 2 === 0) {</a:t>
            </a:r>
          </a:p>
          <a:p>
            <a:r>
              <a:rPr lang="en-US" sz="1200">
                <a:latin typeface="Courier New" panose="02070309020205020404" pitchFamily="49" charset="0"/>
                <a:cs typeface="Courier New" panose="02070309020205020404" pitchFamily="49" charset="0"/>
              </a:rPr>
              <a:t>      result += numList[i] * 10;</a:t>
            </a:r>
          </a:p>
          <a:p>
            <a:r>
              <a:rPr lang="en-US" sz="1200">
                <a:latin typeface="Courier New" panose="02070309020205020404" pitchFamily="49" charset="0"/>
                <a:cs typeface="Courier New" panose="02070309020205020404" pitchFamily="49" charset="0"/>
              </a:rPr>
              <a:t>    }</a:t>
            </a:r>
          </a:p>
          <a:p>
            <a:r>
              <a:rPr lang="en-US" sz="1200">
                <a:latin typeface="Courier New" panose="02070309020205020404" pitchFamily="49" charset="0"/>
                <a:cs typeface="Courier New" panose="02070309020205020404" pitchFamily="49" charset="0"/>
              </a:rPr>
              <a:t>  }</a:t>
            </a:r>
          </a:p>
          <a:p>
            <a:r>
              <a:rPr lang="en-US" sz="1200">
                <a:latin typeface="Courier New" panose="02070309020205020404" pitchFamily="49" charset="0"/>
                <a:cs typeface="Courier New" panose="02070309020205020404" pitchFamily="49" charset="0"/>
              </a:rPr>
              <a:t>}</a:t>
            </a:r>
          </a:p>
          <a:p>
            <a:r>
              <a:rPr lang="en-US" sz="1200">
                <a:latin typeface="Courier New" panose="02070309020205020404" pitchFamily="49" charset="0"/>
                <a:cs typeface="Courier New" panose="02070309020205020404" pitchFamily="49" charset="0"/>
              </a:rPr>
              <a:t>console.log(Date.now() - start);</a:t>
            </a:r>
          </a:p>
          <a:p>
            <a:endParaRPr lang="en-US" sz="1200">
              <a:latin typeface="Courier New" panose="02070309020205020404" pitchFamily="49" charset="0"/>
              <a:cs typeface="Courier New" panose="02070309020205020404" pitchFamily="49" charset="0"/>
            </a:endParaRPr>
          </a:p>
          <a:p>
            <a:r>
              <a:rPr lang="en-US" sz="1200">
                <a:latin typeface="Courier New" panose="02070309020205020404" pitchFamily="49" charset="0"/>
                <a:cs typeface="Courier New" panose="02070309020205020404" pitchFamily="49" charset="0"/>
              </a:rPr>
              <a:t>start = Date.now();</a:t>
            </a:r>
          </a:p>
          <a:p>
            <a:r>
              <a:rPr lang="en-US" sz="1200">
                <a:latin typeface="Courier New" panose="02070309020205020404" pitchFamily="49" charset="0"/>
                <a:cs typeface="Courier New" panose="02070309020205020404" pitchFamily="49" charset="0"/>
              </a:rPr>
              <a:t>for (let cnt = 0; cnt &lt; TRIES; ++cnt) {</a:t>
            </a:r>
          </a:p>
          <a:p>
            <a:r>
              <a:rPr lang="en-US" sz="1200">
                <a:latin typeface="Courier New" panose="02070309020205020404" pitchFamily="49" charset="0"/>
                <a:cs typeface="Courier New" panose="02070309020205020404" pitchFamily="49" charset="0"/>
              </a:rPr>
              <a:t>  result = numList</a:t>
            </a:r>
          </a:p>
          <a:p>
            <a:r>
              <a:rPr lang="en-US" sz="1200">
                <a:latin typeface="Courier New" panose="02070309020205020404" pitchFamily="49" charset="0"/>
                <a:cs typeface="Courier New" panose="02070309020205020404" pitchFamily="49" charset="0"/>
              </a:rPr>
              <a:t>           .filter(n =&gt; n % 2 === 0)</a:t>
            </a:r>
          </a:p>
          <a:p>
            <a:r>
              <a:rPr lang="en-US" sz="1200">
                <a:latin typeface="Courier New" panose="02070309020205020404" pitchFamily="49" charset="0"/>
                <a:cs typeface="Courier New" panose="02070309020205020404" pitchFamily="49" charset="0"/>
              </a:rPr>
              <a:t>           .map(a =&gt; a * 10)</a:t>
            </a:r>
          </a:p>
          <a:p>
            <a:r>
              <a:rPr lang="en-US" sz="1200">
                <a:latin typeface="Courier New" panose="02070309020205020404" pitchFamily="49" charset="0"/>
                <a:cs typeface="Courier New" panose="02070309020205020404" pitchFamily="49" charset="0"/>
              </a:rPr>
              <a:t>           .reduce((a, b) =&gt; a + b, 0);</a:t>
            </a:r>
          </a:p>
          <a:p>
            <a:r>
              <a:rPr lang="en-US" sz="1200">
                <a:latin typeface="Courier New" panose="02070309020205020404" pitchFamily="49" charset="0"/>
                <a:cs typeface="Courier New" panose="02070309020205020404" pitchFamily="49" charset="0"/>
              </a:rPr>
              <a:t>}</a:t>
            </a:r>
          </a:p>
          <a:p>
            <a:r>
              <a:rPr lang="en-US" sz="1200">
                <a:latin typeface="Courier New" panose="02070309020205020404" pitchFamily="49" charset="0"/>
                <a:cs typeface="Courier New" panose="02070309020205020404" pitchFamily="49" charset="0"/>
              </a:rPr>
              <a:t>console.log(Date.now() - start);</a:t>
            </a:r>
          </a:p>
          <a:p>
            <a:endParaRPr lang="en-US" sz="1200">
              <a:latin typeface="Courier New" panose="02070309020205020404" pitchFamily="49" charset="0"/>
              <a:cs typeface="Courier New" panose="02070309020205020404" pitchFamily="49" charset="0"/>
            </a:endParaRPr>
          </a:p>
        </p:txBody>
      </p:sp>
      <p:sp>
        <p:nvSpPr>
          <p:cNvPr id="5" name="TextBox 4">
            <a:extLst>
              <a:ext uri="{FF2B5EF4-FFF2-40B4-BE49-F238E27FC236}">
                <a16:creationId xmlns:a16="http://schemas.microsoft.com/office/drawing/2014/main" id="{C109ED7D-8104-9E5A-4B41-11F46FE22606}"/>
              </a:ext>
            </a:extLst>
          </p:cNvPr>
          <p:cNvSpPr txBox="1"/>
          <p:nvPr/>
        </p:nvSpPr>
        <p:spPr>
          <a:xfrm>
            <a:off x="5803232" y="2618358"/>
            <a:ext cx="1048685" cy="369332"/>
          </a:xfrm>
          <a:prstGeom prst="rect">
            <a:avLst/>
          </a:prstGeom>
          <a:noFill/>
        </p:spPr>
        <p:txBody>
          <a:bodyPr wrap="none" rtlCol="0">
            <a:spAutoFit/>
          </a:bodyPr>
          <a:lstStyle/>
          <a:p>
            <a:r>
              <a:rPr lang="en-US" b="1" i="0">
                <a:solidFill>
                  <a:srgbClr val="00B050"/>
                </a:solidFill>
                <a:effectLst/>
              </a:rPr>
              <a:t>2810 ms</a:t>
            </a:r>
            <a:endParaRPr lang="en-US" b="1">
              <a:solidFill>
                <a:srgbClr val="00B050"/>
              </a:solidFill>
            </a:endParaRPr>
          </a:p>
        </p:txBody>
      </p:sp>
      <p:sp>
        <p:nvSpPr>
          <p:cNvPr id="10" name="TextBox 9">
            <a:extLst>
              <a:ext uri="{FF2B5EF4-FFF2-40B4-BE49-F238E27FC236}">
                <a16:creationId xmlns:a16="http://schemas.microsoft.com/office/drawing/2014/main" id="{EAECA50D-AB5C-869B-C2CC-D9CE42A17C78}"/>
              </a:ext>
            </a:extLst>
          </p:cNvPr>
          <p:cNvSpPr txBox="1"/>
          <p:nvPr/>
        </p:nvSpPr>
        <p:spPr>
          <a:xfrm>
            <a:off x="5664284" y="4411884"/>
            <a:ext cx="1187633" cy="369332"/>
          </a:xfrm>
          <a:prstGeom prst="rect">
            <a:avLst/>
          </a:prstGeom>
          <a:noFill/>
        </p:spPr>
        <p:txBody>
          <a:bodyPr wrap="square">
            <a:spAutoFit/>
          </a:bodyPr>
          <a:lstStyle/>
          <a:p>
            <a:r>
              <a:rPr lang="en-US" b="1" i="0">
                <a:solidFill>
                  <a:srgbClr val="FF0000"/>
                </a:solidFill>
                <a:effectLst/>
              </a:rPr>
              <a:t>10416 ms </a:t>
            </a:r>
            <a:endParaRPr lang="en-US" b="1">
              <a:solidFill>
                <a:srgbClr val="FF0000"/>
              </a:solidFill>
            </a:endParaRPr>
          </a:p>
        </p:txBody>
      </p:sp>
      <p:sp>
        <p:nvSpPr>
          <p:cNvPr id="2" name="TextBox 1">
            <a:extLst>
              <a:ext uri="{FF2B5EF4-FFF2-40B4-BE49-F238E27FC236}">
                <a16:creationId xmlns:a16="http://schemas.microsoft.com/office/drawing/2014/main" id="{A605A090-9D0B-E795-F803-ACED5D5080AA}"/>
              </a:ext>
            </a:extLst>
          </p:cNvPr>
          <p:cNvSpPr txBox="1"/>
          <p:nvPr/>
        </p:nvSpPr>
        <p:spPr>
          <a:xfrm>
            <a:off x="8153400" y="3059668"/>
            <a:ext cx="3133807" cy="369332"/>
          </a:xfrm>
          <a:prstGeom prst="rect">
            <a:avLst/>
          </a:prstGeom>
          <a:noFill/>
        </p:spPr>
        <p:txBody>
          <a:bodyPr wrap="none" rtlCol="0">
            <a:spAutoFit/>
          </a:bodyPr>
          <a:lstStyle/>
          <a:p>
            <a:r>
              <a:rPr lang="en-US"/>
              <a:t>... slower, and tricky to debug.</a:t>
            </a:r>
          </a:p>
        </p:txBody>
      </p:sp>
    </p:spTree>
    <p:extLst>
      <p:ext uri="{BB962C8B-B14F-4D97-AF65-F5344CB8AC3E}">
        <p14:creationId xmlns:p14="http://schemas.microsoft.com/office/powerpoint/2010/main" val="3878797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1" grpId="0" animBg="1"/>
      <p:bldP spid="5" grpId="0"/>
      <p:bldP spid="10" grpId="0"/>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F7EE6-1732-D51E-984B-DCC2800EE1F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71F64ED-8816-A54D-C95C-CBD6D2F4340A}"/>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4003868F-4409-21E9-2C0A-EEB5F63512C8}"/>
              </a:ext>
            </a:extLst>
          </p:cNvPr>
          <p:cNvSpPr>
            <a:spLocks noGrp="1"/>
          </p:cNvSpPr>
          <p:nvPr>
            <p:ph type="sldNum" sz="quarter" idx="12"/>
          </p:nvPr>
        </p:nvSpPr>
        <p:spPr/>
        <p:txBody>
          <a:bodyPr/>
          <a:lstStyle/>
          <a:p>
            <a:fld id="{23D81C8F-CB39-4E4D-98E4-8C3FEDF75126}" type="slidenum">
              <a:rPr lang="en-US" smtClean="0"/>
              <a:t>16</a:t>
            </a:fld>
            <a:endParaRPr lang="en-US"/>
          </a:p>
        </p:txBody>
      </p:sp>
      <p:sp>
        <p:nvSpPr>
          <p:cNvPr id="7" name="TextBox 6">
            <a:extLst>
              <a:ext uri="{FF2B5EF4-FFF2-40B4-BE49-F238E27FC236}">
                <a16:creationId xmlns:a16="http://schemas.microsoft.com/office/drawing/2014/main" id="{20246126-25D5-A2BE-A851-3B10E4C49807}"/>
              </a:ext>
            </a:extLst>
          </p:cNvPr>
          <p:cNvSpPr txBox="1"/>
          <p:nvPr/>
        </p:nvSpPr>
        <p:spPr>
          <a:xfrm>
            <a:off x="535709" y="194055"/>
            <a:ext cx="4943918" cy="369332"/>
          </a:xfrm>
          <a:prstGeom prst="rect">
            <a:avLst/>
          </a:prstGeom>
          <a:noFill/>
        </p:spPr>
        <p:txBody>
          <a:bodyPr wrap="none" rtlCol="0">
            <a:spAutoFit/>
          </a:bodyPr>
          <a:lstStyle/>
          <a:p>
            <a:r>
              <a:rPr lang="en-US" dirty="0"/>
              <a:t>FP: slowdown partial solution =&gt; Copy-On-Write</a:t>
            </a:r>
          </a:p>
        </p:txBody>
      </p:sp>
      <p:sp>
        <p:nvSpPr>
          <p:cNvPr id="8" name="TextBox 7">
            <a:extLst>
              <a:ext uri="{FF2B5EF4-FFF2-40B4-BE49-F238E27FC236}">
                <a16:creationId xmlns:a16="http://schemas.microsoft.com/office/drawing/2014/main" id="{AD306B9C-D14B-533F-FFAA-22EE8BFB16A9}"/>
              </a:ext>
            </a:extLst>
          </p:cNvPr>
          <p:cNvSpPr txBox="1"/>
          <p:nvPr/>
        </p:nvSpPr>
        <p:spPr>
          <a:xfrm>
            <a:off x="443581" y="601711"/>
            <a:ext cx="11304838" cy="1169551"/>
          </a:xfrm>
          <a:prstGeom prst="rect">
            <a:avLst/>
          </a:prstGeom>
          <a:noFill/>
        </p:spPr>
        <p:txBody>
          <a:bodyPr wrap="square" rtlCol="0">
            <a:spAutoFit/>
          </a:bodyPr>
          <a:lstStyle/>
          <a:p>
            <a:r>
              <a:rPr lang="en-US" sz="1400"/>
              <a:t>Copy-on-write (COW), also called implicit sharing or shadowing, is a resource-management technique to manage shared data efficiently. Instead of copying data right away when multiple programs use it, the same data is shared between programs until one tries to modify it.</a:t>
            </a:r>
          </a:p>
          <a:p>
            <a:endParaRPr lang="en-US" sz="1400"/>
          </a:p>
          <a:p>
            <a:r>
              <a:rPr lang="en-US" sz="1400"/>
              <a:t>If no changes are made, no private copy is created, saving resources. A copy is only made when needed, ensuring each program has its own version when modifications occur.</a:t>
            </a:r>
          </a:p>
        </p:txBody>
      </p:sp>
      <p:sp>
        <p:nvSpPr>
          <p:cNvPr id="9" name="TextBox 8">
            <a:extLst>
              <a:ext uri="{FF2B5EF4-FFF2-40B4-BE49-F238E27FC236}">
                <a16:creationId xmlns:a16="http://schemas.microsoft.com/office/drawing/2014/main" id="{FBBED257-9208-92DC-99F9-DBC69D32D034}"/>
              </a:ext>
            </a:extLst>
          </p:cNvPr>
          <p:cNvSpPr txBox="1"/>
          <p:nvPr/>
        </p:nvSpPr>
        <p:spPr>
          <a:xfrm>
            <a:off x="468589" y="1771262"/>
            <a:ext cx="2012089" cy="954107"/>
          </a:xfrm>
          <a:prstGeom prst="rect">
            <a:avLst/>
          </a:prstGeom>
          <a:solidFill>
            <a:schemeClr val="accent2">
              <a:lumMod val="20000"/>
              <a:lumOff val="80000"/>
            </a:schemeClr>
          </a:solidFill>
        </p:spPr>
        <p:txBody>
          <a:bodyPr wrap="none" rtlCol="0">
            <a:spAutoFit/>
          </a:bodyPr>
          <a:lstStyle/>
          <a:p>
            <a:r>
              <a:rPr lang="en-US" sz="800">
                <a:latin typeface="Courier New" panose="02070309020205020404" pitchFamily="49" charset="0"/>
                <a:cs typeface="Courier New" panose="02070309020205020404" pitchFamily="49" charset="0"/>
              </a:rPr>
              <a:t>public interface Person {</a:t>
            </a:r>
          </a:p>
          <a:p>
            <a:r>
              <a:rPr lang="en-US" sz="800">
                <a:latin typeface="Courier New" panose="02070309020205020404" pitchFamily="49" charset="0"/>
                <a:cs typeface="Courier New" panose="02070309020205020404" pitchFamily="49" charset="0"/>
              </a:rPr>
              <a:t>    String getName();</a:t>
            </a:r>
          </a:p>
          <a:p>
            <a:r>
              <a:rPr lang="en-US" sz="800">
                <a:latin typeface="Courier New" panose="02070309020205020404" pitchFamily="49" charset="0"/>
                <a:cs typeface="Courier New" panose="02070309020205020404" pitchFamily="49" charset="0"/>
              </a:rPr>
              <a:t>    </a:t>
            </a:r>
          </a:p>
          <a:p>
            <a:r>
              <a:rPr lang="en-US" sz="800">
                <a:latin typeface="Courier New" panose="02070309020205020404" pitchFamily="49" charset="0"/>
                <a:cs typeface="Courier New" panose="02070309020205020404" pitchFamily="49" charset="0"/>
              </a:rPr>
              <a:t>    void setName(String name);</a:t>
            </a:r>
          </a:p>
          <a:p>
            <a:r>
              <a:rPr lang="en-US" sz="800">
                <a:latin typeface="Courier New" panose="02070309020205020404" pitchFamily="49" charset="0"/>
                <a:cs typeface="Courier New" panose="02070309020205020404" pitchFamily="49" charset="0"/>
              </a:rPr>
              <a:t>    </a:t>
            </a:r>
          </a:p>
          <a:p>
            <a:r>
              <a:rPr lang="en-US" sz="800">
                <a:latin typeface="Courier New" panose="02070309020205020404" pitchFamily="49" charset="0"/>
                <a:cs typeface="Courier New" panose="02070309020205020404" pitchFamily="49" charset="0"/>
              </a:rPr>
              <a:t>    int getNum();</a:t>
            </a:r>
          </a:p>
          <a:p>
            <a:r>
              <a:rPr lang="en-US" sz="800">
                <a:latin typeface="Courier New" panose="02070309020205020404" pitchFamily="49" charset="0"/>
                <a:cs typeface="Courier New" panose="02070309020205020404" pitchFamily="49" charset="0"/>
              </a:rPr>
              <a:t>}</a:t>
            </a:r>
          </a:p>
        </p:txBody>
      </p:sp>
      <p:sp>
        <p:nvSpPr>
          <p:cNvPr id="14" name="TextBox 13">
            <a:extLst>
              <a:ext uri="{FF2B5EF4-FFF2-40B4-BE49-F238E27FC236}">
                <a16:creationId xmlns:a16="http://schemas.microsoft.com/office/drawing/2014/main" id="{698D3FBE-DED7-D14B-223E-31F7E0DF2092}"/>
              </a:ext>
            </a:extLst>
          </p:cNvPr>
          <p:cNvSpPr txBox="1"/>
          <p:nvPr/>
        </p:nvSpPr>
        <p:spPr>
          <a:xfrm>
            <a:off x="443121" y="2940813"/>
            <a:ext cx="2803973" cy="3046988"/>
          </a:xfrm>
          <a:prstGeom prst="rect">
            <a:avLst/>
          </a:prstGeom>
          <a:solidFill>
            <a:schemeClr val="tx2">
              <a:lumMod val="10000"/>
              <a:lumOff val="90000"/>
            </a:schemeClr>
          </a:solidFill>
        </p:spPr>
        <p:txBody>
          <a:bodyPr wrap="none" rtlCol="0">
            <a:spAutoFit/>
          </a:bodyPr>
          <a:lstStyle/>
          <a:p>
            <a:r>
              <a:rPr lang="en-US" sz="800">
                <a:latin typeface="Courier New" panose="02070309020205020404" pitchFamily="49" charset="0"/>
                <a:cs typeface="Courier New" panose="02070309020205020404" pitchFamily="49" charset="0"/>
              </a:rPr>
              <a:t>public class PersonImpl implements Person {</a:t>
            </a:r>
          </a:p>
          <a:p>
            <a:r>
              <a:rPr lang="en-US" sz="800">
                <a:latin typeface="Courier New" panose="02070309020205020404" pitchFamily="49" charset="0"/>
                <a:cs typeface="Courier New" panose="02070309020205020404" pitchFamily="49" charset="0"/>
              </a:rPr>
              <a:t>    private int num;</a:t>
            </a:r>
          </a:p>
          <a:p>
            <a:r>
              <a:rPr lang="en-US" sz="800">
                <a:latin typeface="Courier New" panose="02070309020205020404" pitchFamily="49" charset="0"/>
                <a:cs typeface="Courier New" panose="02070309020205020404" pitchFamily="49" charset="0"/>
              </a:rPr>
              <a:t>    private String name;</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public PersonImpl() {</a:t>
            </a:r>
          </a:p>
          <a:p>
            <a:r>
              <a:rPr lang="en-US" sz="800">
                <a:latin typeface="Courier New" panose="02070309020205020404" pitchFamily="49" charset="0"/>
                <a:cs typeface="Courier New" panose="02070309020205020404" pitchFamily="49" charset="0"/>
              </a:rPr>
              <a:t>    	this.num = 0;</a:t>
            </a:r>
          </a:p>
          <a:p>
            <a:r>
              <a:rPr lang="en-US" sz="800">
                <a:latin typeface="Courier New" panose="02070309020205020404" pitchFamily="49" charset="0"/>
                <a:cs typeface="Courier New" panose="02070309020205020404" pitchFamily="49" charset="0"/>
              </a:rPr>
              <a:t>    }</a:t>
            </a:r>
          </a:p>
          <a:p>
            <a:r>
              <a:rPr lang="en-US" sz="800">
                <a:latin typeface="Courier New" panose="02070309020205020404" pitchFamily="49" charset="0"/>
                <a:cs typeface="Courier New" panose="02070309020205020404" pitchFamily="49" charset="0"/>
              </a:rPr>
              <a:t>    </a:t>
            </a:r>
          </a:p>
          <a:p>
            <a:r>
              <a:rPr lang="en-US" sz="800">
                <a:latin typeface="Courier New" panose="02070309020205020404" pitchFamily="49" charset="0"/>
                <a:cs typeface="Courier New" panose="02070309020205020404" pitchFamily="49" charset="0"/>
              </a:rPr>
              <a:t>    @Override</a:t>
            </a:r>
          </a:p>
          <a:p>
            <a:r>
              <a:rPr lang="en-US" sz="800">
                <a:latin typeface="Courier New" panose="02070309020205020404" pitchFamily="49" charset="0"/>
                <a:cs typeface="Courier New" panose="02070309020205020404" pitchFamily="49" charset="0"/>
              </a:rPr>
              <a:t>    public String getName() {</a:t>
            </a:r>
          </a:p>
          <a:p>
            <a:r>
              <a:rPr lang="en-US" sz="800">
                <a:latin typeface="Courier New" panose="02070309020205020404" pitchFamily="49" charset="0"/>
                <a:cs typeface="Courier New" panose="02070309020205020404" pitchFamily="49" charset="0"/>
              </a:rPr>
              <a:t>    	return name;</a:t>
            </a:r>
          </a:p>
          <a:p>
            <a:r>
              <a:rPr lang="en-US" sz="800">
                <a:latin typeface="Courier New" panose="02070309020205020404" pitchFamily="49" charset="0"/>
                <a:cs typeface="Courier New" panose="02070309020205020404" pitchFamily="49" charset="0"/>
              </a:rPr>
              <a:t>	}</a:t>
            </a:r>
          </a:p>
          <a:p>
            <a:r>
              <a:rPr lang="en-US" sz="800">
                <a:latin typeface="Courier New" panose="02070309020205020404" pitchFamily="49" charset="0"/>
                <a:cs typeface="Courier New" panose="02070309020205020404" pitchFamily="49" charset="0"/>
              </a:rPr>
              <a:t>    </a:t>
            </a:r>
          </a:p>
          <a:p>
            <a:r>
              <a:rPr lang="en-US" sz="800">
                <a:latin typeface="Courier New" panose="02070309020205020404" pitchFamily="49" charset="0"/>
                <a:cs typeface="Courier New" panose="02070309020205020404" pitchFamily="49" charset="0"/>
              </a:rPr>
              <a:t>    @Override</a:t>
            </a:r>
          </a:p>
          <a:p>
            <a:r>
              <a:rPr lang="en-US" sz="800">
                <a:latin typeface="Courier New" panose="02070309020205020404" pitchFamily="49" charset="0"/>
                <a:cs typeface="Courier New" panose="02070309020205020404" pitchFamily="49" charset="0"/>
              </a:rPr>
              <a:t>    public void setName(String n) {</a:t>
            </a:r>
          </a:p>
          <a:p>
            <a:r>
              <a:rPr lang="en-US" sz="800">
                <a:latin typeface="Courier New" panose="02070309020205020404" pitchFamily="49" charset="0"/>
                <a:cs typeface="Courier New" panose="02070309020205020404" pitchFamily="49" charset="0"/>
              </a:rPr>
              <a:t>    	this.num++;</a:t>
            </a:r>
          </a:p>
          <a:p>
            <a:r>
              <a:rPr lang="en-US" sz="800">
                <a:latin typeface="Courier New" panose="02070309020205020404" pitchFamily="49" charset="0"/>
                <a:cs typeface="Courier New" panose="02070309020205020404" pitchFamily="49" charset="0"/>
              </a:rPr>
              <a:t>    	this.name = n;</a:t>
            </a:r>
          </a:p>
          <a:p>
            <a:r>
              <a:rPr lang="en-US" sz="800">
                <a:latin typeface="Courier New" panose="02070309020205020404" pitchFamily="49" charset="0"/>
                <a:cs typeface="Courier New" panose="02070309020205020404" pitchFamily="49" charset="0"/>
              </a:rPr>
              <a:t>    }</a:t>
            </a:r>
          </a:p>
          <a:p>
            <a:r>
              <a:rPr lang="en-US" sz="800">
                <a:latin typeface="Courier New" panose="02070309020205020404" pitchFamily="49" charset="0"/>
                <a:cs typeface="Courier New" panose="02070309020205020404" pitchFamily="49" charset="0"/>
              </a:rPr>
              <a:t>    </a:t>
            </a:r>
          </a:p>
          <a:p>
            <a:r>
              <a:rPr lang="en-US" sz="800">
                <a:latin typeface="Courier New" panose="02070309020205020404" pitchFamily="49" charset="0"/>
                <a:cs typeface="Courier New" panose="02070309020205020404" pitchFamily="49" charset="0"/>
              </a:rPr>
              <a:t>    @Override</a:t>
            </a:r>
          </a:p>
          <a:p>
            <a:r>
              <a:rPr lang="en-US" sz="800">
                <a:latin typeface="Courier New" panose="02070309020205020404" pitchFamily="49" charset="0"/>
                <a:cs typeface="Courier New" panose="02070309020205020404" pitchFamily="49" charset="0"/>
              </a:rPr>
              <a:t>    public int getNum() {</a:t>
            </a:r>
          </a:p>
          <a:p>
            <a:r>
              <a:rPr lang="en-US" sz="800">
                <a:latin typeface="Courier New" panose="02070309020205020404" pitchFamily="49" charset="0"/>
                <a:cs typeface="Courier New" panose="02070309020205020404" pitchFamily="49" charset="0"/>
              </a:rPr>
              <a:t>    	return this.num;</a:t>
            </a:r>
          </a:p>
          <a:p>
            <a:r>
              <a:rPr lang="en-US" sz="800">
                <a:latin typeface="Courier New" panose="02070309020205020404" pitchFamily="49" charset="0"/>
                <a:cs typeface="Courier New" panose="02070309020205020404" pitchFamily="49" charset="0"/>
              </a:rPr>
              <a:t>    }</a:t>
            </a:r>
          </a:p>
          <a:p>
            <a:r>
              <a:rPr lang="en-US" sz="800">
                <a:latin typeface="Courier New" panose="02070309020205020404" pitchFamily="49" charset="0"/>
                <a:cs typeface="Courier New" panose="02070309020205020404" pitchFamily="49" charset="0"/>
              </a:rPr>
              <a:t>}</a:t>
            </a:r>
          </a:p>
        </p:txBody>
      </p:sp>
      <p:sp>
        <p:nvSpPr>
          <p:cNvPr id="15" name="TextBox 14">
            <a:extLst>
              <a:ext uri="{FF2B5EF4-FFF2-40B4-BE49-F238E27FC236}">
                <a16:creationId xmlns:a16="http://schemas.microsoft.com/office/drawing/2014/main" id="{FCBD1AC2-7AA7-992E-E663-3D6B5C72DFA2}"/>
              </a:ext>
            </a:extLst>
          </p:cNvPr>
          <p:cNvSpPr txBox="1"/>
          <p:nvPr/>
        </p:nvSpPr>
        <p:spPr>
          <a:xfrm>
            <a:off x="3494527" y="1709707"/>
            <a:ext cx="4387740" cy="4401205"/>
          </a:xfrm>
          <a:prstGeom prst="rect">
            <a:avLst/>
          </a:prstGeom>
          <a:solidFill>
            <a:schemeClr val="accent6">
              <a:lumMod val="20000"/>
              <a:lumOff val="80000"/>
            </a:schemeClr>
          </a:solidFill>
        </p:spPr>
        <p:txBody>
          <a:bodyPr wrap="none" rtlCol="0">
            <a:spAutoFit/>
          </a:bodyPr>
          <a:lstStyle/>
          <a:p>
            <a:r>
              <a:rPr lang="en-US" sz="800">
                <a:latin typeface="Courier New" panose="02070309020205020404" pitchFamily="49" charset="0"/>
                <a:cs typeface="Courier New" panose="02070309020205020404" pitchFamily="49" charset="0"/>
              </a:rPr>
              <a:t>public class CopyOnWrite {</a:t>
            </a:r>
          </a:p>
          <a:p>
            <a:r>
              <a:rPr lang="en-US" sz="800">
                <a:latin typeface="Courier New" panose="02070309020205020404" pitchFamily="49" charset="0"/>
                <a:cs typeface="Courier New" panose="02070309020205020404" pitchFamily="49" charset="0"/>
              </a:rPr>
              <a:t>	@SuppressWarnings("unchecked")</a:t>
            </a:r>
          </a:p>
          <a:p>
            <a:r>
              <a:rPr lang="en-US" sz="800">
                <a:latin typeface="Courier New" panose="02070309020205020404" pitchFamily="49" charset="0"/>
                <a:cs typeface="Courier New" panose="02070309020205020404" pitchFamily="49" charset="0"/>
              </a:rPr>
              <a:t>    public static &lt;T&gt; T wrap(T instance, Class&lt;T&gt; iface) {</a:t>
            </a:r>
          </a:p>
          <a:p>
            <a:r>
              <a:rPr lang="en-US" sz="800">
                <a:latin typeface="Courier New" panose="02070309020205020404" pitchFamily="49" charset="0"/>
                <a:cs typeface="Courier New" panose="02070309020205020404" pitchFamily="49" charset="0"/>
              </a:rPr>
              <a:t>        return (T) Proxy.newProxyInstance(</a:t>
            </a:r>
          </a:p>
          <a:p>
            <a:r>
              <a:rPr lang="en-US" sz="800">
                <a:latin typeface="Courier New" panose="02070309020205020404" pitchFamily="49" charset="0"/>
                <a:cs typeface="Courier New" panose="02070309020205020404" pitchFamily="49" charset="0"/>
              </a:rPr>
              <a:t>            iface.getClassLoader(),</a:t>
            </a:r>
          </a:p>
          <a:p>
            <a:r>
              <a:rPr lang="en-US" sz="800">
                <a:latin typeface="Courier New" panose="02070309020205020404" pitchFamily="49" charset="0"/>
                <a:cs typeface="Courier New" panose="02070309020205020404" pitchFamily="49" charset="0"/>
              </a:rPr>
              <a:t>            new Class&lt;?&gt;[]{iface},</a:t>
            </a:r>
          </a:p>
          <a:p>
            <a:r>
              <a:rPr lang="en-US" sz="800">
                <a:latin typeface="Courier New" panose="02070309020205020404" pitchFamily="49" charset="0"/>
                <a:cs typeface="Courier New" panose="02070309020205020404" pitchFamily="49" charset="0"/>
              </a:rPr>
              <a:t>            new COWHandler&lt;&gt;(instance)</a:t>
            </a:r>
          </a:p>
          <a:p>
            <a:r>
              <a:rPr lang="en-US" sz="800">
                <a:latin typeface="Courier New" panose="02070309020205020404" pitchFamily="49" charset="0"/>
                <a:cs typeface="Courier New" panose="02070309020205020404" pitchFamily="49" charset="0"/>
              </a:rPr>
              <a:t>        );</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private static class COWHandler&lt;T&gt; implements InvocationHandler {</a:t>
            </a:r>
          </a:p>
          <a:p>
            <a:r>
              <a:rPr lang="en-US" sz="800">
                <a:latin typeface="Courier New" panose="02070309020205020404" pitchFamily="49" charset="0"/>
                <a:cs typeface="Courier New" panose="02070309020205020404" pitchFamily="49" charset="0"/>
              </a:rPr>
              <a:t>        private T target;</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COWHandler(T target) {</a:t>
            </a:r>
          </a:p>
          <a:p>
            <a:r>
              <a:rPr lang="en-US" sz="800">
                <a:latin typeface="Courier New" panose="02070309020205020404" pitchFamily="49" charset="0"/>
                <a:cs typeface="Courier New" panose="02070309020205020404" pitchFamily="49" charset="0"/>
              </a:rPr>
              <a:t>            this.target = target;</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@Override</a:t>
            </a:r>
          </a:p>
          <a:p>
            <a:r>
              <a:rPr lang="en-US" sz="800">
                <a:latin typeface="Courier New" panose="02070309020205020404" pitchFamily="49" charset="0"/>
                <a:cs typeface="Courier New" panose="02070309020205020404" pitchFamily="49" charset="0"/>
              </a:rPr>
              <a:t>        public Object invoke(Object proxy,</a:t>
            </a:r>
            <a:br>
              <a:rPr lang="en-US" sz="800">
                <a:latin typeface="Courier New" panose="02070309020205020404" pitchFamily="49" charset="0"/>
                <a:cs typeface="Courier New" panose="02070309020205020404" pitchFamily="49" charset="0"/>
              </a:rPr>
            </a:br>
            <a:r>
              <a:rPr lang="en-US" sz="800">
                <a:latin typeface="Courier New" panose="02070309020205020404" pitchFamily="49" charset="0"/>
                <a:cs typeface="Courier New" panose="02070309020205020404" pitchFamily="49" charset="0"/>
              </a:rPr>
              <a:t>             Method method, Object[] args)</a:t>
            </a:r>
          </a:p>
          <a:p>
            <a:r>
              <a:rPr lang="en-US" sz="800">
                <a:latin typeface="Courier New" panose="02070309020205020404" pitchFamily="49" charset="0"/>
                <a:cs typeface="Courier New" panose="02070309020205020404" pitchFamily="49" charset="0"/>
              </a:rPr>
              <a:t>          throws Throwable {</a:t>
            </a:r>
          </a:p>
          <a:p>
            <a:r>
              <a:rPr lang="en-US" sz="800">
                <a:latin typeface="Courier New" panose="02070309020205020404" pitchFamily="49" charset="0"/>
                <a:cs typeface="Courier New" panose="02070309020205020404" pitchFamily="49" charset="0"/>
              </a:rPr>
              <a:t>            String name = method.getName();</a:t>
            </a:r>
          </a:p>
          <a:p>
            <a:r>
              <a:rPr lang="en-US" sz="800">
                <a:latin typeface="Courier New" panose="02070309020205020404" pitchFamily="49" charset="0"/>
                <a:cs typeface="Courier New" panose="02070309020205020404" pitchFamily="49" charset="0"/>
              </a:rPr>
              <a:t>            </a:t>
            </a:r>
          </a:p>
          <a:p>
            <a:r>
              <a:rPr lang="en-US" sz="800">
                <a:latin typeface="Courier New" panose="02070309020205020404" pitchFamily="49" charset="0"/>
                <a:cs typeface="Courier New" panose="02070309020205020404" pitchFamily="49" charset="0"/>
              </a:rPr>
              <a:t>            if (name.startsWith("set") &amp;&amp;</a:t>
            </a:r>
            <a:br>
              <a:rPr lang="en-US" sz="800">
                <a:latin typeface="Courier New" panose="02070309020205020404" pitchFamily="49" charset="0"/>
                <a:cs typeface="Courier New" panose="02070309020205020404" pitchFamily="49" charset="0"/>
              </a:rPr>
            </a:br>
            <a:r>
              <a:rPr lang="en-US" sz="800">
                <a:latin typeface="Courier New" panose="02070309020205020404" pitchFamily="49" charset="0"/>
                <a:cs typeface="Courier New" panose="02070309020205020404" pitchFamily="49" charset="0"/>
              </a:rPr>
              <a:t>                 method.getParameterCount() == 1) {</a:t>
            </a:r>
          </a:p>
          <a:p>
            <a:r>
              <a:rPr lang="en-US" sz="800">
                <a:latin typeface="Courier New" panose="02070309020205020404" pitchFamily="49" charset="0"/>
                <a:cs typeface="Courier New" panose="02070309020205020404" pitchFamily="49" charset="0"/>
              </a:rPr>
              <a:t>                T copy = shallowCopy(target);</a:t>
            </a:r>
          </a:p>
          <a:p>
            <a:r>
              <a:rPr lang="en-US" sz="800">
                <a:latin typeface="Courier New" panose="02070309020205020404" pitchFamily="49" charset="0"/>
                <a:cs typeface="Courier New" panose="02070309020205020404" pitchFamily="49" charset="0"/>
              </a:rPr>
              <a:t>                method.invoke(copy, args);</a:t>
            </a:r>
          </a:p>
          <a:p>
            <a:r>
              <a:rPr lang="en-US" sz="800">
                <a:latin typeface="Courier New" panose="02070309020205020404" pitchFamily="49" charset="0"/>
                <a:cs typeface="Courier New" panose="02070309020205020404" pitchFamily="49" charset="0"/>
              </a:rPr>
              <a:t>                target = copy;</a:t>
            </a:r>
          </a:p>
          <a:p>
            <a:r>
              <a:rPr lang="en-US" sz="800">
                <a:latin typeface="Courier New" panose="02070309020205020404" pitchFamily="49" charset="0"/>
                <a:cs typeface="Courier New" panose="02070309020205020404" pitchFamily="49" charset="0"/>
              </a:rPr>
              <a:t>                return proxy;</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return method.invoke(target, args);</a:t>
            </a:r>
          </a:p>
          <a:p>
            <a:r>
              <a:rPr lang="en-US" sz="800">
                <a:latin typeface="Courier New" panose="02070309020205020404" pitchFamily="49" charset="0"/>
                <a:cs typeface="Courier New" panose="02070309020205020404" pitchFamily="49" charset="0"/>
              </a:rPr>
              <a:t>        }</a:t>
            </a:r>
          </a:p>
          <a:p>
            <a:br>
              <a:rPr lang="en-US" sz="800">
                <a:latin typeface="Courier New" panose="02070309020205020404" pitchFamily="49" charset="0"/>
                <a:cs typeface="Courier New" panose="02070309020205020404" pitchFamily="49" charset="0"/>
              </a:rPr>
            </a:br>
            <a:r>
              <a:rPr lang="en-US" sz="800">
                <a:latin typeface="Courier New" panose="02070309020205020404" pitchFamily="49" charset="0"/>
                <a:cs typeface="Courier New" panose="02070309020205020404" pitchFamily="49" charset="0"/>
              </a:rPr>
              <a:t>...</a:t>
            </a:r>
          </a:p>
        </p:txBody>
      </p:sp>
      <p:sp>
        <p:nvSpPr>
          <p:cNvPr id="16" name="TextBox 15">
            <a:extLst>
              <a:ext uri="{FF2B5EF4-FFF2-40B4-BE49-F238E27FC236}">
                <a16:creationId xmlns:a16="http://schemas.microsoft.com/office/drawing/2014/main" id="{E2D7575E-C2D9-EF8D-D77A-F75425D42D2C}"/>
              </a:ext>
            </a:extLst>
          </p:cNvPr>
          <p:cNvSpPr txBox="1"/>
          <p:nvPr/>
        </p:nvSpPr>
        <p:spPr>
          <a:xfrm>
            <a:off x="7971072" y="3802587"/>
            <a:ext cx="4022255" cy="2185214"/>
          </a:xfrm>
          <a:prstGeom prst="rect">
            <a:avLst/>
          </a:prstGeom>
          <a:solidFill>
            <a:schemeClr val="accent6">
              <a:lumMod val="20000"/>
              <a:lumOff val="80000"/>
            </a:schemeClr>
          </a:solidFill>
        </p:spPr>
        <p:txBody>
          <a:bodyPr wrap="none" rtlCol="0">
            <a:spAutoFit/>
          </a:bodyPr>
          <a:lstStyle/>
          <a:p>
            <a:r>
              <a:rPr lang="en-US" sz="800">
                <a:latin typeface="Courier New" panose="02070309020205020404" pitchFamily="49" charset="0"/>
                <a:cs typeface="Courier New" panose="02070309020205020404" pitchFamily="49" charset="0"/>
              </a:rPr>
              <a:t>...</a:t>
            </a:r>
            <a:br>
              <a:rPr lang="en-US" sz="800">
                <a:latin typeface="Courier New" panose="02070309020205020404" pitchFamily="49" charset="0"/>
                <a:cs typeface="Courier New" panose="02070309020205020404" pitchFamily="49" charset="0"/>
              </a:rPr>
            </a:br>
            <a:br>
              <a:rPr lang="en-US" sz="800">
                <a:latin typeface="Courier New" panose="02070309020205020404" pitchFamily="49" charset="0"/>
                <a:cs typeface="Courier New" panose="02070309020205020404" pitchFamily="49" charset="0"/>
              </a:rPr>
            </a:br>
            <a:r>
              <a:rPr lang="en-US" sz="800">
                <a:latin typeface="Courier New" panose="02070309020205020404" pitchFamily="49" charset="0"/>
                <a:cs typeface="Courier New" panose="02070309020205020404" pitchFamily="49" charset="0"/>
              </a:rPr>
              <a:t>   @SuppressWarnings("unchecked")</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private T shallowCopy(T obj) throws Exception {</a:t>
            </a:r>
          </a:p>
          <a:p>
            <a:r>
              <a:rPr lang="en-US" sz="800">
                <a:latin typeface="Courier New" panose="02070309020205020404" pitchFamily="49" charset="0"/>
                <a:cs typeface="Courier New" panose="02070309020205020404" pitchFamily="49" charset="0"/>
              </a:rPr>
              <a:t>     Class&lt;?&gt; clazz = obj.getClass();</a:t>
            </a:r>
          </a:p>
          <a:p>
            <a:r>
              <a:rPr lang="en-US" sz="800">
                <a:latin typeface="Courier New" panose="02070309020205020404" pitchFamily="49" charset="0"/>
                <a:cs typeface="Courier New" panose="02070309020205020404" pitchFamily="49" charset="0"/>
              </a:rPr>
              <a:t>     T copy = (T) clazz.getDeclaredConstructor().newInstance();</a:t>
            </a:r>
          </a:p>
          <a:p>
            <a:br>
              <a:rPr lang="en-US" sz="800">
                <a:latin typeface="Courier New" panose="02070309020205020404" pitchFamily="49" charset="0"/>
                <a:cs typeface="Courier New" panose="02070309020205020404" pitchFamily="49" charset="0"/>
              </a:rPr>
            </a:br>
            <a:r>
              <a:rPr lang="en-US" sz="800">
                <a:latin typeface="Courier New" panose="02070309020205020404" pitchFamily="49" charset="0"/>
                <a:cs typeface="Courier New" panose="02070309020205020404" pitchFamily="49" charset="0"/>
              </a:rPr>
              <a:t>     for (Field field : clazz.getDeclaredFields()) {</a:t>
            </a:r>
          </a:p>
          <a:p>
            <a:r>
              <a:rPr lang="en-US" sz="800">
                <a:latin typeface="Courier New" panose="02070309020205020404" pitchFamily="49" charset="0"/>
                <a:cs typeface="Courier New" panose="02070309020205020404" pitchFamily="49" charset="0"/>
              </a:rPr>
              <a:t>       field.setAccessible(true);</a:t>
            </a:r>
          </a:p>
          <a:p>
            <a:r>
              <a:rPr lang="en-US" sz="800">
                <a:latin typeface="Courier New" panose="02070309020205020404" pitchFamily="49" charset="0"/>
                <a:cs typeface="Courier New" panose="02070309020205020404" pitchFamily="49" charset="0"/>
              </a:rPr>
              <a:t>       field.set(copy, field.get(obj));</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return copy;</a:t>
            </a:r>
          </a:p>
          <a:p>
            <a:r>
              <a:rPr lang="en-US" sz="800">
                <a:latin typeface="Courier New" panose="02070309020205020404" pitchFamily="49" charset="0"/>
                <a:cs typeface="Courier New" panose="02070309020205020404" pitchFamily="49" charset="0"/>
              </a:rPr>
              <a:t>   }</a:t>
            </a:r>
          </a:p>
          <a:p>
            <a:r>
              <a:rPr lang="en-US" sz="800">
                <a:latin typeface="Courier New" panose="02070309020205020404" pitchFamily="49" charset="0"/>
                <a:cs typeface="Courier New" panose="02070309020205020404" pitchFamily="49" charset="0"/>
              </a:rPr>
              <a:t> }</a:t>
            </a:r>
          </a:p>
          <a:p>
            <a:r>
              <a:rPr lang="en-US" sz="800">
                <a:latin typeface="Courier New" panose="02070309020205020404" pitchFamily="49" charset="0"/>
                <a:cs typeface="Courier New" panose="02070309020205020404" pitchFamily="49" charset="0"/>
              </a:rPr>
              <a:t>}</a:t>
            </a:r>
          </a:p>
        </p:txBody>
      </p:sp>
      <p:sp>
        <p:nvSpPr>
          <p:cNvPr id="17" name="TextBox 16">
            <a:extLst>
              <a:ext uri="{FF2B5EF4-FFF2-40B4-BE49-F238E27FC236}">
                <a16:creationId xmlns:a16="http://schemas.microsoft.com/office/drawing/2014/main" id="{1215ED6F-FC2C-BEAA-7AB3-3C3180B01DDD}"/>
              </a:ext>
            </a:extLst>
          </p:cNvPr>
          <p:cNvSpPr txBox="1"/>
          <p:nvPr/>
        </p:nvSpPr>
        <p:spPr>
          <a:xfrm>
            <a:off x="8377334" y="2140594"/>
            <a:ext cx="3047629" cy="584775"/>
          </a:xfrm>
          <a:prstGeom prst="rect">
            <a:avLst/>
          </a:prstGeom>
          <a:solidFill>
            <a:schemeClr val="bg1">
              <a:lumMod val="95000"/>
            </a:schemeClr>
          </a:solidFill>
        </p:spPr>
        <p:txBody>
          <a:bodyPr wrap="none" rtlCol="0">
            <a:spAutoFit/>
          </a:bodyPr>
          <a:lstStyle/>
          <a:p>
            <a:r>
              <a:rPr lang="en-US" sz="800">
                <a:latin typeface="Courier New" panose="02070309020205020404" pitchFamily="49" charset="0"/>
                <a:cs typeface="Courier New" panose="02070309020205020404" pitchFamily="49" charset="0"/>
              </a:rPr>
              <a:t>Person p = new PersonImpl();</a:t>
            </a:r>
          </a:p>
          <a:p>
            <a:r>
              <a:rPr lang="en-US" sz="800">
                <a:latin typeface="Courier New" panose="02070309020205020404" pitchFamily="49" charset="0"/>
                <a:cs typeface="Courier New" panose="02070309020205020404" pitchFamily="49" charset="0"/>
              </a:rPr>
              <a:t>		</a:t>
            </a:r>
          </a:p>
          <a:p>
            <a:r>
              <a:rPr lang="en-US" sz="800">
                <a:latin typeface="Courier New" panose="02070309020205020404" pitchFamily="49" charset="0"/>
                <a:cs typeface="Courier New" panose="02070309020205020404" pitchFamily="49" charset="0"/>
              </a:rPr>
              <a:t>Person cow = CopyOnWrite.wrap(p, Person.class);</a:t>
            </a:r>
          </a:p>
          <a:p>
            <a:endParaRPr lang="en-US" sz="80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839641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4" grpId="0" animBg="1"/>
      <p:bldP spid="15" grpId="0" animBg="1"/>
      <p:bldP spid="16" grpId="0" animBg="1"/>
      <p:bldP spid="1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03262-2E43-958B-9DF2-295CB392C05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7F9A379-1AF9-4A24-AB46-4C69E9BA519B}"/>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95B19B28-8173-70AD-4E5C-139CB892799A}"/>
              </a:ext>
            </a:extLst>
          </p:cNvPr>
          <p:cNvSpPr>
            <a:spLocks noGrp="1"/>
          </p:cNvSpPr>
          <p:nvPr>
            <p:ph type="sldNum" sz="quarter" idx="12"/>
          </p:nvPr>
        </p:nvSpPr>
        <p:spPr/>
        <p:txBody>
          <a:bodyPr/>
          <a:lstStyle/>
          <a:p>
            <a:fld id="{23D81C8F-CB39-4E4D-98E4-8C3FEDF75126}" type="slidenum">
              <a:rPr lang="en-US" smtClean="0"/>
              <a:t>17</a:t>
            </a:fld>
            <a:endParaRPr lang="en-US"/>
          </a:p>
        </p:txBody>
      </p:sp>
      <p:sp>
        <p:nvSpPr>
          <p:cNvPr id="7" name="TextBox 6">
            <a:extLst>
              <a:ext uri="{FF2B5EF4-FFF2-40B4-BE49-F238E27FC236}">
                <a16:creationId xmlns:a16="http://schemas.microsoft.com/office/drawing/2014/main" id="{B0690031-58FA-CEFF-B369-E5ACFB90058D}"/>
              </a:ext>
            </a:extLst>
          </p:cNvPr>
          <p:cNvSpPr txBox="1"/>
          <p:nvPr/>
        </p:nvSpPr>
        <p:spPr>
          <a:xfrm>
            <a:off x="535709" y="194055"/>
            <a:ext cx="2363596" cy="369332"/>
          </a:xfrm>
          <a:prstGeom prst="rect">
            <a:avLst/>
          </a:prstGeom>
          <a:noFill/>
        </p:spPr>
        <p:txBody>
          <a:bodyPr wrap="none" rtlCol="0">
            <a:spAutoFit/>
          </a:bodyPr>
          <a:lstStyle/>
          <a:p>
            <a:r>
              <a:rPr lang="en-US" dirty="0"/>
              <a:t>Function composition</a:t>
            </a:r>
          </a:p>
        </p:txBody>
      </p:sp>
      <p:sp>
        <p:nvSpPr>
          <p:cNvPr id="8" name="TextBox 7">
            <a:extLst>
              <a:ext uri="{FF2B5EF4-FFF2-40B4-BE49-F238E27FC236}">
                <a16:creationId xmlns:a16="http://schemas.microsoft.com/office/drawing/2014/main" id="{736EF3EF-0F6A-1C52-B4B5-85679F59C54D}"/>
              </a:ext>
            </a:extLst>
          </p:cNvPr>
          <p:cNvSpPr txBox="1"/>
          <p:nvPr/>
        </p:nvSpPr>
        <p:spPr>
          <a:xfrm>
            <a:off x="314036" y="772902"/>
            <a:ext cx="10556288" cy="369332"/>
          </a:xfrm>
          <a:prstGeom prst="rect">
            <a:avLst/>
          </a:prstGeom>
          <a:noFill/>
        </p:spPr>
        <p:txBody>
          <a:bodyPr wrap="none" rtlCol="0">
            <a:spAutoFit/>
          </a:bodyPr>
          <a:lstStyle/>
          <a:p>
            <a:r>
              <a:rPr lang="en-US">
                <a:cs typeface="Courier New" panose="02070309020205020404" pitchFamily="49" charset="0"/>
              </a:rPr>
              <a:t>Function composition is a paradigm where we combine simple functions to build more complicated ones.</a:t>
            </a:r>
          </a:p>
        </p:txBody>
      </p:sp>
      <p:sp>
        <p:nvSpPr>
          <p:cNvPr id="2" name="TextBox 1">
            <a:extLst>
              <a:ext uri="{FF2B5EF4-FFF2-40B4-BE49-F238E27FC236}">
                <a16:creationId xmlns:a16="http://schemas.microsoft.com/office/drawing/2014/main" id="{E2306D85-5C71-246E-3667-733CB8C6BE92}"/>
              </a:ext>
            </a:extLst>
          </p:cNvPr>
          <p:cNvSpPr txBox="1"/>
          <p:nvPr/>
        </p:nvSpPr>
        <p:spPr>
          <a:xfrm>
            <a:off x="171862" y="1157631"/>
            <a:ext cx="5955476" cy="2554545"/>
          </a:xfrm>
          <a:prstGeom prst="rect">
            <a:avLst/>
          </a:prstGeom>
          <a:solidFill>
            <a:schemeClr val="accent4">
              <a:lumMod val="20000"/>
              <a:lumOff val="80000"/>
            </a:schemeClr>
          </a:solidFill>
        </p:spPr>
        <p:txBody>
          <a:bodyPr wrap="none" rtlCol="0">
            <a:spAutoFit/>
          </a:bodyPr>
          <a:lstStyle/>
          <a:p>
            <a:r>
              <a:rPr lang="en-US" sz="1000">
                <a:latin typeface="Courier New" panose="02070309020205020404" pitchFamily="49" charset="0"/>
                <a:cs typeface="Courier New" panose="02070309020205020404" pitchFamily="49" charset="0"/>
              </a:rPr>
              <a:t>interface Product {</a:t>
            </a:r>
          </a:p>
          <a:p>
            <a:r>
              <a:rPr lang="en-US" sz="1000">
                <a:latin typeface="Courier New" panose="02070309020205020404" pitchFamily="49" charset="0"/>
                <a:cs typeface="Courier New" panose="02070309020205020404" pitchFamily="49" charset="0"/>
              </a:rPr>
              <a:t>  name: string;</a:t>
            </a:r>
          </a:p>
          <a:p>
            <a:r>
              <a:rPr lang="en-US" sz="1000">
                <a:latin typeface="Courier New" panose="02070309020205020404" pitchFamily="49" charset="0"/>
                <a:cs typeface="Courier New" panose="02070309020205020404" pitchFamily="49" charset="0"/>
              </a:rPr>
              <a:t>  category: string;</a:t>
            </a:r>
          </a:p>
          <a:p>
            <a:r>
              <a:rPr lang="en-US" sz="1000">
                <a:latin typeface="Courier New" panose="02070309020205020404" pitchFamily="49" charset="0"/>
                <a:cs typeface="Courier New" panose="02070309020205020404" pitchFamily="49" charset="0"/>
              </a:rPr>
              <a:t>  price: number;</a:t>
            </a:r>
          </a:p>
          <a:p>
            <a:r>
              <a:rPr lang="en-US" sz="1000">
                <a:latin typeface="Courier New" panose="02070309020205020404" pitchFamily="49" charset="0"/>
                <a:cs typeface="Courier New" panose="02070309020205020404" pitchFamily="49" charset="0"/>
              </a:rPr>
              <a:t>  rating: number;</a:t>
            </a:r>
          </a:p>
          <a:p>
            <a:r>
              <a:rPr lang="en-US" sz="1000">
                <a:latin typeface="Courier New" panose="02070309020205020404" pitchFamily="49" charset="0"/>
                <a:cs typeface="Courier New" panose="02070309020205020404" pitchFamily="49" charset="0"/>
              </a:rPr>
              <a:t>}</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const products: Product[] = [</a:t>
            </a:r>
          </a:p>
          <a:p>
            <a:r>
              <a:rPr lang="en-US" sz="1000">
                <a:latin typeface="Courier New" panose="02070309020205020404" pitchFamily="49" charset="0"/>
                <a:cs typeface="Courier New" panose="02070309020205020404" pitchFamily="49" charset="0"/>
              </a:rPr>
              <a:t>  { name: 'Laptop', category: 'Electronics', price: 1000, rating: 4.5 },</a:t>
            </a:r>
          </a:p>
          <a:p>
            <a:r>
              <a:rPr lang="en-US" sz="1000">
                <a:latin typeface="Courier New" panose="02070309020205020404" pitchFamily="49" charset="0"/>
                <a:cs typeface="Courier New" panose="02070309020205020404" pitchFamily="49" charset="0"/>
              </a:rPr>
              <a:t>  { name: 'Phone', category: 'Electronics', price: 600, rating: 4.0 },</a:t>
            </a:r>
          </a:p>
          <a:p>
            <a:r>
              <a:rPr lang="en-US" sz="1000">
                <a:latin typeface="Courier New" panose="02070309020205020404" pitchFamily="49" charset="0"/>
                <a:cs typeface="Courier New" panose="02070309020205020404" pitchFamily="49" charset="0"/>
              </a:rPr>
              <a:t>  { name: 'Headphones', category: 'Accessories', price: 150, rating: 4.2 },</a:t>
            </a:r>
          </a:p>
          <a:p>
            <a:r>
              <a:rPr lang="en-US" sz="1000">
                <a:latin typeface="Courier New" panose="02070309020205020404" pitchFamily="49" charset="0"/>
                <a:cs typeface="Courier New" panose="02070309020205020404" pitchFamily="49" charset="0"/>
              </a:rPr>
              <a:t>  { name: 'Tablet', category: 'Electronics', price: 500, rating: 4.8 },</a:t>
            </a:r>
          </a:p>
          <a:p>
            <a:r>
              <a:rPr lang="en-US" sz="1000">
                <a:latin typeface="Courier New" panose="02070309020205020404" pitchFamily="49" charset="0"/>
                <a:cs typeface="Courier New" panose="02070309020205020404" pitchFamily="49" charset="0"/>
              </a:rPr>
              <a:t>  { name: 'Mouse', category: 'Accessories', price: 25, rating: 4.3 },</a:t>
            </a:r>
          </a:p>
          <a:p>
            <a:r>
              <a:rPr lang="en-US" sz="1000">
                <a:latin typeface="Courier New" panose="02070309020205020404" pitchFamily="49" charset="0"/>
                <a:cs typeface="Courier New" panose="02070309020205020404" pitchFamily="49" charset="0"/>
              </a:rPr>
              <a:t>  { name: 'Keyboard', category: 'Accessories', price: 50, rating: 4.6 },</a:t>
            </a:r>
          </a:p>
          <a:p>
            <a:r>
              <a:rPr lang="en-US" sz="1000">
                <a:latin typeface="Courier New" panose="02070309020205020404" pitchFamily="49" charset="0"/>
                <a:cs typeface="Courier New" panose="02070309020205020404" pitchFamily="49" charset="0"/>
              </a:rPr>
              <a:t>  { name: 'Joystick', category: 'Accessories', price: 35, rating: 3.9 }</a:t>
            </a:r>
          </a:p>
          <a:p>
            <a:r>
              <a:rPr lang="en-US" sz="1000">
                <a:latin typeface="Courier New" panose="02070309020205020404" pitchFamily="49" charset="0"/>
                <a:cs typeface="Courier New" panose="02070309020205020404" pitchFamily="49" charset="0"/>
              </a:rPr>
              <a:t>];</a:t>
            </a:r>
          </a:p>
        </p:txBody>
      </p:sp>
      <p:sp>
        <p:nvSpPr>
          <p:cNvPr id="4" name="TextBox 3">
            <a:extLst>
              <a:ext uri="{FF2B5EF4-FFF2-40B4-BE49-F238E27FC236}">
                <a16:creationId xmlns:a16="http://schemas.microsoft.com/office/drawing/2014/main" id="{7EBC2732-C26C-C71D-EC3F-BD89315B5BBF}"/>
              </a:ext>
            </a:extLst>
          </p:cNvPr>
          <p:cNvSpPr txBox="1"/>
          <p:nvPr/>
        </p:nvSpPr>
        <p:spPr>
          <a:xfrm>
            <a:off x="6372440" y="1351749"/>
            <a:ext cx="5339923" cy="4401205"/>
          </a:xfrm>
          <a:prstGeom prst="rect">
            <a:avLst/>
          </a:prstGeom>
          <a:solidFill>
            <a:schemeClr val="accent2">
              <a:lumMod val="20000"/>
              <a:lumOff val="80000"/>
            </a:schemeClr>
          </a:solidFill>
        </p:spPr>
        <p:txBody>
          <a:bodyPr wrap="none" rtlCol="0">
            <a:spAutoFit/>
          </a:bodyPr>
          <a:lstStyle/>
          <a:p>
            <a:r>
              <a:rPr lang="en-US" sz="1000">
                <a:latin typeface="Courier New" panose="02070309020205020404" pitchFamily="49" charset="0"/>
                <a:cs typeface="Courier New" panose="02070309020205020404" pitchFamily="49" charset="0"/>
              </a:rPr>
              <a:t>const filterByCategory = (category: string) =&gt;</a:t>
            </a:r>
          </a:p>
          <a:p>
            <a:r>
              <a:rPr lang="en-US" sz="1000">
                <a:latin typeface="Courier New" panose="02070309020205020404" pitchFamily="49" charset="0"/>
                <a:cs typeface="Courier New" panose="02070309020205020404" pitchFamily="49" charset="0"/>
              </a:rPr>
              <a:t>  (products: Product[]): Product[] =&gt;</a:t>
            </a:r>
          </a:p>
          <a:p>
            <a:r>
              <a:rPr lang="en-US" sz="1000">
                <a:latin typeface="Courier New" panose="02070309020205020404" pitchFamily="49" charset="0"/>
                <a:cs typeface="Courier New" panose="02070309020205020404" pitchFamily="49" charset="0"/>
              </a:rPr>
              <a:t>    products.filter(product =&gt; product.category === category);</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const applyDiscount = (discount: number) =&gt;</a:t>
            </a:r>
          </a:p>
          <a:p>
            <a:r>
              <a:rPr lang="en-US" sz="1000">
                <a:latin typeface="Courier New" panose="02070309020205020404" pitchFamily="49" charset="0"/>
                <a:cs typeface="Courier New" panose="02070309020205020404" pitchFamily="49" charset="0"/>
              </a:rPr>
              <a:t>  (products: Product[]): Product[] =&gt;</a:t>
            </a:r>
          </a:p>
          <a:p>
            <a:r>
              <a:rPr lang="en-US" sz="1000">
                <a:latin typeface="Courier New" panose="02070309020205020404" pitchFamily="49" charset="0"/>
                <a:cs typeface="Courier New" panose="02070309020205020404" pitchFamily="49" charset="0"/>
              </a:rPr>
              <a:t>    products.map(product =&gt; ({</a:t>
            </a:r>
          </a:p>
          <a:p>
            <a:r>
              <a:rPr lang="en-US" sz="1000">
                <a:latin typeface="Courier New" panose="02070309020205020404" pitchFamily="49" charset="0"/>
                <a:cs typeface="Courier New" panose="02070309020205020404" pitchFamily="49" charset="0"/>
              </a:rPr>
              <a:t>      ...product,</a:t>
            </a:r>
          </a:p>
          <a:p>
            <a:r>
              <a:rPr lang="en-US" sz="1000">
                <a:latin typeface="Courier New" panose="02070309020205020404" pitchFamily="49" charset="0"/>
                <a:cs typeface="Courier New" panose="02070309020205020404" pitchFamily="49" charset="0"/>
              </a:rPr>
              <a:t>      price: product.price * (1 - discount)</a:t>
            </a:r>
          </a:p>
          <a:p>
            <a:r>
              <a:rPr lang="en-US" sz="1000">
                <a:latin typeface="Courier New" panose="02070309020205020404" pitchFamily="49" charset="0"/>
                <a:cs typeface="Courier New" panose="02070309020205020404" pitchFamily="49" charset="0"/>
              </a:rPr>
              <a:t>    }));</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const sortByPrice = (ascending: boolean = true) =&gt;</a:t>
            </a:r>
          </a:p>
          <a:p>
            <a:r>
              <a:rPr lang="en-US" sz="1000">
                <a:latin typeface="Courier New" panose="02070309020205020404" pitchFamily="49" charset="0"/>
                <a:cs typeface="Courier New" panose="02070309020205020404" pitchFamily="49" charset="0"/>
              </a:rPr>
              <a:t>  (products: Product[]): Product[] =&gt; </a:t>
            </a:r>
          </a:p>
          <a:p>
            <a:r>
              <a:rPr lang="en-US" sz="1000">
                <a:latin typeface="Courier New" panose="02070309020205020404" pitchFamily="49" charset="0"/>
                <a:cs typeface="Courier New" panose="02070309020205020404" pitchFamily="49" charset="0"/>
              </a:rPr>
              <a:t>    products.sort((a, b) =&gt;</a:t>
            </a:r>
          </a:p>
          <a:p>
            <a:r>
              <a:rPr lang="en-US" sz="1000">
                <a:latin typeface="Courier New" panose="02070309020205020404" pitchFamily="49" charset="0"/>
                <a:cs typeface="Courier New" panose="02070309020205020404" pitchFamily="49" charset="0"/>
              </a:rPr>
              <a:t>      ascending ? a.price - b.price : b.price - a.price);</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const sortByRating = (ascending: boolean = true) =&gt;</a:t>
            </a:r>
          </a:p>
          <a:p>
            <a:r>
              <a:rPr lang="en-US" sz="1000">
                <a:latin typeface="Courier New" panose="02070309020205020404" pitchFamily="49" charset="0"/>
                <a:cs typeface="Courier New" panose="02070309020205020404" pitchFamily="49" charset="0"/>
              </a:rPr>
              <a:t>  (products: Product[]): Product[] =&gt; </a:t>
            </a:r>
          </a:p>
          <a:p>
            <a:r>
              <a:rPr lang="en-US" sz="1000">
                <a:latin typeface="Courier New" panose="02070309020205020404" pitchFamily="49" charset="0"/>
                <a:cs typeface="Courier New" panose="02070309020205020404" pitchFamily="49" charset="0"/>
              </a:rPr>
              <a:t>    products.sort((a, b) =&gt;</a:t>
            </a:r>
          </a:p>
          <a:p>
            <a:r>
              <a:rPr lang="en-US" sz="1000">
                <a:latin typeface="Courier New" panose="02070309020205020404" pitchFamily="49" charset="0"/>
                <a:cs typeface="Courier New" panose="02070309020205020404" pitchFamily="49" charset="0"/>
              </a:rPr>
              <a:t>      ascending ? a.rating - b.rating : b.rating - a.rating);</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const paginate = (page: number, itemsPerPage: number) =&gt;</a:t>
            </a:r>
          </a:p>
          <a:p>
            <a:r>
              <a:rPr lang="en-US" sz="1000">
                <a:latin typeface="Courier New" panose="02070309020205020404" pitchFamily="49" charset="0"/>
                <a:cs typeface="Courier New" panose="02070309020205020404" pitchFamily="49" charset="0"/>
              </a:rPr>
              <a:t>  (products: Product[]): Product[] =&gt; </a:t>
            </a:r>
          </a:p>
          <a:p>
            <a:r>
              <a:rPr lang="en-US" sz="1000">
                <a:latin typeface="Courier New" panose="02070309020205020404" pitchFamily="49" charset="0"/>
                <a:cs typeface="Courier New" panose="02070309020205020404" pitchFamily="49" charset="0"/>
              </a:rPr>
              <a:t>    products.slice(page * itemsPerPage, (page + 1) * itemsPerPage);</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const compose = &lt;T&gt;(...functions: ((input: T) =&gt; T)[]):</a:t>
            </a:r>
          </a:p>
          <a:p>
            <a:r>
              <a:rPr lang="en-US" sz="1000">
                <a:latin typeface="Courier New" panose="02070309020205020404" pitchFamily="49" charset="0"/>
                <a:cs typeface="Courier New" panose="02070309020205020404" pitchFamily="49" charset="0"/>
              </a:rPr>
              <a:t>  (input: T) =&gt; T =&gt;</a:t>
            </a:r>
          </a:p>
          <a:p>
            <a:r>
              <a:rPr lang="en-US" sz="1000">
                <a:latin typeface="Courier New" panose="02070309020205020404" pitchFamily="49" charset="0"/>
                <a:cs typeface="Courier New" panose="02070309020205020404" pitchFamily="49" charset="0"/>
              </a:rPr>
              <a:t>    (input: T) =&gt; functions.reduce((acc, fn) =&gt; fn(acc), input);</a:t>
            </a:r>
          </a:p>
        </p:txBody>
      </p:sp>
      <p:sp>
        <p:nvSpPr>
          <p:cNvPr id="5" name="TextBox 4">
            <a:extLst>
              <a:ext uri="{FF2B5EF4-FFF2-40B4-BE49-F238E27FC236}">
                <a16:creationId xmlns:a16="http://schemas.microsoft.com/office/drawing/2014/main" id="{EDFAA96B-14FD-7950-71DE-5D63C24FA562}"/>
              </a:ext>
            </a:extLst>
          </p:cNvPr>
          <p:cNvSpPr txBox="1"/>
          <p:nvPr/>
        </p:nvSpPr>
        <p:spPr>
          <a:xfrm>
            <a:off x="171862" y="3801623"/>
            <a:ext cx="2835565" cy="2862322"/>
          </a:xfrm>
          <a:prstGeom prst="rect">
            <a:avLst/>
          </a:prstGeom>
          <a:noFill/>
        </p:spPr>
        <p:txBody>
          <a:bodyPr wrap="square" rtlCol="0">
            <a:spAutoFit/>
          </a:bodyPr>
          <a:lstStyle/>
          <a:p>
            <a:r>
              <a:rPr lang="en-US" sz="1000">
                <a:latin typeface="Courier New" panose="02070309020205020404" pitchFamily="49" charset="0"/>
                <a:cs typeface="Courier New" panose="02070309020205020404" pitchFamily="49" charset="0"/>
              </a:rPr>
              <a:t>compose(</a:t>
            </a:r>
          </a:p>
          <a:p>
            <a:r>
              <a:rPr lang="en-US" sz="1000">
                <a:latin typeface="Courier New" panose="02070309020205020404" pitchFamily="49" charset="0"/>
                <a:cs typeface="Courier New" panose="02070309020205020404" pitchFamily="49" charset="0"/>
              </a:rPr>
              <a:t>  sortByRating(),</a:t>
            </a:r>
          </a:p>
          <a:p>
            <a:r>
              <a:rPr lang="en-US" sz="1000">
                <a:latin typeface="Courier New" panose="02070309020205020404" pitchFamily="49" charset="0"/>
                <a:cs typeface="Courier New" panose="02070309020205020404" pitchFamily="49" charset="0"/>
              </a:rPr>
              <a:t>  applyDiscount(0.1),</a:t>
            </a:r>
          </a:p>
          <a:p>
            <a:r>
              <a:rPr lang="en-US" sz="1000">
                <a:latin typeface="Courier New" panose="02070309020205020404" pitchFamily="49" charset="0"/>
                <a:cs typeface="Courier New" panose="02070309020205020404" pitchFamily="49" charset="0"/>
              </a:rPr>
              <a:t>  filterByCategory('Electronics’),</a:t>
            </a:r>
          </a:p>
          <a:p>
            <a:r>
              <a:rPr lang="en-US" sz="1000">
                <a:latin typeface="Courier New" panose="02070309020205020404" pitchFamily="49" charset="0"/>
                <a:cs typeface="Courier New" panose="02070309020205020404" pitchFamily="49" charset="0"/>
              </a:rPr>
              <a:t>  paginate(0, 2)</a:t>
            </a:r>
          </a:p>
          <a:p>
            <a:r>
              <a:rPr lang="en-US" sz="1000">
                <a:latin typeface="Courier New" panose="02070309020205020404" pitchFamily="49" charset="0"/>
                <a:cs typeface="Courier New" panose="02070309020205020404" pitchFamily="49" charset="0"/>
              </a:rPr>
              <a:t>)(products)</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a:t>
            </a:r>
          </a:p>
          <a:p>
            <a:r>
              <a:rPr lang="en-US" sz="1000">
                <a:latin typeface="Courier New" panose="02070309020205020404" pitchFamily="49" charset="0"/>
                <a:cs typeface="Courier New" panose="02070309020205020404" pitchFamily="49" charset="0"/>
              </a:rPr>
              <a:t>  "name": "Phone",</a:t>
            </a:r>
          </a:p>
          <a:p>
            <a:r>
              <a:rPr lang="en-US" sz="1000">
                <a:latin typeface="Courier New" panose="02070309020205020404" pitchFamily="49" charset="0"/>
                <a:cs typeface="Courier New" panose="02070309020205020404" pitchFamily="49" charset="0"/>
              </a:rPr>
              <a:t>  "category": "Electronics",</a:t>
            </a:r>
          </a:p>
          <a:p>
            <a:r>
              <a:rPr lang="en-US" sz="1000">
                <a:latin typeface="Courier New" panose="02070309020205020404" pitchFamily="49" charset="0"/>
                <a:cs typeface="Courier New" panose="02070309020205020404" pitchFamily="49" charset="0"/>
              </a:rPr>
              <a:t>  "price": 540,</a:t>
            </a:r>
          </a:p>
          <a:p>
            <a:r>
              <a:rPr lang="en-US" sz="1000">
                <a:latin typeface="Courier New" panose="02070309020205020404" pitchFamily="49" charset="0"/>
                <a:cs typeface="Courier New" panose="02070309020205020404" pitchFamily="49" charset="0"/>
              </a:rPr>
              <a:t>  "rating": 4</a:t>
            </a:r>
          </a:p>
          <a:p>
            <a:r>
              <a:rPr lang="en-US" sz="1000">
                <a:latin typeface="Courier New" panose="02070309020205020404" pitchFamily="49" charset="0"/>
                <a:cs typeface="Courier New" panose="02070309020205020404" pitchFamily="49" charset="0"/>
              </a:rPr>
              <a:t>}, {</a:t>
            </a:r>
          </a:p>
          <a:p>
            <a:r>
              <a:rPr lang="en-US" sz="1000">
                <a:latin typeface="Courier New" panose="02070309020205020404" pitchFamily="49" charset="0"/>
                <a:cs typeface="Courier New" panose="02070309020205020404" pitchFamily="49" charset="0"/>
              </a:rPr>
              <a:t>  "name": "Laptop",</a:t>
            </a:r>
          </a:p>
          <a:p>
            <a:r>
              <a:rPr lang="en-US" sz="1000">
                <a:latin typeface="Courier New" panose="02070309020205020404" pitchFamily="49" charset="0"/>
                <a:cs typeface="Courier New" panose="02070309020205020404" pitchFamily="49" charset="0"/>
              </a:rPr>
              <a:t>  "category": "Electronics",</a:t>
            </a:r>
          </a:p>
          <a:p>
            <a:r>
              <a:rPr lang="en-US" sz="1000">
                <a:latin typeface="Courier New" panose="02070309020205020404" pitchFamily="49" charset="0"/>
                <a:cs typeface="Courier New" panose="02070309020205020404" pitchFamily="49" charset="0"/>
              </a:rPr>
              <a:t>  "price": 900,</a:t>
            </a:r>
          </a:p>
          <a:p>
            <a:r>
              <a:rPr lang="en-US" sz="1000">
                <a:latin typeface="Courier New" panose="02070309020205020404" pitchFamily="49" charset="0"/>
                <a:cs typeface="Courier New" panose="02070309020205020404" pitchFamily="49" charset="0"/>
              </a:rPr>
              <a:t>  "rating": 4.5</a:t>
            </a:r>
          </a:p>
          <a:p>
            <a:r>
              <a:rPr lang="en-US" sz="1000">
                <a:latin typeface="Courier New" panose="02070309020205020404" pitchFamily="49" charset="0"/>
                <a:cs typeface="Courier New" panose="02070309020205020404" pitchFamily="49" charset="0"/>
              </a:rPr>
              <a:t>}]</a:t>
            </a:r>
          </a:p>
        </p:txBody>
      </p:sp>
      <p:sp>
        <p:nvSpPr>
          <p:cNvPr id="9" name="TextBox 8">
            <a:extLst>
              <a:ext uri="{FF2B5EF4-FFF2-40B4-BE49-F238E27FC236}">
                <a16:creationId xmlns:a16="http://schemas.microsoft.com/office/drawing/2014/main" id="{53DB2C00-EACD-2620-92CB-50A0B94DD05D}"/>
              </a:ext>
            </a:extLst>
          </p:cNvPr>
          <p:cNvSpPr txBox="1"/>
          <p:nvPr/>
        </p:nvSpPr>
        <p:spPr>
          <a:xfrm>
            <a:off x="3308275" y="3801623"/>
            <a:ext cx="2835565" cy="2708434"/>
          </a:xfrm>
          <a:prstGeom prst="rect">
            <a:avLst/>
          </a:prstGeom>
          <a:noFill/>
        </p:spPr>
        <p:txBody>
          <a:bodyPr wrap="square" rtlCol="0">
            <a:spAutoFit/>
          </a:bodyPr>
          <a:lstStyle/>
          <a:p>
            <a:r>
              <a:rPr lang="en-US" sz="1000">
                <a:latin typeface="Courier New" panose="02070309020205020404" pitchFamily="49" charset="0"/>
                <a:cs typeface="Courier New" panose="02070309020205020404" pitchFamily="49" charset="0"/>
              </a:rPr>
              <a:t>compose(</a:t>
            </a:r>
          </a:p>
          <a:p>
            <a:r>
              <a:rPr lang="en-US" sz="1000">
                <a:latin typeface="Courier New" panose="02070309020205020404" pitchFamily="49" charset="0"/>
                <a:cs typeface="Courier New" panose="02070309020205020404" pitchFamily="49" charset="0"/>
              </a:rPr>
              <a:t>  sortByPrice(false),</a:t>
            </a:r>
          </a:p>
          <a:p>
            <a:r>
              <a:rPr lang="en-US" sz="1000">
                <a:latin typeface="Courier New" panose="02070309020205020404" pitchFamily="49" charset="0"/>
                <a:cs typeface="Courier New" panose="02070309020205020404" pitchFamily="49" charset="0"/>
              </a:rPr>
              <a:t>  filterByCategory('Accessories'),</a:t>
            </a:r>
          </a:p>
          <a:p>
            <a:r>
              <a:rPr lang="en-US" sz="1000">
                <a:latin typeface="Courier New" panose="02070309020205020404" pitchFamily="49" charset="0"/>
                <a:cs typeface="Courier New" panose="02070309020205020404" pitchFamily="49" charset="0"/>
              </a:rPr>
              <a:t>  paginate(1, 2)</a:t>
            </a:r>
          </a:p>
          <a:p>
            <a:r>
              <a:rPr lang="en-US" sz="1000">
                <a:latin typeface="Courier New" panose="02070309020205020404" pitchFamily="49" charset="0"/>
                <a:cs typeface="Courier New" panose="02070309020205020404" pitchFamily="49" charset="0"/>
              </a:rPr>
              <a:t>)(products)</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a:t>
            </a:r>
          </a:p>
          <a:p>
            <a:r>
              <a:rPr lang="en-US" sz="1000">
                <a:latin typeface="Courier New" panose="02070309020205020404" pitchFamily="49" charset="0"/>
                <a:cs typeface="Courier New" panose="02070309020205020404" pitchFamily="49" charset="0"/>
              </a:rPr>
              <a:t>  "name": "Joystick",</a:t>
            </a:r>
          </a:p>
          <a:p>
            <a:r>
              <a:rPr lang="en-US" sz="1000">
                <a:latin typeface="Courier New" panose="02070309020205020404" pitchFamily="49" charset="0"/>
                <a:cs typeface="Courier New" panose="02070309020205020404" pitchFamily="49" charset="0"/>
              </a:rPr>
              <a:t>  "category": "Accessories",</a:t>
            </a:r>
          </a:p>
          <a:p>
            <a:r>
              <a:rPr lang="en-US" sz="1000">
                <a:latin typeface="Courier New" panose="02070309020205020404" pitchFamily="49" charset="0"/>
                <a:cs typeface="Courier New" panose="02070309020205020404" pitchFamily="49" charset="0"/>
              </a:rPr>
              <a:t>  "price": 35,</a:t>
            </a:r>
          </a:p>
          <a:p>
            <a:r>
              <a:rPr lang="en-US" sz="1000">
                <a:latin typeface="Courier New" panose="02070309020205020404" pitchFamily="49" charset="0"/>
                <a:cs typeface="Courier New" panose="02070309020205020404" pitchFamily="49" charset="0"/>
              </a:rPr>
              <a:t>  "rating": 3.9</a:t>
            </a:r>
          </a:p>
          <a:p>
            <a:r>
              <a:rPr lang="en-US" sz="1000">
                <a:latin typeface="Courier New" panose="02070309020205020404" pitchFamily="49" charset="0"/>
                <a:cs typeface="Courier New" panose="02070309020205020404" pitchFamily="49" charset="0"/>
              </a:rPr>
              <a:t>}, {</a:t>
            </a:r>
          </a:p>
          <a:p>
            <a:r>
              <a:rPr lang="en-US" sz="1000">
                <a:latin typeface="Courier New" panose="02070309020205020404" pitchFamily="49" charset="0"/>
                <a:cs typeface="Courier New" panose="02070309020205020404" pitchFamily="49" charset="0"/>
              </a:rPr>
              <a:t>  "name": "Mouse",</a:t>
            </a:r>
          </a:p>
          <a:p>
            <a:r>
              <a:rPr lang="en-US" sz="1000">
                <a:latin typeface="Courier New" panose="02070309020205020404" pitchFamily="49" charset="0"/>
                <a:cs typeface="Courier New" panose="02070309020205020404" pitchFamily="49" charset="0"/>
              </a:rPr>
              <a:t>  "category": "Accessories",</a:t>
            </a:r>
          </a:p>
          <a:p>
            <a:r>
              <a:rPr lang="en-US" sz="1000">
                <a:latin typeface="Courier New" panose="02070309020205020404" pitchFamily="49" charset="0"/>
                <a:cs typeface="Courier New" panose="02070309020205020404" pitchFamily="49" charset="0"/>
              </a:rPr>
              <a:t>  "price": 25,</a:t>
            </a:r>
          </a:p>
          <a:p>
            <a:r>
              <a:rPr lang="en-US" sz="1000">
                <a:latin typeface="Courier New" panose="02070309020205020404" pitchFamily="49" charset="0"/>
                <a:cs typeface="Courier New" panose="02070309020205020404" pitchFamily="49" charset="0"/>
              </a:rPr>
              <a:t>  "rating": 4.3</a:t>
            </a:r>
          </a:p>
          <a:p>
            <a:r>
              <a:rPr lang="en-US" sz="100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553020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92158-471C-25E6-AC59-A3F96CB2357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93BC92B-1113-6F0F-86CB-9346C2FDE4DE}"/>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DE74ED8A-280C-74CD-FE9F-19220C5007BE}"/>
              </a:ext>
            </a:extLst>
          </p:cNvPr>
          <p:cNvSpPr>
            <a:spLocks noGrp="1"/>
          </p:cNvSpPr>
          <p:nvPr>
            <p:ph type="sldNum" sz="quarter" idx="12"/>
          </p:nvPr>
        </p:nvSpPr>
        <p:spPr/>
        <p:txBody>
          <a:bodyPr/>
          <a:lstStyle/>
          <a:p>
            <a:fld id="{23D81C8F-CB39-4E4D-98E4-8C3FEDF75126}" type="slidenum">
              <a:rPr lang="en-US" smtClean="0"/>
              <a:t>18</a:t>
            </a:fld>
            <a:endParaRPr lang="en-US"/>
          </a:p>
        </p:txBody>
      </p:sp>
      <p:sp>
        <p:nvSpPr>
          <p:cNvPr id="7" name="TextBox 6">
            <a:extLst>
              <a:ext uri="{FF2B5EF4-FFF2-40B4-BE49-F238E27FC236}">
                <a16:creationId xmlns:a16="http://schemas.microsoft.com/office/drawing/2014/main" id="{F7712440-0B9F-D056-7F09-FB8398955606}"/>
              </a:ext>
            </a:extLst>
          </p:cNvPr>
          <p:cNvSpPr txBox="1"/>
          <p:nvPr/>
        </p:nvSpPr>
        <p:spPr>
          <a:xfrm>
            <a:off x="535709" y="194055"/>
            <a:ext cx="2551981" cy="369332"/>
          </a:xfrm>
          <a:prstGeom prst="rect">
            <a:avLst/>
          </a:prstGeom>
          <a:noFill/>
        </p:spPr>
        <p:txBody>
          <a:bodyPr wrap="none" rtlCol="0">
            <a:spAutoFit/>
          </a:bodyPr>
          <a:lstStyle/>
          <a:p>
            <a:r>
              <a:rPr lang="en-US" dirty="0"/>
              <a:t>Alternate way - Currying</a:t>
            </a:r>
          </a:p>
        </p:txBody>
      </p:sp>
      <p:sp>
        <p:nvSpPr>
          <p:cNvPr id="8" name="TextBox 7">
            <a:extLst>
              <a:ext uri="{FF2B5EF4-FFF2-40B4-BE49-F238E27FC236}">
                <a16:creationId xmlns:a16="http://schemas.microsoft.com/office/drawing/2014/main" id="{0DD44B51-4D50-C97D-25B7-0464FA55176B}"/>
              </a:ext>
            </a:extLst>
          </p:cNvPr>
          <p:cNvSpPr txBox="1"/>
          <p:nvPr/>
        </p:nvSpPr>
        <p:spPr>
          <a:xfrm>
            <a:off x="314036" y="772902"/>
            <a:ext cx="11639533" cy="646331"/>
          </a:xfrm>
          <a:prstGeom prst="rect">
            <a:avLst/>
          </a:prstGeom>
          <a:noFill/>
        </p:spPr>
        <p:txBody>
          <a:bodyPr wrap="none" rtlCol="0">
            <a:spAutoFit/>
          </a:bodyPr>
          <a:lstStyle/>
          <a:p>
            <a:r>
              <a:rPr lang="en-US">
                <a:cs typeface="Courier New" panose="02070309020205020404" pitchFamily="49" charset="0"/>
              </a:rPr>
              <a:t>Currying is a paradigm where we translate a function that takes multiple argoments in a sequence of functions, each</a:t>
            </a:r>
          </a:p>
          <a:p>
            <a:r>
              <a:rPr lang="en-US">
                <a:cs typeface="Courier New" panose="02070309020205020404" pitchFamily="49" charset="0"/>
              </a:rPr>
              <a:t>one taking one argument at a time.</a:t>
            </a:r>
          </a:p>
        </p:txBody>
      </p:sp>
      <p:sp>
        <p:nvSpPr>
          <p:cNvPr id="4" name="TextBox 3">
            <a:extLst>
              <a:ext uri="{FF2B5EF4-FFF2-40B4-BE49-F238E27FC236}">
                <a16:creationId xmlns:a16="http://schemas.microsoft.com/office/drawing/2014/main" id="{199F8DBC-A184-2055-A71D-1B75B521CDD3}"/>
              </a:ext>
            </a:extLst>
          </p:cNvPr>
          <p:cNvSpPr txBox="1"/>
          <p:nvPr/>
        </p:nvSpPr>
        <p:spPr>
          <a:xfrm>
            <a:off x="314036" y="1628748"/>
            <a:ext cx="6878806" cy="2862322"/>
          </a:xfrm>
          <a:prstGeom prst="rect">
            <a:avLst/>
          </a:prstGeom>
          <a:solidFill>
            <a:schemeClr val="accent2">
              <a:lumMod val="20000"/>
              <a:lumOff val="80000"/>
            </a:schemeClr>
          </a:solidFill>
        </p:spPr>
        <p:txBody>
          <a:bodyPr wrap="none" rtlCol="0">
            <a:spAutoFit/>
          </a:bodyPr>
          <a:lstStyle/>
          <a:p>
            <a:r>
              <a:rPr lang="en-US" sz="1200">
                <a:latin typeface="Courier New" panose="02070309020205020404" pitchFamily="49" charset="0"/>
                <a:cs typeface="Courier New" panose="02070309020205020404" pitchFamily="49" charset="0"/>
              </a:rPr>
              <a:t>const curried =</a:t>
            </a:r>
          </a:p>
          <a:p>
            <a:r>
              <a:rPr lang="en-US" sz="1200">
                <a:latin typeface="Courier New" panose="02070309020205020404" pitchFamily="49" charset="0"/>
                <a:cs typeface="Courier New" panose="02070309020205020404" pitchFamily="49" charset="0"/>
              </a:rPr>
              <a:t>  (ratingSortAscending: boolean = true) =&gt;</a:t>
            </a:r>
          </a:p>
          <a:p>
            <a:r>
              <a:rPr lang="en-US" sz="1200">
                <a:latin typeface="Courier New" panose="02070309020205020404" pitchFamily="49" charset="0"/>
                <a:cs typeface="Courier New" panose="02070309020205020404" pitchFamily="49" charset="0"/>
              </a:rPr>
              <a:t>    (category: string) =&gt;</a:t>
            </a:r>
          </a:p>
          <a:p>
            <a:r>
              <a:rPr lang="en-US" sz="1200">
                <a:latin typeface="Courier New" panose="02070309020205020404" pitchFamily="49" charset="0"/>
                <a:cs typeface="Courier New" panose="02070309020205020404" pitchFamily="49" charset="0"/>
              </a:rPr>
              <a:t>      (discount: number) =&gt;</a:t>
            </a:r>
          </a:p>
          <a:p>
            <a:r>
              <a:rPr lang="en-US" sz="1200">
                <a:latin typeface="Courier New" panose="02070309020205020404" pitchFamily="49" charset="0"/>
                <a:cs typeface="Courier New" panose="02070309020205020404" pitchFamily="49" charset="0"/>
              </a:rPr>
              <a:t>        (page: number, itemsPerPage: number) =&gt; (products: Product[]) =&gt;</a:t>
            </a:r>
          </a:p>
          <a:p>
            <a:endParaRPr lang="en-US" sz="1200">
              <a:latin typeface="Courier New" panose="02070309020205020404" pitchFamily="49" charset="0"/>
              <a:cs typeface="Courier New" panose="02070309020205020404" pitchFamily="49" charset="0"/>
            </a:endParaRPr>
          </a:p>
          <a:p>
            <a:r>
              <a:rPr lang="en-US" sz="1200">
                <a:latin typeface="Courier New" panose="02070309020205020404" pitchFamily="49" charset="0"/>
                <a:cs typeface="Courier New" panose="02070309020205020404" pitchFamily="49" charset="0"/>
              </a:rPr>
              <a:t>  paginate(page, itemsPerPage)(</a:t>
            </a:r>
          </a:p>
          <a:p>
            <a:r>
              <a:rPr lang="en-US" sz="1200">
                <a:latin typeface="Courier New" panose="02070309020205020404" pitchFamily="49" charset="0"/>
                <a:cs typeface="Courier New" panose="02070309020205020404" pitchFamily="49" charset="0"/>
              </a:rPr>
              <a:t>    filterByCategory(category)(</a:t>
            </a:r>
          </a:p>
          <a:p>
            <a:r>
              <a:rPr lang="en-US" sz="1200">
                <a:latin typeface="Courier New" panose="02070309020205020404" pitchFamily="49" charset="0"/>
                <a:cs typeface="Courier New" panose="02070309020205020404" pitchFamily="49" charset="0"/>
              </a:rPr>
              <a:t>      applyDiscount(discount)(</a:t>
            </a:r>
          </a:p>
          <a:p>
            <a:r>
              <a:rPr lang="en-US" sz="1200">
                <a:latin typeface="Courier New" panose="02070309020205020404" pitchFamily="49" charset="0"/>
                <a:cs typeface="Courier New" panose="02070309020205020404" pitchFamily="49" charset="0"/>
              </a:rPr>
              <a:t>        sortByRating(ratingSortAscending)(</a:t>
            </a:r>
          </a:p>
          <a:p>
            <a:r>
              <a:rPr lang="en-US" sz="1200">
                <a:latin typeface="Courier New" panose="02070309020205020404" pitchFamily="49" charset="0"/>
                <a:cs typeface="Courier New" panose="02070309020205020404" pitchFamily="49" charset="0"/>
              </a:rPr>
              <a:t>          products</a:t>
            </a:r>
          </a:p>
          <a:p>
            <a:r>
              <a:rPr lang="en-US" sz="1200">
                <a:latin typeface="Courier New" panose="02070309020205020404" pitchFamily="49" charset="0"/>
                <a:cs typeface="Courier New" panose="02070309020205020404" pitchFamily="49" charset="0"/>
              </a:rPr>
              <a:t>        )</a:t>
            </a:r>
          </a:p>
          <a:p>
            <a:r>
              <a:rPr lang="en-US" sz="1200">
                <a:latin typeface="Courier New" panose="02070309020205020404" pitchFamily="49" charset="0"/>
                <a:cs typeface="Courier New" panose="02070309020205020404" pitchFamily="49" charset="0"/>
              </a:rPr>
              <a:t>      )</a:t>
            </a:r>
          </a:p>
          <a:p>
            <a:r>
              <a:rPr lang="en-US" sz="1200">
                <a:latin typeface="Courier New" panose="02070309020205020404" pitchFamily="49" charset="0"/>
                <a:cs typeface="Courier New" panose="02070309020205020404" pitchFamily="49" charset="0"/>
              </a:rPr>
              <a:t>    )</a:t>
            </a:r>
          </a:p>
          <a:p>
            <a:r>
              <a:rPr lang="en-US" sz="1200">
                <a:latin typeface="Courier New" panose="02070309020205020404" pitchFamily="49" charset="0"/>
                <a:cs typeface="Courier New" panose="02070309020205020404" pitchFamily="49" charset="0"/>
              </a:rPr>
              <a:t>  );</a:t>
            </a:r>
          </a:p>
        </p:txBody>
      </p:sp>
      <p:sp>
        <p:nvSpPr>
          <p:cNvPr id="10" name="TextBox 9">
            <a:extLst>
              <a:ext uri="{FF2B5EF4-FFF2-40B4-BE49-F238E27FC236}">
                <a16:creationId xmlns:a16="http://schemas.microsoft.com/office/drawing/2014/main" id="{8BFA5712-21ED-C034-AD21-8DA6FA23EBDE}"/>
              </a:ext>
            </a:extLst>
          </p:cNvPr>
          <p:cNvSpPr txBox="1"/>
          <p:nvPr/>
        </p:nvSpPr>
        <p:spPr>
          <a:xfrm>
            <a:off x="7418810" y="3429000"/>
            <a:ext cx="4368504" cy="2492990"/>
          </a:xfrm>
          <a:prstGeom prst="rect">
            <a:avLst/>
          </a:prstGeom>
          <a:noFill/>
        </p:spPr>
        <p:txBody>
          <a:bodyPr wrap="none" rtlCol="0">
            <a:spAutoFit/>
          </a:bodyPr>
          <a:lstStyle/>
          <a:p>
            <a:r>
              <a:rPr lang="en-US" sz="1200" b="1">
                <a:solidFill>
                  <a:srgbClr val="0070C0"/>
                </a:solidFill>
                <a:latin typeface="Courier New" panose="02070309020205020404" pitchFamily="49" charset="0"/>
                <a:cs typeface="Courier New" panose="02070309020205020404" pitchFamily="49" charset="0"/>
              </a:rPr>
              <a:t>curried()('Electronics')(0.1)(0, 2)</a:t>
            </a:r>
            <a:r>
              <a:rPr lang="en-US" sz="1200">
                <a:latin typeface="Courier New" panose="02070309020205020404" pitchFamily="49" charset="0"/>
                <a:cs typeface="Courier New" panose="02070309020205020404" pitchFamily="49" charset="0"/>
              </a:rPr>
              <a:t>(products)</a:t>
            </a:r>
          </a:p>
          <a:p>
            <a:endParaRPr lang="en-US" sz="1200">
              <a:latin typeface="Courier New" panose="02070309020205020404" pitchFamily="49" charset="0"/>
              <a:cs typeface="Courier New" panose="02070309020205020404" pitchFamily="49" charset="0"/>
            </a:endParaRPr>
          </a:p>
          <a:p>
            <a:r>
              <a:rPr lang="en-US" sz="1200">
                <a:latin typeface="Courier New" panose="02070309020205020404" pitchFamily="49" charset="0"/>
                <a:cs typeface="Courier New" panose="02070309020205020404" pitchFamily="49" charset="0"/>
              </a:rPr>
              <a:t>[{</a:t>
            </a:r>
          </a:p>
          <a:p>
            <a:r>
              <a:rPr lang="en-US" sz="1200">
                <a:latin typeface="Courier New" panose="02070309020205020404" pitchFamily="49" charset="0"/>
                <a:cs typeface="Courier New" panose="02070309020205020404" pitchFamily="49" charset="0"/>
              </a:rPr>
              <a:t>  "name": "Phone",</a:t>
            </a:r>
          </a:p>
          <a:p>
            <a:r>
              <a:rPr lang="en-US" sz="1200">
                <a:latin typeface="Courier New" panose="02070309020205020404" pitchFamily="49" charset="0"/>
                <a:cs typeface="Courier New" panose="02070309020205020404" pitchFamily="49" charset="0"/>
              </a:rPr>
              <a:t>  "category": "Electronics",</a:t>
            </a:r>
          </a:p>
          <a:p>
            <a:r>
              <a:rPr lang="en-US" sz="1200">
                <a:latin typeface="Courier New" panose="02070309020205020404" pitchFamily="49" charset="0"/>
                <a:cs typeface="Courier New" panose="02070309020205020404" pitchFamily="49" charset="0"/>
              </a:rPr>
              <a:t>  "price": 540,</a:t>
            </a:r>
          </a:p>
          <a:p>
            <a:r>
              <a:rPr lang="en-US" sz="1200">
                <a:latin typeface="Courier New" panose="02070309020205020404" pitchFamily="49" charset="0"/>
                <a:cs typeface="Courier New" panose="02070309020205020404" pitchFamily="49" charset="0"/>
              </a:rPr>
              <a:t>  "rating": 4</a:t>
            </a:r>
          </a:p>
          <a:p>
            <a:r>
              <a:rPr lang="en-US" sz="1200">
                <a:latin typeface="Courier New" panose="02070309020205020404" pitchFamily="49" charset="0"/>
                <a:cs typeface="Courier New" panose="02070309020205020404" pitchFamily="49" charset="0"/>
              </a:rPr>
              <a:t>}, {</a:t>
            </a:r>
          </a:p>
          <a:p>
            <a:r>
              <a:rPr lang="en-US" sz="1200">
                <a:latin typeface="Courier New" panose="02070309020205020404" pitchFamily="49" charset="0"/>
                <a:cs typeface="Courier New" panose="02070309020205020404" pitchFamily="49" charset="0"/>
              </a:rPr>
              <a:t>  "name": "Laptop",</a:t>
            </a:r>
          </a:p>
          <a:p>
            <a:r>
              <a:rPr lang="en-US" sz="1200">
                <a:latin typeface="Courier New" panose="02070309020205020404" pitchFamily="49" charset="0"/>
                <a:cs typeface="Courier New" panose="02070309020205020404" pitchFamily="49" charset="0"/>
              </a:rPr>
              <a:t>  "category": "Electronics",</a:t>
            </a:r>
          </a:p>
          <a:p>
            <a:r>
              <a:rPr lang="en-US" sz="1200">
                <a:latin typeface="Courier New" panose="02070309020205020404" pitchFamily="49" charset="0"/>
                <a:cs typeface="Courier New" panose="02070309020205020404" pitchFamily="49" charset="0"/>
              </a:rPr>
              <a:t>  "price": 900,</a:t>
            </a:r>
          </a:p>
          <a:p>
            <a:r>
              <a:rPr lang="en-US" sz="1200">
                <a:latin typeface="Courier New" panose="02070309020205020404" pitchFamily="49" charset="0"/>
                <a:cs typeface="Courier New" panose="02070309020205020404" pitchFamily="49" charset="0"/>
              </a:rPr>
              <a:t>  "rating": 4.5</a:t>
            </a:r>
          </a:p>
          <a:p>
            <a:r>
              <a:rPr lang="en-US" sz="1200">
                <a:latin typeface="Courier New" panose="02070309020205020404" pitchFamily="49" charset="0"/>
                <a:cs typeface="Courier New" panose="02070309020205020404" pitchFamily="49" charset="0"/>
              </a:rPr>
              <a:t>}]</a:t>
            </a:r>
          </a:p>
        </p:txBody>
      </p:sp>
      <p:sp>
        <p:nvSpPr>
          <p:cNvPr id="2" name="TextBox 1">
            <a:extLst>
              <a:ext uri="{FF2B5EF4-FFF2-40B4-BE49-F238E27FC236}">
                <a16:creationId xmlns:a16="http://schemas.microsoft.com/office/drawing/2014/main" id="{683A4C63-5F98-EFE0-10DE-3D3C138AE349}"/>
              </a:ext>
            </a:extLst>
          </p:cNvPr>
          <p:cNvSpPr txBox="1"/>
          <p:nvPr/>
        </p:nvSpPr>
        <p:spPr>
          <a:xfrm>
            <a:off x="314036" y="5007775"/>
            <a:ext cx="4590474" cy="923330"/>
          </a:xfrm>
          <a:prstGeom prst="rect">
            <a:avLst/>
          </a:prstGeom>
          <a:noFill/>
        </p:spPr>
        <p:txBody>
          <a:bodyPr wrap="square" rtlCol="0">
            <a:spAutoFit/>
          </a:bodyPr>
          <a:lstStyle/>
          <a:p>
            <a:pPr marL="285750" indent="-285750">
              <a:buFontTx/>
              <a:buChar char="-"/>
            </a:pPr>
            <a:r>
              <a:rPr lang="en-US">
                <a:cs typeface="Courier New" panose="02070309020205020404" pitchFamily="49" charset="0"/>
              </a:rPr>
              <a:t>it enables partial application</a:t>
            </a:r>
          </a:p>
          <a:p>
            <a:pPr marL="285750" indent="-285750">
              <a:buFontTx/>
              <a:buChar char="-"/>
            </a:pPr>
            <a:r>
              <a:rPr lang="en-US">
                <a:cs typeface="Courier New" panose="02070309020205020404" pitchFamily="49" charset="0"/>
              </a:rPr>
              <a:t>makes functions flexible and reusable</a:t>
            </a:r>
          </a:p>
          <a:p>
            <a:pPr lvl="1"/>
            <a:r>
              <a:rPr lang="en-US">
                <a:cs typeface="Courier New" panose="02070309020205020404" pitchFamily="49" charset="0"/>
              </a:rPr>
              <a:t>(something like OOP for functions)</a:t>
            </a:r>
          </a:p>
        </p:txBody>
      </p:sp>
    </p:spTree>
    <p:extLst>
      <p:ext uri="{BB962C8B-B14F-4D97-AF65-F5344CB8AC3E}">
        <p14:creationId xmlns:p14="http://schemas.microsoft.com/office/powerpoint/2010/main" val="2120961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21790-2992-EF75-AE5A-7A050359396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6C06875-E578-883E-6579-3A626C77AE77}"/>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AB714EA4-6E16-4CF4-21B4-02EACD7A0584}"/>
              </a:ext>
            </a:extLst>
          </p:cNvPr>
          <p:cNvSpPr>
            <a:spLocks noGrp="1"/>
          </p:cNvSpPr>
          <p:nvPr>
            <p:ph type="sldNum" sz="quarter" idx="12"/>
          </p:nvPr>
        </p:nvSpPr>
        <p:spPr/>
        <p:txBody>
          <a:bodyPr/>
          <a:lstStyle/>
          <a:p>
            <a:fld id="{23D81C8F-CB39-4E4D-98E4-8C3FEDF75126}" type="slidenum">
              <a:rPr lang="en-US" smtClean="0"/>
              <a:t>19</a:t>
            </a:fld>
            <a:endParaRPr lang="en-US"/>
          </a:p>
        </p:txBody>
      </p:sp>
      <p:sp>
        <p:nvSpPr>
          <p:cNvPr id="7" name="TextBox 6">
            <a:extLst>
              <a:ext uri="{FF2B5EF4-FFF2-40B4-BE49-F238E27FC236}">
                <a16:creationId xmlns:a16="http://schemas.microsoft.com/office/drawing/2014/main" id="{21F6902F-F47E-B8C8-1E1E-98B011C3E28F}"/>
              </a:ext>
            </a:extLst>
          </p:cNvPr>
          <p:cNvSpPr txBox="1"/>
          <p:nvPr/>
        </p:nvSpPr>
        <p:spPr>
          <a:xfrm>
            <a:off x="535709" y="194055"/>
            <a:ext cx="3145861" cy="369332"/>
          </a:xfrm>
          <a:prstGeom prst="rect">
            <a:avLst/>
          </a:prstGeom>
          <a:noFill/>
        </p:spPr>
        <p:txBody>
          <a:bodyPr wrap="none" rtlCol="0">
            <a:spAutoFit/>
          </a:bodyPr>
          <a:lstStyle/>
          <a:p>
            <a:r>
              <a:rPr lang="en-US" dirty="0"/>
              <a:t>Design Pattern as FP: Strategy</a:t>
            </a:r>
          </a:p>
        </p:txBody>
      </p:sp>
      <p:sp>
        <p:nvSpPr>
          <p:cNvPr id="5" name="TextBox 4">
            <a:extLst>
              <a:ext uri="{FF2B5EF4-FFF2-40B4-BE49-F238E27FC236}">
                <a16:creationId xmlns:a16="http://schemas.microsoft.com/office/drawing/2014/main" id="{5A5AA991-B6CB-E194-421D-073540A7BA9B}"/>
              </a:ext>
            </a:extLst>
          </p:cNvPr>
          <p:cNvSpPr txBox="1"/>
          <p:nvPr/>
        </p:nvSpPr>
        <p:spPr>
          <a:xfrm>
            <a:off x="604935" y="821094"/>
            <a:ext cx="10982130" cy="4832092"/>
          </a:xfrm>
          <a:prstGeom prst="rect">
            <a:avLst/>
          </a:prstGeom>
          <a:noFill/>
        </p:spPr>
        <p:txBody>
          <a:bodyPr wrap="square" rtlCol="0">
            <a:spAutoFit/>
          </a:bodyPr>
          <a:lstStyle/>
          <a:p>
            <a:r>
              <a:rPr lang="en-US" sz="1100">
                <a:latin typeface="Courier New" panose="02070309020205020404" pitchFamily="49" charset="0"/>
                <a:cs typeface="Courier New" panose="02070309020205020404" pitchFamily="49" charset="0"/>
              </a:rPr>
              <a:t>type SortStrategy = (items: number[]) =&gt; number[];</a:t>
            </a:r>
            <a:br>
              <a:rPr lang="en-US" sz="1100">
                <a:latin typeface="Courier New" panose="02070309020205020404" pitchFamily="49" charset="0"/>
                <a:cs typeface="Courier New" panose="02070309020205020404" pitchFamily="49" charset="0"/>
              </a:rPr>
            </a:br>
            <a:endParaRPr lang="en-US" sz="1100">
              <a:latin typeface="Courier New" panose="02070309020205020404" pitchFamily="49" charset="0"/>
              <a:cs typeface="Courier New" panose="02070309020205020404" pitchFamily="49" charset="0"/>
            </a:endParaRPr>
          </a:p>
          <a:p>
            <a:r>
              <a:rPr lang="en-US" sz="1100">
                <a:latin typeface="Courier New" panose="02070309020205020404" pitchFamily="49" charset="0"/>
                <a:cs typeface="Courier New" panose="02070309020205020404" pitchFamily="49" charset="0"/>
              </a:rPr>
              <a:t>const bubbleSort: SortStrategy = (items) =&gt; {</a:t>
            </a:r>
          </a:p>
          <a:p>
            <a:r>
              <a:rPr lang="en-US" sz="1100">
                <a:latin typeface="Courier New" panose="02070309020205020404" pitchFamily="49" charset="0"/>
                <a:cs typeface="Courier New" panose="02070309020205020404" pitchFamily="49" charset="0"/>
              </a:rPr>
              <a:t>  const arr = [...items];</a:t>
            </a:r>
          </a:p>
          <a:p>
            <a:endParaRPr lang="en-US" sz="1100">
              <a:latin typeface="Courier New" panose="02070309020205020404" pitchFamily="49" charset="0"/>
              <a:cs typeface="Courier New" panose="02070309020205020404" pitchFamily="49" charset="0"/>
            </a:endParaRPr>
          </a:p>
          <a:p>
            <a:r>
              <a:rPr lang="en-US" sz="1100">
                <a:latin typeface="Courier New" panose="02070309020205020404" pitchFamily="49" charset="0"/>
                <a:cs typeface="Courier New" panose="02070309020205020404" pitchFamily="49" charset="0"/>
              </a:rPr>
              <a:t>  for (let i = 0; i &lt; arr.length; i++) {</a:t>
            </a:r>
          </a:p>
          <a:p>
            <a:r>
              <a:rPr lang="en-US" sz="1100">
                <a:latin typeface="Courier New" panose="02070309020205020404" pitchFamily="49" charset="0"/>
                <a:cs typeface="Courier New" panose="02070309020205020404" pitchFamily="49" charset="0"/>
              </a:rPr>
              <a:t>    for (let j = 0; j &lt; arr.length - i - 1; j++) {</a:t>
            </a:r>
          </a:p>
          <a:p>
            <a:r>
              <a:rPr lang="en-US" sz="1100">
                <a:latin typeface="Courier New" panose="02070309020205020404" pitchFamily="49" charset="0"/>
                <a:cs typeface="Courier New" panose="02070309020205020404" pitchFamily="49" charset="0"/>
              </a:rPr>
              <a:t>      if (arr[j] &gt; arr[j + 1]) {</a:t>
            </a:r>
          </a:p>
          <a:p>
            <a:r>
              <a:rPr lang="en-US" sz="1100">
                <a:latin typeface="Courier New" panose="02070309020205020404" pitchFamily="49" charset="0"/>
                <a:cs typeface="Courier New" panose="02070309020205020404" pitchFamily="49" charset="0"/>
              </a:rPr>
              <a:t>        [arr[j], arr[j + 1]] = [arr[j + 1], arr[j]];</a:t>
            </a:r>
          </a:p>
          <a:p>
            <a:r>
              <a:rPr lang="en-US" sz="1100">
                <a:latin typeface="Courier New" panose="02070309020205020404" pitchFamily="49" charset="0"/>
                <a:cs typeface="Courier New" panose="02070309020205020404" pitchFamily="49" charset="0"/>
              </a:rPr>
              <a:t>      }</a:t>
            </a:r>
          </a:p>
          <a:p>
            <a:r>
              <a:rPr lang="en-US" sz="1100">
                <a:latin typeface="Courier New" panose="02070309020205020404" pitchFamily="49" charset="0"/>
                <a:cs typeface="Courier New" panose="02070309020205020404" pitchFamily="49" charset="0"/>
              </a:rPr>
              <a:t>    }</a:t>
            </a:r>
          </a:p>
          <a:p>
            <a:r>
              <a:rPr lang="en-US" sz="1100">
                <a:latin typeface="Courier New" panose="02070309020205020404" pitchFamily="49" charset="0"/>
                <a:cs typeface="Courier New" panose="02070309020205020404" pitchFamily="49" charset="0"/>
              </a:rPr>
              <a:t>  }</a:t>
            </a:r>
          </a:p>
          <a:p>
            <a:endParaRPr lang="en-US" sz="1100">
              <a:latin typeface="Courier New" panose="02070309020205020404" pitchFamily="49" charset="0"/>
              <a:cs typeface="Courier New" panose="02070309020205020404" pitchFamily="49" charset="0"/>
            </a:endParaRPr>
          </a:p>
          <a:p>
            <a:r>
              <a:rPr lang="en-US" sz="1100">
                <a:latin typeface="Courier New" panose="02070309020205020404" pitchFamily="49" charset="0"/>
                <a:cs typeface="Courier New" panose="02070309020205020404" pitchFamily="49" charset="0"/>
              </a:rPr>
              <a:t>  return arr;</a:t>
            </a:r>
          </a:p>
          <a:p>
            <a:r>
              <a:rPr lang="en-US" sz="1100">
                <a:latin typeface="Courier New" panose="02070309020205020404" pitchFamily="49" charset="0"/>
                <a:cs typeface="Courier New" panose="02070309020205020404" pitchFamily="49" charset="0"/>
              </a:rPr>
              <a:t>};</a:t>
            </a:r>
          </a:p>
          <a:p>
            <a:endParaRPr lang="en-US" sz="1100">
              <a:latin typeface="Courier New" panose="02070309020205020404" pitchFamily="49" charset="0"/>
              <a:cs typeface="Courier New" panose="02070309020205020404" pitchFamily="49" charset="0"/>
            </a:endParaRPr>
          </a:p>
          <a:p>
            <a:r>
              <a:rPr lang="en-US" sz="1100">
                <a:latin typeface="Courier New" panose="02070309020205020404" pitchFamily="49" charset="0"/>
                <a:cs typeface="Courier New" panose="02070309020205020404" pitchFamily="49" charset="0"/>
              </a:rPr>
              <a:t>const mergeSort: SortStrategy = (items) =&gt; {</a:t>
            </a:r>
          </a:p>
          <a:p>
            <a:r>
              <a:rPr lang="en-US" sz="1100">
                <a:latin typeface="Courier New" panose="02070309020205020404" pitchFamily="49" charset="0"/>
                <a:cs typeface="Courier New" panose="02070309020205020404" pitchFamily="49" charset="0"/>
              </a:rPr>
              <a:t>  // Implementation...</a:t>
            </a:r>
          </a:p>
          <a:p>
            <a:r>
              <a:rPr lang="en-US" sz="1100">
                <a:latin typeface="Courier New" panose="02070309020205020404" pitchFamily="49" charset="0"/>
                <a:cs typeface="Courier New" panose="02070309020205020404" pitchFamily="49" charset="0"/>
              </a:rPr>
              <a:t>  return items;</a:t>
            </a:r>
          </a:p>
          <a:p>
            <a:r>
              <a:rPr lang="en-US" sz="1100">
                <a:latin typeface="Courier New" panose="02070309020205020404" pitchFamily="49" charset="0"/>
                <a:cs typeface="Courier New" panose="02070309020205020404" pitchFamily="49" charset="0"/>
              </a:rPr>
              <a:t>};</a:t>
            </a:r>
          </a:p>
          <a:p>
            <a:endParaRPr lang="en-US" sz="1100">
              <a:latin typeface="Courier New" panose="02070309020205020404" pitchFamily="49" charset="0"/>
              <a:cs typeface="Courier New" panose="02070309020205020404" pitchFamily="49" charset="0"/>
            </a:endParaRPr>
          </a:p>
          <a:p>
            <a:r>
              <a:rPr lang="en-US" sz="1100">
                <a:latin typeface="Courier New" panose="02070309020205020404" pitchFamily="49" charset="0"/>
                <a:cs typeface="Courier New" panose="02070309020205020404" pitchFamily="49" charset="0"/>
              </a:rPr>
              <a:t>const sortCollection = (items: number[], strategy: SortStrategy): number[] =&gt;</a:t>
            </a:r>
          </a:p>
          <a:p>
            <a:r>
              <a:rPr lang="en-US" sz="1100">
                <a:latin typeface="Courier New" panose="02070309020205020404" pitchFamily="49" charset="0"/>
                <a:cs typeface="Courier New" panose="02070309020205020404" pitchFamily="49" charset="0"/>
              </a:rPr>
              <a:t>  strategy(items);</a:t>
            </a:r>
          </a:p>
          <a:p>
            <a:endParaRPr lang="en-US" sz="1100">
              <a:latin typeface="Courier New" panose="02070309020205020404" pitchFamily="49" charset="0"/>
              <a:cs typeface="Courier New" panose="02070309020205020404" pitchFamily="49" charset="0"/>
            </a:endParaRPr>
          </a:p>
          <a:p>
            <a:r>
              <a:rPr lang="en-US" sz="1100">
                <a:latin typeface="Courier New" panose="02070309020205020404" pitchFamily="49" charset="0"/>
                <a:cs typeface="Courier New" panose="02070309020205020404" pitchFamily="49" charset="0"/>
              </a:rPr>
              <a:t>const data = [5, 2, 8, 1, 9];</a:t>
            </a:r>
          </a:p>
          <a:p>
            <a:endParaRPr lang="en-US" sz="1100">
              <a:latin typeface="Courier New" panose="02070309020205020404" pitchFamily="49" charset="0"/>
              <a:cs typeface="Courier New" panose="02070309020205020404" pitchFamily="49" charset="0"/>
            </a:endParaRPr>
          </a:p>
          <a:p>
            <a:r>
              <a:rPr lang="en-US" sz="1100">
                <a:latin typeface="Courier New" panose="02070309020205020404" pitchFamily="49" charset="0"/>
                <a:cs typeface="Courier New" panose="02070309020205020404" pitchFamily="49" charset="0"/>
              </a:rPr>
              <a:t>const sorted1 = sortCollection(data, bubbleSort);</a:t>
            </a:r>
          </a:p>
          <a:p>
            <a:r>
              <a:rPr lang="en-US" sz="1100">
                <a:latin typeface="Courier New" panose="02070309020205020404" pitchFamily="49" charset="0"/>
                <a:cs typeface="Courier New" panose="02070309020205020404" pitchFamily="49" charset="0"/>
              </a:rPr>
              <a:t>const sorted2 = sortCollection(data, mergeSort);</a:t>
            </a:r>
          </a:p>
        </p:txBody>
      </p:sp>
    </p:spTree>
    <p:extLst>
      <p:ext uri="{BB962C8B-B14F-4D97-AF65-F5344CB8AC3E}">
        <p14:creationId xmlns:p14="http://schemas.microsoft.com/office/powerpoint/2010/main" val="38367055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A0A1A-87A6-02C3-66A2-EE0F53C2940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FCACC51-F3E8-EEB9-D579-8B1A6A8D688C}"/>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5259AEED-89FC-D005-DF30-EE2AD9329DD3}"/>
              </a:ext>
            </a:extLst>
          </p:cNvPr>
          <p:cNvSpPr>
            <a:spLocks noGrp="1"/>
          </p:cNvSpPr>
          <p:nvPr>
            <p:ph type="sldNum" sz="quarter" idx="12"/>
          </p:nvPr>
        </p:nvSpPr>
        <p:spPr/>
        <p:txBody>
          <a:bodyPr/>
          <a:lstStyle/>
          <a:p>
            <a:fld id="{23D81C8F-CB39-4E4D-98E4-8C3FEDF75126}" type="slidenum">
              <a:rPr lang="en-US" smtClean="0"/>
              <a:t>20</a:t>
            </a:fld>
            <a:endParaRPr lang="en-US"/>
          </a:p>
        </p:txBody>
      </p:sp>
      <p:sp>
        <p:nvSpPr>
          <p:cNvPr id="7" name="TextBox 6">
            <a:extLst>
              <a:ext uri="{FF2B5EF4-FFF2-40B4-BE49-F238E27FC236}">
                <a16:creationId xmlns:a16="http://schemas.microsoft.com/office/drawing/2014/main" id="{7F078509-3BA3-DE39-01DD-0531DD36F52C}"/>
              </a:ext>
            </a:extLst>
          </p:cNvPr>
          <p:cNvSpPr txBox="1"/>
          <p:nvPr/>
        </p:nvSpPr>
        <p:spPr>
          <a:xfrm>
            <a:off x="535709" y="194055"/>
            <a:ext cx="3102260" cy="369332"/>
          </a:xfrm>
          <a:prstGeom prst="rect">
            <a:avLst/>
          </a:prstGeom>
          <a:noFill/>
        </p:spPr>
        <p:txBody>
          <a:bodyPr wrap="none" rtlCol="0">
            <a:spAutoFit/>
          </a:bodyPr>
          <a:lstStyle/>
          <a:p>
            <a:r>
              <a:rPr lang="en-US" dirty="0"/>
              <a:t>From imperative to functional</a:t>
            </a:r>
          </a:p>
        </p:txBody>
      </p:sp>
      <p:sp>
        <p:nvSpPr>
          <p:cNvPr id="2" name="TextBox 1">
            <a:extLst>
              <a:ext uri="{FF2B5EF4-FFF2-40B4-BE49-F238E27FC236}">
                <a16:creationId xmlns:a16="http://schemas.microsoft.com/office/drawing/2014/main" id="{77742917-9D98-FFF6-9353-6E54BD9E1E9F}"/>
              </a:ext>
            </a:extLst>
          </p:cNvPr>
          <p:cNvSpPr txBox="1"/>
          <p:nvPr/>
        </p:nvSpPr>
        <p:spPr>
          <a:xfrm>
            <a:off x="728825" y="2724587"/>
            <a:ext cx="4801314" cy="3631763"/>
          </a:xfrm>
          <a:prstGeom prst="rect">
            <a:avLst/>
          </a:prstGeom>
          <a:solidFill>
            <a:schemeClr val="accent2">
              <a:lumMod val="20000"/>
              <a:lumOff val="80000"/>
            </a:schemeClr>
          </a:solidFill>
        </p:spPr>
        <p:txBody>
          <a:bodyPr wrap="none" rtlCol="0">
            <a:spAutoFit/>
          </a:bodyPr>
          <a:lstStyle/>
          <a:p>
            <a:r>
              <a:rPr lang="en-US" sz="1000">
                <a:latin typeface="Courier New" panose="02070309020205020404" pitchFamily="49" charset="0"/>
                <a:cs typeface="Courier New" panose="02070309020205020404" pitchFamily="49" charset="0"/>
              </a:rPr>
              <a:t>public class OrderProcessor_Imperative</a:t>
            </a:r>
          </a:p>
          <a:p>
            <a:r>
              <a:rPr lang="en-US" sz="1000">
                <a:latin typeface="Courier New" panose="02070309020205020404" pitchFamily="49" charset="0"/>
                <a:cs typeface="Courier New" panose="02070309020205020404" pitchFamily="49" charset="0"/>
              </a:rPr>
              <a:t>{</a:t>
            </a:r>
          </a:p>
          <a:p>
            <a:r>
              <a:rPr lang="en-US" sz="1000">
                <a:latin typeface="Courier New" panose="02070309020205020404" pitchFamily="49" charset="0"/>
                <a:cs typeface="Courier New" panose="02070309020205020404" pitchFamily="49" charset="0"/>
              </a:rPr>
              <a:t>  public List&lt;String&gt; processOrders(List&lt;Order&gt; orders) {</a:t>
            </a:r>
          </a:p>
          <a:p>
            <a:r>
              <a:rPr lang="en-US" sz="1000">
                <a:latin typeface="Courier New" panose="02070309020205020404" pitchFamily="49" charset="0"/>
                <a:cs typeface="Courier New" panose="02070309020205020404" pitchFamily="49" charset="0"/>
              </a:rPr>
              <a:t>    List&lt;String&gt; processed = new ArrayList&lt;&gt;();</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    for (Order order : orders) {</a:t>
            </a:r>
          </a:p>
          <a:p>
            <a:r>
              <a:rPr lang="en-US" sz="1000">
                <a:latin typeface="Courier New" panose="02070309020205020404" pitchFamily="49" charset="0"/>
                <a:cs typeface="Courier New" panose="02070309020205020404" pitchFamily="49" charset="0"/>
              </a:rPr>
              <a:t>      if (order.getStatus().equals("PENDING")) {</a:t>
            </a:r>
          </a:p>
          <a:p>
            <a:r>
              <a:rPr lang="en-US" sz="1000">
                <a:latin typeface="Courier New" panose="02070309020205020404" pitchFamily="49" charset="0"/>
                <a:cs typeface="Courier New" panose="02070309020205020404" pitchFamily="49" charset="0"/>
              </a:rPr>
              <a:t>        order.setStatus("PROCESSING");</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        double discount = 0;</a:t>
            </a:r>
          </a:p>
          <a:p>
            <a:r>
              <a:rPr lang="en-US" sz="1000">
                <a:latin typeface="Courier New" panose="02070309020205020404" pitchFamily="49" charset="0"/>
                <a:cs typeface="Courier New" panose="02070309020205020404" pitchFamily="49" charset="0"/>
              </a:rPr>
              <a:t>        if (order.getTotal() &gt; 1000) {</a:t>
            </a:r>
          </a:p>
          <a:p>
            <a:r>
              <a:rPr lang="en-US" sz="1000">
                <a:latin typeface="Courier New" panose="02070309020205020404" pitchFamily="49" charset="0"/>
                <a:cs typeface="Courier New" panose="02070309020205020404" pitchFamily="49" charset="0"/>
              </a:rPr>
              <a:t>          discount = order.getTotal() * 0.1;</a:t>
            </a:r>
          </a:p>
          <a:p>
            <a:r>
              <a:rPr lang="en-US" sz="1000">
                <a:latin typeface="Courier New" panose="02070309020205020404" pitchFamily="49" charset="0"/>
                <a:cs typeface="Courier New" panose="02070309020205020404" pitchFamily="49" charset="0"/>
              </a:rPr>
              <a:t>        }</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        double finalPrice = order.getTotal() - discount;</a:t>
            </a:r>
          </a:p>
          <a:p>
            <a:r>
              <a:rPr lang="en-US" sz="1000">
                <a:latin typeface="Courier New" panose="02070309020205020404" pitchFamily="49" charset="0"/>
                <a:cs typeface="Courier New" panose="02070309020205020404" pitchFamily="49" charset="0"/>
              </a:rPr>
              <a:t>        String receipt = generateReceipt(order, finalPrice);</a:t>
            </a:r>
          </a:p>
          <a:p>
            <a:r>
              <a:rPr lang="en-US" sz="1000">
                <a:latin typeface="Courier New" panose="02070309020205020404" pitchFamily="49" charset="0"/>
                <a:cs typeface="Courier New" panose="02070309020205020404" pitchFamily="49" charset="0"/>
              </a:rPr>
              <a:t>        processed.add(receipt);</a:t>
            </a:r>
          </a:p>
          <a:p>
            <a:r>
              <a:rPr lang="en-US" sz="1000">
                <a:latin typeface="Courier New" panose="02070309020205020404" pitchFamily="49" charset="0"/>
                <a:cs typeface="Courier New" panose="02070309020205020404" pitchFamily="49" charset="0"/>
              </a:rPr>
              <a:t>      }</a:t>
            </a:r>
          </a:p>
          <a:p>
            <a:r>
              <a:rPr lang="en-US" sz="1000">
                <a:latin typeface="Courier New" panose="02070309020205020404" pitchFamily="49" charset="0"/>
                <a:cs typeface="Courier New" panose="02070309020205020404" pitchFamily="49" charset="0"/>
              </a:rPr>
              <a:t>    }</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    return processed;</a:t>
            </a:r>
          </a:p>
          <a:p>
            <a:r>
              <a:rPr lang="en-US" sz="1000">
                <a:latin typeface="Courier New" panose="02070309020205020404" pitchFamily="49" charset="0"/>
                <a:cs typeface="Courier New" panose="02070309020205020404" pitchFamily="49" charset="0"/>
              </a:rPr>
              <a:t>  }</a:t>
            </a:r>
          </a:p>
          <a:p>
            <a:r>
              <a:rPr lang="en-US" sz="1000">
                <a:latin typeface="Courier New" panose="02070309020205020404" pitchFamily="49" charset="0"/>
                <a:cs typeface="Courier New" panose="02070309020205020404" pitchFamily="49" charset="0"/>
              </a:rPr>
              <a:t>}</a:t>
            </a:r>
          </a:p>
        </p:txBody>
      </p:sp>
      <p:sp>
        <p:nvSpPr>
          <p:cNvPr id="4" name="TextBox 3">
            <a:extLst>
              <a:ext uri="{FF2B5EF4-FFF2-40B4-BE49-F238E27FC236}">
                <a16:creationId xmlns:a16="http://schemas.microsoft.com/office/drawing/2014/main" id="{97E3A9F1-AC28-9B37-C792-43BEA663085B}"/>
              </a:ext>
            </a:extLst>
          </p:cNvPr>
          <p:cNvSpPr txBox="1"/>
          <p:nvPr/>
        </p:nvSpPr>
        <p:spPr>
          <a:xfrm>
            <a:off x="6254621" y="824644"/>
            <a:ext cx="5367175" cy="4493538"/>
          </a:xfrm>
          <a:prstGeom prst="rect">
            <a:avLst/>
          </a:prstGeom>
          <a:solidFill>
            <a:schemeClr val="accent6">
              <a:lumMod val="20000"/>
              <a:lumOff val="80000"/>
            </a:schemeClr>
          </a:solidFill>
        </p:spPr>
        <p:txBody>
          <a:bodyPr wrap="none" rtlCol="0">
            <a:spAutoFit/>
          </a:bodyPr>
          <a:lstStyle/>
          <a:p>
            <a:r>
              <a:rPr lang="en-US" sz="1100">
                <a:latin typeface="Courier New" panose="02070309020205020404" pitchFamily="49" charset="0"/>
                <a:cs typeface="Courier New" panose="02070309020205020404" pitchFamily="49" charset="0"/>
              </a:rPr>
              <a:t>public class OrderProcessor_Functional</a:t>
            </a:r>
          </a:p>
          <a:p>
            <a:r>
              <a:rPr lang="en-US" sz="1100">
                <a:latin typeface="Courier New" panose="02070309020205020404" pitchFamily="49" charset="0"/>
                <a:cs typeface="Courier New" panose="02070309020205020404" pitchFamily="49" charset="0"/>
              </a:rPr>
              <a:t>{</a:t>
            </a:r>
          </a:p>
          <a:p>
            <a:r>
              <a:rPr lang="en-US" sz="1100">
                <a:latin typeface="Courier New" panose="02070309020205020404" pitchFamily="49" charset="0"/>
                <a:cs typeface="Courier New" panose="02070309020205020404" pitchFamily="49" charset="0"/>
              </a:rPr>
              <a:t>  public List&lt;String&gt; processOrders(List&lt;Order&gt; orders) {</a:t>
            </a:r>
          </a:p>
          <a:p>
            <a:r>
              <a:rPr lang="en-US" sz="1100">
                <a:latin typeface="Courier New" panose="02070309020205020404" pitchFamily="49" charset="0"/>
                <a:cs typeface="Courier New" panose="02070309020205020404" pitchFamily="49" charset="0"/>
              </a:rPr>
              <a:t>    return orders.stream()</a:t>
            </a:r>
          </a:p>
          <a:p>
            <a:r>
              <a:rPr lang="en-US" sz="1100">
                <a:latin typeface="Courier New" panose="02070309020205020404" pitchFamily="49" charset="0"/>
                <a:cs typeface="Courier New" panose="02070309020205020404" pitchFamily="49" charset="0"/>
              </a:rPr>
              <a:t>        .filter(o -&gt; o.getStatus().equals("PENDING"))</a:t>
            </a:r>
          </a:p>
          <a:p>
            <a:r>
              <a:rPr lang="en-US" sz="1100">
                <a:latin typeface="Courier New" panose="02070309020205020404" pitchFamily="49" charset="0"/>
                <a:cs typeface="Courier New" panose="02070309020205020404" pitchFamily="49" charset="0"/>
              </a:rPr>
              <a:t>        .map(o -&gt; o.withStatus("PROCESSING”))</a:t>
            </a:r>
          </a:p>
          <a:p>
            <a:r>
              <a:rPr lang="en-US" sz="1100">
                <a:latin typeface="Courier New" panose="02070309020205020404" pitchFamily="49" charset="0"/>
                <a:cs typeface="Courier New" panose="02070309020205020404" pitchFamily="49" charset="0"/>
              </a:rPr>
              <a:t>        .map(o -&gt; calculateFinalPrice(o))</a:t>
            </a:r>
          </a:p>
          <a:p>
            <a:r>
              <a:rPr lang="en-US" sz="1100">
                <a:latin typeface="Courier New" panose="02070309020205020404" pitchFamily="49" charset="0"/>
                <a:cs typeface="Courier New" panose="02070309020205020404" pitchFamily="49" charset="0"/>
              </a:rPr>
              <a:t>        .map(o -&gt; generateReceipt(o))</a:t>
            </a:r>
          </a:p>
          <a:p>
            <a:r>
              <a:rPr lang="en-US" sz="1100">
                <a:latin typeface="Courier New" panose="02070309020205020404" pitchFamily="49" charset="0"/>
                <a:cs typeface="Courier New" panose="02070309020205020404" pitchFamily="49" charset="0"/>
              </a:rPr>
              <a:t>        .collect(Collectors.toList());</a:t>
            </a:r>
          </a:p>
          <a:p>
            <a:r>
              <a:rPr lang="en-US" sz="1100">
                <a:latin typeface="Courier New" panose="02070309020205020404" pitchFamily="49" charset="0"/>
                <a:cs typeface="Courier New" panose="02070309020205020404" pitchFamily="49" charset="0"/>
              </a:rPr>
              <a:t>  }</a:t>
            </a:r>
          </a:p>
          <a:p>
            <a:endParaRPr lang="en-US" sz="1100">
              <a:latin typeface="Courier New" panose="02070309020205020404" pitchFamily="49" charset="0"/>
              <a:cs typeface="Courier New" panose="02070309020205020404" pitchFamily="49" charset="0"/>
            </a:endParaRPr>
          </a:p>
          <a:p>
            <a:r>
              <a:rPr lang="en-US" sz="1100">
                <a:latin typeface="Courier New" panose="02070309020205020404" pitchFamily="49" charset="0"/>
                <a:cs typeface="Courier New" panose="02070309020205020404" pitchFamily="49" charset="0"/>
              </a:rPr>
              <a:t>  private order calculateFinalPrice(Order order) {</a:t>
            </a:r>
          </a:p>
          <a:p>
            <a:r>
              <a:rPr lang="en-US" sz="1100">
                <a:latin typeface="Courier New" panose="02070309020205020404" pitchFamily="49" charset="0"/>
                <a:cs typeface="Courier New" panose="02070309020205020404" pitchFamily="49" charset="0"/>
              </a:rPr>
              <a:t>    double discount = order.getTotal() &gt; 1000</a:t>
            </a:r>
          </a:p>
          <a:p>
            <a:r>
              <a:rPr lang="en-US" sz="1100">
                <a:latin typeface="Courier New" panose="02070309020205020404" pitchFamily="49" charset="0"/>
                <a:cs typeface="Courier New" panose="02070309020205020404" pitchFamily="49" charset="0"/>
              </a:rPr>
              <a:t>      ? order.getTotal() * 0.1</a:t>
            </a:r>
          </a:p>
          <a:p>
            <a:r>
              <a:rPr lang="en-US" sz="1100">
                <a:latin typeface="Courier New" panose="02070309020205020404" pitchFamily="49" charset="0"/>
                <a:cs typeface="Courier New" panose="02070309020205020404" pitchFamily="49" charset="0"/>
              </a:rPr>
              <a:t>      : 0;</a:t>
            </a:r>
          </a:p>
          <a:p>
            <a:endParaRPr lang="en-US" sz="1100">
              <a:latin typeface="Courier New" panose="02070309020205020404" pitchFamily="49" charset="0"/>
              <a:cs typeface="Courier New" panose="02070309020205020404" pitchFamily="49" charset="0"/>
            </a:endParaRPr>
          </a:p>
          <a:p>
            <a:r>
              <a:rPr lang="en-US" sz="1100">
                <a:latin typeface="Courier New" panose="02070309020205020404" pitchFamily="49" charset="0"/>
                <a:cs typeface="Courier New" panose="02070309020205020404" pitchFamily="49" charset="0"/>
              </a:rPr>
              <a:t>    return order.withFinalPrice(order.getTotal() - discount);</a:t>
            </a:r>
          </a:p>
          <a:p>
            <a:r>
              <a:rPr lang="en-US" sz="1100">
                <a:latin typeface="Courier New" panose="02070309020205020404" pitchFamily="49" charset="0"/>
                <a:cs typeface="Courier New" panose="02070309020205020404" pitchFamily="49" charset="0"/>
              </a:rPr>
              <a:t>  }</a:t>
            </a:r>
          </a:p>
          <a:p>
            <a:endParaRPr lang="en-US" sz="1100">
              <a:latin typeface="Courier New" panose="02070309020205020404" pitchFamily="49" charset="0"/>
              <a:cs typeface="Courier New" panose="02070309020205020404" pitchFamily="49" charset="0"/>
            </a:endParaRPr>
          </a:p>
          <a:p>
            <a:endParaRPr lang="en-US" sz="1100">
              <a:latin typeface="Courier New" panose="02070309020205020404" pitchFamily="49" charset="0"/>
              <a:cs typeface="Courier New" panose="02070309020205020404" pitchFamily="49" charset="0"/>
            </a:endParaRPr>
          </a:p>
          <a:p>
            <a:r>
              <a:rPr lang="en-US" sz="1100">
                <a:latin typeface="Courier New" panose="02070309020205020404" pitchFamily="49" charset="0"/>
                <a:cs typeface="Courier New" panose="02070309020205020404" pitchFamily="49" charset="0"/>
              </a:rPr>
              <a:t>  private String generateReceipt(Order order) {</a:t>
            </a:r>
          </a:p>
          <a:p>
            <a:r>
              <a:rPr lang="en-US" sz="1100">
                <a:latin typeface="Courier New" panose="02070309020205020404" pitchFamily="49" charset="0"/>
                <a:cs typeface="Courier New" panose="02070309020205020404" pitchFamily="49" charset="0"/>
              </a:rPr>
              <a:t>    return String.format(</a:t>
            </a:r>
          </a:p>
          <a:p>
            <a:r>
              <a:rPr lang="en-US" sz="1100">
                <a:latin typeface="Courier New" panose="02070309020205020404" pitchFamily="49" charset="0"/>
                <a:cs typeface="Courier New" panose="02070309020205020404" pitchFamily="49" charset="0"/>
              </a:rPr>
              <a:t>      "Receipt for order %s: $%.2f",</a:t>
            </a:r>
          </a:p>
          <a:p>
            <a:r>
              <a:rPr lang="en-US" sz="1100">
                <a:latin typeface="Courier New" panose="02070309020205020404" pitchFamily="49" charset="0"/>
                <a:cs typeface="Courier New" panose="02070309020205020404" pitchFamily="49" charset="0"/>
              </a:rPr>
              <a:t>      order.getId(), order.getFinalPrice());</a:t>
            </a:r>
          </a:p>
          <a:p>
            <a:r>
              <a:rPr lang="en-US" sz="1100">
                <a:latin typeface="Courier New" panose="02070309020205020404" pitchFamily="49" charset="0"/>
                <a:cs typeface="Courier New" panose="02070309020205020404" pitchFamily="49" charset="0"/>
              </a:rPr>
              <a:t>  }</a:t>
            </a:r>
          </a:p>
          <a:p>
            <a:r>
              <a:rPr lang="en-US" sz="1100">
                <a:latin typeface="Courier New" panose="02070309020205020404" pitchFamily="49" charset="0"/>
                <a:cs typeface="Courier New" panose="02070309020205020404" pitchFamily="49" charset="0"/>
              </a:rPr>
              <a:t>}</a:t>
            </a:r>
          </a:p>
        </p:txBody>
      </p:sp>
      <p:sp>
        <p:nvSpPr>
          <p:cNvPr id="8" name="TextBox 7">
            <a:extLst>
              <a:ext uri="{FF2B5EF4-FFF2-40B4-BE49-F238E27FC236}">
                <a16:creationId xmlns:a16="http://schemas.microsoft.com/office/drawing/2014/main" id="{A1E46C64-56E4-7A11-E54D-4F7C2EBBBF15}"/>
              </a:ext>
            </a:extLst>
          </p:cNvPr>
          <p:cNvSpPr txBox="1"/>
          <p:nvPr/>
        </p:nvSpPr>
        <p:spPr>
          <a:xfrm>
            <a:off x="248086" y="585598"/>
            <a:ext cx="2743059" cy="1938992"/>
          </a:xfrm>
          <a:prstGeom prst="rect">
            <a:avLst/>
          </a:prstGeom>
          <a:solidFill>
            <a:schemeClr val="bg1">
              <a:lumMod val="95000"/>
            </a:schemeClr>
          </a:solidFill>
        </p:spPr>
        <p:txBody>
          <a:bodyPr wrap="none" rtlCol="0">
            <a:spAutoFit/>
          </a:bodyPr>
          <a:lstStyle/>
          <a:p>
            <a:r>
              <a:rPr lang="en-US" sz="800">
                <a:latin typeface="Courier New" panose="02070309020205020404" pitchFamily="49" charset="0"/>
                <a:cs typeface="Courier New" panose="02070309020205020404" pitchFamily="49" charset="0"/>
              </a:rPr>
              <a:t>public class Order</a:t>
            </a:r>
          </a:p>
          <a:p>
            <a:r>
              <a:rPr lang="en-US" sz="800">
                <a:latin typeface="Courier New" panose="02070309020205020404" pitchFamily="49" charset="0"/>
                <a:cs typeface="Courier New" panose="02070309020205020404" pitchFamily="49" charset="0"/>
              </a:rPr>
              <a:t>{</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public void setStatus(String status) {</a:t>
            </a:r>
          </a:p>
          <a:p>
            <a:r>
              <a:rPr lang="en-US" sz="800">
                <a:latin typeface="Courier New" panose="02070309020205020404" pitchFamily="49" charset="0"/>
                <a:cs typeface="Courier New" panose="02070309020205020404" pitchFamily="49" charset="0"/>
              </a:rPr>
              <a:t>     this.status = status;</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a:t>
            </a:r>
            <a:r>
              <a:rPr lang="en-US" sz="800" b="1">
                <a:latin typeface="Courier New" panose="02070309020205020404" pitchFamily="49" charset="0"/>
                <a:cs typeface="Courier New" panose="02070309020205020404" pitchFamily="49" charset="0"/>
              </a:rPr>
              <a:t>public Order withStatus(String status) {</a:t>
            </a:r>
          </a:p>
          <a:p>
            <a:r>
              <a:rPr lang="en-US" sz="800" b="1">
                <a:latin typeface="Courier New" panose="02070309020205020404" pitchFamily="49" charset="0"/>
                <a:cs typeface="Courier New" panose="02070309020205020404" pitchFamily="49" charset="0"/>
              </a:rPr>
              <a:t>     this.status = status;</a:t>
            </a:r>
          </a:p>
          <a:p>
            <a:r>
              <a:rPr lang="en-US" sz="800" b="1">
                <a:latin typeface="Courier New" panose="02070309020205020404" pitchFamily="49" charset="0"/>
                <a:cs typeface="Courier New" panose="02070309020205020404" pitchFamily="49" charset="0"/>
              </a:rPr>
              <a:t>     return this;</a:t>
            </a:r>
          </a:p>
          <a:p>
            <a:r>
              <a:rPr lang="en-US" sz="800" b="1">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a:t>
            </a:r>
          </a:p>
          <a:p>
            <a:r>
              <a:rPr lang="en-US" sz="80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204024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9A83D-3E28-92D2-091D-DADD317E968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8D92AFB-B679-3052-F4D0-96B357CCD249}"/>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D24B104C-2CF6-14B8-95D4-964569B25C2E}"/>
              </a:ext>
            </a:extLst>
          </p:cNvPr>
          <p:cNvSpPr>
            <a:spLocks noGrp="1"/>
          </p:cNvSpPr>
          <p:nvPr>
            <p:ph type="sldNum" sz="quarter" idx="12"/>
          </p:nvPr>
        </p:nvSpPr>
        <p:spPr/>
        <p:txBody>
          <a:bodyPr/>
          <a:lstStyle/>
          <a:p>
            <a:fld id="{23D81C8F-CB39-4E4D-98E4-8C3FEDF75126}" type="slidenum">
              <a:rPr lang="en-US" smtClean="0"/>
              <a:t>21</a:t>
            </a:fld>
            <a:endParaRPr lang="en-US"/>
          </a:p>
        </p:txBody>
      </p:sp>
      <p:sp>
        <p:nvSpPr>
          <p:cNvPr id="7" name="TextBox 6">
            <a:extLst>
              <a:ext uri="{FF2B5EF4-FFF2-40B4-BE49-F238E27FC236}">
                <a16:creationId xmlns:a16="http://schemas.microsoft.com/office/drawing/2014/main" id="{04752226-B0E0-0E4F-2475-8C2C71C8E960}"/>
              </a:ext>
            </a:extLst>
          </p:cNvPr>
          <p:cNvSpPr txBox="1"/>
          <p:nvPr/>
        </p:nvSpPr>
        <p:spPr>
          <a:xfrm>
            <a:off x="535709" y="194055"/>
            <a:ext cx="1079206" cy="369332"/>
          </a:xfrm>
          <a:prstGeom prst="rect">
            <a:avLst/>
          </a:prstGeom>
          <a:noFill/>
        </p:spPr>
        <p:txBody>
          <a:bodyPr wrap="none" rtlCol="0">
            <a:spAutoFit/>
          </a:bodyPr>
          <a:lstStyle/>
          <a:p>
            <a:r>
              <a:rPr lang="en-US" dirty="0"/>
              <a:t>Closures</a:t>
            </a:r>
          </a:p>
        </p:txBody>
      </p:sp>
      <p:sp>
        <p:nvSpPr>
          <p:cNvPr id="4" name="TextBox 3">
            <a:extLst>
              <a:ext uri="{FF2B5EF4-FFF2-40B4-BE49-F238E27FC236}">
                <a16:creationId xmlns:a16="http://schemas.microsoft.com/office/drawing/2014/main" id="{8BF7AA4C-83C9-36AB-3FD1-59343E6DD1EF}"/>
              </a:ext>
            </a:extLst>
          </p:cNvPr>
          <p:cNvSpPr txBox="1"/>
          <p:nvPr/>
        </p:nvSpPr>
        <p:spPr>
          <a:xfrm>
            <a:off x="535709" y="923636"/>
            <a:ext cx="11264815" cy="923330"/>
          </a:xfrm>
          <a:prstGeom prst="rect">
            <a:avLst/>
          </a:prstGeom>
          <a:noFill/>
        </p:spPr>
        <p:txBody>
          <a:bodyPr wrap="none" rtlCol="0">
            <a:spAutoFit/>
          </a:bodyPr>
          <a:lstStyle/>
          <a:p>
            <a:r>
              <a:rPr lang="en-US"/>
              <a:t>A closure is a function that “remembers the environment where it was created”. Said it operationally, it’s a record</a:t>
            </a:r>
          </a:p>
          <a:p>
            <a:r>
              <a:rPr lang="en-US"/>
              <a:t>storing a function together with its environment, that is a mapping between each free variable of the function</a:t>
            </a:r>
          </a:p>
          <a:p>
            <a:r>
              <a:rPr lang="en-US"/>
              <a:t>(i.e. the locals used in the function) with values/references to the bound names at the creation time.</a:t>
            </a:r>
          </a:p>
        </p:txBody>
      </p:sp>
      <p:grpSp>
        <p:nvGrpSpPr>
          <p:cNvPr id="13" name="Group 12">
            <a:extLst>
              <a:ext uri="{FF2B5EF4-FFF2-40B4-BE49-F238E27FC236}">
                <a16:creationId xmlns:a16="http://schemas.microsoft.com/office/drawing/2014/main" id="{1D09F9F6-CC7A-CED2-BB45-791863A70AEC}"/>
              </a:ext>
            </a:extLst>
          </p:cNvPr>
          <p:cNvGrpSpPr/>
          <p:nvPr/>
        </p:nvGrpSpPr>
        <p:grpSpPr>
          <a:xfrm>
            <a:off x="1435674" y="1951534"/>
            <a:ext cx="3996607" cy="1059568"/>
            <a:chOff x="822036" y="2081676"/>
            <a:chExt cx="3996607" cy="1059568"/>
          </a:xfrm>
        </p:grpSpPr>
        <p:sp>
          <p:nvSpPr>
            <p:cNvPr id="2" name="TextBox 1">
              <a:extLst>
                <a:ext uri="{FF2B5EF4-FFF2-40B4-BE49-F238E27FC236}">
                  <a16:creationId xmlns:a16="http://schemas.microsoft.com/office/drawing/2014/main" id="{C9DDED5C-C0BE-2721-485F-F4234621BB7E}"/>
                </a:ext>
              </a:extLst>
            </p:cNvPr>
            <p:cNvSpPr txBox="1"/>
            <p:nvPr/>
          </p:nvSpPr>
          <p:spPr>
            <a:xfrm>
              <a:off x="822036" y="2494913"/>
              <a:ext cx="3996607" cy="646331"/>
            </a:xfrm>
            <a:prstGeom prst="rect">
              <a:avLst/>
            </a:prstGeom>
            <a:noFill/>
          </p:spPr>
          <p:txBody>
            <a:bodyPr wrap="none" rtlCol="0">
              <a:spAutoFit/>
            </a:bodyPr>
            <a:lstStyle/>
            <a:p>
              <a:r>
                <a:rPr lang="en-US" sz="1200">
                  <a:latin typeface="Courier New" panose="02070309020205020404" pitchFamily="49" charset="0"/>
                  <a:cs typeface="Courier New" panose="02070309020205020404" pitchFamily="49" charset="0"/>
                </a:rPr>
                <a:t>[cap1, cap2, ...] (param1, param2, ...) {</a:t>
              </a:r>
            </a:p>
            <a:p>
              <a:r>
                <a:rPr lang="en-US" sz="1200">
                  <a:latin typeface="Courier New" panose="02070309020205020404" pitchFamily="49" charset="0"/>
                  <a:cs typeface="Courier New" panose="02070309020205020404" pitchFamily="49" charset="0"/>
                </a:rPr>
                <a:t>   // body</a:t>
              </a:r>
            </a:p>
            <a:p>
              <a:r>
                <a:rPr lang="en-US" sz="1200">
                  <a:latin typeface="Courier New" panose="02070309020205020404" pitchFamily="49" charset="0"/>
                  <a:cs typeface="Courier New" panose="02070309020205020404" pitchFamily="49" charset="0"/>
                </a:rPr>
                <a:t>}</a:t>
              </a:r>
            </a:p>
          </p:txBody>
        </p:sp>
        <p:sp>
          <p:nvSpPr>
            <p:cNvPr id="9" name="Right Brace 8">
              <a:extLst>
                <a:ext uri="{FF2B5EF4-FFF2-40B4-BE49-F238E27FC236}">
                  <a16:creationId xmlns:a16="http://schemas.microsoft.com/office/drawing/2014/main" id="{F391861E-49F2-C574-E9D7-A78E565FAFF7}"/>
                </a:ext>
              </a:extLst>
            </p:cNvPr>
            <p:cNvSpPr/>
            <p:nvPr/>
          </p:nvSpPr>
          <p:spPr>
            <a:xfrm rot="16200000">
              <a:off x="1550985" y="1703620"/>
              <a:ext cx="272475" cy="1582586"/>
            </a:xfrm>
            <a:prstGeom prst="rightBrace">
              <a:avLst>
                <a:gd name="adj1" fmla="val 8333"/>
                <a:gd name="adj2" fmla="val 53187"/>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2E8208AE-924A-4637-1058-A218556C0FF2}"/>
                </a:ext>
              </a:extLst>
            </p:cNvPr>
            <p:cNvSpPr txBox="1"/>
            <p:nvPr/>
          </p:nvSpPr>
          <p:spPr>
            <a:xfrm>
              <a:off x="1385454" y="2081676"/>
              <a:ext cx="774764" cy="276999"/>
            </a:xfrm>
            <a:prstGeom prst="rect">
              <a:avLst/>
            </a:prstGeom>
            <a:noFill/>
          </p:spPr>
          <p:txBody>
            <a:bodyPr wrap="none" rtlCol="0">
              <a:spAutoFit/>
            </a:bodyPr>
            <a:lstStyle/>
            <a:p>
              <a:r>
                <a:rPr lang="en-US" sz="1200"/>
                <a:t>captures</a:t>
              </a:r>
            </a:p>
          </p:txBody>
        </p:sp>
      </p:grpSp>
      <p:sp>
        <p:nvSpPr>
          <p:cNvPr id="11" name="TextBox 10">
            <a:extLst>
              <a:ext uri="{FF2B5EF4-FFF2-40B4-BE49-F238E27FC236}">
                <a16:creationId xmlns:a16="http://schemas.microsoft.com/office/drawing/2014/main" id="{9A6DDA97-85FD-3617-9A5F-49D25899C871}"/>
              </a:ext>
            </a:extLst>
          </p:cNvPr>
          <p:cNvSpPr txBox="1"/>
          <p:nvPr/>
        </p:nvSpPr>
        <p:spPr>
          <a:xfrm>
            <a:off x="7357193" y="2578164"/>
            <a:ext cx="4182555" cy="3046988"/>
          </a:xfrm>
          <a:prstGeom prst="rect">
            <a:avLst/>
          </a:prstGeom>
          <a:noFill/>
        </p:spPr>
        <p:txBody>
          <a:bodyPr wrap="none" rtlCol="0">
            <a:spAutoFit/>
          </a:bodyPr>
          <a:lstStyle/>
          <a:p>
            <a:r>
              <a:rPr lang="en-US" sz="1200">
                <a:latin typeface="Courier New" panose="02070309020205020404" pitchFamily="49" charset="0"/>
                <a:cs typeface="Courier New" panose="02070309020205020404" pitchFamily="49" charset="0"/>
              </a:rPr>
              <a:t>class Closure {</a:t>
            </a:r>
          </a:p>
          <a:p>
            <a:r>
              <a:rPr lang="en-US" sz="1200">
                <a:latin typeface="Courier New" panose="02070309020205020404" pitchFamily="49" charset="0"/>
                <a:cs typeface="Courier New" panose="02070309020205020404" pitchFamily="49" charset="0"/>
              </a:rPr>
              <a:t>  T1 _cap1;</a:t>
            </a:r>
          </a:p>
          <a:p>
            <a:r>
              <a:rPr lang="en-US" sz="1200">
                <a:latin typeface="Courier New" panose="02070309020205020404" pitchFamily="49" charset="0"/>
                <a:cs typeface="Courier New" panose="02070309020205020404" pitchFamily="49" charset="0"/>
              </a:rPr>
              <a:t>  T2 _cap2;</a:t>
            </a:r>
          </a:p>
          <a:p>
            <a:r>
              <a:rPr lang="en-US" sz="1200">
                <a:latin typeface="Courier New" panose="02070309020205020404" pitchFamily="49" charset="0"/>
                <a:cs typeface="Courier New" panose="02070309020205020404" pitchFamily="49" charset="0"/>
              </a:rPr>
              <a:t>  ...</a:t>
            </a:r>
          </a:p>
          <a:p>
            <a:endParaRPr lang="en-US" sz="1200">
              <a:latin typeface="Courier New" panose="02070309020205020404" pitchFamily="49" charset="0"/>
              <a:cs typeface="Courier New" panose="02070309020205020404" pitchFamily="49" charset="0"/>
            </a:endParaRPr>
          </a:p>
          <a:p>
            <a:r>
              <a:rPr lang="en-US" sz="1200">
                <a:latin typeface="Courier New" panose="02070309020205020404" pitchFamily="49" charset="0"/>
                <a:cs typeface="Courier New" panose="02070309020205020404" pitchFamily="49" charset="0"/>
              </a:rPr>
              <a:t>public:</a:t>
            </a:r>
          </a:p>
          <a:p>
            <a:r>
              <a:rPr lang="en-US" sz="1200">
                <a:latin typeface="Courier New" panose="02070309020205020404" pitchFamily="49" charset="0"/>
                <a:cs typeface="Courier New" panose="02070309020205020404" pitchFamily="49" charset="0"/>
              </a:rPr>
              <a:t>  Closure(T1 cap1, T2 cap2, ...):</a:t>
            </a:r>
          </a:p>
          <a:p>
            <a:r>
              <a:rPr lang="en-US" sz="1200">
                <a:latin typeface="Courier New" panose="02070309020205020404" pitchFamily="49" charset="0"/>
                <a:cs typeface="Courier New" panose="02070309020205020404" pitchFamily="49" charset="0"/>
              </a:rPr>
              <a:t>    _cap1(cap1),</a:t>
            </a:r>
          </a:p>
          <a:p>
            <a:r>
              <a:rPr lang="en-US" sz="1200">
                <a:latin typeface="Courier New" panose="02070309020205020404" pitchFamily="49" charset="0"/>
                <a:cs typeface="Courier New" panose="02070309020205020404" pitchFamily="49" charset="0"/>
              </a:rPr>
              <a:t>    _cap2(cap2),</a:t>
            </a:r>
          </a:p>
          <a:p>
            <a:r>
              <a:rPr lang="en-US" sz="1200">
                <a:latin typeface="Courier New" panose="02070309020205020404" pitchFamily="49" charset="0"/>
                <a:cs typeface="Courier New" panose="02070309020205020404" pitchFamily="49" charset="0"/>
              </a:rPr>
              <a:t>    ... {</a:t>
            </a:r>
          </a:p>
          <a:p>
            <a:r>
              <a:rPr lang="en-US" sz="1200">
                <a:latin typeface="Courier New" panose="02070309020205020404" pitchFamily="49" charset="0"/>
                <a:cs typeface="Courier New" panose="02070309020205020404" pitchFamily="49" charset="0"/>
              </a:rPr>
              <a:t>  }</a:t>
            </a:r>
          </a:p>
          <a:p>
            <a:endParaRPr lang="en-US" sz="1200">
              <a:latin typeface="Courier New" panose="02070309020205020404" pitchFamily="49" charset="0"/>
              <a:cs typeface="Courier New" panose="02070309020205020404" pitchFamily="49" charset="0"/>
            </a:endParaRPr>
          </a:p>
          <a:p>
            <a:r>
              <a:rPr lang="en-US" sz="1200">
                <a:latin typeface="Courier New" panose="02070309020205020404" pitchFamily="49" charset="0"/>
                <a:cs typeface="Courier New" panose="02070309020205020404" pitchFamily="49" charset="0"/>
              </a:rPr>
              <a:t>  R operator()(P1 param1, P2 param2, ...) {</a:t>
            </a:r>
          </a:p>
          <a:p>
            <a:r>
              <a:rPr lang="en-US" sz="1200">
                <a:latin typeface="Courier New" panose="02070309020205020404" pitchFamily="49" charset="0"/>
                <a:cs typeface="Courier New" panose="02070309020205020404" pitchFamily="49" charset="0"/>
              </a:rPr>
              <a:t>    // body</a:t>
            </a:r>
          </a:p>
          <a:p>
            <a:r>
              <a:rPr lang="en-US" sz="1200">
                <a:latin typeface="Courier New" panose="02070309020205020404" pitchFamily="49" charset="0"/>
                <a:cs typeface="Courier New" panose="02070309020205020404" pitchFamily="49" charset="0"/>
              </a:rPr>
              <a:t>  }</a:t>
            </a:r>
          </a:p>
          <a:p>
            <a:r>
              <a:rPr lang="en-US" sz="1200">
                <a:latin typeface="Courier New" panose="02070309020205020404" pitchFamily="49" charset="0"/>
                <a:cs typeface="Courier New" panose="02070309020205020404" pitchFamily="49" charset="0"/>
              </a:rPr>
              <a:t>}</a:t>
            </a:r>
          </a:p>
        </p:txBody>
      </p:sp>
      <p:sp>
        <p:nvSpPr>
          <p:cNvPr id="12" name="TextBox 11">
            <a:extLst>
              <a:ext uri="{FF2B5EF4-FFF2-40B4-BE49-F238E27FC236}">
                <a16:creationId xmlns:a16="http://schemas.microsoft.com/office/drawing/2014/main" id="{AAEE035D-722F-4623-BD58-B9E25B1665AA}"/>
              </a:ext>
            </a:extLst>
          </p:cNvPr>
          <p:cNvSpPr txBox="1"/>
          <p:nvPr/>
        </p:nvSpPr>
        <p:spPr>
          <a:xfrm>
            <a:off x="827375" y="3173160"/>
            <a:ext cx="5484194" cy="3046988"/>
          </a:xfrm>
          <a:prstGeom prst="rect">
            <a:avLst/>
          </a:prstGeom>
          <a:noFill/>
        </p:spPr>
        <p:txBody>
          <a:bodyPr wrap="none" rtlCol="0">
            <a:spAutoFit/>
          </a:bodyPr>
          <a:lstStyle/>
          <a:p>
            <a:r>
              <a:rPr lang="en-US" sz="1200">
                <a:latin typeface="Courier New" panose="02070309020205020404" pitchFamily="49" charset="0"/>
                <a:cs typeface="Courier New" panose="02070309020205020404" pitchFamily="49" charset="0"/>
              </a:rPr>
              <a:t>template&lt;class InputIt, class UnaryPred&gt;</a:t>
            </a:r>
          </a:p>
          <a:p>
            <a:r>
              <a:rPr lang="en-US" sz="1200">
                <a:latin typeface="Courier New" panose="02070309020205020404" pitchFamily="49" charset="0"/>
                <a:cs typeface="Courier New" panose="02070309020205020404" pitchFamily="49" charset="0"/>
              </a:rPr>
              <a:t>InputIt find_if(InputIt first, InputIt last, UnaryPred p)</a:t>
            </a:r>
          </a:p>
          <a:p>
            <a:r>
              <a:rPr lang="en-US" sz="1200">
                <a:latin typeface="Courier New" panose="02070309020205020404" pitchFamily="49" charset="0"/>
                <a:cs typeface="Courier New" panose="02070309020205020404" pitchFamily="49" charset="0"/>
              </a:rPr>
              <a:t>{</a:t>
            </a:r>
          </a:p>
          <a:p>
            <a:r>
              <a:rPr lang="en-US" sz="1200">
                <a:latin typeface="Courier New" panose="02070309020205020404" pitchFamily="49" charset="0"/>
                <a:cs typeface="Courier New" panose="02070309020205020404" pitchFamily="49" charset="0"/>
              </a:rPr>
              <a:t>    for (; first != last; ++first)</a:t>
            </a:r>
          </a:p>
          <a:p>
            <a:r>
              <a:rPr lang="en-US" sz="1200">
                <a:latin typeface="Courier New" panose="02070309020205020404" pitchFamily="49" charset="0"/>
                <a:cs typeface="Courier New" panose="02070309020205020404" pitchFamily="49" charset="0"/>
              </a:rPr>
              <a:t>        if (p(*first))</a:t>
            </a:r>
          </a:p>
          <a:p>
            <a:r>
              <a:rPr lang="en-US" sz="1200">
                <a:latin typeface="Courier New" panose="02070309020205020404" pitchFamily="49" charset="0"/>
                <a:cs typeface="Courier New" panose="02070309020205020404" pitchFamily="49" charset="0"/>
              </a:rPr>
              <a:t>            return first;</a:t>
            </a:r>
          </a:p>
          <a:p>
            <a:r>
              <a:rPr lang="en-US" sz="1200">
                <a:latin typeface="Courier New" panose="02070309020205020404" pitchFamily="49" charset="0"/>
                <a:cs typeface="Courier New" panose="02070309020205020404" pitchFamily="49" charset="0"/>
              </a:rPr>
              <a:t> </a:t>
            </a:r>
          </a:p>
          <a:p>
            <a:r>
              <a:rPr lang="en-US" sz="1200">
                <a:latin typeface="Courier New" panose="02070309020205020404" pitchFamily="49" charset="0"/>
                <a:cs typeface="Courier New" panose="02070309020205020404" pitchFamily="49" charset="0"/>
              </a:rPr>
              <a:t>    return last;</a:t>
            </a:r>
          </a:p>
          <a:p>
            <a:r>
              <a:rPr lang="en-US" sz="1200">
                <a:latin typeface="Courier New" panose="02070309020205020404" pitchFamily="49" charset="0"/>
                <a:cs typeface="Courier New" panose="02070309020205020404" pitchFamily="49" charset="0"/>
              </a:rPr>
              <a:t>}</a:t>
            </a:r>
          </a:p>
          <a:p>
            <a:endParaRPr lang="en-US" sz="1200">
              <a:latin typeface="Courier New" panose="02070309020205020404" pitchFamily="49" charset="0"/>
              <a:cs typeface="Courier New" panose="02070309020205020404" pitchFamily="49" charset="0"/>
            </a:endParaRPr>
          </a:p>
          <a:p>
            <a:r>
              <a:rPr lang="en-US" sz="1200">
                <a:latin typeface="Courier New" panose="02070309020205020404" pitchFamily="49" charset="0"/>
                <a:cs typeface="Courier New" panose="02070309020205020404" pitchFamily="49" charset="0"/>
              </a:rPr>
              <a:t>std::vector&lt; int &gt; v{ 1, 2, 3, 4, 5 };</a:t>
            </a:r>
          </a:p>
          <a:p>
            <a:endParaRPr lang="en-US" sz="1200">
              <a:latin typeface="Courier New" panose="02070309020205020404" pitchFamily="49" charset="0"/>
              <a:cs typeface="Courier New" panose="02070309020205020404" pitchFamily="49" charset="0"/>
            </a:endParaRPr>
          </a:p>
          <a:p>
            <a:r>
              <a:rPr lang="en-US" sz="1200">
                <a:latin typeface="Courier New" panose="02070309020205020404" pitchFamily="49" charset="0"/>
                <a:cs typeface="Courier New" panose="02070309020205020404" pitchFamily="49" charset="0"/>
              </a:rPr>
              <a:t>int findMe = 4; </a:t>
            </a:r>
          </a:p>
          <a:p>
            <a:r>
              <a:rPr lang="en-US" sz="1200">
                <a:latin typeface="Courier New" panose="02070309020205020404" pitchFamily="49" charset="0"/>
                <a:cs typeface="Courier New" panose="02070309020205020404" pitchFamily="49" charset="0"/>
              </a:rPr>
              <a:t>auto it = find_if(begin(v), end(v), </a:t>
            </a:r>
            <a:r>
              <a:rPr lang="en-US" sz="1200" b="1">
                <a:solidFill>
                  <a:srgbClr val="0070C0"/>
                </a:solidFill>
                <a:latin typeface="Courier New" panose="02070309020205020404" pitchFamily="49" charset="0"/>
                <a:cs typeface="Courier New" panose="02070309020205020404" pitchFamily="49" charset="0"/>
              </a:rPr>
              <a:t>[findMe] (int item) {</a:t>
            </a:r>
          </a:p>
          <a:p>
            <a:r>
              <a:rPr lang="en-US" sz="1200" b="1">
                <a:solidFill>
                  <a:srgbClr val="0070C0"/>
                </a:solidFill>
                <a:latin typeface="Courier New" panose="02070309020205020404" pitchFamily="49" charset="0"/>
                <a:cs typeface="Courier New" panose="02070309020205020404" pitchFamily="49" charset="0"/>
              </a:rPr>
              <a:t>  return item == findMe;</a:t>
            </a:r>
          </a:p>
          <a:p>
            <a:r>
              <a:rPr lang="en-US" sz="1200" b="1">
                <a:solidFill>
                  <a:srgbClr val="0070C0"/>
                </a:solidFill>
                <a:latin typeface="Courier New" panose="02070309020205020404" pitchFamily="49" charset="0"/>
                <a:cs typeface="Courier New" panose="02070309020205020404" pitchFamily="49" charset="0"/>
              </a:rPr>
              <a:t>}</a:t>
            </a:r>
            <a:r>
              <a:rPr lang="en-US" sz="120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2486718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F404F-7286-5663-FC46-C6ADC174531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3405A85-254A-0BB4-BEC4-69D3CA5EF3D6}"/>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4728A6E2-3429-9C00-820B-0F17A784C330}"/>
              </a:ext>
            </a:extLst>
          </p:cNvPr>
          <p:cNvSpPr>
            <a:spLocks noGrp="1"/>
          </p:cNvSpPr>
          <p:nvPr>
            <p:ph type="sldNum" sz="quarter" idx="12"/>
          </p:nvPr>
        </p:nvSpPr>
        <p:spPr/>
        <p:txBody>
          <a:bodyPr/>
          <a:lstStyle/>
          <a:p>
            <a:fld id="{23D81C8F-CB39-4E4D-98E4-8C3FEDF75126}" type="slidenum">
              <a:rPr lang="en-US" smtClean="0"/>
              <a:t>22</a:t>
            </a:fld>
            <a:endParaRPr lang="en-US"/>
          </a:p>
        </p:txBody>
      </p:sp>
      <p:sp>
        <p:nvSpPr>
          <p:cNvPr id="7" name="TextBox 6">
            <a:extLst>
              <a:ext uri="{FF2B5EF4-FFF2-40B4-BE49-F238E27FC236}">
                <a16:creationId xmlns:a16="http://schemas.microsoft.com/office/drawing/2014/main" id="{9183C076-E70F-EEAF-0530-165525907487}"/>
              </a:ext>
            </a:extLst>
          </p:cNvPr>
          <p:cNvSpPr txBox="1"/>
          <p:nvPr/>
        </p:nvSpPr>
        <p:spPr>
          <a:xfrm>
            <a:off x="535709" y="194055"/>
            <a:ext cx="986167" cy="369332"/>
          </a:xfrm>
          <a:prstGeom prst="rect">
            <a:avLst/>
          </a:prstGeom>
          <a:noFill/>
        </p:spPr>
        <p:txBody>
          <a:bodyPr wrap="none" rtlCol="0">
            <a:spAutoFit/>
          </a:bodyPr>
          <a:lstStyle/>
          <a:p>
            <a:r>
              <a:rPr lang="en-US" dirty="0"/>
              <a:t>Monads</a:t>
            </a:r>
          </a:p>
        </p:txBody>
      </p:sp>
      <p:sp>
        <p:nvSpPr>
          <p:cNvPr id="4" name="TextBox 3">
            <a:extLst>
              <a:ext uri="{FF2B5EF4-FFF2-40B4-BE49-F238E27FC236}">
                <a16:creationId xmlns:a16="http://schemas.microsoft.com/office/drawing/2014/main" id="{9B130E91-0C08-B303-1604-874325FB399A}"/>
              </a:ext>
            </a:extLst>
          </p:cNvPr>
          <p:cNvSpPr txBox="1"/>
          <p:nvPr/>
        </p:nvSpPr>
        <p:spPr>
          <a:xfrm>
            <a:off x="168729" y="797148"/>
            <a:ext cx="5221238" cy="646331"/>
          </a:xfrm>
          <a:prstGeom prst="rect">
            <a:avLst/>
          </a:prstGeom>
          <a:noFill/>
        </p:spPr>
        <p:txBody>
          <a:bodyPr wrap="none" rtlCol="0">
            <a:spAutoFit/>
          </a:bodyPr>
          <a:lstStyle/>
          <a:p>
            <a:r>
              <a:rPr lang="en-US"/>
              <a:t>Monad is a type that allows to chain computations,</a:t>
            </a:r>
            <a:br>
              <a:rPr lang="en-US"/>
            </a:br>
            <a:r>
              <a:rPr lang="en-US"/>
              <a:t>while handling optionality and errors.</a:t>
            </a:r>
          </a:p>
        </p:txBody>
      </p:sp>
      <p:sp>
        <p:nvSpPr>
          <p:cNvPr id="9" name="TextBox 8">
            <a:extLst>
              <a:ext uri="{FF2B5EF4-FFF2-40B4-BE49-F238E27FC236}">
                <a16:creationId xmlns:a16="http://schemas.microsoft.com/office/drawing/2014/main" id="{9CE2A8B7-CF63-E1F6-D139-058351AB9BE4}"/>
              </a:ext>
            </a:extLst>
          </p:cNvPr>
          <p:cNvSpPr txBox="1"/>
          <p:nvPr/>
        </p:nvSpPr>
        <p:spPr>
          <a:xfrm>
            <a:off x="735069" y="2161874"/>
            <a:ext cx="2560316" cy="3416320"/>
          </a:xfrm>
          <a:prstGeom prst="rect">
            <a:avLst/>
          </a:prstGeom>
          <a:noFill/>
        </p:spPr>
        <p:txBody>
          <a:bodyPr wrap="none" rtlCol="0">
            <a:spAutoFit/>
          </a:bodyPr>
          <a:lstStyle/>
          <a:p>
            <a:r>
              <a:rPr lang="en-US" sz="800">
                <a:latin typeface="Courier New" panose="02070309020205020404" pitchFamily="49" charset="0"/>
                <a:cs typeface="Courier New" panose="02070309020205020404" pitchFamily="49" charset="0"/>
              </a:rPr>
              <a:t>class Option&lt;T&gt; {</a:t>
            </a:r>
          </a:p>
          <a:p>
            <a:r>
              <a:rPr lang="en-US" sz="800">
                <a:latin typeface="Courier New" panose="02070309020205020404" pitchFamily="49" charset="0"/>
                <a:cs typeface="Courier New" panose="02070309020205020404" pitchFamily="49" charset="0"/>
              </a:rPr>
              <a:t>  private constructor(</a:t>
            </a:r>
          </a:p>
          <a:p>
            <a:r>
              <a:rPr lang="en-US" sz="800">
                <a:latin typeface="Courier New" panose="02070309020205020404" pitchFamily="49" charset="0"/>
                <a:cs typeface="Courier New" panose="02070309020205020404" pitchFamily="49" charset="0"/>
              </a:rPr>
              <a:t>    private value: T | null</a:t>
            </a:r>
          </a:p>
          <a:p>
            <a:r>
              <a:rPr lang="en-US" sz="800">
                <a:latin typeface="Courier New" panose="02070309020205020404" pitchFamily="49" charset="0"/>
                <a:cs typeface="Courier New" panose="02070309020205020404" pitchFamily="49" charset="0"/>
              </a:rPr>
              <a:t>  )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static Some&lt;T&gt;(value: T) {</a:t>
            </a:r>
          </a:p>
          <a:p>
            <a:r>
              <a:rPr lang="en-US" sz="800">
                <a:latin typeface="Courier New" panose="02070309020205020404" pitchFamily="49" charset="0"/>
                <a:cs typeface="Courier New" panose="02070309020205020404" pitchFamily="49" charset="0"/>
              </a:rPr>
              <a:t>    return new Option(value);</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static None&lt;T&gt;() {</a:t>
            </a:r>
          </a:p>
          <a:p>
            <a:r>
              <a:rPr lang="en-US" sz="800">
                <a:latin typeface="Courier New" panose="02070309020205020404" pitchFamily="49" charset="0"/>
                <a:cs typeface="Courier New" panose="02070309020205020404" pitchFamily="49" charset="0"/>
              </a:rPr>
              <a:t>    return new Option&lt;T&gt;(null);</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public andThen&lt;U&gt;(</a:t>
            </a:r>
          </a:p>
          <a:p>
            <a:r>
              <a:rPr lang="en-US" sz="800">
                <a:latin typeface="Courier New" panose="02070309020205020404" pitchFamily="49" charset="0"/>
                <a:cs typeface="Courier New" panose="02070309020205020404" pitchFamily="49" charset="0"/>
              </a:rPr>
              <a:t>    fn: (val: T) =&gt; Option&lt;U&gt;</a:t>
            </a:r>
          </a:p>
          <a:p>
            <a:r>
              <a:rPr lang="en-US" sz="800">
                <a:latin typeface="Courier New" panose="02070309020205020404" pitchFamily="49" charset="0"/>
                <a:cs typeface="Courier New" panose="02070309020205020404" pitchFamily="49" charset="0"/>
              </a:rPr>
              <a:t>  ): Option&lt;U&gt; {</a:t>
            </a:r>
          </a:p>
          <a:p>
            <a:r>
              <a:rPr lang="en-US" sz="800">
                <a:latin typeface="Courier New" panose="02070309020205020404" pitchFamily="49" charset="0"/>
                <a:cs typeface="Courier New" panose="02070309020205020404" pitchFamily="49" charset="0"/>
              </a:rPr>
              <a:t>    return this.value !== null</a:t>
            </a:r>
          </a:p>
          <a:p>
            <a:r>
              <a:rPr lang="en-US" sz="800">
                <a:latin typeface="Courier New" panose="02070309020205020404" pitchFamily="49" charset="0"/>
                <a:cs typeface="Courier New" panose="02070309020205020404" pitchFamily="49" charset="0"/>
              </a:rPr>
              <a:t>      ? fn(this.value)</a:t>
            </a:r>
          </a:p>
          <a:p>
            <a:r>
              <a:rPr lang="en-US" sz="800">
                <a:latin typeface="Courier New" panose="02070309020205020404" pitchFamily="49" charset="0"/>
                <a:cs typeface="Courier New" panose="02070309020205020404" pitchFamily="49" charset="0"/>
              </a:rPr>
              <a:t>      : Option.None&lt;U&gt;();</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public unwrapOr(defaultValue: T): T {</a:t>
            </a:r>
          </a:p>
          <a:p>
            <a:r>
              <a:rPr lang="en-US" sz="800">
                <a:latin typeface="Courier New" panose="02070309020205020404" pitchFamily="49" charset="0"/>
                <a:cs typeface="Courier New" panose="02070309020205020404" pitchFamily="49" charset="0"/>
              </a:rPr>
              <a:t>    return this.value !== null</a:t>
            </a:r>
          </a:p>
          <a:p>
            <a:r>
              <a:rPr lang="en-US" sz="800">
                <a:latin typeface="Courier New" panose="02070309020205020404" pitchFamily="49" charset="0"/>
                <a:cs typeface="Courier New" panose="02070309020205020404" pitchFamily="49" charset="0"/>
              </a:rPr>
              <a:t>      ? this.value</a:t>
            </a:r>
          </a:p>
          <a:p>
            <a:r>
              <a:rPr lang="en-US" sz="800">
                <a:latin typeface="Courier New" panose="02070309020205020404" pitchFamily="49" charset="0"/>
                <a:cs typeface="Courier New" panose="02070309020205020404" pitchFamily="49" charset="0"/>
              </a:rPr>
              <a:t>      : defaultValue;</a:t>
            </a:r>
          </a:p>
          <a:p>
            <a:r>
              <a:rPr lang="en-US" sz="800">
                <a:latin typeface="Courier New" panose="02070309020205020404" pitchFamily="49" charset="0"/>
                <a:cs typeface="Courier New" panose="02070309020205020404" pitchFamily="49" charset="0"/>
              </a:rPr>
              <a:t>  }</a:t>
            </a:r>
          </a:p>
          <a:p>
            <a:r>
              <a:rPr lang="en-US" sz="800">
                <a:latin typeface="Courier New" panose="02070309020205020404" pitchFamily="49" charset="0"/>
                <a:cs typeface="Courier New" panose="02070309020205020404" pitchFamily="49" charset="0"/>
              </a:rPr>
              <a:t>}</a:t>
            </a:r>
          </a:p>
        </p:txBody>
      </p:sp>
      <p:sp>
        <p:nvSpPr>
          <p:cNvPr id="10" name="TextBox 9">
            <a:extLst>
              <a:ext uri="{FF2B5EF4-FFF2-40B4-BE49-F238E27FC236}">
                <a16:creationId xmlns:a16="http://schemas.microsoft.com/office/drawing/2014/main" id="{A199AB3C-0BF7-A02D-F655-F818984D1115}"/>
              </a:ext>
            </a:extLst>
          </p:cNvPr>
          <p:cNvSpPr txBox="1"/>
          <p:nvPr/>
        </p:nvSpPr>
        <p:spPr>
          <a:xfrm>
            <a:off x="6285870" y="136525"/>
            <a:ext cx="3169457" cy="6001643"/>
          </a:xfrm>
          <a:prstGeom prst="rect">
            <a:avLst/>
          </a:prstGeom>
          <a:noFill/>
        </p:spPr>
        <p:txBody>
          <a:bodyPr wrap="none" rtlCol="0">
            <a:spAutoFit/>
          </a:bodyPr>
          <a:lstStyle/>
          <a:p>
            <a:r>
              <a:rPr lang="en-US" sz="800">
                <a:latin typeface="Courier New" panose="02070309020205020404" pitchFamily="49" charset="0"/>
                <a:cs typeface="Courier New" panose="02070309020205020404" pitchFamily="49" charset="0"/>
              </a:rPr>
              <a:t>class Result&lt;T, E&gt; {</a:t>
            </a:r>
          </a:p>
          <a:p>
            <a:r>
              <a:rPr lang="en-US" sz="800">
                <a:latin typeface="Courier New" panose="02070309020205020404" pitchFamily="49" charset="0"/>
                <a:cs typeface="Courier New" panose="02070309020205020404" pitchFamily="49" charset="0"/>
              </a:rPr>
              <a:t>  private constructor(</a:t>
            </a:r>
          </a:p>
          <a:p>
            <a:r>
              <a:rPr lang="en-US" sz="800">
                <a:latin typeface="Courier New" panose="02070309020205020404" pitchFamily="49" charset="0"/>
                <a:cs typeface="Courier New" panose="02070309020205020404" pitchFamily="49" charset="0"/>
              </a:rPr>
              <a:t>    private value: T | null,</a:t>
            </a:r>
          </a:p>
          <a:p>
            <a:r>
              <a:rPr lang="en-US" sz="800">
                <a:latin typeface="Courier New" panose="02070309020205020404" pitchFamily="49" charset="0"/>
                <a:cs typeface="Courier New" panose="02070309020205020404" pitchFamily="49" charset="0"/>
              </a:rPr>
              <a:t>    private error: E | null</a:t>
            </a:r>
          </a:p>
          <a:p>
            <a:r>
              <a:rPr lang="en-US" sz="800">
                <a:latin typeface="Courier New" panose="02070309020205020404" pitchFamily="49" charset="0"/>
                <a:cs typeface="Courier New" panose="02070309020205020404" pitchFamily="49" charset="0"/>
              </a:rPr>
              <a:t>  )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static Ok&lt;T&gt;(value: T): Result&lt;T, never&gt; {</a:t>
            </a:r>
          </a:p>
          <a:p>
            <a:r>
              <a:rPr lang="en-US" sz="800">
                <a:latin typeface="Courier New" panose="02070309020205020404" pitchFamily="49" charset="0"/>
                <a:cs typeface="Courier New" panose="02070309020205020404" pitchFamily="49" charset="0"/>
              </a:rPr>
              <a:t>    return new Result(value, null);</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static Err&lt;E&gt;(error: E): Result&lt;never, E&gt; {</a:t>
            </a:r>
          </a:p>
          <a:p>
            <a:r>
              <a:rPr lang="en-US" sz="800">
                <a:latin typeface="Courier New" panose="02070309020205020404" pitchFamily="49" charset="0"/>
                <a:cs typeface="Courier New" panose="02070309020205020404" pitchFamily="49" charset="0"/>
              </a:rPr>
              <a:t>    return new Result(undefined as never, error);</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isOk(): boolean {</a:t>
            </a:r>
          </a:p>
          <a:p>
            <a:r>
              <a:rPr lang="en-US" sz="800">
                <a:latin typeface="Courier New" panose="02070309020205020404" pitchFamily="49" charset="0"/>
                <a:cs typeface="Courier New" panose="02070309020205020404" pitchFamily="49" charset="0"/>
              </a:rPr>
              <a:t>    return this.error === null;</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isErr(): boolean {</a:t>
            </a:r>
          </a:p>
          <a:p>
            <a:r>
              <a:rPr lang="en-US" sz="800">
                <a:latin typeface="Courier New" panose="02070309020205020404" pitchFamily="49" charset="0"/>
                <a:cs typeface="Courier New" panose="02070309020205020404" pitchFamily="49" charset="0"/>
              </a:rPr>
              <a:t>    return this.value === null;</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map&lt;U&gt;(fn: (val: T) =&gt; U): Result&lt;U, E&gt; {</a:t>
            </a:r>
          </a:p>
          <a:p>
            <a:r>
              <a:rPr lang="en-US" sz="800">
                <a:latin typeface="Courier New" panose="02070309020205020404" pitchFamily="49" charset="0"/>
                <a:cs typeface="Courier New" panose="02070309020205020404" pitchFamily="49" charset="0"/>
              </a:rPr>
              <a:t>    return this.isOk()</a:t>
            </a:r>
          </a:p>
          <a:p>
            <a:r>
              <a:rPr lang="en-US" sz="800">
                <a:latin typeface="Courier New" panose="02070309020205020404" pitchFamily="49" charset="0"/>
                <a:cs typeface="Courier New" panose="02070309020205020404" pitchFamily="49" charset="0"/>
              </a:rPr>
              <a:t>      ? Result.Ok(fn(this.value as T))</a:t>
            </a:r>
          </a:p>
          <a:p>
            <a:r>
              <a:rPr lang="en-US" sz="800">
                <a:latin typeface="Courier New" panose="02070309020205020404" pitchFamily="49" charset="0"/>
                <a:cs typeface="Courier New" panose="02070309020205020404" pitchFamily="49" charset="0"/>
              </a:rPr>
              <a:t>      : Result.Err(this.error as E);</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andThen&lt;U&gt;(</a:t>
            </a:r>
          </a:p>
          <a:p>
            <a:r>
              <a:rPr lang="en-US" sz="800">
                <a:latin typeface="Courier New" panose="02070309020205020404" pitchFamily="49" charset="0"/>
                <a:cs typeface="Courier New" panose="02070309020205020404" pitchFamily="49" charset="0"/>
              </a:rPr>
              <a:t>    fn: (val: T) =&gt; Result&lt;U, E&gt;</a:t>
            </a:r>
          </a:p>
          <a:p>
            <a:r>
              <a:rPr lang="en-US" sz="800">
                <a:latin typeface="Courier New" panose="02070309020205020404" pitchFamily="49" charset="0"/>
                <a:cs typeface="Courier New" panose="02070309020205020404" pitchFamily="49" charset="0"/>
              </a:rPr>
              <a:t>  ): Result&lt;U, E&gt; {</a:t>
            </a:r>
          </a:p>
          <a:p>
            <a:r>
              <a:rPr lang="en-US" sz="800">
                <a:latin typeface="Courier New" panose="02070309020205020404" pitchFamily="49" charset="0"/>
                <a:cs typeface="Courier New" panose="02070309020205020404" pitchFamily="49" charset="0"/>
              </a:rPr>
              <a:t>    return this.isOk()</a:t>
            </a:r>
          </a:p>
          <a:p>
            <a:r>
              <a:rPr lang="en-US" sz="800">
                <a:latin typeface="Courier New" panose="02070309020205020404" pitchFamily="49" charset="0"/>
                <a:cs typeface="Courier New" panose="02070309020205020404" pitchFamily="49" charset="0"/>
              </a:rPr>
              <a:t>      ? fn(this.value as T)</a:t>
            </a:r>
          </a:p>
          <a:p>
            <a:r>
              <a:rPr lang="en-US" sz="800">
                <a:latin typeface="Courier New" panose="02070309020205020404" pitchFamily="49" charset="0"/>
                <a:cs typeface="Courier New" panose="02070309020205020404" pitchFamily="49" charset="0"/>
              </a:rPr>
              <a:t>      : Result.Err(this.error as E);</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unwrapOr(defaultValue: T): T {</a:t>
            </a:r>
          </a:p>
          <a:p>
            <a:r>
              <a:rPr lang="en-US" sz="800">
                <a:latin typeface="Courier New" panose="02070309020205020404" pitchFamily="49" charset="0"/>
                <a:cs typeface="Courier New" panose="02070309020205020404" pitchFamily="49" charset="0"/>
              </a:rPr>
              <a:t>    return this.isOk()</a:t>
            </a:r>
          </a:p>
          <a:p>
            <a:r>
              <a:rPr lang="en-US" sz="800">
                <a:latin typeface="Courier New" panose="02070309020205020404" pitchFamily="49" charset="0"/>
                <a:cs typeface="Courier New" panose="02070309020205020404" pitchFamily="49" charset="0"/>
              </a:rPr>
              <a:t>      ? (this.value as T)</a:t>
            </a:r>
          </a:p>
          <a:p>
            <a:r>
              <a:rPr lang="en-US" sz="800">
                <a:latin typeface="Courier New" panose="02070309020205020404" pitchFamily="49" charset="0"/>
                <a:cs typeface="Courier New" panose="02070309020205020404" pitchFamily="49" charset="0"/>
              </a:rPr>
              <a:t>      : defaultValue;</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unwrapErrOr(defaultError: E): E {</a:t>
            </a:r>
          </a:p>
          <a:p>
            <a:r>
              <a:rPr lang="en-US" sz="800">
                <a:latin typeface="Courier New" panose="02070309020205020404" pitchFamily="49" charset="0"/>
                <a:cs typeface="Courier New" panose="02070309020205020404" pitchFamily="49" charset="0"/>
              </a:rPr>
              <a:t>    return this.isErr()</a:t>
            </a:r>
          </a:p>
          <a:p>
            <a:r>
              <a:rPr lang="en-US" sz="800">
                <a:latin typeface="Courier New" panose="02070309020205020404" pitchFamily="49" charset="0"/>
                <a:cs typeface="Courier New" panose="02070309020205020404" pitchFamily="49" charset="0"/>
              </a:rPr>
              <a:t>      ? (this.error as E)</a:t>
            </a:r>
          </a:p>
          <a:p>
            <a:r>
              <a:rPr lang="en-US" sz="800">
                <a:latin typeface="Courier New" panose="02070309020205020404" pitchFamily="49" charset="0"/>
                <a:cs typeface="Courier New" panose="02070309020205020404" pitchFamily="49" charset="0"/>
              </a:rPr>
              <a:t>      : defaultError;</a:t>
            </a:r>
          </a:p>
          <a:p>
            <a:r>
              <a:rPr lang="en-US" sz="800">
                <a:latin typeface="Courier New" panose="02070309020205020404" pitchFamily="49" charset="0"/>
                <a:cs typeface="Courier New" panose="02070309020205020404" pitchFamily="49" charset="0"/>
              </a:rPr>
              <a:t>  }</a:t>
            </a:r>
          </a:p>
          <a:p>
            <a:r>
              <a:rPr lang="en-US" sz="80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687241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02788-BBD9-CB5D-AE66-1CF31F18E60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A6B7673-77BE-000C-ED84-33552C69A143}"/>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BCE4BE4F-38D1-C181-985F-2872375CA4EF}"/>
              </a:ext>
            </a:extLst>
          </p:cNvPr>
          <p:cNvSpPr>
            <a:spLocks noGrp="1"/>
          </p:cNvSpPr>
          <p:nvPr>
            <p:ph type="sldNum" sz="quarter" idx="12"/>
          </p:nvPr>
        </p:nvSpPr>
        <p:spPr/>
        <p:txBody>
          <a:bodyPr/>
          <a:lstStyle/>
          <a:p>
            <a:fld id="{23D81C8F-CB39-4E4D-98E4-8C3FEDF75126}" type="slidenum">
              <a:rPr lang="en-US" smtClean="0"/>
              <a:t>23</a:t>
            </a:fld>
            <a:endParaRPr lang="en-US"/>
          </a:p>
        </p:txBody>
      </p:sp>
      <p:sp>
        <p:nvSpPr>
          <p:cNvPr id="7" name="TextBox 6">
            <a:extLst>
              <a:ext uri="{FF2B5EF4-FFF2-40B4-BE49-F238E27FC236}">
                <a16:creationId xmlns:a16="http://schemas.microsoft.com/office/drawing/2014/main" id="{4E812EEB-D21E-80A3-18A8-FFC8758F5094}"/>
              </a:ext>
            </a:extLst>
          </p:cNvPr>
          <p:cNvSpPr txBox="1"/>
          <p:nvPr/>
        </p:nvSpPr>
        <p:spPr>
          <a:xfrm>
            <a:off x="535709" y="194055"/>
            <a:ext cx="986167" cy="369332"/>
          </a:xfrm>
          <a:prstGeom prst="rect">
            <a:avLst/>
          </a:prstGeom>
          <a:noFill/>
        </p:spPr>
        <p:txBody>
          <a:bodyPr wrap="none" rtlCol="0">
            <a:spAutoFit/>
          </a:bodyPr>
          <a:lstStyle/>
          <a:p>
            <a:r>
              <a:rPr lang="en-US" dirty="0"/>
              <a:t>Monads</a:t>
            </a:r>
          </a:p>
        </p:txBody>
      </p:sp>
      <p:sp>
        <p:nvSpPr>
          <p:cNvPr id="4" name="TextBox 3">
            <a:extLst>
              <a:ext uri="{FF2B5EF4-FFF2-40B4-BE49-F238E27FC236}">
                <a16:creationId xmlns:a16="http://schemas.microsoft.com/office/drawing/2014/main" id="{4FCF6F07-BF69-E8E2-1DE3-AC59B5583AA1}"/>
              </a:ext>
            </a:extLst>
          </p:cNvPr>
          <p:cNvSpPr txBox="1"/>
          <p:nvPr/>
        </p:nvSpPr>
        <p:spPr>
          <a:xfrm>
            <a:off x="375644" y="1636903"/>
            <a:ext cx="5720356" cy="2585323"/>
          </a:xfrm>
          <a:prstGeom prst="rect">
            <a:avLst/>
          </a:prstGeom>
          <a:noFill/>
        </p:spPr>
        <p:txBody>
          <a:bodyPr wrap="square" rtlCol="0">
            <a:spAutoFit/>
          </a:bodyPr>
          <a:lstStyle/>
          <a:p>
            <a:r>
              <a:rPr lang="en-US"/>
              <a:t>Monad is a type that allows to chain computations,</a:t>
            </a:r>
            <a:br>
              <a:rPr lang="en-US"/>
            </a:br>
            <a:r>
              <a:rPr lang="en-US"/>
              <a:t>while handling optionality and errors.</a:t>
            </a:r>
          </a:p>
          <a:p>
            <a:endParaRPr lang="en-US"/>
          </a:p>
          <a:p>
            <a:r>
              <a:rPr lang="en-US"/>
              <a:t>So, each step produces a value and also some extra information about the computation, like a failure.</a:t>
            </a:r>
          </a:p>
          <a:p>
            <a:endParaRPr lang="en-US"/>
          </a:p>
          <a:p>
            <a:r>
              <a:rPr lang="en-US"/>
              <a:t>Why monads? It’s a way to handle values and side effects without resorting to imperative flow control, like try/catch and sequences of if/else.</a:t>
            </a:r>
          </a:p>
        </p:txBody>
      </p:sp>
      <p:sp>
        <p:nvSpPr>
          <p:cNvPr id="2" name="TextBox 1">
            <a:extLst>
              <a:ext uri="{FF2B5EF4-FFF2-40B4-BE49-F238E27FC236}">
                <a16:creationId xmlns:a16="http://schemas.microsoft.com/office/drawing/2014/main" id="{7BBC9A6F-E905-B3BB-6B6D-F8CD4CD1D974}"/>
              </a:ext>
            </a:extLst>
          </p:cNvPr>
          <p:cNvSpPr txBox="1"/>
          <p:nvPr/>
        </p:nvSpPr>
        <p:spPr>
          <a:xfrm>
            <a:off x="6552486" y="512900"/>
            <a:ext cx="4801314" cy="5170646"/>
          </a:xfrm>
          <a:prstGeom prst="rect">
            <a:avLst/>
          </a:prstGeom>
          <a:noFill/>
        </p:spPr>
        <p:txBody>
          <a:bodyPr wrap="none" rtlCol="0">
            <a:spAutoFit/>
          </a:bodyPr>
          <a:lstStyle/>
          <a:p>
            <a:r>
              <a:rPr lang="en-US" sz="1000">
                <a:latin typeface="Courier New" panose="02070309020205020404" pitchFamily="49" charset="0"/>
                <a:cs typeface="Courier New" panose="02070309020205020404" pitchFamily="49" charset="0"/>
              </a:rPr>
              <a:t>interface User {</a:t>
            </a:r>
          </a:p>
          <a:p>
            <a:r>
              <a:rPr lang="en-US" sz="1000">
                <a:latin typeface="Courier New" panose="02070309020205020404" pitchFamily="49" charset="0"/>
                <a:cs typeface="Courier New" panose="02070309020205020404" pitchFamily="49" charset="0"/>
              </a:rPr>
              <a:t>  name: string;</a:t>
            </a:r>
          </a:p>
          <a:p>
            <a:r>
              <a:rPr lang="en-US" sz="1000">
                <a:latin typeface="Courier New" panose="02070309020205020404" pitchFamily="49" charset="0"/>
                <a:cs typeface="Courier New" panose="02070309020205020404" pitchFamily="49" charset="0"/>
              </a:rPr>
              <a:t>  balance: number;</a:t>
            </a:r>
          </a:p>
          <a:p>
            <a:r>
              <a:rPr lang="en-US" sz="1000">
                <a:latin typeface="Courier New" panose="02070309020205020404" pitchFamily="49" charset="0"/>
                <a:cs typeface="Courier New" panose="02070309020205020404" pitchFamily="49" charset="0"/>
              </a:rPr>
              <a:t>}</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const users = new Map&lt;number, User&gt;([</a:t>
            </a:r>
          </a:p>
          <a:p>
            <a:r>
              <a:rPr lang="en-US" sz="1000">
                <a:latin typeface="Courier New" panose="02070309020205020404" pitchFamily="49" charset="0"/>
                <a:cs typeface="Courier New" panose="02070309020205020404" pitchFamily="49" charset="0"/>
              </a:rPr>
              <a:t>  [1, { name: "Alice", balance: 200 }],</a:t>
            </a:r>
          </a:p>
          <a:p>
            <a:r>
              <a:rPr lang="en-US" sz="1000">
                <a:latin typeface="Courier New" panose="02070309020205020404" pitchFamily="49" charset="0"/>
                <a:cs typeface="Courier New" panose="02070309020205020404" pitchFamily="49" charset="0"/>
              </a:rPr>
              <a:t>  [2, { name: "Bob", balance: -50 }],</a:t>
            </a:r>
          </a:p>
          <a:p>
            <a:r>
              <a:rPr lang="en-US" sz="1000">
                <a:latin typeface="Courier New" panose="02070309020205020404" pitchFamily="49" charset="0"/>
                <a:cs typeface="Courier New" panose="02070309020205020404" pitchFamily="49" charset="0"/>
              </a:rPr>
              <a:t>  [3, { name: "Trudy", balance: 3 }]</a:t>
            </a:r>
          </a:p>
          <a:p>
            <a:r>
              <a:rPr lang="en-US" sz="1000">
                <a:latin typeface="Courier New" panose="02070309020205020404" pitchFamily="49" charset="0"/>
                <a:cs typeface="Courier New" panose="02070309020205020404" pitchFamily="49" charset="0"/>
              </a:rPr>
              <a:t>]);</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function findUser(userId: number): User | null {</a:t>
            </a:r>
          </a:p>
          <a:p>
            <a:r>
              <a:rPr lang="en-US" sz="1000">
                <a:latin typeface="Courier New" panose="02070309020205020404" pitchFamily="49" charset="0"/>
                <a:cs typeface="Courier New" panose="02070309020205020404" pitchFamily="49" charset="0"/>
              </a:rPr>
              <a:t>  return users.has(userId) ? users.get(userId)! : null;</a:t>
            </a:r>
          </a:p>
          <a:p>
            <a:r>
              <a:rPr lang="en-US" sz="1000">
                <a:latin typeface="Courier New" panose="02070309020205020404" pitchFamily="49" charset="0"/>
                <a:cs typeface="Courier New" panose="02070309020205020404" pitchFamily="49" charset="0"/>
              </a:rPr>
              <a:t>}</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function getUserBalance(user: User | null): number | null {</a:t>
            </a:r>
          </a:p>
          <a:p>
            <a:r>
              <a:rPr lang="en-US" sz="1000">
                <a:latin typeface="Courier New" panose="02070309020205020404" pitchFamily="49" charset="0"/>
                <a:cs typeface="Courier New" panose="02070309020205020404" pitchFamily="49" charset="0"/>
              </a:rPr>
              <a:t>  return user &amp;&amp; user.balance &gt;= 0 ? user.balance : null;</a:t>
            </a:r>
          </a:p>
          <a:p>
            <a:r>
              <a:rPr lang="en-US" sz="1000">
                <a:latin typeface="Courier New" panose="02070309020205020404" pitchFamily="49" charset="0"/>
                <a:cs typeface="Courier New" panose="02070309020205020404" pitchFamily="49" charset="0"/>
              </a:rPr>
              <a:t>}</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function applyBonus(balance: number | null): number | null {</a:t>
            </a:r>
          </a:p>
          <a:p>
            <a:r>
              <a:rPr lang="en-US" sz="1000">
                <a:latin typeface="Courier New" panose="02070309020205020404" pitchFamily="49" charset="0"/>
                <a:cs typeface="Courier New" panose="02070309020205020404" pitchFamily="49" charset="0"/>
              </a:rPr>
              <a:t>  return balance &amp;&amp; balance &gt; 10 ? balance * 1.10 : null;</a:t>
            </a:r>
          </a:p>
          <a:p>
            <a:r>
              <a:rPr lang="en-US" sz="1000">
                <a:latin typeface="Courier New" panose="02070309020205020404" pitchFamily="49" charset="0"/>
                <a:cs typeface="Courier New" panose="02070309020205020404" pitchFamily="49" charset="0"/>
              </a:rPr>
              <a:t>}</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const userId = 1;</a:t>
            </a:r>
          </a:p>
          <a:p>
            <a:r>
              <a:rPr lang="en-US" sz="1000">
                <a:latin typeface="Courier New" panose="02070309020205020404" pitchFamily="49" charset="0"/>
                <a:cs typeface="Courier New" panose="02070309020205020404" pitchFamily="49" charset="0"/>
              </a:rPr>
              <a:t>const user = findUser(userId);</a:t>
            </a:r>
          </a:p>
          <a:p>
            <a:r>
              <a:rPr lang="en-US" sz="1000">
                <a:latin typeface="Courier New" panose="02070309020205020404" pitchFamily="49" charset="0"/>
                <a:cs typeface="Courier New" panose="02070309020205020404" pitchFamily="49" charset="0"/>
              </a:rPr>
              <a:t>const balance = getUserBalance(user);</a:t>
            </a:r>
          </a:p>
          <a:p>
            <a:r>
              <a:rPr lang="en-US" sz="1000">
                <a:latin typeface="Courier New" panose="02070309020205020404" pitchFamily="49" charset="0"/>
                <a:cs typeface="Courier New" panose="02070309020205020404" pitchFamily="49" charset="0"/>
              </a:rPr>
              <a:t>const newBalance = applyBonus(balance);</a:t>
            </a: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if (newBalance !== null) {</a:t>
            </a:r>
          </a:p>
          <a:p>
            <a:r>
              <a:rPr lang="en-US" sz="1000">
                <a:latin typeface="Courier New" panose="02070309020205020404" pitchFamily="49" charset="0"/>
                <a:cs typeface="Courier New" panose="02070309020205020404" pitchFamily="49" charset="0"/>
              </a:rPr>
              <a:t>  console.log(`New Balance: ${newBalance}`);</a:t>
            </a:r>
          </a:p>
          <a:p>
            <a:r>
              <a:rPr lang="en-US" sz="1000">
                <a:latin typeface="Courier New" panose="02070309020205020404" pitchFamily="49" charset="0"/>
                <a:cs typeface="Courier New" panose="02070309020205020404" pitchFamily="49" charset="0"/>
              </a:rPr>
              <a:t>} else {</a:t>
            </a:r>
          </a:p>
          <a:p>
            <a:r>
              <a:rPr lang="en-US" sz="1000">
                <a:latin typeface="Courier New" panose="02070309020205020404" pitchFamily="49" charset="0"/>
                <a:cs typeface="Courier New" panose="02070309020205020404" pitchFamily="49" charset="0"/>
              </a:rPr>
              <a:t>  console.log("Operation failed");</a:t>
            </a:r>
          </a:p>
          <a:p>
            <a:r>
              <a:rPr lang="en-US" sz="100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485442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332E0-BF7B-DBCD-D2DD-AE74AA77244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4BCBC5A-0D44-4B39-24C8-CDFCA8096111}"/>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85FD1525-05CF-9FD9-D152-114A36505522}"/>
              </a:ext>
            </a:extLst>
          </p:cNvPr>
          <p:cNvSpPr>
            <a:spLocks noGrp="1"/>
          </p:cNvSpPr>
          <p:nvPr>
            <p:ph type="sldNum" sz="quarter" idx="12"/>
          </p:nvPr>
        </p:nvSpPr>
        <p:spPr/>
        <p:txBody>
          <a:bodyPr/>
          <a:lstStyle/>
          <a:p>
            <a:fld id="{23D81C8F-CB39-4E4D-98E4-8C3FEDF75126}" type="slidenum">
              <a:rPr lang="en-US" smtClean="0"/>
              <a:t>24</a:t>
            </a:fld>
            <a:endParaRPr lang="en-US"/>
          </a:p>
        </p:txBody>
      </p:sp>
      <p:sp>
        <p:nvSpPr>
          <p:cNvPr id="7" name="TextBox 6">
            <a:extLst>
              <a:ext uri="{FF2B5EF4-FFF2-40B4-BE49-F238E27FC236}">
                <a16:creationId xmlns:a16="http://schemas.microsoft.com/office/drawing/2014/main" id="{F230BAE9-5954-8FA8-BDD0-7ACBAA286428}"/>
              </a:ext>
            </a:extLst>
          </p:cNvPr>
          <p:cNvSpPr txBox="1"/>
          <p:nvPr/>
        </p:nvSpPr>
        <p:spPr>
          <a:xfrm>
            <a:off x="535709" y="194055"/>
            <a:ext cx="986167" cy="369332"/>
          </a:xfrm>
          <a:prstGeom prst="rect">
            <a:avLst/>
          </a:prstGeom>
          <a:noFill/>
        </p:spPr>
        <p:txBody>
          <a:bodyPr wrap="none" rtlCol="0">
            <a:spAutoFit/>
          </a:bodyPr>
          <a:lstStyle/>
          <a:p>
            <a:r>
              <a:rPr lang="en-US" dirty="0"/>
              <a:t>Monads</a:t>
            </a:r>
          </a:p>
        </p:txBody>
      </p:sp>
      <p:sp>
        <p:nvSpPr>
          <p:cNvPr id="4" name="TextBox 3">
            <a:extLst>
              <a:ext uri="{FF2B5EF4-FFF2-40B4-BE49-F238E27FC236}">
                <a16:creationId xmlns:a16="http://schemas.microsoft.com/office/drawing/2014/main" id="{117E7D44-71D6-29C3-137E-018F097C6DED}"/>
              </a:ext>
            </a:extLst>
          </p:cNvPr>
          <p:cNvSpPr txBox="1"/>
          <p:nvPr/>
        </p:nvSpPr>
        <p:spPr>
          <a:xfrm>
            <a:off x="168729" y="797148"/>
            <a:ext cx="5305427" cy="1477328"/>
          </a:xfrm>
          <a:prstGeom prst="rect">
            <a:avLst/>
          </a:prstGeom>
          <a:noFill/>
        </p:spPr>
        <p:txBody>
          <a:bodyPr wrap="none" rtlCol="0">
            <a:spAutoFit/>
          </a:bodyPr>
          <a:lstStyle/>
          <a:p>
            <a:r>
              <a:rPr lang="en-US"/>
              <a:t>We carry this extra-information with:</a:t>
            </a:r>
          </a:p>
          <a:p>
            <a:endParaRPr lang="en-US"/>
          </a:p>
          <a:p>
            <a:pPr marL="285750" indent="-285750">
              <a:buFontTx/>
              <a:buChar char="-"/>
            </a:pPr>
            <a:r>
              <a:rPr lang="en-US"/>
              <a:t>Optional&lt;T&gt; : type that </a:t>
            </a:r>
            <a:r>
              <a:rPr lang="en-US" b="1">
                <a:solidFill>
                  <a:srgbClr val="FF0000"/>
                </a:solidFill>
              </a:rPr>
              <a:t>could</a:t>
            </a:r>
            <a:r>
              <a:rPr lang="en-US"/>
              <a:t> contain a value</a:t>
            </a:r>
          </a:p>
          <a:p>
            <a:pPr marL="285750" indent="-285750">
              <a:buFontTx/>
              <a:buChar char="-"/>
            </a:pPr>
            <a:r>
              <a:rPr lang="en-US"/>
              <a:t>Result&lt;T, E&gt;: type that can </a:t>
            </a:r>
            <a:r>
              <a:rPr lang="en-US" b="1">
                <a:solidFill>
                  <a:srgbClr val="FF0000"/>
                </a:solidFill>
              </a:rPr>
              <a:t>either</a:t>
            </a:r>
            <a:r>
              <a:rPr lang="en-US"/>
              <a:t> contain a result</a:t>
            </a:r>
            <a:br>
              <a:rPr lang="en-US"/>
            </a:br>
            <a:r>
              <a:rPr lang="en-US"/>
              <a:t>of an operation or an error</a:t>
            </a:r>
          </a:p>
        </p:txBody>
      </p:sp>
      <p:sp>
        <p:nvSpPr>
          <p:cNvPr id="2" name="TextBox 1">
            <a:extLst>
              <a:ext uri="{FF2B5EF4-FFF2-40B4-BE49-F238E27FC236}">
                <a16:creationId xmlns:a16="http://schemas.microsoft.com/office/drawing/2014/main" id="{7C0EA48A-1AAC-DB12-D64A-81BCBB068476}"/>
              </a:ext>
            </a:extLst>
          </p:cNvPr>
          <p:cNvSpPr txBox="1"/>
          <p:nvPr/>
        </p:nvSpPr>
        <p:spPr>
          <a:xfrm>
            <a:off x="535709" y="2551928"/>
            <a:ext cx="3961341" cy="3293209"/>
          </a:xfrm>
          <a:prstGeom prst="rect">
            <a:avLst/>
          </a:prstGeom>
          <a:noFill/>
        </p:spPr>
        <p:txBody>
          <a:bodyPr wrap="none" rtlCol="0">
            <a:spAutoFit/>
          </a:bodyPr>
          <a:lstStyle/>
          <a:p>
            <a:r>
              <a:rPr lang="en-US" sz="800">
                <a:latin typeface="Courier New" panose="02070309020205020404" pitchFamily="49" charset="0"/>
                <a:cs typeface="Courier New" panose="02070309020205020404" pitchFamily="49" charset="0"/>
              </a:rPr>
              <a:t>function findUser(userId: number): Optional&lt;User&gt; {</a:t>
            </a:r>
          </a:p>
          <a:p>
            <a:r>
              <a:rPr lang="en-US" sz="800">
                <a:latin typeface="Courier New" panose="02070309020205020404" pitchFamily="49" charset="0"/>
                <a:cs typeface="Courier New" panose="02070309020205020404" pitchFamily="49" charset="0"/>
              </a:rPr>
              <a:t>  return users.has(userId)</a:t>
            </a:r>
          </a:p>
          <a:p>
            <a:r>
              <a:rPr lang="en-US" sz="800">
                <a:latin typeface="Courier New" panose="02070309020205020404" pitchFamily="49" charset="0"/>
                <a:cs typeface="Courier New" panose="02070309020205020404" pitchFamily="49" charset="0"/>
              </a:rPr>
              <a:t>    ? Optional.Some(users.get(userId)!)</a:t>
            </a:r>
          </a:p>
          <a:p>
            <a:r>
              <a:rPr lang="en-US" sz="800">
                <a:latin typeface="Courier New" panose="02070309020205020404" pitchFamily="49" charset="0"/>
                <a:cs typeface="Courier New" panose="02070309020205020404" pitchFamily="49" charset="0"/>
              </a:rPr>
              <a:t>    : Optional.None();</a:t>
            </a:r>
          </a:p>
          <a:p>
            <a:r>
              <a:rPr lang="en-US" sz="800">
                <a:latin typeface="Courier New" panose="02070309020205020404" pitchFamily="49" charset="0"/>
                <a:cs typeface="Courier New" panose="02070309020205020404" pitchFamily="49" charset="0"/>
              </a:rPr>
              <a:t>}</a:t>
            </a:r>
          </a:p>
          <a:p>
            <a:br>
              <a:rPr lang="en-US" sz="800">
                <a:latin typeface="Courier New" panose="02070309020205020404" pitchFamily="49" charset="0"/>
                <a:cs typeface="Courier New" panose="02070309020205020404" pitchFamily="49" charset="0"/>
              </a:rPr>
            </a:br>
            <a:r>
              <a:rPr lang="en-US" sz="800">
                <a:latin typeface="Courier New" panose="02070309020205020404" pitchFamily="49" charset="0"/>
                <a:cs typeface="Courier New" panose="02070309020205020404" pitchFamily="49" charset="0"/>
              </a:rPr>
              <a:t>function getUserBalance(user: User): Result&lt;number, string&gt; {</a:t>
            </a:r>
          </a:p>
          <a:p>
            <a:r>
              <a:rPr lang="en-US" sz="800">
                <a:latin typeface="Courier New" panose="02070309020205020404" pitchFamily="49" charset="0"/>
                <a:cs typeface="Courier New" panose="02070309020205020404" pitchFamily="49" charset="0"/>
              </a:rPr>
              <a:t>  return user.balance &gt;= 0</a:t>
            </a:r>
          </a:p>
          <a:p>
            <a:r>
              <a:rPr lang="en-US" sz="800">
                <a:latin typeface="Courier New" panose="02070309020205020404" pitchFamily="49" charset="0"/>
                <a:cs typeface="Courier New" panose="02070309020205020404" pitchFamily="49" charset="0"/>
              </a:rPr>
              <a:t>    ? Result.Ok(user.balance)</a:t>
            </a:r>
          </a:p>
          <a:p>
            <a:r>
              <a:rPr lang="en-US" sz="800">
                <a:latin typeface="Courier New" panose="02070309020205020404" pitchFamily="49" charset="0"/>
                <a:cs typeface="Courier New" panose="02070309020205020404" pitchFamily="49" charset="0"/>
              </a:rPr>
              <a:t>    : Result.Err("Invalid balance");</a:t>
            </a:r>
          </a:p>
          <a:p>
            <a:r>
              <a:rPr lang="en-US" sz="800">
                <a:latin typeface="Courier New" panose="02070309020205020404" pitchFamily="49" charset="0"/>
                <a:cs typeface="Courier New" panose="02070309020205020404" pitchFamily="49" charset="0"/>
              </a:rPr>
              <a:t>}</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function applyBonus(balance: number): Result&lt;number, string&gt; {</a:t>
            </a:r>
          </a:p>
          <a:p>
            <a:r>
              <a:rPr lang="en-US" sz="800">
                <a:latin typeface="Courier New" panose="02070309020205020404" pitchFamily="49" charset="0"/>
                <a:cs typeface="Courier New" panose="02070309020205020404" pitchFamily="49" charset="0"/>
              </a:rPr>
              <a:t>  return balance &gt; 0</a:t>
            </a:r>
          </a:p>
          <a:p>
            <a:r>
              <a:rPr lang="en-US" sz="800">
                <a:latin typeface="Courier New" panose="02070309020205020404" pitchFamily="49" charset="0"/>
                <a:cs typeface="Courier New" panose="02070309020205020404" pitchFamily="49" charset="0"/>
              </a:rPr>
              <a:t>    ? Result.Ok(balance * 1.10)</a:t>
            </a:r>
          </a:p>
          <a:p>
            <a:r>
              <a:rPr lang="en-US" sz="800">
                <a:latin typeface="Courier New" panose="02070309020205020404" pitchFamily="49" charset="0"/>
                <a:cs typeface="Courier New" panose="02070309020205020404" pitchFamily="49" charset="0"/>
              </a:rPr>
              <a:t>    : Result.Err("Balance too low");</a:t>
            </a:r>
          </a:p>
          <a:p>
            <a:r>
              <a:rPr lang="en-US" sz="800">
                <a:latin typeface="Courier New" panose="02070309020205020404" pitchFamily="49" charset="0"/>
                <a:cs typeface="Courier New" panose="02070309020205020404" pitchFamily="49" charset="0"/>
              </a:rPr>
              <a:t>}</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const userId = 1;</a:t>
            </a:r>
          </a:p>
          <a:p>
            <a:r>
              <a:rPr lang="en-US" sz="800">
                <a:latin typeface="Courier New" panose="02070309020205020404" pitchFamily="49" charset="0"/>
                <a:cs typeface="Courier New" panose="02070309020205020404" pitchFamily="49" charset="0"/>
              </a:rPr>
              <a:t>console.log(findUser(userId)</a:t>
            </a:r>
          </a:p>
          <a:p>
            <a:r>
              <a:rPr lang="en-US" sz="800">
                <a:latin typeface="Courier New" panose="02070309020205020404" pitchFamily="49" charset="0"/>
                <a:cs typeface="Courier New" panose="02070309020205020404" pitchFamily="49" charset="0"/>
              </a:rPr>
              <a:t>  .map(getUserBalance)</a:t>
            </a:r>
          </a:p>
          <a:p>
            <a:r>
              <a:rPr lang="en-US" sz="800">
                <a:latin typeface="Courier New" panose="02070309020205020404" pitchFamily="49" charset="0"/>
                <a:cs typeface="Courier New" panose="02070309020205020404" pitchFamily="49" charset="0"/>
              </a:rPr>
              <a:t>  .unwrapOr(Result.Err("User not found"))</a:t>
            </a:r>
          </a:p>
          <a:p>
            <a:r>
              <a:rPr lang="en-US" sz="800">
                <a:latin typeface="Courier New" panose="02070309020205020404" pitchFamily="49" charset="0"/>
                <a:cs typeface="Courier New" panose="02070309020205020404" pitchFamily="49" charset="0"/>
              </a:rPr>
              <a:t>  .andThen(applyBonus)</a:t>
            </a:r>
          </a:p>
          <a:p>
            <a:r>
              <a:rPr lang="en-US" sz="800">
                <a:latin typeface="Courier New" panose="02070309020205020404" pitchFamily="49" charset="0"/>
                <a:cs typeface="Courier New" panose="02070309020205020404" pitchFamily="49" charset="0"/>
              </a:rPr>
              <a:t>  .map((finalBalance) =&gt; `New Balance: ${finalBalance}`)</a:t>
            </a:r>
          </a:p>
          <a:p>
            <a:r>
              <a:rPr lang="en-US" sz="800">
                <a:latin typeface="Courier New" panose="02070309020205020404" pitchFamily="49" charset="0"/>
                <a:cs typeface="Courier New" panose="02070309020205020404" pitchFamily="49" charset="0"/>
              </a:rPr>
              <a:t>  .unwrapOrError((err) =&gt; err as string));</a:t>
            </a:r>
          </a:p>
        </p:txBody>
      </p:sp>
      <p:sp>
        <p:nvSpPr>
          <p:cNvPr id="9" name="TextBox 8">
            <a:extLst>
              <a:ext uri="{FF2B5EF4-FFF2-40B4-BE49-F238E27FC236}">
                <a16:creationId xmlns:a16="http://schemas.microsoft.com/office/drawing/2014/main" id="{62A386F5-4F90-DB10-C0E7-C8214D00CB66}"/>
              </a:ext>
            </a:extLst>
          </p:cNvPr>
          <p:cNvSpPr txBox="1"/>
          <p:nvPr/>
        </p:nvSpPr>
        <p:spPr>
          <a:xfrm>
            <a:off x="5960212" y="194055"/>
            <a:ext cx="2743059" cy="5139869"/>
          </a:xfrm>
          <a:prstGeom prst="rect">
            <a:avLst/>
          </a:prstGeom>
          <a:noFill/>
        </p:spPr>
        <p:txBody>
          <a:bodyPr wrap="none" rtlCol="0">
            <a:spAutoFit/>
          </a:bodyPr>
          <a:lstStyle/>
          <a:p>
            <a:r>
              <a:rPr lang="en-US" sz="800">
                <a:latin typeface="Courier New" panose="02070309020205020404" pitchFamily="49" charset="0"/>
                <a:cs typeface="Courier New" panose="02070309020205020404" pitchFamily="49" charset="0"/>
              </a:rPr>
              <a:t>class Optional&lt;T&gt; {</a:t>
            </a:r>
          </a:p>
          <a:p>
            <a:r>
              <a:rPr lang="en-US" sz="800">
                <a:latin typeface="Courier New" panose="02070309020205020404" pitchFamily="49" charset="0"/>
                <a:cs typeface="Courier New" panose="02070309020205020404" pitchFamily="49" charset="0"/>
              </a:rPr>
              <a:t>  private constructor(</a:t>
            </a:r>
          </a:p>
          <a:p>
            <a:r>
              <a:rPr lang="en-US" sz="800">
                <a:latin typeface="Courier New" panose="02070309020205020404" pitchFamily="49" charset="0"/>
                <a:cs typeface="Courier New" panose="02070309020205020404" pitchFamily="49" charset="0"/>
              </a:rPr>
              <a:t>    private value: T | null</a:t>
            </a:r>
          </a:p>
          <a:p>
            <a:r>
              <a:rPr lang="en-US" sz="800">
                <a:latin typeface="Courier New" panose="02070309020205020404" pitchFamily="49" charset="0"/>
                <a:cs typeface="Courier New" panose="02070309020205020404" pitchFamily="49" charset="0"/>
              </a:rPr>
              <a:t>  )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static Some&lt;T&gt;(value: T) {</a:t>
            </a:r>
          </a:p>
          <a:p>
            <a:r>
              <a:rPr lang="en-US" sz="800">
                <a:latin typeface="Courier New" panose="02070309020205020404" pitchFamily="49" charset="0"/>
                <a:cs typeface="Courier New" panose="02070309020205020404" pitchFamily="49" charset="0"/>
              </a:rPr>
              <a:t>    return new Optional(value);</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static None&lt;T&gt;() {</a:t>
            </a:r>
          </a:p>
          <a:p>
            <a:r>
              <a:rPr lang="en-US" sz="800">
                <a:latin typeface="Courier New" panose="02070309020205020404" pitchFamily="49" charset="0"/>
                <a:cs typeface="Courier New" panose="02070309020205020404" pitchFamily="49" charset="0"/>
              </a:rPr>
              <a:t>    return new Optional&lt;T&gt;(null);</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isSome(): boolean {</a:t>
            </a:r>
          </a:p>
          <a:p>
            <a:r>
              <a:rPr lang="en-US" sz="800">
                <a:latin typeface="Courier New" panose="02070309020205020404" pitchFamily="49" charset="0"/>
                <a:cs typeface="Courier New" panose="02070309020205020404" pitchFamily="49" charset="0"/>
              </a:rPr>
              <a:t>    return this.value !== null;</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isNone(): boolean {</a:t>
            </a:r>
          </a:p>
          <a:p>
            <a:r>
              <a:rPr lang="en-US" sz="800">
                <a:latin typeface="Courier New" panose="02070309020205020404" pitchFamily="49" charset="0"/>
                <a:cs typeface="Courier New" panose="02070309020205020404" pitchFamily="49" charset="0"/>
              </a:rPr>
              <a:t>    return this.value === null;</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map&lt;U&gt;(fn: (val: T) =&gt; U): Optional&lt;U&gt; {</a:t>
            </a:r>
          </a:p>
          <a:p>
            <a:r>
              <a:rPr lang="en-US" sz="800">
                <a:latin typeface="Courier New" panose="02070309020205020404" pitchFamily="49" charset="0"/>
                <a:cs typeface="Courier New" panose="02070309020205020404" pitchFamily="49" charset="0"/>
              </a:rPr>
              <a:t>    return this.isSome()</a:t>
            </a:r>
          </a:p>
          <a:p>
            <a:r>
              <a:rPr lang="en-US" sz="800">
                <a:latin typeface="Courier New" panose="02070309020205020404" pitchFamily="49" charset="0"/>
                <a:cs typeface="Courier New" panose="02070309020205020404" pitchFamily="49" charset="0"/>
              </a:rPr>
              <a:t>      ? Optional.Some(fn(this.value as T))</a:t>
            </a:r>
          </a:p>
          <a:p>
            <a:r>
              <a:rPr lang="en-US" sz="800">
                <a:latin typeface="Courier New" panose="02070309020205020404" pitchFamily="49" charset="0"/>
                <a:cs typeface="Courier New" panose="02070309020205020404" pitchFamily="49" charset="0"/>
              </a:rPr>
              <a:t>      : Optional.None&lt;U&gt;();</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andThen&lt;U&gt;(</a:t>
            </a:r>
          </a:p>
          <a:p>
            <a:r>
              <a:rPr lang="en-US" sz="800">
                <a:latin typeface="Courier New" panose="02070309020205020404" pitchFamily="49" charset="0"/>
                <a:cs typeface="Courier New" panose="02070309020205020404" pitchFamily="49" charset="0"/>
              </a:rPr>
              <a:t>    fn: (val: T) =&gt; Optional&lt;U&gt;</a:t>
            </a:r>
          </a:p>
          <a:p>
            <a:r>
              <a:rPr lang="en-US" sz="800">
                <a:latin typeface="Courier New" panose="02070309020205020404" pitchFamily="49" charset="0"/>
                <a:cs typeface="Courier New" panose="02070309020205020404" pitchFamily="49" charset="0"/>
              </a:rPr>
              <a:t>  ): Optional&lt;U&gt; {</a:t>
            </a:r>
          </a:p>
          <a:p>
            <a:r>
              <a:rPr lang="en-US" sz="800">
                <a:latin typeface="Courier New" panose="02070309020205020404" pitchFamily="49" charset="0"/>
                <a:cs typeface="Courier New" panose="02070309020205020404" pitchFamily="49" charset="0"/>
              </a:rPr>
              <a:t>    return this.value !== null</a:t>
            </a:r>
          </a:p>
          <a:p>
            <a:r>
              <a:rPr lang="en-US" sz="800">
                <a:latin typeface="Courier New" panose="02070309020205020404" pitchFamily="49" charset="0"/>
                <a:cs typeface="Courier New" panose="02070309020205020404" pitchFamily="49" charset="0"/>
              </a:rPr>
              <a:t>      ? fn(this.value)</a:t>
            </a:r>
          </a:p>
          <a:p>
            <a:r>
              <a:rPr lang="en-US" sz="800">
                <a:latin typeface="Courier New" panose="02070309020205020404" pitchFamily="49" charset="0"/>
                <a:cs typeface="Courier New" panose="02070309020205020404" pitchFamily="49" charset="0"/>
              </a:rPr>
              <a:t>      : Optional.None&lt;U&gt;();</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unwrapOr(defaultValue: T): T {</a:t>
            </a:r>
          </a:p>
          <a:p>
            <a:r>
              <a:rPr lang="en-US" sz="800">
                <a:latin typeface="Courier New" panose="02070309020205020404" pitchFamily="49" charset="0"/>
                <a:cs typeface="Courier New" panose="02070309020205020404" pitchFamily="49" charset="0"/>
              </a:rPr>
              <a:t>    return this.value !== null</a:t>
            </a:r>
          </a:p>
          <a:p>
            <a:r>
              <a:rPr lang="en-US" sz="800">
                <a:latin typeface="Courier New" panose="02070309020205020404" pitchFamily="49" charset="0"/>
                <a:cs typeface="Courier New" panose="02070309020205020404" pitchFamily="49" charset="0"/>
              </a:rPr>
              <a:t>      ? this.value</a:t>
            </a:r>
          </a:p>
          <a:p>
            <a:r>
              <a:rPr lang="en-US" sz="800">
                <a:latin typeface="Courier New" panose="02070309020205020404" pitchFamily="49" charset="0"/>
                <a:cs typeface="Courier New" panose="02070309020205020404" pitchFamily="49" charset="0"/>
              </a:rPr>
              <a:t>      : defaultValue;</a:t>
            </a:r>
          </a:p>
          <a:p>
            <a:r>
              <a:rPr lang="en-US" sz="800">
                <a:latin typeface="Courier New" panose="02070309020205020404" pitchFamily="49" charset="0"/>
                <a:cs typeface="Courier New" panose="02070309020205020404" pitchFamily="49" charset="0"/>
              </a:rPr>
              <a:t>  }</a:t>
            </a:r>
          </a:p>
          <a:p>
            <a:r>
              <a:rPr lang="en-US" sz="800">
                <a:latin typeface="Courier New" panose="02070309020205020404" pitchFamily="49" charset="0"/>
                <a:cs typeface="Courier New" panose="02070309020205020404" pitchFamily="49" charset="0"/>
              </a:rPr>
              <a:t>}</a:t>
            </a:r>
          </a:p>
        </p:txBody>
      </p:sp>
      <p:sp>
        <p:nvSpPr>
          <p:cNvPr id="10" name="TextBox 9">
            <a:extLst>
              <a:ext uri="{FF2B5EF4-FFF2-40B4-BE49-F238E27FC236}">
                <a16:creationId xmlns:a16="http://schemas.microsoft.com/office/drawing/2014/main" id="{B7DE7676-DFF5-2941-6AC2-55FFDFBFE5EA}"/>
              </a:ext>
            </a:extLst>
          </p:cNvPr>
          <p:cNvSpPr txBox="1"/>
          <p:nvPr/>
        </p:nvSpPr>
        <p:spPr>
          <a:xfrm>
            <a:off x="8730490" y="136525"/>
            <a:ext cx="3169457" cy="5262979"/>
          </a:xfrm>
          <a:prstGeom prst="rect">
            <a:avLst/>
          </a:prstGeom>
          <a:noFill/>
        </p:spPr>
        <p:txBody>
          <a:bodyPr wrap="none" rtlCol="0">
            <a:spAutoFit/>
          </a:bodyPr>
          <a:lstStyle/>
          <a:p>
            <a:r>
              <a:rPr lang="en-US" sz="800">
                <a:latin typeface="Courier New" panose="02070309020205020404" pitchFamily="49" charset="0"/>
                <a:cs typeface="Courier New" panose="02070309020205020404" pitchFamily="49" charset="0"/>
              </a:rPr>
              <a:t>class Result&lt;T, E&gt; {</a:t>
            </a:r>
          </a:p>
          <a:p>
            <a:r>
              <a:rPr lang="en-US" sz="800">
                <a:latin typeface="Courier New" panose="02070309020205020404" pitchFamily="49" charset="0"/>
                <a:cs typeface="Courier New" panose="02070309020205020404" pitchFamily="49" charset="0"/>
              </a:rPr>
              <a:t>  private constructor(</a:t>
            </a:r>
          </a:p>
          <a:p>
            <a:r>
              <a:rPr lang="en-US" sz="800">
                <a:latin typeface="Courier New" panose="02070309020205020404" pitchFamily="49" charset="0"/>
                <a:cs typeface="Courier New" panose="02070309020205020404" pitchFamily="49" charset="0"/>
              </a:rPr>
              <a:t>    private readonly value?: T,</a:t>
            </a:r>
          </a:p>
          <a:p>
            <a:r>
              <a:rPr lang="en-US" sz="800">
                <a:latin typeface="Courier New" panose="02070309020205020404" pitchFamily="49" charset="0"/>
                <a:cs typeface="Courier New" panose="02070309020205020404" pitchFamily="49" charset="0"/>
              </a:rPr>
              <a:t>    private readonly error?: E</a:t>
            </a:r>
          </a:p>
          <a:p>
            <a:r>
              <a:rPr lang="en-US" sz="800">
                <a:latin typeface="Courier New" panose="02070309020205020404" pitchFamily="49" charset="0"/>
                <a:cs typeface="Courier New" panose="02070309020205020404" pitchFamily="49" charset="0"/>
              </a:rPr>
              <a:t>  )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static Ok&lt;T&gt;(value: T): Result&lt;T, never&gt; {</a:t>
            </a:r>
          </a:p>
          <a:p>
            <a:r>
              <a:rPr lang="en-US" sz="800">
                <a:latin typeface="Courier New" panose="02070309020205020404" pitchFamily="49" charset="0"/>
                <a:cs typeface="Courier New" panose="02070309020205020404" pitchFamily="49" charset="0"/>
              </a:rPr>
              <a:t>    return new Result(value);</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static Err&lt;E&gt;(error: E): Result&lt;never, E&gt; {</a:t>
            </a:r>
          </a:p>
          <a:p>
            <a:r>
              <a:rPr lang="en-US" sz="800">
                <a:latin typeface="Courier New" panose="02070309020205020404" pitchFamily="49" charset="0"/>
                <a:cs typeface="Courier New" panose="02070309020205020404" pitchFamily="49" charset="0"/>
              </a:rPr>
              <a:t>    return new Result(undefined as never, error);</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isOk(): this is Result&lt;T, never&gt; {</a:t>
            </a:r>
          </a:p>
          <a:p>
            <a:r>
              <a:rPr lang="en-US" sz="800">
                <a:latin typeface="Courier New" panose="02070309020205020404" pitchFamily="49" charset="0"/>
                <a:cs typeface="Courier New" panose="02070309020205020404" pitchFamily="49" charset="0"/>
              </a:rPr>
              <a:t>    return this.error === undefined;</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isErr(): this is Result&lt;never, E&gt; {</a:t>
            </a:r>
          </a:p>
          <a:p>
            <a:r>
              <a:rPr lang="en-US" sz="800">
                <a:latin typeface="Courier New" panose="02070309020205020404" pitchFamily="49" charset="0"/>
                <a:cs typeface="Courier New" panose="02070309020205020404" pitchFamily="49" charset="0"/>
              </a:rPr>
              <a:t>    return this.value === undefined;</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map&lt;U&gt;(fn: (val: T) =&gt; U): Result&lt;U, E&gt; {</a:t>
            </a:r>
          </a:p>
          <a:p>
            <a:r>
              <a:rPr lang="en-US" sz="800">
                <a:latin typeface="Courier New" panose="02070309020205020404" pitchFamily="49" charset="0"/>
                <a:cs typeface="Courier New" panose="02070309020205020404" pitchFamily="49" charset="0"/>
              </a:rPr>
              <a:t>    return this.isOk()</a:t>
            </a:r>
          </a:p>
          <a:p>
            <a:r>
              <a:rPr lang="en-US" sz="800">
                <a:latin typeface="Courier New" panose="02070309020205020404" pitchFamily="49" charset="0"/>
                <a:cs typeface="Courier New" panose="02070309020205020404" pitchFamily="49" charset="0"/>
              </a:rPr>
              <a:t>      ? Result.Ok(fn(this.value as T))</a:t>
            </a:r>
          </a:p>
          <a:p>
            <a:r>
              <a:rPr lang="en-US" sz="800">
                <a:latin typeface="Courier New" panose="02070309020205020404" pitchFamily="49" charset="0"/>
                <a:cs typeface="Courier New" panose="02070309020205020404" pitchFamily="49" charset="0"/>
              </a:rPr>
              <a:t>      : Result.Err(this.error as E);</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andThen&lt;U&gt;(</a:t>
            </a:r>
          </a:p>
          <a:p>
            <a:r>
              <a:rPr lang="en-US" sz="800">
                <a:latin typeface="Courier New" panose="02070309020205020404" pitchFamily="49" charset="0"/>
                <a:cs typeface="Courier New" panose="02070309020205020404" pitchFamily="49" charset="0"/>
              </a:rPr>
              <a:t>    fn: (val: T) =&gt; Result&lt;U, E&gt;</a:t>
            </a:r>
          </a:p>
          <a:p>
            <a:r>
              <a:rPr lang="en-US" sz="800">
                <a:latin typeface="Courier New" panose="02070309020205020404" pitchFamily="49" charset="0"/>
                <a:cs typeface="Courier New" panose="02070309020205020404" pitchFamily="49" charset="0"/>
              </a:rPr>
              <a:t>  ): Result&lt;U, E&gt; {</a:t>
            </a:r>
          </a:p>
          <a:p>
            <a:r>
              <a:rPr lang="en-US" sz="800">
                <a:latin typeface="Courier New" panose="02070309020205020404" pitchFamily="49" charset="0"/>
                <a:cs typeface="Courier New" panose="02070309020205020404" pitchFamily="49" charset="0"/>
              </a:rPr>
              <a:t>    return this.isOk()</a:t>
            </a:r>
          </a:p>
          <a:p>
            <a:r>
              <a:rPr lang="en-US" sz="800">
                <a:latin typeface="Courier New" panose="02070309020205020404" pitchFamily="49" charset="0"/>
                <a:cs typeface="Courier New" panose="02070309020205020404" pitchFamily="49" charset="0"/>
              </a:rPr>
              <a:t>      ? fn(this.value as T)</a:t>
            </a:r>
          </a:p>
          <a:p>
            <a:r>
              <a:rPr lang="en-US" sz="800">
                <a:latin typeface="Courier New" panose="02070309020205020404" pitchFamily="49" charset="0"/>
                <a:cs typeface="Courier New" panose="02070309020205020404" pitchFamily="49" charset="0"/>
              </a:rPr>
              <a:t>      : Result.Err(this.error as E);</a:t>
            </a:r>
          </a:p>
          <a:p>
            <a:r>
              <a:rPr lang="en-US" sz="800">
                <a:latin typeface="Courier New" panose="02070309020205020404" pitchFamily="49" charset="0"/>
                <a:cs typeface="Courier New" panose="02070309020205020404" pitchFamily="49" charset="0"/>
              </a:rPr>
              <a:t>  }</a:t>
            </a:r>
          </a:p>
          <a:p>
            <a:endParaRPr lang="en-US" sz="800">
              <a:latin typeface="Courier New" panose="02070309020205020404" pitchFamily="49" charset="0"/>
              <a:cs typeface="Courier New" panose="02070309020205020404" pitchFamily="49" charset="0"/>
            </a:endParaRPr>
          </a:p>
          <a:p>
            <a:r>
              <a:rPr lang="en-US" sz="800">
                <a:latin typeface="Courier New" panose="02070309020205020404" pitchFamily="49" charset="0"/>
                <a:cs typeface="Courier New" panose="02070309020205020404" pitchFamily="49" charset="0"/>
              </a:rPr>
              <a:t>  unwrapOrError(fn: (error: E) =&gt; T): T {</a:t>
            </a:r>
          </a:p>
          <a:p>
            <a:r>
              <a:rPr lang="en-US" sz="800">
                <a:latin typeface="Courier New" panose="02070309020205020404" pitchFamily="49" charset="0"/>
                <a:cs typeface="Courier New" panose="02070309020205020404" pitchFamily="49" charset="0"/>
              </a:rPr>
              <a:t>    return this.isOk()</a:t>
            </a:r>
          </a:p>
          <a:p>
            <a:r>
              <a:rPr lang="en-US" sz="800">
                <a:latin typeface="Courier New" panose="02070309020205020404" pitchFamily="49" charset="0"/>
                <a:cs typeface="Courier New" panose="02070309020205020404" pitchFamily="49" charset="0"/>
              </a:rPr>
              <a:t>      ? this.value!</a:t>
            </a:r>
          </a:p>
          <a:p>
            <a:r>
              <a:rPr lang="en-US" sz="800">
                <a:latin typeface="Courier New" panose="02070309020205020404" pitchFamily="49" charset="0"/>
                <a:cs typeface="Courier New" panose="02070309020205020404" pitchFamily="49" charset="0"/>
              </a:rPr>
              <a:t>      : fn(this.error!);</a:t>
            </a:r>
          </a:p>
          <a:p>
            <a:r>
              <a:rPr lang="en-US" sz="800">
                <a:latin typeface="Courier New" panose="02070309020205020404" pitchFamily="49" charset="0"/>
                <a:cs typeface="Courier New" panose="02070309020205020404" pitchFamily="49" charset="0"/>
              </a:rPr>
              <a:t>  }</a:t>
            </a:r>
          </a:p>
          <a:p>
            <a:r>
              <a:rPr lang="en-US" sz="80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835714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8874A-99DA-4896-4841-37239BDC0EB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828D43E-7157-2289-C14D-22D0D16204AB}"/>
              </a:ext>
            </a:extLst>
          </p:cNvPr>
          <p:cNvSpPr>
            <a:spLocks noGrp="1"/>
          </p:cNvSpPr>
          <p:nvPr>
            <p:ph type="ftr" sz="quarter" idx="11"/>
          </p:nvPr>
        </p:nvSpPr>
        <p:spPr/>
        <p:txBody>
          <a:bodyPr/>
          <a:lstStyle/>
          <a:p>
            <a:r>
              <a:rPr lang="en-US"/>
              <a:t>ASE - Functional Programming</a:t>
            </a:r>
          </a:p>
        </p:txBody>
      </p:sp>
      <p:sp>
        <p:nvSpPr>
          <p:cNvPr id="6" name="Slide Number Placeholder 5">
            <a:extLst>
              <a:ext uri="{FF2B5EF4-FFF2-40B4-BE49-F238E27FC236}">
                <a16:creationId xmlns:a16="http://schemas.microsoft.com/office/drawing/2014/main" id="{7F4D3C98-FD84-95E1-B1E7-5E768A8AFBAE}"/>
              </a:ext>
            </a:extLst>
          </p:cNvPr>
          <p:cNvSpPr>
            <a:spLocks noGrp="1"/>
          </p:cNvSpPr>
          <p:nvPr>
            <p:ph type="sldNum" sz="quarter" idx="12"/>
          </p:nvPr>
        </p:nvSpPr>
        <p:spPr/>
        <p:txBody>
          <a:bodyPr/>
          <a:lstStyle/>
          <a:p>
            <a:fld id="{23D81C8F-CB39-4E4D-98E4-8C3FEDF75126}" type="slidenum">
              <a:rPr lang="en-US" smtClean="0"/>
              <a:t>25</a:t>
            </a:fld>
            <a:endParaRPr lang="en-US"/>
          </a:p>
        </p:txBody>
      </p:sp>
      <p:sp>
        <p:nvSpPr>
          <p:cNvPr id="5" name="TextBox 4">
            <a:extLst>
              <a:ext uri="{FF2B5EF4-FFF2-40B4-BE49-F238E27FC236}">
                <a16:creationId xmlns:a16="http://schemas.microsoft.com/office/drawing/2014/main" id="{33A493F6-3E75-78C8-009A-057FF232F0CE}"/>
              </a:ext>
            </a:extLst>
          </p:cNvPr>
          <p:cNvSpPr txBox="1"/>
          <p:nvPr/>
        </p:nvSpPr>
        <p:spPr>
          <a:xfrm>
            <a:off x="457200" y="307910"/>
            <a:ext cx="3262303" cy="369332"/>
          </a:xfrm>
          <a:prstGeom prst="rect">
            <a:avLst/>
          </a:prstGeom>
          <a:noFill/>
        </p:spPr>
        <p:txBody>
          <a:bodyPr wrap="none" rtlCol="0">
            <a:spAutoFit/>
          </a:bodyPr>
          <a:lstStyle/>
          <a:p>
            <a:r>
              <a:rPr lang="en-US"/>
              <a:t>Migration plan &amp; Best Practices</a:t>
            </a:r>
          </a:p>
        </p:txBody>
      </p:sp>
      <p:sp>
        <p:nvSpPr>
          <p:cNvPr id="8" name="TextBox 7">
            <a:extLst>
              <a:ext uri="{FF2B5EF4-FFF2-40B4-BE49-F238E27FC236}">
                <a16:creationId xmlns:a16="http://schemas.microsoft.com/office/drawing/2014/main" id="{291105BE-1153-CD34-714A-A3168F82FA1C}"/>
              </a:ext>
            </a:extLst>
          </p:cNvPr>
          <p:cNvSpPr txBox="1"/>
          <p:nvPr/>
        </p:nvSpPr>
        <p:spPr>
          <a:xfrm>
            <a:off x="457200" y="1315617"/>
            <a:ext cx="4683967" cy="3323987"/>
          </a:xfrm>
          <a:prstGeom prst="rect">
            <a:avLst/>
          </a:prstGeom>
          <a:noFill/>
        </p:spPr>
        <p:txBody>
          <a:bodyPr wrap="square" rtlCol="0">
            <a:spAutoFit/>
          </a:bodyPr>
          <a:lstStyle/>
          <a:p>
            <a:r>
              <a:rPr lang="en-US" sz="1400"/>
              <a:t>Iterative Migration Plan</a:t>
            </a:r>
          </a:p>
          <a:p>
            <a:endParaRPr lang="en-US" sz="1400"/>
          </a:p>
          <a:p>
            <a:pPr marL="342900" indent="-342900">
              <a:buFont typeface="+mj-lt"/>
              <a:buAutoNum type="arabicPeriod"/>
            </a:pPr>
            <a:r>
              <a:rPr lang="en-US" sz="1400"/>
              <a:t>Identify pure functions</a:t>
            </a:r>
          </a:p>
          <a:p>
            <a:pPr marL="342900" indent="-342900">
              <a:buFont typeface="+mj-lt"/>
              <a:buAutoNum type="arabicPeriod"/>
            </a:pPr>
            <a:endParaRPr lang="en-US" sz="1400"/>
          </a:p>
          <a:p>
            <a:pPr marL="342900" indent="-342900">
              <a:buFont typeface="+mj-lt"/>
              <a:buAutoNum type="arabicPeriod"/>
            </a:pPr>
            <a:r>
              <a:rPr lang="en-US" sz="1400"/>
              <a:t>Extract to utilities - Create functional utilities module</a:t>
            </a:r>
          </a:p>
          <a:p>
            <a:pPr marL="342900" indent="-342900">
              <a:buFont typeface="+mj-lt"/>
              <a:buAutoNum type="arabicPeriod"/>
            </a:pPr>
            <a:endParaRPr lang="en-US" sz="1400"/>
          </a:p>
          <a:p>
            <a:pPr marL="342900" indent="-342900">
              <a:buFont typeface="+mj-lt"/>
              <a:buAutoNum type="arabicPeriod"/>
            </a:pPr>
            <a:r>
              <a:rPr lang="en-US" sz="1400"/>
              <a:t>Add tests - Pure functions are easy to test</a:t>
            </a:r>
          </a:p>
          <a:p>
            <a:pPr marL="342900" indent="-342900">
              <a:buFont typeface="+mj-lt"/>
              <a:buAutoNum type="arabicPeriod"/>
            </a:pPr>
            <a:endParaRPr lang="en-US" sz="1400"/>
          </a:p>
          <a:p>
            <a:pPr marL="342900" indent="-342900">
              <a:buFont typeface="+mj-lt"/>
              <a:buAutoNum type="arabicPeriod"/>
            </a:pPr>
            <a:r>
              <a:rPr lang="en-US" sz="1400"/>
              <a:t>Refactor incrementally - One function at a time</a:t>
            </a:r>
          </a:p>
          <a:p>
            <a:pPr marL="342900" indent="-342900">
              <a:buFont typeface="+mj-lt"/>
              <a:buAutoNum type="arabicPeriod"/>
            </a:pPr>
            <a:endParaRPr lang="en-US" sz="1400"/>
          </a:p>
          <a:p>
            <a:pPr marL="342900" indent="-342900">
              <a:buFont typeface="+mj-lt"/>
              <a:buAutoNum type="arabicPeriod"/>
            </a:pPr>
            <a:r>
              <a:rPr lang="en-US" sz="1400"/>
              <a:t>Use Optional - Replace nulls gradually</a:t>
            </a:r>
          </a:p>
          <a:p>
            <a:pPr marL="342900" indent="-342900">
              <a:buFont typeface="+mj-lt"/>
              <a:buAutoNum type="arabicPeriod"/>
            </a:pPr>
            <a:endParaRPr lang="en-US" sz="1400"/>
          </a:p>
          <a:p>
            <a:pPr marL="342900" indent="-342900">
              <a:buFont typeface="+mj-lt"/>
              <a:buAutoNum type="arabicPeriod"/>
            </a:pPr>
            <a:r>
              <a:rPr lang="en-US" sz="1400"/>
              <a:t>Introduce streams - Replace loops with map/filter</a:t>
            </a:r>
          </a:p>
          <a:p>
            <a:pPr marL="342900" indent="-342900">
              <a:buFont typeface="+mj-lt"/>
              <a:buAutoNum type="arabicPeriod"/>
            </a:pPr>
            <a:endParaRPr lang="en-US" sz="1400"/>
          </a:p>
          <a:p>
            <a:pPr marL="342900" indent="-342900">
              <a:buFont typeface="+mj-lt"/>
              <a:buAutoNum type="arabicPeriod"/>
            </a:pPr>
            <a:r>
              <a:rPr lang="en-US" sz="1400"/>
              <a:t>Add composition - Build higher-level functions</a:t>
            </a:r>
          </a:p>
        </p:txBody>
      </p:sp>
      <p:sp>
        <p:nvSpPr>
          <p:cNvPr id="11" name="TextBox 10">
            <a:extLst>
              <a:ext uri="{FF2B5EF4-FFF2-40B4-BE49-F238E27FC236}">
                <a16:creationId xmlns:a16="http://schemas.microsoft.com/office/drawing/2014/main" id="{C825896D-9B3E-0EAC-30A5-F2538A4EAFA8}"/>
              </a:ext>
            </a:extLst>
          </p:cNvPr>
          <p:cNvSpPr txBox="1"/>
          <p:nvPr/>
        </p:nvSpPr>
        <p:spPr>
          <a:xfrm>
            <a:off x="6014644" y="307910"/>
            <a:ext cx="5622821" cy="2677656"/>
          </a:xfrm>
          <a:prstGeom prst="rect">
            <a:avLst/>
          </a:prstGeom>
          <a:noFill/>
        </p:spPr>
        <p:txBody>
          <a:bodyPr wrap="none" rtlCol="0">
            <a:spAutoFit/>
          </a:bodyPr>
          <a:lstStyle/>
          <a:p>
            <a:r>
              <a:rPr lang="en-US" sz="1400" b="1">
                <a:solidFill>
                  <a:schemeClr val="accent6"/>
                </a:solidFill>
              </a:rPr>
              <a:t>Do:</a:t>
            </a:r>
          </a:p>
          <a:p>
            <a:endParaRPr lang="en-US" sz="1400"/>
          </a:p>
          <a:p>
            <a:pPr marL="342900" indent="-342900">
              <a:buFont typeface="+mj-lt"/>
              <a:buAutoNum type="arabicPeriod"/>
            </a:pPr>
            <a:r>
              <a:rPr lang="en-US" sz="1400"/>
              <a:t>Prefer immutability - Use final, readonly</a:t>
            </a:r>
          </a:p>
          <a:p>
            <a:pPr marL="342900" indent="-342900">
              <a:buFont typeface="+mj-lt"/>
              <a:buAutoNum type="arabicPeriod"/>
            </a:pPr>
            <a:r>
              <a:rPr lang="en-US" sz="1400"/>
              <a:t>Write pure functions - No side effects when possible </a:t>
            </a:r>
          </a:p>
          <a:p>
            <a:pPr marL="342900" indent="-342900">
              <a:buFont typeface="+mj-lt"/>
              <a:buAutoNum type="arabicPeriod"/>
            </a:pPr>
            <a:r>
              <a:rPr lang="en-US" sz="1400"/>
              <a:t>Use composition - Build from small functions </a:t>
            </a:r>
          </a:p>
          <a:p>
            <a:pPr marL="342900" indent="-342900">
              <a:buFont typeface="+mj-lt"/>
              <a:buAutoNum type="arabicPeriod"/>
            </a:pPr>
            <a:r>
              <a:rPr lang="en-US" sz="1400"/>
              <a:t>Handle errors as values - Use Optional/Result/Either </a:t>
            </a:r>
          </a:p>
          <a:p>
            <a:pPr marL="342900" indent="-342900">
              <a:buFont typeface="+mj-lt"/>
              <a:buAutoNum type="arabicPeriod"/>
            </a:pPr>
            <a:r>
              <a:rPr lang="en-US" sz="1400"/>
              <a:t>Test pure functions - They're deterministic and easy to test </a:t>
            </a:r>
          </a:p>
          <a:p>
            <a:pPr marL="342900" indent="-342900">
              <a:buFont typeface="+mj-lt"/>
              <a:buAutoNum type="arabicPeriod"/>
            </a:pPr>
            <a:r>
              <a:rPr lang="en-US" sz="1400"/>
              <a:t>Use descriptive names - Function names describe transformation </a:t>
            </a:r>
          </a:p>
          <a:p>
            <a:pPr marL="342900" indent="-342900">
              <a:buFont typeface="+mj-lt"/>
              <a:buAutoNum type="arabicPeriod"/>
            </a:pPr>
            <a:r>
              <a:rPr lang="en-US" sz="1400"/>
              <a:t>Leverage built-in HOFs - map, filter, reduce </a:t>
            </a:r>
          </a:p>
          <a:p>
            <a:pPr marL="342900" indent="-342900">
              <a:buFont typeface="+mj-lt"/>
              <a:buAutoNum type="arabicPeriod"/>
            </a:pPr>
            <a:r>
              <a:rPr lang="en-US" sz="1400"/>
              <a:t>Avoid unnecessary nesting - Use composition instead </a:t>
            </a:r>
          </a:p>
          <a:p>
            <a:pPr marL="342900" indent="-342900">
              <a:buFont typeface="+mj-lt"/>
              <a:buAutoNum type="arabicPeriod"/>
            </a:pPr>
            <a:r>
              <a:rPr lang="en-US" sz="1400"/>
              <a:t>Document effects - Mark impure functions clearly </a:t>
            </a:r>
          </a:p>
          <a:p>
            <a:pPr marL="342900" indent="-342900">
              <a:buFont typeface="+mj-lt"/>
              <a:buAutoNum type="arabicPeriod"/>
            </a:pPr>
            <a:r>
              <a:rPr lang="en-US" sz="1400"/>
              <a:t>Prefer expressions - Over statements</a:t>
            </a:r>
          </a:p>
        </p:txBody>
      </p:sp>
      <p:sp>
        <p:nvSpPr>
          <p:cNvPr id="12" name="TextBox 11">
            <a:extLst>
              <a:ext uri="{FF2B5EF4-FFF2-40B4-BE49-F238E27FC236}">
                <a16:creationId xmlns:a16="http://schemas.microsoft.com/office/drawing/2014/main" id="{F73C4614-E9BD-BDA7-6ADF-BF9A85863BF2}"/>
              </a:ext>
            </a:extLst>
          </p:cNvPr>
          <p:cNvSpPr txBox="1"/>
          <p:nvPr/>
        </p:nvSpPr>
        <p:spPr>
          <a:xfrm>
            <a:off x="6014644" y="3300776"/>
            <a:ext cx="5114157" cy="2677656"/>
          </a:xfrm>
          <a:prstGeom prst="rect">
            <a:avLst/>
          </a:prstGeom>
          <a:noFill/>
        </p:spPr>
        <p:txBody>
          <a:bodyPr wrap="none" rtlCol="0">
            <a:spAutoFit/>
          </a:bodyPr>
          <a:lstStyle/>
          <a:p>
            <a:r>
              <a:rPr lang="en-US" sz="1400" b="1">
                <a:solidFill>
                  <a:srgbClr val="FF0000"/>
                </a:solidFill>
              </a:rPr>
              <a:t>Don’t:</a:t>
            </a:r>
          </a:p>
          <a:p>
            <a:endParaRPr lang="en-US" sz="1400"/>
          </a:p>
          <a:p>
            <a:pPr marL="342900" indent="-342900">
              <a:buFont typeface="+mj-lt"/>
              <a:buAutoNum type="arabicPeriod"/>
            </a:pPr>
            <a:r>
              <a:rPr lang="en-US" sz="1400"/>
              <a:t>Mutate shared state - Creates concurrency issues</a:t>
            </a:r>
          </a:p>
          <a:p>
            <a:pPr marL="342900" indent="-342900">
              <a:buFont typeface="+mj-lt"/>
              <a:buAutoNum type="arabicPeriod"/>
            </a:pPr>
            <a:r>
              <a:rPr lang="en-US" sz="1400"/>
              <a:t>Return null - Use Optional/Result instead</a:t>
            </a:r>
          </a:p>
          <a:p>
            <a:pPr marL="342900" indent="-342900">
              <a:buFont typeface="+mj-lt"/>
              <a:buAutoNum type="arabicPeriod"/>
            </a:pPr>
            <a:r>
              <a:rPr lang="en-US" sz="1400"/>
              <a:t>Throw exceptions for control flow - Use Result types</a:t>
            </a:r>
          </a:p>
          <a:p>
            <a:pPr marL="342900" indent="-342900">
              <a:buFont typeface="+mj-lt"/>
              <a:buAutoNum type="arabicPeriod"/>
            </a:pPr>
            <a:r>
              <a:rPr lang="en-US" sz="1400"/>
              <a:t>Write functions with side effects - Isolate I/O</a:t>
            </a:r>
          </a:p>
          <a:p>
            <a:pPr marL="342900" indent="-342900">
              <a:buFont typeface="+mj-lt"/>
              <a:buAutoNum type="arabicPeriod"/>
            </a:pPr>
            <a:r>
              <a:rPr lang="en-US" sz="1400"/>
              <a:t>Ignore immutability warnings - They're helpful</a:t>
            </a:r>
          </a:p>
          <a:p>
            <a:pPr marL="342900" indent="-342900">
              <a:buFont typeface="+mj-lt"/>
              <a:buAutoNum type="arabicPeriod"/>
            </a:pPr>
            <a:r>
              <a:rPr lang="en-US" sz="1400"/>
              <a:t>Overuse currying - Only when beneficial</a:t>
            </a:r>
          </a:p>
          <a:p>
            <a:pPr marL="342900" indent="-342900">
              <a:buFont typeface="+mj-lt"/>
              <a:buAutoNum type="arabicPeriod"/>
            </a:pPr>
            <a:r>
              <a:rPr lang="en-US" sz="1400"/>
              <a:t>Create deeply nested compositions - Flatten when possible</a:t>
            </a:r>
          </a:p>
          <a:p>
            <a:pPr marL="342900" indent="-342900">
              <a:buFont typeface="+mj-lt"/>
              <a:buAutoNum type="arabicPeriod"/>
            </a:pPr>
            <a:r>
              <a:rPr lang="en-US" sz="1400"/>
              <a:t>Forget to handle failures - All error paths matter</a:t>
            </a:r>
          </a:p>
          <a:p>
            <a:pPr marL="342900" indent="-342900">
              <a:buFont typeface="+mj-lt"/>
              <a:buAutoNum type="arabicPeriod"/>
            </a:pPr>
            <a:r>
              <a:rPr lang="en-US" sz="1400"/>
              <a:t>Use mutation for performance - Profile first</a:t>
            </a:r>
          </a:p>
          <a:p>
            <a:pPr marL="342900" indent="-342900">
              <a:buFont typeface="+mj-lt"/>
              <a:buAutoNum type="arabicPeriod"/>
            </a:pPr>
            <a:r>
              <a:rPr lang="en-US" sz="1400"/>
              <a:t>Mix styles arbitrarily - Be consistent </a:t>
            </a:r>
          </a:p>
        </p:txBody>
      </p:sp>
    </p:spTree>
    <p:extLst>
      <p:ext uri="{BB962C8B-B14F-4D97-AF65-F5344CB8AC3E}">
        <p14:creationId xmlns:p14="http://schemas.microsoft.com/office/powerpoint/2010/main" val="1316731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cf7ac0a-4681-4823-ab0b-04ef02c5f873}" enabled="1" method="Standard" siteId="{42f7676c-f455-423c-82f6-dc2d99791af7}" contentBits="0" removed="0"/>
</clbl:labelList>
</file>

<file path=docProps/app.xml><?xml version="1.0" encoding="utf-8"?>
<Properties xmlns="http://schemas.openxmlformats.org/officeDocument/2006/extended-properties" xmlns:vt="http://schemas.openxmlformats.org/officeDocument/2006/docPropsVTypes">
  <TotalTime>2952</TotalTime>
  <Words>6380</Words>
  <Application>Microsoft Macintosh PowerPoint</Application>
  <PresentationFormat>Widescreen</PresentationFormat>
  <Paragraphs>1021</Paragraphs>
  <Slides>25</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Aptos Display</vt: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 Monaco, Antonio</dc:creator>
  <cp:lastModifiedBy>Di Monaco, Antonio</cp:lastModifiedBy>
  <cp:revision>67</cp:revision>
  <dcterms:created xsi:type="dcterms:W3CDTF">2025-02-19T20:33:39Z</dcterms:created>
  <dcterms:modified xsi:type="dcterms:W3CDTF">2025-11-26T14:56:38Z</dcterms:modified>
</cp:coreProperties>
</file>