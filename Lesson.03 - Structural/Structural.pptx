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305" r:id="rId2"/>
    <p:sldId id="256" r:id="rId3"/>
    <p:sldId id="269" r:id="rId4"/>
    <p:sldId id="273" r:id="rId5"/>
    <p:sldId id="324" r:id="rId6"/>
    <p:sldId id="306" r:id="rId7"/>
    <p:sldId id="265" r:id="rId8"/>
    <p:sldId id="289" r:id="rId9"/>
    <p:sldId id="288" r:id="rId10"/>
    <p:sldId id="290" r:id="rId11"/>
    <p:sldId id="291" r:id="rId12"/>
    <p:sldId id="308" r:id="rId13"/>
    <p:sldId id="320" r:id="rId14"/>
    <p:sldId id="266" r:id="rId15"/>
    <p:sldId id="325" r:id="rId16"/>
    <p:sldId id="309" r:id="rId17"/>
    <p:sldId id="292" r:id="rId18"/>
    <p:sldId id="293" r:id="rId19"/>
    <p:sldId id="294" r:id="rId20"/>
    <p:sldId id="295" r:id="rId21"/>
    <p:sldId id="310" r:id="rId22"/>
    <p:sldId id="326" r:id="rId23"/>
    <p:sldId id="321" r:id="rId24"/>
    <p:sldId id="277" r:id="rId25"/>
    <p:sldId id="327" r:id="rId26"/>
    <p:sldId id="311" r:id="rId27"/>
    <p:sldId id="278" r:id="rId28"/>
    <p:sldId id="312" r:id="rId29"/>
    <p:sldId id="296" r:id="rId30"/>
    <p:sldId id="313" r:id="rId31"/>
    <p:sldId id="322" r:id="rId32"/>
    <p:sldId id="279" r:id="rId33"/>
    <p:sldId id="328" r:id="rId34"/>
    <p:sldId id="314" r:id="rId35"/>
    <p:sldId id="280" r:id="rId36"/>
    <p:sldId id="297" r:id="rId37"/>
    <p:sldId id="298" r:id="rId38"/>
    <p:sldId id="315" r:id="rId39"/>
    <p:sldId id="323" r:id="rId40"/>
    <p:sldId id="281" r:id="rId41"/>
    <p:sldId id="329" r:id="rId42"/>
    <p:sldId id="316" r:id="rId43"/>
    <p:sldId id="282" r:id="rId44"/>
    <p:sldId id="299" r:id="rId45"/>
    <p:sldId id="300" r:id="rId46"/>
    <p:sldId id="301" r:id="rId47"/>
    <p:sldId id="317" r:id="rId48"/>
    <p:sldId id="330" r:id="rId49"/>
    <p:sldId id="284" r:id="rId50"/>
    <p:sldId id="331" r:id="rId51"/>
    <p:sldId id="318" r:id="rId52"/>
    <p:sldId id="285" r:id="rId53"/>
    <p:sldId id="302" r:id="rId54"/>
    <p:sldId id="303" r:id="rId55"/>
    <p:sldId id="304" r:id="rId56"/>
    <p:sldId id="319" r:id="rId57"/>
    <p:sldId id="332" r:id="rId58"/>
    <p:sldId id="287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48"/>
    <p:restoredTop sz="94724"/>
  </p:normalViewPr>
  <p:slideViewPr>
    <p:cSldViewPr snapToGrid="0">
      <p:cViewPr varScale="1">
        <p:scale>
          <a:sx n="90" d="100"/>
          <a:sy n="90" d="100"/>
        </p:scale>
        <p:origin x="216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problem can always be fixed with another level of indirection</a:t>
            </a:r>
          </a:p>
        </p:txBody>
      </p:sp>
    </p:spTree>
    <p:extLst>
      <p:ext uri="{BB962C8B-B14F-4D97-AF65-F5344CB8AC3E}">
        <p14:creationId xmlns:p14="http://schemas.microsoft.com/office/powerpoint/2010/main" val="3247554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C22E-81A8-14B8-11B0-BCE9F32C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E435F-FD98-2C35-ACDF-7CF225254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9481A-E16A-C9CF-9F48-825FB7C92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problem can always be fixed with another level of indirection</a:t>
            </a:r>
          </a:p>
        </p:txBody>
      </p:sp>
    </p:spTree>
    <p:extLst>
      <p:ext uri="{BB962C8B-B14F-4D97-AF65-F5344CB8AC3E}">
        <p14:creationId xmlns:p14="http://schemas.microsoft.com/office/powerpoint/2010/main" val="2481573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B5C3-D5C1-79D6-E2B2-DD1FF23E5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FB3C1-A0F5-DF2D-E07E-781769C1C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F0A89-8B89-8E9A-40B7-666B6F0C2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problem can always be fixed with another level of indirection</a:t>
            </a:r>
          </a:p>
        </p:txBody>
      </p:sp>
    </p:spTree>
    <p:extLst>
      <p:ext uri="{BB962C8B-B14F-4D97-AF65-F5344CB8AC3E}">
        <p14:creationId xmlns:p14="http://schemas.microsoft.com/office/powerpoint/2010/main" val="905234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CCED-276A-826A-1457-91975695A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51B38-A770-0BE2-934C-DC7FC480D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E62CF-C805-0379-15A7-6C0D43103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problem can always be fixed with another level of indirection</a:t>
            </a:r>
          </a:p>
        </p:txBody>
      </p:sp>
    </p:spTree>
    <p:extLst>
      <p:ext uri="{BB962C8B-B14F-4D97-AF65-F5344CB8AC3E}">
        <p14:creationId xmlns:p14="http://schemas.microsoft.com/office/powerpoint/2010/main" val="3563293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6B7C-CE1D-28F2-B823-5A8BD43D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F26D1-0163-3236-7E9B-2D3705B9B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CE20D-8F4E-F871-788D-BF6C915D8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problem can always be fixed with another level of indirection</a:t>
            </a:r>
          </a:p>
        </p:txBody>
      </p:sp>
    </p:spTree>
    <p:extLst>
      <p:ext uri="{BB962C8B-B14F-4D97-AF65-F5344CB8AC3E}">
        <p14:creationId xmlns:p14="http://schemas.microsoft.com/office/powerpoint/2010/main" val="2976518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B51EB-7806-0F78-0127-9DA19AE8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AE6D9-B2E8-4BD3-536D-95BDC517B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AB91B-D5B7-B281-5956-AA6B77FBA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problem can always be fixed with another level of indirection</a:t>
            </a:r>
          </a:p>
        </p:txBody>
      </p:sp>
    </p:spTree>
    <p:extLst>
      <p:ext uri="{BB962C8B-B14F-4D97-AF65-F5344CB8AC3E}">
        <p14:creationId xmlns:p14="http://schemas.microsoft.com/office/powerpoint/2010/main" val="1191730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1863-6501-BE5C-241D-C250A888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AE705-23BE-9B8A-1089-995B73156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36369-FD46-3148-858F-8A6944D35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problem can always be fixed with another level of indirection</a:t>
            </a:r>
          </a:p>
        </p:txBody>
      </p:sp>
    </p:spTree>
    <p:extLst>
      <p:ext uri="{BB962C8B-B14F-4D97-AF65-F5344CB8AC3E}">
        <p14:creationId xmlns:p14="http://schemas.microsoft.com/office/powerpoint/2010/main" val="1755147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82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30375-36AC-8364-722F-027AC8AF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7F65D-DDE8-623F-1F82-453F239D6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279B3-635B-7782-C3DC-7D02DF523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27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6326E-EB62-FD0A-9883-FB806E78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1F499-4453-329F-185A-69FE8C490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58F7D-E9A1-9E69-28C4-87BE58846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21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1252-7F4A-7E2E-F8C2-9294EF31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922E8-5E0B-B8DA-E266-333D67B2C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E59A4-0277-C523-CD84-5CF9752CF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Watch out for the parent reference!</a:t>
            </a:r>
          </a:p>
        </p:txBody>
      </p:sp>
    </p:spTree>
    <p:extLst>
      <p:ext uri="{BB962C8B-B14F-4D97-AF65-F5344CB8AC3E}">
        <p14:creationId xmlns:p14="http://schemas.microsoft.com/office/powerpoint/2010/main" val="3801796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02429-C114-0ADF-6BFE-85C87E48F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406B2-ECA8-E01C-CD79-D1329F7A8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FBFD9-15CB-BB7B-30EC-C2D6263F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Watch out for the parent reference!</a:t>
            </a:r>
          </a:p>
        </p:txBody>
      </p:sp>
    </p:spTree>
    <p:extLst>
      <p:ext uri="{BB962C8B-B14F-4D97-AF65-F5344CB8AC3E}">
        <p14:creationId xmlns:p14="http://schemas.microsoft.com/office/powerpoint/2010/main" val="1804106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144B-DCDA-46E5-FE13-E873CA740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6765B-25AC-9CD8-DB69-DEA4DD1A5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5EC0F-F110-852F-4A70-DE37DCBBE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out for the parent reference!</a:t>
            </a:r>
          </a:p>
        </p:txBody>
      </p:sp>
    </p:spTree>
    <p:extLst>
      <p:ext uri="{BB962C8B-B14F-4D97-AF65-F5344CB8AC3E}">
        <p14:creationId xmlns:p14="http://schemas.microsoft.com/office/powerpoint/2010/main" val="3695705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9C994-648E-94E6-5D14-C1852E20D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B45FE-4696-9C46-1716-23B784079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6EC94-3156-75E5-9DF9-A445BFC08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17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0063-392F-F803-B841-25B24AA7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F4796-EEB4-BCE1-CF01-C8A7E030A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DBDFB-71FA-3382-D156-37889F57E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20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2518B-01D7-87FB-129B-7C60EC32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58D85-B06C-E348-51BE-79F13DBAB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CCAC5-AD42-D7D5-9BF0-7F73DE759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61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71ED-2B85-ACD6-23A6-DA61928A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D72F2-8EC7-24B7-EDB9-321A4DF25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06E26-BF90-CA50-F623-0987F699B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387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C296-EC67-C11C-0A80-0BB42AFC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E93EE-A28F-A888-AFAA-65EAF5194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349C0-E0F2-F433-12C5-4636BB752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7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92B0D-B1B2-4B6F-9168-E263E4F4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FB848-3948-780D-EFB6-472B4F1EE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7CC2E-5442-869B-4F2D-C1A558576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80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06E71-69B0-B42B-D348-66CEA541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189D0-8522-2887-CF63-87C90EAFE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350FE-3F61-440F-C66A-9DDF446C2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347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1867-7726-F1D3-F548-B616381A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786F1-A1F4-1461-CCB1-F1357590A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0C59F-AE1D-450A-9D38-DA7460BA3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8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F591-2572-4649-AF06-D9CC5A6257A9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AEFCA-3DCB-014C-A211-C9021D4BFBF1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737A5-599E-F54F-8773-A74F780DEB8B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F91F-EE83-B947-869E-1E84BBD5FAD2}" type="datetime1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68DB7-1081-664E-A41D-18C07A0EF768}" type="datetime1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78AF-1777-D047-B1EF-DD3C2BC5DC5D}" type="datetime1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314-F4E0-0E4B-A854-82E484965877}" type="datetime1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11B2-AFC6-3142-8DF9-C483CEF42D02}" type="datetime1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207F-5510-A245-81C9-9C32DFD689A6}" type="datetime1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E81-1C93-184A-A5EA-73804A40A3B7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FE49-6F48-E04A-B47D-3B079A852E1F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93BA0-D560-7949-9AD0-EAF849B8033F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Design Patterns - Structural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design-patterns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Advanced Software Engineering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4225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Structural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6CC111-4FC3-7E6E-DA79-351238E3FC6C}"/>
              </a:ext>
            </a:extLst>
          </p:cNvPr>
          <p:cNvSpPr txBox="1"/>
          <p:nvPr/>
        </p:nvSpPr>
        <p:spPr>
          <a:xfrm>
            <a:off x="535709" y="918651"/>
            <a:ext cx="215963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Structural</a:t>
            </a:r>
            <a:br>
              <a:rPr lang="en-US" dirty="0"/>
            </a:b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Introduction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Adapter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Bridge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Façade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Composite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Decorator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Flyweight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Proxy</a:t>
            </a:r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AC65D-2BF1-A1DC-E10D-231A3F2A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B88B0-1855-2B75-F573-938C6C9A3F46}"/>
              </a:ext>
            </a:extLst>
          </p:cNvPr>
          <p:cNvSpPr txBox="1"/>
          <p:nvPr/>
        </p:nvSpPr>
        <p:spPr>
          <a:xfrm>
            <a:off x="535709" y="304800"/>
            <a:ext cx="821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531B0-DD98-5500-2123-8887EB47391C}"/>
              </a:ext>
            </a:extLst>
          </p:cNvPr>
          <p:cNvSpPr txBox="1"/>
          <p:nvPr/>
        </p:nvSpPr>
        <p:spPr>
          <a:xfrm>
            <a:off x="285435" y="5882985"/>
            <a:ext cx="5278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</a:t>
            </a:r>
            <a:r>
              <a:rPr lang="en-US" dirty="0">
                <a:hlinkClick r:id="rId2"/>
              </a:rPr>
              <a:t>https://refactoring.guru/design-patterns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01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9431-0747-E672-DA0A-346E9755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B9424-4AA7-68A0-7899-7AEC7E70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FABF4-527F-5EBC-4921-FEEE6B1217C6}"/>
              </a:ext>
            </a:extLst>
          </p:cNvPr>
          <p:cNvSpPr txBox="1"/>
          <p:nvPr/>
        </p:nvSpPr>
        <p:spPr>
          <a:xfrm>
            <a:off x="535709" y="194055"/>
            <a:ext cx="140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BC1CA-ADAD-7F8A-6BBA-C76A92C21551}"/>
              </a:ext>
            </a:extLst>
          </p:cNvPr>
          <p:cNvSpPr txBox="1"/>
          <p:nvPr/>
        </p:nvSpPr>
        <p:spPr>
          <a:xfrm>
            <a:off x="296404" y="704348"/>
            <a:ext cx="108180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patterns defines how classes and objects are composed to form larger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That can happen in multiple ways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Adapting interfaces (Adapter)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Build a complex structure made up of primitive and composite objects, which composite are made of other primitive and composite objects (Composite)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Sharing a relevant quantity of objects to reduce space and improve efficiency (Flyweight)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Creating placeholders or surrogate for other objects (Proxy)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Creating objects that represent an entire subsystem (Facade)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responsibilities to objects dynamically (Decorator)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ADF101-0838-7436-1B97-4F8042C17C9B}"/>
              </a:ext>
            </a:extLst>
          </p:cNvPr>
          <p:cNvSpPr txBox="1"/>
          <p:nvPr/>
        </p:nvSpPr>
        <p:spPr>
          <a:xfrm>
            <a:off x="7348886" y="4253624"/>
            <a:ext cx="4414735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Key Principles: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Interface Adaptation</a:t>
            </a:r>
            <a:br>
              <a:rPr lang="en-US" sz="1400" dirty="0"/>
            </a:br>
            <a:r>
              <a:rPr lang="en-US" sz="1400" dirty="0"/>
              <a:t>Making incompatible interfaces work together</a:t>
            </a:r>
          </a:p>
          <a:p>
            <a:endParaRPr lang="en-US" sz="1400" dirty="0"/>
          </a:p>
          <a:p>
            <a:r>
              <a:rPr lang="en-US" sz="1400" b="1" dirty="0"/>
              <a:t>Simplified Access</a:t>
            </a:r>
            <a:br>
              <a:rPr lang="en-US" sz="1400" dirty="0"/>
            </a:br>
            <a:r>
              <a:rPr lang="en-US" sz="1400" dirty="0"/>
              <a:t>Providing easier ways to interact with complex systems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1694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535709" y="194055"/>
            <a:ext cx="198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Adapter -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C6F62-DB9F-35E5-F3CC-6541C537404E}"/>
              </a:ext>
            </a:extLst>
          </p:cNvPr>
          <p:cNvSpPr txBox="1"/>
          <p:nvPr/>
        </p:nvSpPr>
        <p:spPr>
          <a:xfrm>
            <a:off x="535710" y="861391"/>
            <a:ext cx="109671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real software we constantly have to make components talk that were not designed to talk to each other: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legacy module</a:t>
            </a:r>
            <a:r>
              <a:rPr lang="en-US" dirty="0"/>
              <a:t> whose API cannot be changed (no source code, frozen contract, vendor lock-in)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third-party library</a:t>
            </a:r>
            <a:r>
              <a:rPr lang="en-US" dirty="0"/>
              <a:t> whose interface does not match our domain vocabulary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</a:t>
            </a:r>
            <a:r>
              <a:rPr lang="en-US" b="1" dirty="0"/>
              <a:t>independent subsystems</a:t>
            </a:r>
            <a:r>
              <a:rPr lang="en-US" dirty="0"/>
              <a:t> developed in parallel </a:t>
            </a:r>
            <a:r>
              <a:rPr lang="en-US" b="1" dirty="0"/>
              <a:t>with incompatible contracts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client code expects a certain </a:t>
            </a:r>
            <a:r>
              <a:rPr lang="en-US" i="1" dirty="0"/>
              <a:t>interface</a:t>
            </a:r>
            <a:r>
              <a:rPr lang="en-US" dirty="0"/>
              <a:t> — a set of operations with specific names, signatures and semantics.</a:t>
            </a:r>
          </a:p>
          <a:p>
            <a:endParaRPr lang="en-US" dirty="0"/>
          </a:p>
          <a:p>
            <a:r>
              <a:rPr lang="en-US" dirty="0"/>
              <a:t>The existing class offers </a:t>
            </a:r>
            <a:r>
              <a:rPr lang="en-US" i="1" dirty="0"/>
              <a:t>different</a:t>
            </a:r>
            <a:r>
              <a:rPr lang="en-US" dirty="0"/>
              <a:t> operations. Calling the existing class directly would force us to either (1) modify the legacy/third-party class (forbidden or risky), or (2) scatter </a:t>
            </a:r>
            <a:r>
              <a:rPr lang="en-US" i="1" dirty="0"/>
              <a:t>if/else </a:t>
            </a:r>
            <a:r>
              <a:rPr lang="en-US" dirty="0"/>
              <a:t>translation code across every client (unmaintainable).</a:t>
            </a:r>
          </a:p>
        </p:txBody>
      </p:sp>
    </p:spTree>
    <p:extLst>
      <p:ext uri="{BB962C8B-B14F-4D97-AF65-F5344CB8AC3E}">
        <p14:creationId xmlns:p14="http://schemas.microsoft.com/office/powerpoint/2010/main" val="374892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2E650-C3A1-DE0A-BDB2-E0C0C41E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B2740-23F0-9EE0-9DE6-37E42388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DE11C-A589-BDD7-19AA-B23F8921A840}"/>
              </a:ext>
            </a:extLst>
          </p:cNvPr>
          <p:cNvSpPr txBox="1"/>
          <p:nvPr/>
        </p:nvSpPr>
        <p:spPr>
          <a:xfrm>
            <a:off x="535709" y="194055"/>
            <a:ext cx="176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Adapter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5FCC4-C4EC-A25A-BEEA-B667111230FD}"/>
              </a:ext>
            </a:extLst>
          </p:cNvPr>
          <p:cNvSpPr txBox="1"/>
          <p:nvPr/>
        </p:nvSpPr>
        <p:spPr>
          <a:xfrm>
            <a:off x="424070" y="848139"/>
            <a:ext cx="113041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must integrate legacy or third-party code whose interface you cannot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want to reuse existing classes with incompatible interfaces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want to keep clients decoupled from concrete implementations (the client sees only the Target)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a controlled "anti-corruption layer" between your domain and an external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When to not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control both sides — just change one of the interfaces directly (an adapter adds a class and an indirection for no benefit)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two interfaces are nearly identical — a simple subclass or a few overloads suffice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is critical on a hot path and the extra delegation call matters (rare in practice)</a:t>
            </a:r>
          </a:p>
        </p:txBody>
      </p:sp>
    </p:spTree>
    <p:extLst>
      <p:ext uri="{BB962C8B-B14F-4D97-AF65-F5344CB8AC3E}">
        <p14:creationId xmlns:p14="http://schemas.microsoft.com/office/powerpoint/2010/main" val="375554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C493-23E8-AA3C-89D9-E4D69F7F1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F151D-1560-09E3-59C6-0A89DD48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33AFB0-0734-466A-5917-A85A74577A89}"/>
              </a:ext>
            </a:extLst>
          </p:cNvPr>
          <p:cNvSpPr txBox="1"/>
          <p:nvPr/>
        </p:nvSpPr>
        <p:spPr>
          <a:xfrm>
            <a:off x="535709" y="194055"/>
            <a:ext cx="256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Adapter - Class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A89450-CA53-BFE9-81B8-BA8021ADA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09" y="890764"/>
            <a:ext cx="7772400" cy="23995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86C6E2-F1BC-485B-A454-7EC829908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09" y="3861360"/>
            <a:ext cx="7772400" cy="23688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1403A3-90DF-6729-813A-C27918E24E1F}"/>
              </a:ext>
            </a:extLst>
          </p:cNvPr>
          <p:cNvSpPr txBox="1"/>
          <p:nvPr/>
        </p:nvSpPr>
        <p:spPr>
          <a:xfrm>
            <a:off x="8971722" y="1749287"/>
            <a:ext cx="169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 Adapter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B0FF07-8006-19FE-5541-9CE70AEFEBBF}"/>
              </a:ext>
            </a:extLst>
          </p:cNvPr>
          <p:cNvSpPr txBox="1"/>
          <p:nvPr/>
        </p:nvSpPr>
        <p:spPr>
          <a:xfrm>
            <a:off x="8971722" y="4861099"/>
            <a:ext cx="159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Adapter</a:t>
            </a:r>
          </a:p>
        </p:txBody>
      </p:sp>
    </p:spTree>
    <p:extLst>
      <p:ext uri="{BB962C8B-B14F-4D97-AF65-F5344CB8AC3E}">
        <p14:creationId xmlns:p14="http://schemas.microsoft.com/office/powerpoint/2010/main" val="218462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6D20-9F96-FC3A-6335-696E9589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FB890-DEEE-9DF7-4213-EFC0DE14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918734-748B-B76A-617B-471A8358DFBF}"/>
              </a:ext>
            </a:extLst>
          </p:cNvPr>
          <p:cNvSpPr txBox="1"/>
          <p:nvPr/>
        </p:nvSpPr>
        <p:spPr>
          <a:xfrm>
            <a:off x="317256" y="298291"/>
            <a:ext cx="461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Payment Processor - Adapter - Target and </a:t>
            </a:r>
            <a:r>
              <a:rPr lang="en-US" sz="1600" dirty="0" err="1"/>
              <a:t>Adaptee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B1D6A-883A-27BA-E176-5BF06DF2C09D}"/>
              </a:ext>
            </a:extLst>
          </p:cNvPr>
          <p:cNvSpPr txBox="1"/>
          <p:nvPr/>
        </p:nvSpPr>
        <p:spPr>
          <a:xfrm>
            <a:off x="317256" y="4372497"/>
            <a:ext cx="60420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amount);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refundPayment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amount);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E6720-DA25-E9E8-C8E4-5D119ABE4B86}"/>
              </a:ext>
            </a:extLst>
          </p:cNvPr>
          <p:cNvSpPr txBox="1"/>
          <p:nvPr/>
        </p:nvSpPr>
        <p:spPr>
          <a:xfrm>
            <a:off x="317256" y="888444"/>
            <a:ext cx="706475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executeBilling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customerCode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("[LEGACY] Billing customer: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customerCode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+ " | Amount (cents):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Simulates returning a transaction ID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"TXN-"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System.currentTimeMillis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reverseTransaction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("[LEGACY] Reversing transaction: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txnId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+ " | Amount (cents):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true;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53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6F766-48B5-1328-3F21-18BCA26B6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49E88-3754-8975-4811-5511EC89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72EC8-6495-109F-09FC-71E7DCE4F82B}"/>
              </a:ext>
            </a:extLst>
          </p:cNvPr>
          <p:cNvSpPr txBox="1"/>
          <p:nvPr/>
        </p:nvSpPr>
        <p:spPr>
          <a:xfrm>
            <a:off x="317256" y="298291"/>
            <a:ext cx="3435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Payment Processor - Adapter - Client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634D9-0728-14FD-09CE-735F271D6B25}"/>
              </a:ext>
            </a:extLst>
          </p:cNvPr>
          <p:cNvSpPr txBox="1"/>
          <p:nvPr/>
        </p:nvSpPr>
        <p:spPr>
          <a:xfrm>
            <a:off x="386499" y="886120"/>
            <a:ext cx="818044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OrderService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OrderService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checkout(String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totalAmount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("[ORDER] Initiating checkout for customer: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paymentProcessor.processPayment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totalAmount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("[ORDER] Checkout complete.");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cancelOrder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amount)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("[ORDER] Cancelling order, transaction: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success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paymentProcessor.refundPayment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amount);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("[ORDER] Refund " + (success ? "successful." : "failed."));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299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A91CA-549D-FE75-89AD-7DE7D8E47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12D411-363D-459E-1EB9-98ED78B7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8DAE5B-5D87-2EFD-A1C4-CD8B8B9C05D4}"/>
              </a:ext>
            </a:extLst>
          </p:cNvPr>
          <p:cNvSpPr txBox="1"/>
          <p:nvPr/>
        </p:nvSpPr>
        <p:spPr>
          <a:xfrm>
            <a:off x="317256" y="298291"/>
            <a:ext cx="4729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Payment Processor - Adapter – Composition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52074-E5C3-7023-3A69-EBCE05D642AA}"/>
              </a:ext>
            </a:extLst>
          </p:cNvPr>
          <p:cNvSpPr txBox="1"/>
          <p:nvPr/>
        </p:nvSpPr>
        <p:spPr>
          <a:xfrm>
            <a:off x="414779" y="1008668"/>
            <a:ext cx="7994496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LegacyBillingAdapter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LegacyBillingAdapter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this.legacySystem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amount)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Adapt: double (euros) → int (cents),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stays the same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(int) (amount * 100);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legacySystem.executeBilling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("[ADAPTER] Payment processed. Transaction ID: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refundPayment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amount)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Adapt: translate modern refund call to legacy reverse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(int) (amount * 100);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legacySystem.reverseTransaction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2742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6F5D-C125-0012-3E64-E03C437D3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23AB-791E-C0C3-451F-9BC96147B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B44CEE-BF54-87C8-0027-3D0881850524}"/>
              </a:ext>
            </a:extLst>
          </p:cNvPr>
          <p:cNvSpPr txBox="1"/>
          <p:nvPr/>
        </p:nvSpPr>
        <p:spPr>
          <a:xfrm>
            <a:off x="317256" y="298291"/>
            <a:ext cx="4586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Payment Processor - Adapter – Inheritance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683F0-4F6B-4DCB-9C48-586AA6D49D81}"/>
              </a:ext>
            </a:extLst>
          </p:cNvPr>
          <p:cNvSpPr txBox="1"/>
          <p:nvPr/>
        </p:nvSpPr>
        <p:spPr>
          <a:xfrm>
            <a:off x="320274" y="933254"/>
            <a:ext cx="7436651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LegacyBillingClassAdapter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extends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// inherits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Adaptee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implements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    // fulfills Target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amount)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(int) (amount * 100);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executeBilling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// inherited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("[CLASS ADAPTER] Transaction: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refundPayment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amount)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(int) (amount * 100);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reverseTransaction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transactionId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amountInCents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// inherited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7735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400B7-B600-ED02-DE07-1676552C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5C8E2-90C8-0593-23E8-A5E31FE4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4A0EC2-B543-5343-DE21-8B702756EBC5}"/>
              </a:ext>
            </a:extLst>
          </p:cNvPr>
          <p:cNvSpPr txBox="1"/>
          <p:nvPr/>
        </p:nvSpPr>
        <p:spPr>
          <a:xfrm>
            <a:off x="317256" y="298291"/>
            <a:ext cx="3937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Payment Processor - Adapter –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3D4506-7B07-76EB-F47E-4A29874D8E4D}"/>
              </a:ext>
            </a:extLst>
          </p:cNvPr>
          <p:cNvSpPr txBox="1"/>
          <p:nvPr/>
        </p:nvSpPr>
        <p:spPr>
          <a:xfrm>
            <a:off x="443060" y="961534"/>
            <a:ext cx="7715574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The legacy system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Adaptee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— incompatible interface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LegacyBillingSystem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The Adapter — wraps the legacy system, exposes the modern interface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adapter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LegacyBillingAdapter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legacyBilling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The Client — works only with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no legacy code in sight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OrderService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orderService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OrderService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(adapter);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orderService.checkout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("CUST-001", 49.99);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orderService.cancelOrder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("TXN-123456789", 49.99);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7491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A409-9175-B011-93E3-5A5504C84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DC9F2-115F-8620-54D9-0762C83B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02C7E-3196-6FE0-8A81-9252988F682E}"/>
              </a:ext>
            </a:extLst>
          </p:cNvPr>
          <p:cNvSpPr txBox="1"/>
          <p:nvPr/>
        </p:nvSpPr>
        <p:spPr>
          <a:xfrm>
            <a:off x="3743433" y="3105834"/>
            <a:ext cx="4705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Adapter – Media player</a:t>
            </a:r>
          </a:p>
        </p:txBody>
      </p:sp>
    </p:spTree>
    <p:extLst>
      <p:ext uri="{BB962C8B-B14F-4D97-AF65-F5344CB8AC3E}">
        <p14:creationId xmlns:p14="http://schemas.microsoft.com/office/powerpoint/2010/main" val="2809101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0DC7-4721-8029-005D-F0991CAE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078237-877D-3F96-F8D4-226EAB32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62C26-EF03-F4D2-F9F7-FFCBB4DF5C3C}"/>
              </a:ext>
            </a:extLst>
          </p:cNvPr>
          <p:cNvSpPr txBox="1"/>
          <p:nvPr/>
        </p:nvSpPr>
        <p:spPr>
          <a:xfrm>
            <a:off x="535709" y="194055"/>
            <a:ext cx="2505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Adapter – Pro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4D7E44-54FA-3E42-C1F6-79462E5AD6BB}"/>
              </a:ext>
            </a:extLst>
          </p:cNvPr>
          <p:cNvSpPr txBox="1"/>
          <p:nvPr/>
        </p:nvSpPr>
        <p:spPr>
          <a:xfrm>
            <a:off x="423081" y="887104"/>
            <a:ext cx="112184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Reusability</a:t>
            </a:r>
            <a:r>
              <a:rPr lang="en-US" sz="1600" dirty="0"/>
              <a:t>: lets you reuse existing classes without modifying them — ideal for legacy or third-party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Single Responsibility</a:t>
            </a:r>
            <a:r>
              <a:rPr lang="en-US" sz="1600" dirty="0"/>
              <a:t>: separates the adaptation logic from the core functionality, keeping each class focused.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Loose coupling</a:t>
            </a:r>
            <a:r>
              <a:rPr lang="en-US" sz="1600" dirty="0"/>
              <a:t>: clients depend on a stable target interface, not on the concrete </a:t>
            </a:r>
            <a:r>
              <a:rPr lang="en-US" sz="1600" dirty="0" err="1"/>
              <a:t>adaptee</a:t>
            </a:r>
            <a:r>
              <a:rPr lang="en-US" sz="1600" dirty="0"/>
              <a:t>, so you can swap implementations freely.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Flexibility</a:t>
            </a:r>
            <a:r>
              <a:rPr lang="en-US" sz="1600" dirty="0"/>
              <a:t>: one adapter can bridge many incompatible interfaces; multiple adapters can serve different clients.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Encapsulation</a:t>
            </a:r>
            <a:r>
              <a:rPr lang="en-US" sz="1600" dirty="0"/>
              <a:t>: hides the complexity of translating between interfaces behind a clean facade.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Non-invasive</a:t>
            </a:r>
            <a:r>
              <a:rPr lang="en-US" sz="1600" dirty="0"/>
              <a:t>: you don't have to touch (or even own) the source code you're adapting.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Disadvantages: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Added indirection</a:t>
            </a:r>
            <a:r>
              <a:rPr lang="en-US" sz="1600" dirty="0"/>
              <a:t>: the extra wrapper layer can make the call chain harder to follow and debug.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Complexity for simple cases</a:t>
            </a:r>
            <a:r>
              <a:rPr lang="en-US" sz="1600" dirty="0"/>
              <a:t>: if the interfaces are only slightly different, an adapter may be overkill — a small refactor or direct implementation is simpler.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Transparency limits</a:t>
            </a:r>
            <a:r>
              <a:rPr lang="en-US" sz="1600" dirty="0"/>
              <a:t>: a class adapter forces subclassing (one </a:t>
            </a:r>
            <a:r>
              <a:rPr lang="en-US" sz="1600" dirty="0" err="1"/>
              <a:t>adaptee</a:t>
            </a:r>
            <a:r>
              <a:rPr lang="en-US" sz="1600" dirty="0"/>
              <a:t> per adapter); an object adapter may need to override methods, so it isn't always fully transparent to the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Interface bloat risk</a:t>
            </a:r>
            <a:r>
              <a:rPr lang="en-US" sz="1600" dirty="0"/>
              <a:t>: if you expose too much of the </a:t>
            </a:r>
            <a:r>
              <a:rPr lang="en-US" sz="1600" dirty="0" err="1"/>
              <a:t>adaptee's</a:t>
            </a:r>
            <a:r>
              <a:rPr lang="en-US" sz="1600" dirty="0"/>
              <a:t> API through the adapter, the target interface becomes cluttered and leaks implementation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Performance overhead</a:t>
            </a:r>
            <a:r>
              <a:rPr lang="en-US" sz="1600" dirty="0"/>
              <a:t>: the extra delegation layer adds (usually negligible) runtime cost — worth noting in hot paths.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Maintenance surface</a:t>
            </a:r>
            <a:r>
              <a:rPr lang="en-US" sz="1600" dirty="0"/>
              <a:t>: more classes to keep in sync; if the </a:t>
            </a:r>
            <a:r>
              <a:rPr lang="en-US" sz="1600" dirty="0" err="1"/>
              <a:t>adaptee's</a:t>
            </a:r>
            <a:r>
              <a:rPr lang="en-US" sz="1600" dirty="0"/>
              <a:t> interface changes, the adapter must be updated too.</a:t>
            </a:r>
          </a:p>
        </p:txBody>
      </p:sp>
    </p:spTree>
    <p:extLst>
      <p:ext uri="{BB962C8B-B14F-4D97-AF65-F5344CB8AC3E}">
        <p14:creationId xmlns:p14="http://schemas.microsoft.com/office/powerpoint/2010/main" val="322413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43C89-C13A-96F5-8EEC-9E1449BC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863E2-F261-758F-4038-B480127E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2F265-1C17-D8FB-0938-5F9387F74592}"/>
              </a:ext>
            </a:extLst>
          </p:cNvPr>
          <p:cNvSpPr txBox="1"/>
          <p:nvPr/>
        </p:nvSpPr>
        <p:spPr>
          <a:xfrm>
            <a:off x="535709" y="194055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Bridge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5B1C3C-A2FC-5C72-AB31-D07DD8C80232}"/>
              </a:ext>
            </a:extLst>
          </p:cNvPr>
          <p:cNvSpPr txBox="1"/>
          <p:nvPr/>
        </p:nvSpPr>
        <p:spPr>
          <a:xfrm>
            <a:off x="535709" y="846161"/>
            <a:ext cx="113514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a domain where a class varies along </a:t>
            </a:r>
            <a:r>
              <a:rPr lang="en-US" b="1" dirty="0"/>
              <a:t>multiple independent dimensions</a:t>
            </a:r>
            <a:r>
              <a:rPr lang="en-US" dirty="0"/>
              <a:t>: if both dimensions are modelled with inheritance, the number of concrete classes grows multiplicatively: </a:t>
            </a:r>
            <a:r>
              <a:rPr lang="en-US" i="1" dirty="0"/>
              <a:t>m</a:t>
            </a:r>
            <a:r>
              <a:rPr lang="en-US" dirty="0"/>
              <a:t> abstractions × </a:t>
            </a:r>
            <a:r>
              <a:rPr lang="en-US" i="1" dirty="0"/>
              <a:t>n</a:t>
            </a:r>
            <a:r>
              <a:rPr lang="en-US" dirty="0"/>
              <a:t> implementations = </a:t>
            </a:r>
            <a:r>
              <a:rPr lang="en-US" i="1" dirty="0"/>
              <a:t>m × n </a:t>
            </a:r>
            <a:r>
              <a:rPr lang="en-US" dirty="0"/>
              <a:t>classes.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Remember the parking / vehicles interfaces example!</a:t>
            </a:r>
          </a:p>
        </p:txBody>
      </p:sp>
    </p:spTree>
    <p:extLst>
      <p:ext uri="{BB962C8B-B14F-4D97-AF65-F5344CB8AC3E}">
        <p14:creationId xmlns:p14="http://schemas.microsoft.com/office/powerpoint/2010/main" val="1903896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B163-F4D1-BA1C-B150-3A836BB6C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F8536-0CA5-3B72-EE3C-2AC1AB563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4BE22-0CB3-1217-6F08-11654BAC1458}"/>
              </a:ext>
            </a:extLst>
          </p:cNvPr>
          <p:cNvSpPr txBox="1"/>
          <p:nvPr/>
        </p:nvSpPr>
        <p:spPr>
          <a:xfrm>
            <a:off x="535709" y="194055"/>
            <a:ext cx="1614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Bridge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21310-888D-A87B-7D6E-2F14FBE473D9}"/>
              </a:ext>
            </a:extLst>
          </p:cNvPr>
          <p:cNvSpPr txBox="1"/>
          <p:nvPr/>
        </p:nvSpPr>
        <p:spPr>
          <a:xfrm>
            <a:off x="535709" y="846161"/>
            <a:ext cx="113514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a domain where a class varies along </a:t>
            </a:r>
            <a:r>
              <a:rPr lang="en-US" b="1" dirty="0"/>
              <a:t>multiple independent dimensions</a:t>
            </a:r>
            <a:r>
              <a:rPr lang="en-US" dirty="0"/>
              <a:t>: if both dimensions are modelled with inheritance, the number of concrete classes grows multiplicatively: </a:t>
            </a:r>
            <a:r>
              <a:rPr lang="en-US" i="1" dirty="0"/>
              <a:t>m</a:t>
            </a:r>
            <a:r>
              <a:rPr lang="en-US" dirty="0"/>
              <a:t> abstractions × </a:t>
            </a:r>
            <a:r>
              <a:rPr lang="en-US" i="1" dirty="0"/>
              <a:t>n</a:t>
            </a:r>
            <a:r>
              <a:rPr lang="en-US" dirty="0"/>
              <a:t> implementations = </a:t>
            </a:r>
            <a:r>
              <a:rPr lang="en-US" i="1" dirty="0"/>
              <a:t>m × n </a:t>
            </a:r>
            <a:r>
              <a:rPr lang="en-US" dirty="0"/>
              <a:t>classes. Remember the parking / vehicles interfaces example!</a:t>
            </a:r>
          </a:p>
          <a:p>
            <a:endParaRPr lang="en-US" dirty="0"/>
          </a:p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</a:t>
            </a:r>
            <a:r>
              <a:rPr lang="en-US" b="1" dirty="0"/>
              <a:t>do not want</a:t>
            </a:r>
            <a:r>
              <a:rPr lang="en-US" dirty="0"/>
              <a:t> a permanent binding between an abstraction and its implementation, because either may need to vary or be extended independently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Both the abstraction and its implementation must be extendable</a:t>
            </a:r>
            <a:r>
              <a:rPr lang="en-US" dirty="0"/>
              <a:t> without modifying the other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Changes to the implementation should be </a:t>
            </a:r>
            <a:r>
              <a:rPr lang="en-US" b="1" dirty="0"/>
              <a:t>transparent</a:t>
            </a:r>
            <a:r>
              <a:rPr lang="en-US" dirty="0"/>
              <a:t> to clients of the abstraction.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want to hide the implementation details completely from clients.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have (or anticipate) a multiplicative explosion of subclasses if you use inheritance for both dimensions.</a:t>
            </a:r>
          </a:p>
        </p:txBody>
      </p:sp>
    </p:spTree>
    <p:extLst>
      <p:ext uri="{BB962C8B-B14F-4D97-AF65-F5344CB8AC3E}">
        <p14:creationId xmlns:p14="http://schemas.microsoft.com/office/powerpoint/2010/main" val="237656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C6B8E-C608-24DE-B586-3BDBA3F11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FE311-EFA6-8575-0FB2-CB12A6A4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EAC4A-4E74-C808-5DC7-D4BB24D2DAD9}"/>
              </a:ext>
            </a:extLst>
          </p:cNvPr>
          <p:cNvSpPr txBox="1"/>
          <p:nvPr/>
        </p:nvSpPr>
        <p:spPr>
          <a:xfrm>
            <a:off x="535709" y="194055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Bridge – Class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ACA760-5F00-C8F2-ADEB-5BF6F32F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04" y="559066"/>
            <a:ext cx="9568069" cy="539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23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9299D-A472-4EB4-9E66-3E99C261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18C4B-CE42-BB51-DF31-03757B676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61F96-342C-5E85-95FC-3825C7628F31}"/>
              </a:ext>
            </a:extLst>
          </p:cNvPr>
          <p:cNvSpPr txBox="1"/>
          <p:nvPr/>
        </p:nvSpPr>
        <p:spPr>
          <a:xfrm>
            <a:off x="271758" y="250616"/>
            <a:ext cx="7011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Universal Remote Control – Bridge – The Interfaces and The Abstracts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20BB2-FDCA-BBE9-18F8-A6C4413ECED9}"/>
              </a:ext>
            </a:extLst>
          </p:cNvPr>
          <p:cNvSpPr txBox="1"/>
          <p:nvPr/>
        </p:nvSpPr>
        <p:spPr>
          <a:xfrm>
            <a:off x="1348033" y="2518653"/>
            <a:ext cx="32528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Device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isEnabled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enable();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disable();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getVolume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setVolume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 percent);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getChannel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setChannel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 channel);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1D967-148D-F063-2214-0BCE49B74004}"/>
              </a:ext>
            </a:extLst>
          </p:cNvPr>
          <p:cNvSpPr txBox="1"/>
          <p:nvPr/>
        </p:nvSpPr>
        <p:spPr>
          <a:xfrm>
            <a:off x="7282780" y="531307"/>
            <a:ext cx="4517583" cy="60170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RemoteControl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Device device; </a:t>
            </a:r>
            <a:r>
              <a:rPr lang="en-US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← THE BRIDGE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RemoteControl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(Device device)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this.device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device;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togglePower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device.isEnabled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device.disable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device.enable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volumeDown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device.setVolume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device.getVolume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- 10);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volumeUp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device.setVolume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device.getVolume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+ 10);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channelDown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device.setChannel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device.getChannel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- 1);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channelUp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device.setChannel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device.getChannel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+ 1);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status()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device.printStatus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940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8902F-1CB5-BF78-C83E-44D45B11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C52AD-697D-1B18-7C42-7CA907DE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92BDB-C0E5-1E82-CEE3-0B736C4E8CE5}"/>
              </a:ext>
            </a:extLst>
          </p:cNvPr>
          <p:cNvSpPr txBox="1"/>
          <p:nvPr/>
        </p:nvSpPr>
        <p:spPr>
          <a:xfrm>
            <a:off x="271758" y="250616"/>
            <a:ext cx="582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Universal Remote Control – Bridge – The Device hierarchy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7F29F7-3CF4-C76E-11AF-A29D439650B2}"/>
              </a:ext>
            </a:extLst>
          </p:cNvPr>
          <p:cNvSpPr txBox="1"/>
          <p:nvPr/>
        </p:nvSpPr>
        <p:spPr>
          <a:xfrm>
            <a:off x="372829" y="735292"/>
            <a:ext cx="5767926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TV implements Device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on = false;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 volume = 30;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 channel = 1;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isEnabled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on;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enable()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on = true;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[TV] Powered ON.");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disable()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on = false;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[TV] Powered OFF.");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int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getVolume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volume;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setVolume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(int percent)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volume =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Math.min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(100,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Math.max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(0, percent));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[TV] Volume → " + volume);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int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getChannel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channel;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setChannel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(int ch)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channel = ch;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[TV] Channel → " + channel);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printStatus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[TV STATUS] Power=%-3s | Volume=%3d | Channel=%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d%n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on ? "ON" : "OFF", volume, channel);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FE2BA-EDB3-BD70-97D1-9F17D962CB58}"/>
              </a:ext>
            </a:extLst>
          </p:cNvPr>
          <p:cNvSpPr txBox="1"/>
          <p:nvPr/>
        </p:nvSpPr>
        <p:spPr>
          <a:xfrm>
            <a:off x="6140755" y="631251"/>
            <a:ext cx="5974713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Radio implements Device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on = false;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 volume = 20;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int channel = 88; // FM frequency as integer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isEnabled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on;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enable()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on = true;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[Radio] Powered ON.");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disable()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on = false;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[Radio] Powered OFF.");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int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getVolume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volume;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setVolume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(int percent)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volume =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Math.min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(100,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Math.max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(0, percent));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[Radio] Volume → " + volume);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int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getChannel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channel;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setChannel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(int ch)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channel = ch;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[Radio] Frequency → " + channel + " FM");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printStatus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  [Radio STATUS] Power=%-3s | Volume=%3d | Freq=%d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FM%n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on ? "ON" : "OFF", volume, channel);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7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867C1-7456-DE0C-11CE-0726D2B79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F673D-70FC-7D84-4ADE-71B5A78B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CD1B7-D413-F4A0-BEF4-709BD2D32F96}"/>
              </a:ext>
            </a:extLst>
          </p:cNvPr>
          <p:cNvSpPr txBox="1"/>
          <p:nvPr/>
        </p:nvSpPr>
        <p:spPr>
          <a:xfrm>
            <a:off x="271758" y="250616"/>
            <a:ext cx="5925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Universal Remote Control – Bridge – The Remote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420C9-5F48-AE6A-EC6E-FC1D62C27729}"/>
              </a:ext>
            </a:extLst>
          </p:cNvPr>
          <p:cNvSpPr txBox="1"/>
          <p:nvPr/>
        </p:nvSpPr>
        <p:spPr>
          <a:xfrm>
            <a:off x="271758" y="1036949"/>
            <a:ext cx="855234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AdvancedRemote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RemoteControl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AdvancedRemote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(Device device)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super(device);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mute()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  [ADVANCED REMOTE] Muting device.");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device.setVolume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setFavoriteChannel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 channel)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  [ADVANCED REMOTE] Jumping to favorite channel: " + channel);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device.setChannel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(channel);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3595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6D693-ED0E-CDF6-4C6D-BC0A0960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96922C-8077-56C0-099C-5444249F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FEF73C-AEC8-06F3-7A88-AD39EB75E462}"/>
              </a:ext>
            </a:extLst>
          </p:cNvPr>
          <p:cNvSpPr txBox="1"/>
          <p:nvPr/>
        </p:nvSpPr>
        <p:spPr>
          <a:xfrm>
            <a:off x="271758" y="250616"/>
            <a:ext cx="490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Universal Remote Control – Bridge – 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BF361F-DC0F-9CF2-8603-53A23009B9BB}"/>
              </a:ext>
            </a:extLst>
          </p:cNvPr>
          <p:cNvSpPr txBox="1"/>
          <p:nvPr/>
        </p:nvSpPr>
        <p:spPr>
          <a:xfrm>
            <a:off x="271758" y="619948"/>
            <a:ext cx="6664004" cy="577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Basic Remote controlling a TV ──────────────────────────────────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("=== Basic Remote + TV ===");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RemoteControl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AdvancedRemote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(new TV());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basicTV.togglePower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       // ON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basicTV.volumeUp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basicTV.volumeUp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basicTV.channelUp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basicTV.channelUp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basicTV.channelUp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basicTV.status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basicTV.togglePower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       // OFF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basicTV.status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Advanced Remote controlling a Radio ───────────────────────────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("=== Advanced Remote + Radio ===");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AdvancedRemote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advancedRadio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AdvancedRemote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(new Radio());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advancedRadio.togglePower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 // ON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advancedRadio.volumeUp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advancedRadio.setFavoriteChannel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(101);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advancedRadio.mute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advancedRadio.status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── Runtime bridge swap: same remote, different device ─────────────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("=== Advanced Remote + TV (same remote instance, new device) ===");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AdvancedRemote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smartRemote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AdvancedRemote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(new TV());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smartRemote.togglePower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smartRemote.setFavoriteChannel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smartRemote.volumeUp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smartRemote.volumeUp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smartRemote.volumeUp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smartRemote.status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0581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66E7-24E9-0503-003C-10B3BD82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CC912A-8B7C-4DDE-208F-44EB8CB8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D550F0-AC47-19C0-D781-C1A023C9D8C3}"/>
              </a:ext>
            </a:extLst>
          </p:cNvPr>
          <p:cNvSpPr txBox="1"/>
          <p:nvPr/>
        </p:nvSpPr>
        <p:spPr>
          <a:xfrm>
            <a:off x="3424275" y="3105834"/>
            <a:ext cx="5343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Bridge – Database storage</a:t>
            </a:r>
          </a:p>
        </p:txBody>
      </p:sp>
    </p:spTree>
    <p:extLst>
      <p:ext uri="{BB962C8B-B14F-4D97-AF65-F5344CB8AC3E}">
        <p14:creationId xmlns:p14="http://schemas.microsoft.com/office/powerpoint/2010/main" val="4009739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C0F6D-AF41-0F76-BD41-77ECDFAE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470B8-54EE-F6D3-A0BB-F90A4FBC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5776C-3E7F-275F-4A5B-C3D622E387F3}"/>
              </a:ext>
            </a:extLst>
          </p:cNvPr>
          <p:cNvSpPr txBox="1"/>
          <p:nvPr/>
        </p:nvSpPr>
        <p:spPr>
          <a:xfrm>
            <a:off x="535709" y="194055"/>
            <a:ext cx="2346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Bridge – Pro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6124B-B911-F447-4882-71F4BFD78A59}"/>
              </a:ext>
            </a:extLst>
          </p:cNvPr>
          <p:cNvSpPr txBox="1"/>
          <p:nvPr/>
        </p:nvSpPr>
        <p:spPr>
          <a:xfrm>
            <a:off x="486770" y="674400"/>
            <a:ext cx="1121845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Independent variation</a:t>
            </a:r>
            <a:r>
              <a:rPr lang="en-US" sz="1600" dirty="0"/>
              <a:t>: the abstraction and implementation hierarchies can evolve independently. Adding a new shape does not require new rendering code, and vice versa.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Run-time flexibility</a:t>
            </a:r>
            <a:r>
              <a:rPr lang="en-US" sz="1600" dirty="0"/>
              <a:t>: the implementation can be swapped at run-time via the bridge reference (constructor injection or setter). This is impossible with pure inheritance.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Reduced class explosion</a:t>
            </a:r>
            <a:r>
              <a:rPr lang="en-US" sz="1600" dirty="0"/>
              <a:t>: instead of </a:t>
            </a:r>
            <a:r>
              <a:rPr lang="en-US" sz="1600" i="1" dirty="0"/>
              <a:t>m × n</a:t>
            </a:r>
            <a:r>
              <a:rPr lang="en-US" sz="1600" dirty="0"/>
              <a:t> concrete classes, you have </a:t>
            </a:r>
            <a:r>
              <a:rPr lang="en-US" sz="1600" i="1" dirty="0"/>
              <a:t>m + n</a:t>
            </a:r>
            <a:r>
              <a:rPr lang="en-US" sz="1600" dirty="0"/>
              <a:t>. For 5 abstractions and 4 implementations: 9 classes instead of 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Encapsulation</a:t>
            </a:r>
            <a:r>
              <a:rPr lang="en-US" sz="1600" dirty="0"/>
              <a:t>: implementation details are completely hidden behind the Implementor interface. Clients only see the Abstraction.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Open/Closed Principle</a:t>
            </a:r>
            <a:r>
              <a:rPr lang="en-US" sz="1600" dirty="0"/>
              <a:t>: new implementations can be added without modifying existing Abstraction code. The system is open for extension but closed for modification.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Disadvantages: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Increased complexity</a:t>
            </a:r>
            <a:r>
              <a:rPr lang="en-US" sz="1600" dirty="0"/>
              <a:t>: the pattern introduces an extra layer of indirection. For simple cases with one implementation, it is over-engineering.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Performance overhead</a:t>
            </a:r>
            <a:r>
              <a:rPr lang="en-US" sz="1600" dirty="0"/>
              <a:t>: each call through the Abstraction involves a delegation step (a virtual method call on the Implementor reference). In performance-critical code this can matter, though in practice it is negligible.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Learning curve</a:t>
            </a:r>
            <a:r>
              <a:rPr lang="en-US" sz="1600" dirty="0"/>
              <a:t>: developers must understand that there are two independent hierarchies and how they interact. The pattern is less intuitive than simple inheritance.</a:t>
            </a:r>
          </a:p>
        </p:txBody>
      </p:sp>
    </p:spTree>
    <p:extLst>
      <p:ext uri="{BB962C8B-B14F-4D97-AF65-F5344CB8AC3E}">
        <p14:creationId xmlns:p14="http://schemas.microsoft.com/office/powerpoint/2010/main" val="245502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F731F-8E6D-B7E6-0125-B1AC7E72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F82F-BA7C-614F-4FFA-D04C7895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5CFC45-87BC-D72B-9346-BCDC1AA13841}"/>
              </a:ext>
            </a:extLst>
          </p:cNvPr>
          <p:cNvSpPr txBox="1"/>
          <p:nvPr/>
        </p:nvSpPr>
        <p:spPr>
          <a:xfrm>
            <a:off x="535709" y="357828"/>
            <a:ext cx="922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Facade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5FA82-C748-C8B0-C0C0-BC8116F74D6B}"/>
              </a:ext>
            </a:extLst>
          </p:cNvPr>
          <p:cNvSpPr txBox="1"/>
          <p:nvPr/>
        </p:nvSpPr>
        <p:spPr>
          <a:xfrm>
            <a:off x="535709" y="1310185"/>
            <a:ext cx="1037796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we use it: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provide a simple interface to a complex subsystem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decouple a subsystem from clients and other subsystems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layer your subsystems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Advantages: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Shields clients from subsystem components, reducing the number of objects clients must deal with.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Promotes weak coupling between subsystems and clients.</a:t>
            </a:r>
          </a:p>
        </p:txBody>
      </p:sp>
    </p:spTree>
    <p:extLst>
      <p:ext uri="{BB962C8B-B14F-4D97-AF65-F5344CB8AC3E}">
        <p14:creationId xmlns:p14="http://schemas.microsoft.com/office/powerpoint/2010/main" val="419426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535709" y="194055"/>
            <a:ext cx="2298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Composite -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77DB7-949F-913B-F244-3CF9748950C3}"/>
              </a:ext>
            </a:extLst>
          </p:cNvPr>
          <p:cNvSpPr txBox="1"/>
          <p:nvPr/>
        </p:nvSpPr>
        <p:spPr>
          <a:xfrm>
            <a:off x="401233" y="1004198"/>
            <a:ext cx="1138953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Many real-world domains are naturally hierarchical, part–whole structures: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file system: directories contain files and subdirectories, recursively.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GUI: panels contain buttons, labels, and other panels, recursively.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organization: departments contain employees and sub-departments, recursively.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document: a document contains paragraphs, which contain words; a table contains cells containing text …</a:t>
            </a:r>
          </a:p>
          <a:p>
            <a:endParaRPr lang="en-US" sz="1600" dirty="0"/>
          </a:p>
          <a:p>
            <a:r>
              <a:rPr lang="en-US" sz="1600" dirty="0"/>
              <a:t>Without the pattern, the client must constantly distinguish between "simple" objects (file, button, employee) and "container" objects (directory, panel, department): it needs </a:t>
            </a:r>
            <a:r>
              <a:rPr lang="en-US" sz="1600" i="1" dirty="0"/>
              <a:t>if (</a:t>
            </a:r>
            <a:r>
              <a:rPr lang="en-US" sz="1600" i="1" dirty="0" err="1"/>
              <a:t>isDirectory</a:t>
            </a:r>
            <a:r>
              <a:rPr lang="en-US" sz="1600" i="1" dirty="0"/>
              <a:t>)</a:t>
            </a:r>
            <a:r>
              <a:rPr lang="en-US" sz="1600" dirty="0"/>
              <a:t> checks, separate traversal code for each level, separate aggregation logic (e.g., computing a total size or total payroll requires different code per type).</a:t>
            </a:r>
          </a:p>
          <a:p>
            <a:endParaRPr lang="en-US" sz="1600" dirty="0"/>
          </a:p>
          <a:p>
            <a:r>
              <a:rPr lang="en-US" sz="1600" dirty="0"/>
              <a:t>This produces: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Client code coupled to concrete types</a:t>
            </a:r>
            <a:r>
              <a:rPr lang="en-US" sz="1600" dirty="0"/>
              <a:t> — every new kind of object forces client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Duplicated traversal/aggregation logic</a:t>
            </a:r>
            <a:r>
              <a:rPr lang="en-US" sz="1600" dirty="0"/>
              <a:t> at every level of the hierarchy.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Inability to add new kinds of parts </a:t>
            </a:r>
            <a:r>
              <a:rPr lang="en-US" sz="1600" dirty="0"/>
              <a:t>without touching existing code (violates Open/Closed).</a:t>
            </a:r>
          </a:p>
        </p:txBody>
      </p:sp>
    </p:spTree>
    <p:extLst>
      <p:ext uri="{BB962C8B-B14F-4D97-AF65-F5344CB8AC3E}">
        <p14:creationId xmlns:p14="http://schemas.microsoft.com/office/powerpoint/2010/main" val="334185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D9BA5-2689-3BB6-F99E-78C32D5B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D41E0-E1F5-F34E-C590-CA6B12D39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407B2-67C3-2B4F-8F7F-81394E502F76}"/>
              </a:ext>
            </a:extLst>
          </p:cNvPr>
          <p:cNvSpPr txBox="1"/>
          <p:nvPr/>
        </p:nvSpPr>
        <p:spPr>
          <a:xfrm>
            <a:off x="535709" y="194055"/>
            <a:ext cx="2084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Composite - Usage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F3267-1FA6-7954-60B9-998CF55A40AD}"/>
              </a:ext>
            </a:extLst>
          </p:cNvPr>
          <p:cNvSpPr txBox="1"/>
          <p:nvPr/>
        </p:nvSpPr>
        <p:spPr>
          <a:xfrm>
            <a:off x="401233" y="1004198"/>
            <a:ext cx="1138953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we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 represent part-while hierarchies of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want clients to ignore the difference between composition of objects and individual objects, they will treat all objects in the composite structure uniformly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When not to use it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hierarchy is flat or shallow with almost no composites (a plain interface + polymorphism suffices)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to restrict which types can be children of which containers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"whole" has fundamentally different responsibilities than the "parts" (consider a different structural pattern, e.g., Decorator or Bridge).</a:t>
            </a:r>
          </a:p>
        </p:txBody>
      </p:sp>
    </p:spTree>
    <p:extLst>
      <p:ext uri="{BB962C8B-B14F-4D97-AF65-F5344CB8AC3E}">
        <p14:creationId xmlns:p14="http://schemas.microsoft.com/office/powerpoint/2010/main" val="209877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07F7F-11FB-7676-0BEF-573B25822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A3E2E-25B1-69D9-95DD-872FAEC3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A697B3-3327-5374-6FA0-744C6C0573A3}"/>
              </a:ext>
            </a:extLst>
          </p:cNvPr>
          <p:cNvSpPr txBox="1"/>
          <p:nvPr/>
        </p:nvSpPr>
        <p:spPr>
          <a:xfrm>
            <a:off x="535709" y="194055"/>
            <a:ext cx="2904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Composite – Class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AB726-42F2-4307-F6A3-553B83602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09" y="786532"/>
            <a:ext cx="6311348" cy="5284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6B6531-E1BF-B60F-8CCC-143A1CBB8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479" y="786532"/>
            <a:ext cx="5379830" cy="241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75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C6D20-9F96-FC3A-6335-696E9589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FB890-DEEE-9DF7-4213-EFC0DE14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9082F-ED1D-4E2D-5801-B8B751BD29C6}"/>
              </a:ext>
            </a:extLst>
          </p:cNvPr>
          <p:cNvSpPr txBox="1"/>
          <p:nvPr/>
        </p:nvSpPr>
        <p:spPr>
          <a:xfrm>
            <a:off x="282804" y="32051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OrgChart</a:t>
            </a:r>
            <a:r>
              <a:rPr lang="en-US" dirty="0"/>
              <a:t> – Composite – Interface and Leaf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B312AD-D8CF-655E-1329-67568DF067D8}"/>
              </a:ext>
            </a:extLst>
          </p:cNvPr>
          <p:cNvSpPr txBox="1"/>
          <p:nvPr/>
        </p:nvSpPr>
        <p:spPr>
          <a:xfrm>
            <a:off x="282804" y="1690062"/>
            <a:ext cx="4108817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Item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long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getSalary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display(String indent);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(Item p);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(Item p)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Item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final String name;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final String role;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Person(String name, String role)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name;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this.role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role;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long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getSalary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void display(String indent);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(Item p);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(Item p);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17C06-1878-7798-1DE5-5E3D2931A5F9}"/>
              </a:ext>
            </a:extLst>
          </p:cNvPr>
          <p:cNvSpPr txBox="1"/>
          <p:nvPr/>
        </p:nvSpPr>
        <p:spPr>
          <a:xfrm>
            <a:off x="4790941" y="1228396"/>
            <a:ext cx="672491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Employee extends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long salary;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Employee(String name, String role, long salary)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super(name, role);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this.salary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salary;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long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getSalary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salary;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display(String indent)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(indent + "- " + name + " (" + role + ") — $" + salary);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Adds a member. Only departments support this.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(Item p)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UnsupportedOperationException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("Cannot add people to " + name);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Removes a member. Only departments support this. */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(Item p)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UnsupportedOperationException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("Cannot remove people from " + name);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BBA20-AE75-E61F-0BF9-CA8ECF2697D8}"/>
              </a:ext>
            </a:extLst>
          </p:cNvPr>
          <p:cNvSpPr txBox="1"/>
          <p:nvPr/>
        </p:nvSpPr>
        <p:spPr>
          <a:xfrm>
            <a:off x="9183757" y="242514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</a:t>
            </a:r>
          </a:p>
        </p:txBody>
      </p:sp>
    </p:spTree>
    <p:extLst>
      <p:ext uri="{BB962C8B-B14F-4D97-AF65-F5344CB8AC3E}">
        <p14:creationId xmlns:p14="http://schemas.microsoft.com/office/powerpoint/2010/main" val="13345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C200-1E46-1FF4-2897-73E85919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CD90E-F5A1-B6E3-173D-E400EDA7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BF1F13-CE1C-D755-8262-77067CB8AE02}"/>
              </a:ext>
            </a:extLst>
          </p:cNvPr>
          <p:cNvSpPr txBox="1"/>
          <p:nvPr/>
        </p:nvSpPr>
        <p:spPr>
          <a:xfrm>
            <a:off x="282804" y="320511"/>
            <a:ext cx="4110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OrgChart</a:t>
            </a:r>
            <a:r>
              <a:rPr lang="en-US" dirty="0"/>
              <a:t> – Composite – The Composite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5C9E8-5E8F-89C9-7A97-9BC86C936534}"/>
              </a:ext>
            </a:extLst>
          </p:cNvPr>
          <p:cNvSpPr txBox="1"/>
          <p:nvPr/>
        </p:nvSpPr>
        <p:spPr>
          <a:xfrm>
            <a:off x="406836" y="874455"/>
            <a:ext cx="7263527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Department extends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List&lt;Item&gt; members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Department(String name, String role)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super(name, role);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long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getSalary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long total = 0;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(Item member : members)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total +=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member.getSalary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  // recursion: employees and sub-departments alike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total;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display(String indent)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(indent + "[" + name + " — " + role + "]");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(Item member : members)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member.display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(indent + "  ");   // delegation to every member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(Item p)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members.add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removeItem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(Item p)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members.remove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895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E6F14-F415-EDF5-A8BD-29C6A3FD1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C4ECE-597E-B192-9A72-DD87705A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6AA9E6-051E-D0CC-1680-6A62CE788FBC}"/>
              </a:ext>
            </a:extLst>
          </p:cNvPr>
          <p:cNvSpPr txBox="1"/>
          <p:nvPr/>
        </p:nvSpPr>
        <p:spPr>
          <a:xfrm>
            <a:off x="282804" y="320511"/>
            <a:ext cx="3736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OrgChart</a:t>
            </a:r>
            <a:r>
              <a:rPr lang="en-US" dirty="0"/>
              <a:t> – Composite – 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15981B-4AFD-6AAC-4117-A4CEC500FBFF}"/>
              </a:ext>
            </a:extLst>
          </p:cNvPr>
          <p:cNvSpPr txBox="1"/>
          <p:nvPr/>
        </p:nvSpPr>
        <p:spPr>
          <a:xfrm>
            <a:off x="462941" y="1012954"/>
            <a:ext cx="7151317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Client {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The client only deals with Item references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Department company = new Department("Acme Corp", "Company");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Department engineering = new Department("Engineering", "Department");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engineering.addItem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(new Employee("Alice", "Developer", 80_000));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engineering.addItem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(new Employee("Bob", "Developer", 75_000));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Department research = new Department(“Research”, ”Department”);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research.addItem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(new Employee(“Einstein”, “Scientist”, 100_000);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engineering.addItem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(research);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Department sales = new Department("Sales", "Department");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sales.addItem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(new Employee("Carol", "Sales Rep", 55_000));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company.addItem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(engineering);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company.addItem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(sales);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company.addItem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(new Employee("Dave", "CEO", 200_000));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("=== Example 3: Organization Chart ===");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company.display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("Total payroll of Acme Corp: $"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company.getSalary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852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CC9C8-3A30-95A8-DF43-85C1AEEB3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E1E61-B76C-6C45-6E89-C7A395A1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C2A9D2-5AF6-DDB0-64D1-E0D6689CB67C}"/>
              </a:ext>
            </a:extLst>
          </p:cNvPr>
          <p:cNvSpPr txBox="1"/>
          <p:nvPr/>
        </p:nvSpPr>
        <p:spPr>
          <a:xfrm>
            <a:off x="4318430" y="3105834"/>
            <a:ext cx="3555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Composite – GUI</a:t>
            </a:r>
          </a:p>
        </p:txBody>
      </p:sp>
    </p:spTree>
    <p:extLst>
      <p:ext uri="{BB962C8B-B14F-4D97-AF65-F5344CB8AC3E}">
        <p14:creationId xmlns:p14="http://schemas.microsoft.com/office/powerpoint/2010/main" val="847265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5611D-75FA-6263-E690-2F75A6B20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DEB9A-6942-9661-E7F2-C3BFCF111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AAF5B-A1A9-0597-6474-16CC884B4034}"/>
              </a:ext>
            </a:extLst>
          </p:cNvPr>
          <p:cNvSpPr txBox="1"/>
          <p:nvPr/>
        </p:nvSpPr>
        <p:spPr>
          <a:xfrm>
            <a:off x="535709" y="194055"/>
            <a:ext cx="2816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Composite – Pro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B7A2D-75AF-951F-4A2A-51F1829C957D}"/>
              </a:ext>
            </a:extLst>
          </p:cNvPr>
          <p:cNvSpPr txBox="1"/>
          <p:nvPr/>
        </p:nvSpPr>
        <p:spPr>
          <a:xfrm>
            <a:off x="423081" y="887104"/>
            <a:ext cx="1121845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Simplicity for the client</a:t>
            </a:r>
            <a:r>
              <a:rPr lang="en-US" sz="1600" dirty="0"/>
              <a:t>: the client works with one type; it does not need to know the classes or structure of individual objects, nor how to operate on them differently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Open/Closed</a:t>
            </a:r>
            <a:r>
              <a:rPr lang="en-US" sz="1600" dirty="0"/>
              <a:t>: new kinds of leaves (or even new composites) can be added without modifying existing client code — they just implement/extend Component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Flexibility in composition</a:t>
            </a:r>
            <a:r>
              <a:rPr lang="en-US" sz="1600" dirty="0"/>
              <a:t>: clients can build arbitrary tree structures at runtime; the depth and shape are not fixed at compile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Uniform operations</a:t>
            </a:r>
            <a:r>
              <a:rPr lang="en-US" sz="1600" dirty="0"/>
              <a:t>: a single operation call applies to objects of all levels (traversal, rendering, aggregation, serialization…)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Disadvantages: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Design can become overly general</a:t>
            </a:r>
            <a:r>
              <a:rPr lang="en-US" sz="1600" dirty="0"/>
              <a:t>: if most objects in your domain are leaves, forcing them through the Component abstraction adds indirection for little benefit. Use Composite only when you genuinely have a part–whole hierarchy.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Restriction on the types of components</a:t>
            </a:r>
            <a:r>
              <a:rPr lang="en-US" sz="1600" dirty="0"/>
              <a:t>: if you want to restrict a container to hold only certain kinds of children (e.g., "a sentence contains only words"), it is hard with a pure Component interface — you'd need type checks or a more specific child type, which weakens the pattern's uniformity.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Traversing a complex structure can be expensive</a:t>
            </a:r>
            <a:r>
              <a:rPr lang="en-US" sz="1600" dirty="0"/>
              <a:t>: deep recursion over large trees has time and stack cost; aggregation operations re-walk the tree on every call (no caching by default).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Leaves and composites must share a meaningful common interface</a:t>
            </a:r>
            <a:r>
              <a:rPr lang="en-US" sz="1600" dirty="0"/>
              <a:t>: if their behaviors diverge too much, Component becomes an awkward "least common denominator."</a:t>
            </a:r>
          </a:p>
        </p:txBody>
      </p:sp>
    </p:spTree>
    <p:extLst>
      <p:ext uri="{BB962C8B-B14F-4D97-AF65-F5344CB8AC3E}">
        <p14:creationId xmlns:p14="http://schemas.microsoft.com/office/powerpoint/2010/main" val="237503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53B7-F0F1-582F-6781-4CF4EDB7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8A85D-3940-8BFF-1251-2075ACA64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20434-5803-86DC-A5BD-ADAD52A3036A}"/>
              </a:ext>
            </a:extLst>
          </p:cNvPr>
          <p:cNvSpPr txBox="1"/>
          <p:nvPr/>
        </p:nvSpPr>
        <p:spPr>
          <a:xfrm>
            <a:off x="535709" y="194055"/>
            <a:ext cx="2193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Decorator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622966-59B7-71BE-0A01-6C70F2C8CB28}"/>
              </a:ext>
            </a:extLst>
          </p:cNvPr>
          <p:cNvSpPr txBox="1"/>
          <p:nvPr/>
        </p:nvSpPr>
        <p:spPr>
          <a:xfrm>
            <a:off x="398060" y="1233675"/>
            <a:ext cx="11395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an object must support </a:t>
            </a:r>
            <a:r>
              <a:rPr lang="en-US" i="1" dirty="0"/>
              <a:t>n</a:t>
            </a:r>
            <a:r>
              <a:rPr lang="en-US" dirty="0"/>
              <a:t> independent, optional responsibilities (e.g., coffee toppings: mocha, whip, caramel; or text styles: bold, italic, underline).</a:t>
            </a:r>
          </a:p>
          <a:p>
            <a:endParaRPr lang="en-US" dirty="0"/>
          </a:p>
          <a:p>
            <a:r>
              <a:rPr lang="en-US" dirty="0"/>
              <a:t>With </a:t>
            </a:r>
            <a:r>
              <a:rPr lang="en-US" b="1" dirty="0"/>
              <a:t>static inheritance</a:t>
            </a:r>
            <a:r>
              <a:rPr lang="en-US" dirty="0"/>
              <a:t>, every combination requires its own subclass: with just two toppings you already need </a:t>
            </a:r>
            <a:r>
              <a:rPr lang="en-US" i="1" dirty="0"/>
              <a:t>Espresso, </a:t>
            </a:r>
            <a:r>
              <a:rPr lang="en-US" i="1" dirty="0" err="1"/>
              <a:t>MochaEspresso</a:t>
            </a:r>
            <a:r>
              <a:rPr lang="en-US" i="1" dirty="0"/>
              <a:t>, </a:t>
            </a:r>
            <a:r>
              <a:rPr lang="en-US" i="1" dirty="0" err="1"/>
              <a:t>WhipEspresso</a:t>
            </a:r>
            <a:r>
              <a:rPr lang="en-US" i="1" dirty="0"/>
              <a:t>, </a:t>
            </a:r>
            <a:r>
              <a:rPr lang="en-US" i="1" dirty="0" err="1"/>
              <a:t>MochaWhipEspresso</a:t>
            </a:r>
            <a:r>
              <a:rPr lang="en-US" dirty="0"/>
              <a:t> … the number of classes grows </a:t>
            </a:r>
            <a:r>
              <a:rPr lang="en-US" b="1" dirty="0"/>
              <a:t>exponentially (2ⁿ)</a:t>
            </a:r>
            <a:r>
              <a:rPr lang="en-US" dirty="0"/>
              <a:t> and any new responsibility multiplies the explosion again.</a:t>
            </a:r>
          </a:p>
        </p:txBody>
      </p:sp>
    </p:spTree>
    <p:extLst>
      <p:ext uri="{BB962C8B-B14F-4D97-AF65-F5344CB8AC3E}">
        <p14:creationId xmlns:p14="http://schemas.microsoft.com/office/powerpoint/2010/main" val="2019830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22B9-B9B6-D18E-EF59-94704425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892CA-CC50-55B9-695D-5AC6A8851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FA814-3D3F-3A98-44ED-C62D3C968D2A}"/>
              </a:ext>
            </a:extLst>
          </p:cNvPr>
          <p:cNvSpPr txBox="1"/>
          <p:nvPr/>
        </p:nvSpPr>
        <p:spPr>
          <a:xfrm>
            <a:off x="535709" y="194055"/>
            <a:ext cx="1979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Decorator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AA36C-0DA0-032D-37EF-4BC934148CE3}"/>
              </a:ext>
            </a:extLst>
          </p:cNvPr>
          <p:cNvSpPr txBox="1"/>
          <p:nvPr/>
        </p:nvSpPr>
        <p:spPr>
          <a:xfrm>
            <a:off x="423081" y="873457"/>
            <a:ext cx="113958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to extend the </a:t>
            </a:r>
            <a:r>
              <a:rPr lang="en-US" dirty="0" err="1"/>
              <a:t>behaviour</a:t>
            </a:r>
            <a:r>
              <a:rPr lang="en-US" dirty="0"/>
              <a:t> of an individual object without affecting other objects of the same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must support extensions that can be revoked or recombined at run time (configurable pipelines, plugins, options)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Subclassing would cause a proliferation of classes for independent, orthogonal responsibilities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object to be extended is not easily </a:t>
            </a:r>
            <a:r>
              <a:rPr lang="en-US" dirty="0" err="1"/>
              <a:t>subclassable</a:t>
            </a:r>
            <a:r>
              <a:rPr lang="en-US" dirty="0"/>
              <a:t> (e.g., final classes, objects from third-party libraries — you can still wrap them as long as they expose an interface)</a:t>
            </a:r>
          </a:p>
        </p:txBody>
      </p:sp>
    </p:spTree>
    <p:extLst>
      <p:ext uri="{BB962C8B-B14F-4D97-AF65-F5344CB8AC3E}">
        <p14:creationId xmlns:p14="http://schemas.microsoft.com/office/powerpoint/2010/main" val="359473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6DFF-4363-D01C-1C2B-5B4CBA04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E3C07-DBA1-A5F9-7AC4-34AF9F8E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CACA5-1FA2-CED9-DD35-A756CBA40F09}"/>
              </a:ext>
            </a:extLst>
          </p:cNvPr>
          <p:cNvSpPr txBox="1"/>
          <p:nvPr/>
        </p:nvSpPr>
        <p:spPr>
          <a:xfrm>
            <a:off x="535709" y="194055"/>
            <a:ext cx="280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Decorator – Class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17306E-57C3-B89F-1DFE-5BC857C35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496" y="481915"/>
            <a:ext cx="6430556" cy="587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08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3D1AA-8CED-5691-685A-86D75254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07F8B4-3B54-039C-7670-8C6E0B3B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993476-D7A9-E623-7366-839D523E0725}"/>
              </a:ext>
            </a:extLst>
          </p:cNvPr>
          <p:cNvSpPr txBox="1"/>
          <p:nvPr/>
        </p:nvSpPr>
        <p:spPr>
          <a:xfrm>
            <a:off x="468085" y="326572"/>
            <a:ext cx="30585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Coffee - Decorator – Component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C4C04D-B2BA-3999-A5EE-A8CCDF473B4E}"/>
              </a:ext>
            </a:extLst>
          </p:cNvPr>
          <p:cNvSpPr txBox="1"/>
          <p:nvPr/>
        </p:nvSpPr>
        <p:spPr>
          <a:xfrm>
            <a:off x="468085" y="886120"/>
            <a:ext cx="2787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Coffee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getDescription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6BFE0-BF54-6B5A-409E-285ED2BC75CE}"/>
              </a:ext>
            </a:extLst>
          </p:cNvPr>
          <p:cNvSpPr txBox="1"/>
          <p:nvPr/>
        </p:nvSpPr>
        <p:spPr>
          <a:xfrm>
            <a:off x="468085" y="1938111"/>
            <a:ext cx="669285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Espresso implements Coffee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getDescription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"Espresso";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  { return 1.99;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HouseBlend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Coffee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getDescription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"House Blend";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  { return 0.89;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DarkRoast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Coffee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String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getDescription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"Dark Roast";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 public double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  { return 0.99; }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355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2544-C1A4-BBB6-7B32-0F5947BF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A47AF-5FE5-2F21-4F53-C2DEC570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D2D949-6B6A-14F3-3A0F-7DBD2528180D}"/>
              </a:ext>
            </a:extLst>
          </p:cNvPr>
          <p:cNvSpPr txBox="1"/>
          <p:nvPr/>
        </p:nvSpPr>
        <p:spPr>
          <a:xfrm>
            <a:off x="468085" y="326572"/>
            <a:ext cx="3342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Coffee - Decorator – The Decorators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037CE-8E14-8856-A6D2-74D912CC0E19}"/>
              </a:ext>
            </a:extLst>
          </p:cNvPr>
          <p:cNvSpPr txBox="1"/>
          <p:nvPr/>
        </p:nvSpPr>
        <p:spPr>
          <a:xfrm>
            <a:off x="443175" y="810706"/>
            <a:ext cx="557075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abstract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CoffeeDecorator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Coffee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final Coffee coffee; // the wrapped component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CoffeeDecorator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(Coffee coffee)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this.coffee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coffee;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Default: delegate to the wrapped object unchanged.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Concrete decorators override only what they extend.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0E5D-DAD6-8B6A-D558-98E917C5BBA2}"/>
              </a:ext>
            </a:extLst>
          </p:cNvPr>
          <p:cNvSpPr txBox="1"/>
          <p:nvPr/>
        </p:nvSpPr>
        <p:spPr>
          <a:xfrm>
            <a:off x="6691768" y="326572"/>
            <a:ext cx="503214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Milk extends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CoffeeDecorator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Milk(Coffee coffee) { super(coffee);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", Milk";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+ 0.25;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C187D-9982-ED37-5F22-A5E75BFB93F0}"/>
              </a:ext>
            </a:extLst>
          </p:cNvPr>
          <p:cNvSpPr txBox="1"/>
          <p:nvPr/>
        </p:nvSpPr>
        <p:spPr>
          <a:xfrm>
            <a:off x="6691768" y="2136338"/>
            <a:ext cx="503214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Mocha extends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CoffeeDecorator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Mocha(Coffee coffee) { super(coffee);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", Mocha";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+ 0.20;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26A8BB-3996-AFFF-7635-676E85602444}"/>
              </a:ext>
            </a:extLst>
          </p:cNvPr>
          <p:cNvSpPr txBox="1"/>
          <p:nvPr/>
        </p:nvSpPr>
        <p:spPr>
          <a:xfrm>
            <a:off x="6691767" y="4045193"/>
            <a:ext cx="503214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Whip extends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CoffeeDecorator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Whip(Coffee coffee) { super(coffee);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", Whip";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+ 0.30;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967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ECEB0-A386-ABA7-C457-F4F5F322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C3731-E46B-C280-CC0E-CE94145D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354D83-79D6-FFEC-5DD9-74F818B6AAAB}"/>
              </a:ext>
            </a:extLst>
          </p:cNvPr>
          <p:cNvSpPr txBox="1"/>
          <p:nvPr/>
        </p:nvSpPr>
        <p:spPr>
          <a:xfrm>
            <a:off x="468085" y="326572"/>
            <a:ext cx="30074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Coffee - Decorator – 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C0880-2C0E-DCD0-DC15-69824B803ED8}"/>
              </a:ext>
            </a:extLst>
          </p:cNvPr>
          <p:cNvSpPr txBox="1"/>
          <p:nvPr/>
        </p:nvSpPr>
        <p:spPr>
          <a:xfrm>
            <a:off x="266940" y="766732"/>
            <a:ext cx="6417141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("=== Coffee Orders ===");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("%-50s  %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s%n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", "Description", "Cost");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("-".repeat(62));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Plain base coffees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Espresso());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HouseBlend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DarkRoast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Single condiment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Milk(new Espresso()));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Mocha(new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DarkRoast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Multiple condiments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Whip(new Mocha(new Milk(new Espresso()))));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Caramel(new Whip(new Soy(new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HouseBlend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()))));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Double condiment — impossible with inheritance, trivial with Decorator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Mocha(new Mocha(new Espresso())));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Milk(new Milk(new Milk(new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DarkRoast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()))));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………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DFEBEB-B510-B59B-22FA-718E793338AD}"/>
              </a:ext>
            </a:extLst>
          </p:cNvPr>
          <p:cNvSpPr txBox="1"/>
          <p:nvPr/>
        </p:nvSpPr>
        <p:spPr>
          <a:xfrm>
            <a:off x="6617617" y="947886"/>
            <a:ext cx="5416868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…………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Full custom order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Coffee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new Caramel(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new Whip(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new Milk(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new Mocha(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new Mocha(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new Espresso())))));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("\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nFinal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order description: "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customOrder.getDescription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("Final order cost: $%.2f%n",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customOrder.getCost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static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printOrder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(Coffee coffee)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("%-50s  $%.2f%n",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coffee.getDescription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coffee.getCost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52267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C1A5E-F314-ADDF-A5AB-2863CF04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9EA655-ADD8-1A9B-3562-DF978CA4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8771F6-2B00-A425-2334-FB4C9C963EBC}"/>
              </a:ext>
            </a:extLst>
          </p:cNvPr>
          <p:cNvSpPr txBox="1"/>
          <p:nvPr/>
        </p:nvSpPr>
        <p:spPr>
          <a:xfrm>
            <a:off x="3900206" y="3105834"/>
            <a:ext cx="4391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Decorator – Text style</a:t>
            </a:r>
          </a:p>
        </p:txBody>
      </p:sp>
    </p:spTree>
    <p:extLst>
      <p:ext uri="{BB962C8B-B14F-4D97-AF65-F5344CB8AC3E}">
        <p14:creationId xmlns:p14="http://schemas.microsoft.com/office/powerpoint/2010/main" val="14399261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13A3-AD69-4541-7211-EC571A15C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BE993-1A23-F4A0-B4AD-2C499E68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BD62D-D29D-2069-FE15-87CD1300D817}"/>
              </a:ext>
            </a:extLst>
          </p:cNvPr>
          <p:cNvSpPr txBox="1"/>
          <p:nvPr/>
        </p:nvSpPr>
        <p:spPr>
          <a:xfrm>
            <a:off x="535709" y="194055"/>
            <a:ext cx="2711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Decorator – Pro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08A068-BB4E-1587-89A3-37E61B9CF2A8}"/>
              </a:ext>
            </a:extLst>
          </p:cNvPr>
          <p:cNvSpPr txBox="1"/>
          <p:nvPr/>
        </p:nvSpPr>
        <p:spPr>
          <a:xfrm>
            <a:off x="423081" y="887104"/>
            <a:ext cx="112184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Decorators and subclasses are interchangeable for adding </a:t>
            </a:r>
            <a:r>
              <a:rPr lang="en-US" sz="1600" b="1" dirty="0" err="1"/>
              <a:t>behaviour</a:t>
            </a:r>
            <a:r>
              <a:rPr lang="en-US" sz="1600" dirty="0"/>
              <a:t>: decorators win on flexibility (run-time, per-object, revocable)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Avoids the subclass explosion</a:t>
            </a:r>
            <a:r>
              <a:rPr lang="en-US" sz="1600" dirty="0"/>
              <a:t>: </a:t>
            </a:r>
            <a:r>
              <a:rPr lang="en-US" sz="1600" i="1" dirty="0"/>
              <a:t>n</a:t>
            </a:r>
            <a:r>
              <a:rPr lang="en-US" sz="1600" dirty="0"/>
              <a:t> responsibilities ⇒ </a:t>
            </a:r>
            <a:r>
              <a:rPr lang="en-US" sz="1600" i="1" dirty="0"/>
              <a:t>n + 1 </a:t>
            </a:r>
            <a:r>
              <a:rPr lang="en-US" sz="1600" dirty="0"/>
              <a:t>classes instead of up to </a:t>
            </a:r>
            <a:r>
              <a:rPr lang="en-US" sz="1600" i="1" dirty="0"/>
              <a:t>2ⁿ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Each decorator has a single responsibility</a:t>
            </a:r>
            <a:r>
              <a:rPr lang="en-US" sz="1600" dirty="0"/>
              <a:t>: they can be developed, tested and reused independently.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New </a:t>
            </a:r>
            <a:r>
              <a:rPr lang="en-US" sz="1600" dirty="0" err="1"/>
              <a:t>behaviour</a:t>
            </a:r>
            <a:r>
              <a:rPr lang="en-US" sz="1600" dirty="0"/>
              <a:t> can be added without modifying existing code (OCP).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Disadvantages: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Many small objects</a:t>
            </a:r>
            <a:r>
              <a:rPr lang="en-US" sz="1600" dirty="0"/>
              <a:t>: a heavily decorated chain is a long object graph — more memory, more indirection, harder to debug ("who is actually doing this?"). The sequence diagram is the tool to reason about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Decoration order can change semantics</a:t>
            </a:r>
            <a:r>
              <a:rPr lang="en-US" sz="1600" dirty="0"/>
              <a:t>: the pattern does not enforce any ordering, so the API design must make sensible compositions obvious (or guard against nonsense combinations).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Layering problems</a:t>
            </a:r>
            <a:r>
              <a:rPr lang="en-US" sz="1600" dirty="0"/>
              <a:t>: if decorators need to access each other's internals or state, the clean delegation breaks down — a sign the responsibilities are not truly independent.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client code is type-safe only up to the Component interface</a:t>
            </a:r>
            <a:r>
              <a:rPr lang="en-US" sz="1600" dirty="0"/>
              <a:t>: accessing decorator-specific features requires casts, which erodes transparency.</a:t>
            </a:r>
          </a:p>
        </p:txBody>
      </p:sp>
    </p:spTree>
    <p:extLst>
      <p:ext uri="{BB962C8B-B14F-4D97-AF65-F5344CB8AC3E}">
        <p14:creationId xmlns:p14="http://schemas.microsoft.com/office/powerpoint/2010/main" val="409043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43C89-C13A-96F5-8EEC-9E1449BC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863E2-F261-758F-4038-B480127E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2F265-1C17-D8FB-0938-5F9387F74592}"/>
              </a:ext>
            </a:extLst>
          </p:cNvPr>
          <p:cNvSpPr txBox="1"/>
          <p:nvPr/>
        </p:nvSpPr>
        <p:spPr>
          <a:xfrm>
            <a:off x="535709" y="194055"/>
            <a:ext cx="2135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Flyweight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78D3C-8C61-9C8C-CF9B-FEE3774C2F0E}"/>
              </a:ext>
            </a:extLst>
          </p:cNvPr>
          <p:cNvSpPr txBox="1"/>
          <p:nvPr/>
        </p:nvSpPr>
        <p:spPr>
          <a:xfrm>
            <a:off x="535710" y="942109"/>
            <a:ext cx="108665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a text editor rendering a document of 10,000 characters.</a:t>
            </a:r>
          </a:p>
          <a:p>
            <a:endParaRPr lang="en-US" dirty="0"/>
          </a:p>
          <a:p>
            <a:r>
              <a:rPr lang="en-US" dirty="0"/>
              <a:t>A naïve design creates one </a:t>
            </a:r>
            <a:r>
              <a:rPr lang="en-US" b="1" dirty="0"/>
              <a:t>Character</a:t>
            </a:r>
            <a:r>
              <a:rPr lang="en-US" dirty="0"/>
              <a:t> object per cell, each storing its glyph image, font metrics, color and position.</a:t>
            </a:r>
          </a:p>
          <a:p>
            <a:endParaRPr lang="en-US" dirty="0"/>
          </a:p>
          <a:p>
            <a:r>
              <a:rPr lang="en-US" dirty="0"/>
              <a:t>Most of that data (the glyph for </a:t>
            </a:r>
            <a:r>
              <a:rPr lang="en-US" i="1" dirty="0"/>
              <a:t>'e'</a:t>
            </a:r>
            <a:r>
              <a:rPr lang="en-US" dirty="0"/>
              <a:t>, say) is </a:t>
            </a:r>
            <a:r>
              <a:rPr lang="en-US" b="1" dirty="0"/>
              <a:t>identical</a:t>
            </a:r>
            <a:r>
              <a:rPr lang="en-US" dirty="0"/>
              <a:t> across hundreds of cells — yet it is duplicated in memory thousands of times.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The same problem appears in: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2D/3D rendering — a forest with 50,000 trees, a chess board, a map with many markers.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Games — thousands of bullets, particles or sprites of the same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Compilers / interpreters — repeated symbols, operators, AST node types.</a:t>
            </a:r>
          </a:p>
        </p:txBody>
      </p:sp>
    </p:spTree>
    <p:extLst>
      <p:ext uri="{BB962C8B-B14F-4D97-AF65-F5344CB8AC3E}">
        <p14:creationId xmlns:p14="http://schemas.microsoft.com/office/powerpoint/2010/main" val="152996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A8F96-F1AF-0B20-812E-31221E88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3A1AC-E0D9-FAE6-F9DC-3EE88E8F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2FC53-C9B8-E09C-3D34-47F3EAF5D23B}"/>
              </a:ext>
            </a:extLst>
          </p:cNvPr>
          <p:cNvSpPr txBox="1"/>
          <p:nvPr/>
        </p:nvSpPr>
        <p:spPr>
          <a:xfrm>
            <a:off x="535709" y="194055"/>
            <a:ext cx="1921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Flyweight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0BA12-9A31-D4EC-6B91-A63E47B65A66}"/>
              </a:ext>
            </a:extLst>
          </p:cNvPr>
          <p:cNvSpPr txBox="1"/>
          <p:nvPr/>
        </p:nvSpPr>
        <p:spPr>
          <a:xfrm>
            <a:off x="637309" y="914400"/>
            <a:ext cx="705827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have a </a:t>
            </a:r>
            <a:r>
              <a:rPr lang="en-US" b="1" dirty="0"/>
              <a:t>very large number of similar objects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substantial part of their state can be made </a:t>
            </a:r>
            <a:r>
              <a:rPr lang="en-US" i="1" dirty="0"/>
              <a:t>intrinsic (shared)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remaining state can be moved outside and passed at call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is the bottleneck (rendering, games, big data structures).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not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counts are small (the overhead isn't worth 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 is mostly unique per object (little to share).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Intrinsic state would need to change over time.</a:t>
            </a:r>
          </a:p>
        </p:txBody>
      </p:sp>
    </p:spTree>
    <p:extLst>
      <p:ext uri="{BB962C8B-B14F-4D97-AF65-F5344CB8AC3E}">
        <p14:creationId xmlns:p14="http://schemas.microsoft.com/office/powerpoint/2010/main" val="129368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CA97C-9764-80D0-1551-71CC64B1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3F408-A6E6-C7A2-EFF0-E7E20D5CC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82187-5EF5-E61E-2E67-388767DB1F5F}"/>
              </a:ext>
            </a:extLst>
          </p:cNvPr>
          <p:cNvSpPr txBox="1"/>
          <p:nvPr/>
        </p:nvSpPr>
        <p:spPr>
          <a:xfrm>
            <a:off x="535709" y="194055"/>
            <a:ext cx="2748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Flyweight – Class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84B1C2-FF2C-EF52-DE6B-429A4320E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782" y="627590"/>
            <a:ext cx="8352183" cy="560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03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E998-21C9-3832-29DD-1E123081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56AB8-4428-44AC-01A5-B70DA887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E59905-1DEC-6BCF-1390-C7D76F8BD21E}"/>
              </a:ext>
            </a:extLst>
          </p:cNvPr>
          <p:cNvSpPr txBox="1"/>
          <p:nvPr/>
        </p:nvSpPr>
        <p:spPr>
          <a:xfrm>
            <a:off x="468085" y="232303"/>
            <a:ext cx="31126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Forest - Flyweight – Intrinsic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21489-2B08-3B7A-56BB-FF0029CE2E03}"/>
              </a:ext>
            </a:extLst>
          </p:cNvPr>
          <p:cNvSpPr txBox="1"/>
          <p:nvPr/>
        </p:nvSpPr>
        <p:spPr>
          <a:xfrm>
            <a:off x="594978" y="596721"/>
            <a:ext cx="5971507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final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Identity fields — the basis for equals() and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───────────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name;      // "Oak" | "Pine" | "Birch" | "Maple" | "Willow"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color;     // "Dark Green" | "Bright Green" | etc.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Derived field — excluded from equals() ────────────────────────────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Texture is a direct consequence of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name+color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Two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objects with the same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name+color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are the same species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regardless of which texture file path was passed in.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texture;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name, String color, String texture)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= name;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this.color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= color;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this.texture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texture;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  [FACTORY] Loading %-30s  name=%-8s  color=%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s%n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"\"" + texture + "\"", name, color);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Operation: extrinsic state passed as parameters ───────────────────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draw(int x, int y, int age)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    %-8s | color=%-12s | texture=%-28s | pos=(%4d,%4d) | age=%3d%n",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name, color, texture, x, y, age);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── equals() on name + color — texture is intentionally excluded ──────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equals(Object obj)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(this == obj) return true;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(!(obj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)) return false;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o =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obj;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Objects.equals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(name,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&amp;&amp;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Objects.equals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(color,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o.color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Objects.hash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(name, color);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String.format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{%-8s %-12s '%s'}", name, color, texture);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91784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8F49-0558-F467-1F6B-EE2196C9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761FF-7632-AF49-5BA0-2B4A4007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AC8A1C-B3EE-DE82-C766-71A81441D2C3}"/>
              </a:ext>
            </a:extLst>
          </p:cNvPr>
          <p:cNvSpPr txBox="1"/>
          <p:nvPr/>
        </p:nvSpPr>
        <p:spPr>
          <a:xfrm>
            <a:off x="468085" y="232303"/>
            <a:ext cx="3888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Forest - Flyweight – Intrinsic state factory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68BD9-EC02-7D88-BDD3-8FBF945AD38A}"/>
              </a:ext>
            </a:extLst>
          </p:cNvPr>
          <p:cNvSpPr txBox="1"/>
          <p:nvPr/>
        </p:nvSpPr>
        <p:spPr>
          <a:xfrm>
            <a:off x="612742" y="772998"/>
            <a:ext cx="5955476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TreeTypeFactory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Key IS 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— equals() on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name+color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drives all lookups.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// texture is derived here so callers only need to pass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name+color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Map&lt;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 pool = new HashMap&lt;&gt;();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name, String color)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Derive texture from the two identity fields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texture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name.toLowerCase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().replace(" ", "_")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+ "_"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color.toLowerCase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().replace(" ", "_")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+ ".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candidate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(name, color, texture);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computeIfAbsent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  →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candidate.hashCode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 locates the bucket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  →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candidate.equals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(key) checks for a match on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name+color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  → FOUND     → returns existing flyweight (candidate discarded)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  → NOT FOUND → stores candidate as the new flyweight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pool.computeIfAbsent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(candidate, t -&gt; 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getPoolSize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pool.size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printPool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Pool: %d unique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(s)%n",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pool.size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pool.values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 -&gt;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  " + t));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85433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633C-E832-8727-716A-8BB0BF24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C709B-9C15-2900-D3AA-47E60236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2C4435-5863-B6BC-B44E-DEAC8275DA4F}"/>
              </a:ext>
            </a:extLst>
          </p:cNvPr>
          <p:cNvSpPr txBox="1"/>
          <p:nvPr/>
        </p:nvSpPr>
        <p:spPr>
          <a:xfrm>
            <a:off x="468085" y="232303"/>
            <a:ext cx="4429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Forest - Flyweight – Context (with extrinsic state)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51B1D-94ED-6DD6-3FD3-AA70A92400F5}"/>
              </a:ext>
            </a:extLst>
          </p:cNvPr>
          <p:cNvSpPr txBox="1"/>
          <p:nvPr/>
        </p:nvSpPr>
        <p:spPr>
          <a:xfrm>
            <a:off x="354032" y="601281"/>
            <a:ext cx="564770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Tree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int      x;        // extrinsic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int      y;        // extrinsic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int      age;      // extrinsic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type;     // reference to shared flyweight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Tree(int x, int y, int age,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type)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this.x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= x;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= y;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this.age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= age;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type;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draw()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type.draw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(x, y, age); // extrinsic state delegated to flyweight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0C709-BF9F-57F1-5611-E42C0E9D3BA3}"/>
              </a:ext>
            </a:extLst>
          </p:cNvPr>
          <p:cNvSpPr txBox="1"/>
          <p:nvPr/>
        </p:nvSpPr>
        <p:spPr>
          <a:xfrm>
            <a:off x="5901180" y="3157979"/>
            <a:ext cx="61093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Forest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List&lt;Tree&gt;      trees  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TreeTypeFactory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factory = new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TreeTypeFactory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plantTree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(int x, int y, int age, String name, String color)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type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factory.getTreeType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(name, color);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trees.add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(new Tree(x, y, age, type));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render()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Rendering %,d trees:%n",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trees.size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trees.forEach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(Tree::draw);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getTreeCount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   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trees.size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getTreeTypeCount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factory.getPoolSize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printPool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       {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factory.printPool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058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ED9F4-E453-DDD1-AB8E-C79F2B52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72756-AD44-DC71-9A2B-3418CED1C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4B7D59-8D3F-CDDD-3BBE-F9EBE78B1B3C}"/>
              </a:ext>
            </a:extLst>
          </p:cNvPr>
          <p:cNvSpPr txBox="1"/>
          <p:nvPr/>
        </p:nvSpPr>
        <p:spPr>
          <a:xfrm>
            <a:off x="468085" y="232303"/>
            <a:ext cx="2917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Forest - Flyweight –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6CC8B-75A5-CC93-4113-C4E244C76302}"/>
              </a:ext>
            </a:extLst>
          </p:cNvPr>
          <p:cNvSpPr txBox="1"/>
          <p:nvPr/>
        </p:nvSpPr>
        <p:spPr>
          <a:xfrm>
            <a:off x="483780" y="843677"/>
            <a:ext cx="7109639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static final String[][] SPECIES =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"Oak",    "Dark Green"   },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"Pine",   "Bright Green" },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"Birch",  "White"        },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"Maple",  "Orange"       },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 "Willow", "Pale Green"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Random rand = new Random(42);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Plant 10,000 trees ────────────────────────────────────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Forest forest = new Forest();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(int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10_000;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String[] species = SPECIES[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rand.nextInt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SPECIES.length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)];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forest.plantTree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rand.nextInt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(5000),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rand.nextInt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(5000),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rand.nextInt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(200),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species[0],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species[1]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forest.render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 // prints all, truncated in output below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forest.printPool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("%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nTrees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planted      : %,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d%n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forest.getTreeCount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("Unique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TreeTypes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: %d  ← only 5, regardless of tree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count%n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forest.getTreeTypeCount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71447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92ED5-137F-3C7E-BEE5-6C5AA93C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81777-719D-A318-4549-990A4244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D87B2E-D533-DC21-C743-0FEED5E6BB8A}"/>
              </a:ext>
            </a:extLst>
          </p:cNvPr>
          <p:cNvSpPr txBox="1"/>
          <p:nvPr/>
        </p:nvSpPr>
        <p:spPr>
          <a:xfrm>
            <a:off x="4228982" y="3105834"/>
            <a:ext cx="3734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Flyweight – Chess</a:t>
            </a:r>
          </a:p>
        </p:txBody>
      </p:sp>
    </p:spTree>
    <p:extLst>
      <p:ext uri="{BB962C8B-B14F-4D97-AF65-F5344CB8AC3E}">
        <p14:creationId xmlns:p14="http://schemas.microsoft.com/office/powerpoint/2010/main" val="23324942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CFFC7-0B15-E5FE-C119-1E311E2D5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E284C-77CF-B161-A932-82E0EC47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C5A90-809B-3CFB-E64F-3166F08A7644}"/>
              </a:ext>
            </a:extLst>
          </p:cNvPr>
          <p:cNvSpPr txBox="1"/>
          <p:nvPr/>
        </p:nvSpPr>
        <p:spPr>
          <a:xfrm>
            <a:off x="535709" y="194055"/>
            <a:ext cx="265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Flyweight – Pro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F4D1EC-5892-BAF7-5A77-D77FAD2A984D}"/>
              </a:ext>
            </a:extLst>
          </p:cNvPr>
          <p:cNvSpPr txBox="1"/>
          <p:nvPr/>
        </p:nvSpPr>
        <p:spPr>
          <a:xfrm>
            <a:off x="423081" y="887104"/>
            <a:ext cx="112184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Advantages: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Dramatic memory reduction</a:t>
            </a:r>
            <a:r>
              <a:rPr lang="en-US" sz="1600" dirty="0"/>
              <a:t> when many similar objects exist.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Lower allocation / GC pressure</a:t>
            </a:r>
            <a:r>
              <a:rPr lang="en-US" sz="1600" dirty="0"/>
              <a:t> — fewer live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Centralized sharing policy</a:t>
            </a:r>
            <a:r>
              <a:rPr lang="en-US" sz="1600" dirty="0"/>
              <a:t> in the factory; clients stay simple.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Disadvantages: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Complexity</a:t>
            </a:r>
            <a:r>
              <a:rPr lang="en-US" sz="1600" dirty="0"/>
              <a:t>: adds a factory + cache and forces you to split state, which is not always obvious up front.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Indirection &amp; CPU cost</a:t>
            </a:r>
            <a:r>
              <a:rPr lang="en-US" sz="1600" dirty="0"/>
              <a:t>: passing extrinsic state and looking up the cache adds a  little overhead per operation.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Intrinsic state must be immutable</a:t>
            </a:r>
            <a:r>
              <a:rPr lang="en-US" sz="1600" dirty="0"/>
              <a:t>: if it changes, sharing breaks.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Only worthwhile when the number of objects is large AND they are highly repetitive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439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E9EB-2C8F-25D3-0866-D1CAFAA28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4C52F-A994-E48E-C256-6D6E7F81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926CE-CA30-EC0D-0600-582C2C3DFD80}"/>
              </a:ext>
            </a:extLst>
          </p:cNvPr>
          <p:cNvSpPr txBox="1"/>
          <p:nvPr/>
        </p:nvSpPr>
        <p:spPr>
          <a:xfrm>
            <a:off x="535709" y="194055"/>
            <a:ext cx="1732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Proxy -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25642-11D3-3A26-F5DD-3E0CAD0D698E}"/>
              </a:ext>
            </a:extLst>
          </p:cNvPr>
          <p:cNvSpPr txBox="1"/>
          <p:nvPr/>
        </p:nvSpPr>
        <p:spPr>
          <a:xfrm>
            <a:off x="535709" y="858982"/>
            <a:ext cx="109774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client sometimes needs to work with an object that is: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expensive to create </a:t>
            </a:r>
            <a:r>
              <a:rPr lang="en-US" dirty="0"/>
              <a:t>— a large image, a big dataset, a database connection pool;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sensitive</a:t>
            </a:r>
            <a:r>
              <a:rPr lang="en-US" dirty="0"/>
              <a:t> — access must be authorized (permissions, roles, credentials);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located elsewhere </a:t>
            </a:r>
            <a:r>
              <a:rPr lang="en-US" dirty="0"/>
              <a:t>— on another machine, in another address space.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Creating such objects eagerly, or letting clients touch them directly, causes wasted resources, security holes, or tight coupling to infrastructure details.</a:t>
            </a:r>
          </a:p>
          <a:p>
            <a:endParaRPr lang="en-US" dirty="0"/>
          </a:p>
          <a:p>
            <a:r>
              <a:rPr lang="en-US" dirty="0"/>
              <a:t>The client should instead work with a simple stand-in that looks exactly like the real object and decides </a:t>
            </a:r>
            <a:r>
              <a:rPr lang="en-US" i="1" dirty="0"/>
              <a:t>when, how, and whether</a:t>
            </a:r>
            <a:r>
              <a:rPr lang="en-US" dirty="0"/>
              <a:t> access actually happens.</a:t>
            </a:r>
          </a:p>
        </p:txBody>
      </p:sp>
    </p:spTree>
    <p:extLst>
      <p:ext uri="{BB962C8B-B14F-4D97-AF65-F5344CB8AC3E}">
        <p14:creationId xmlns:p14="http://schemas.microsoft.com/office/powerpoint/2010/main" val="187598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70A4-D7EE-ACEF-E771-006EEC39E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E1EB1-0266-40EC-A697-9DFCAAD1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E97DA-285C-B6BD-5753-E55F5C9BDD35}"/>
              </a:ext>
            </a:extLst>
          </p:cNvPr>
          <p:cNvSpPr txBox="1"/>
          <p:nvPr/>
        </p:nvSpPr>
        <p:spPr>
          <a:xfrm>
            <a:off x="535709" y="194055"/>
            <a:ext cx="1517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Proxy -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4F884-00FE-57DC-A9BE-313D916C3A6E}"/>
              </a:ext>
            </a:extLst>
          </p:cNvPr>
          <p:cNvSpPr txBox="1"/>
          <p:nvPr/>
        </p:nvSpPr>
        <p:spPr>
          <a:xfrm>
            <a:off x="535709" y="983673"/>
            <a:ext cx="963577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creation is expensive and may never be needed (virtual, lazy instantiation);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must be controlled by permissions or credentials (protective);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object lives in another address space and should look local (remote);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want to add cross-cutting behavior (caching, logging) without modifying the real subject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When not to use 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many different behaviors that can be combined at runtime → </a:t>
            </a:r>
            <a:r>
              <a:rPr lang="en-US" b="1" dirty="0"/>
              <a:t>Decorator</a:t>
            </a:r>
            <a:r>
              <a:rPr lang="en-US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extra indirection layer is unacceptable in a hot path (every call pays the overhead);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object is cheap, local, and has no access concerns — a proxy would only add complexity.</a:t>
            </a:r>
          </a:p>
        </p:txBody>
      </p:sp>
    </p:spTree>
    <p:extLst>
      <p:ext uri="{BB962C8B-B14F-4D97-AF65-F5344CB8AC3E}">
        <p14:creationId xmlns:p14="http://schemas.microsoft.com/office/powerpoint/2010/main" val="377898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EEC0F-9B5B-123F-73EF-4DD50CCCB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4A903-852A-11E4-48A0-CA5777A6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1BC25-277B-1773-3EAB-912770D3A018}"/>
              </a:ext>
            </a:extLst>
          </p:cNvPr>
          <p:cNvSpPr txBox="1"/>
          <p:nvPr/>
        </p:nvSpPr>
        <p:spPr>
          <a:xfrm>
            <a:off x="535709" y="194055"/>
            <a:ext cx="2344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Proxy – Class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08503A-E157-B2AE-2192-79B8A60AF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080" y="375708"/>
            <a:ext cx="4503840" cy="598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071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5F936-CB67-67B2-AB82-337998A4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A8C43-02F4-9C29-85D4-5760D3055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DEB06-878D-72D9-C68B-B676E5880568}"/>
              </a:ext>
            </a:extLst>
          </p:cNvPr>
          <p:cNvSpPr txBox="1"/>
          <p:nvPr/>
        </p:nvSpPr>
        <p:spPr>
          <a:xfrm>
            <a:off x="468085" y="326572"/>
            <a:ext cx="3107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DataService</a:t>
            </a:r>
            <a:r>
              <a:rPr lang="en-US" sz="1600" dirty="0"/>
              <a:t> - Proxy – The Subject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BA8BE-AF0C-DE88-4C0D-2F0DF0805EB2}"/>
              </a:ext>
            </a:extLst>
          </p:cNvPr>
          <p:cNvSpPr txBox="1"/>
          <p:nvPr/>
        </p:nvSpPr>
        <p:spPr>
          <a:xfrm>
            <a:off x="468085" y="923827"/>
            <a:ext cx="372409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query);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key, String value);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key);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A0455-01D8-F9F2-25B0-CD3352105270}"/>
              </a:ext>
            </a:extLst>
          </p:cNvPr>
          <p:cNvSpPr txBox="1"/>
          <p:nvPr/>
        </p:nvSpPr>
        <p:spPr>
          <a:xfrm>
            <a:off x="445308" y="2044302"/>
            <a:ext cx="7186583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DatabaseService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DatabaseService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Simulates an expensive startup: connection pool, schema validation, etc.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[DB]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Initialising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connection pool............. done");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[DB] Loading schema cache..................... done");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[DB] Running startup health check............. done");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query)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[DB] SELECT * WHERE key = '" + query + "'");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"{ \"result\": \"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data_for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_" + query + "\" }";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key, String value)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[DB] INSERT/UPDATE key='" + key + "' value='" + value + "'");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key)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[DB] DELETE WHERE key='" + key + "'");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111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CA612-22A6-E389-FC9F-2759A3F5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C1C5F-EC86-DDF9-E05A-0C23FCFF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3EE521-DAF6-09B4-5593-93FCB29F8DA9}"/>
              </a:ext>
            </a:extLst>
          </p:cNvPr>
          <p:cNvSpPr txBox="1"/>
          <p:nvPr/>
        </p:nvSpPr>
        <p:spPr>
          <a:xfrm>
            <a:off x="468085" y="326572"/>
            <a:ext cx="3171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DataService</a:t>
            </a:r>
            <a:r>
              <a:rPr lang="en-US" sz="1600" dirty="0"/>
              <a:t> - Proxy – Cache Proxy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10B80-D2BC-67A9-73DC-F82BC87D3D4A}"/>
              </a:ext>
            </a:extLst>
          </p:cNvPr>
          <p:cNvSpPr txBox="1"/>
          <p:nvPr/>
        </p:nvSpPr>
        <p:spPr>
          <a:xfrm>
            <a:off x="468085" y="801278"/>
            <a:ext cx="726352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CachingProxy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service;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Map&lt;String, String&gt; cache = new HashMap&lt;&gt;();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CachingProxy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service)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this.service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service;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query)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cache.containsKey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(query))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[CACHE] HIT  → '" + query + "'");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cache.get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(query);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[CACHE] MISS → '" + query + "' — delegating to real service");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result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service.fetchData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(query);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cache.put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(query, result);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[CACHE] Stored result for '" + query + "'");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result;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key, String value)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cache.remove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(key);   // write-through: invalidate stale entry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[CACHE] Invalidated '" + key + "'");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service.saveData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(key, value);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key) {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cache.remove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(key);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("  [CACHE] Invalidated '" + key + "'");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service.deleteData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(key);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69784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E5038-6DCB-42B2-C935-91CA0788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ACD32-F280-844D-51A1-5EA83DDA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612CB4-5A7B-1B5E-292E-769B578044F6}"/>
              </a:ext>
            </a:extLst>
          </p:cNvPr>
          <p:cNvSpPr txBox="1"/>
          <p:nvPr/>
        </p:nvSpPr>
        <p:spPr>
          <a:xfrm>
            <a:off x="468085" y="326572"/>
            <a:ext cx="35106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DataService</a:t>
            </a:r>
            <a:r>
              <a:rPr lang="en-US" sz="1600" dirty="0"/>
              <a:t> - Proxy – Protection Proxy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67204-E32E-6F8C-A4D5-AF4377D06F72}"/>
              </a:ext>
            </a:extLst>
          </p:cNvPr>
          <p:cNvSpPr txBox="1"/>
          <p:nvPr/>
        </p:nvSpPr>
        <p:spPr>
          <a:xfrm>
            <a:off x="565608" y="867266"/>
            <a:ext cx="5301451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ProtectionProxy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service;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String      role;     // "READONLY" | "USER" | "ADMIN"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ProtectionProxy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service, String role)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service;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this.role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= role;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query)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All roles may read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  [PROTECTION] role=" + role + " →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ALLOWED");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service.fetchData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(query);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key, String value)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require("USER", "ADMIN");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  [PROTECTION] role=" + role + " →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ALLOWED");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service.saveData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(key, value);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key)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require("ADMIN");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  [PROTECTION] role=" + role + " →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ALLOWED");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service.deleteData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(key);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// Throws if the caller's role is not in the allowed list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void require(String...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allowedRoles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(String allowed :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allowedRoles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role.equals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(allowed)) return;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SecurityException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  [PROTECTION] role=" + role + " → ACCESS DENIED " +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"(requires one of: " +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String.join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(", ",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allowedRoles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+ ")");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90527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4C898-4B35-101C-5A49-1E5F5988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E9CDA-142F-EBAE-685B-905F0386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C89A02-A418-6B07-ECF2-B26F02B46286}"/>
              </a:ext>
            </a:extLst>
          </p:cNvPr>
          <p:cNvSpPr txBox="1"/>
          <p:nvPr/>
        </p:nvSpPr>
        <p:spPr>
          <a:xfrm>
            <a:off x="468085" y="326572"/>
            <a:ext cx="3080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DataService</a:t>
            </a:r>
            <a:r>
              <a:rPr lang="en-US" sz="1600" dirty="0"/>
              <a:t> - Proxy – Application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9D999E-5654-167A-12D2-81612B4FE7EB}"/>
              </a:ext>
            </a:extLst>
          </p:cNvPr>
          <p:cNvSpPr txBox="1"/>
          <p:nvPr/>
        </p:nvSpPr>
        <p:spPr>
          <a:xfrm>
            <a:off x="3875131" y="665126"/>
            <a:ext cx="5179623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("\n\n=== Protection Proxy ===\n");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DatabaseService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USER can read and write, but not delete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("\n-- User role: USER --");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userProxy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ProtectionProxy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"USER");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userProxy.fetchData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("user-2"));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userProxy.saveData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("user-2", "updated value");          // allowed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userProxy.deleteData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("user-2");                     // denied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catch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SecurityException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e.getMessage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ADMIN has full access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("\n-- User role: ADMIN --");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adminProxy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ProtectionProxy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"ADMIN");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adminProxy.fetchData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("user-3");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adminProxy.saveData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("user-3", "admin update");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adminProxy.deleteData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("user-3");                        // allowed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("\n\n=== Caching Proxy ===\n");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cachingProxy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CachingProxy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realService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("-- First fetch (cache MISS) --");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cachingProxy.fetchData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("report-Q3");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("\n-- Second fetch (cache HIT) --");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cachingProxy.fetchData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("report-Q3");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("\n-- Third fetch, different key (cache MISS) --");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cachingProxy.fetchData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("report-Q4");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("\n-- Save invalidates cache --");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cachingProxy.saveData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("report-Q3", "updated Q3 data");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("\n-- Fetch after invalidation (cache MISS again) --");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cachingProxy.fetchData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("report-Q3");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161676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6B953-9505-4853-DB99-32061E7A6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C4994-7586-EFF0-8CBB-7DBEE307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1F93E2-7974-2D9C-1B93-4E957B8B4349}"/>
              </a:ext>
            </a:extLst>
          </p:cNvPr>
          <p:cNvSpPr txBox="1"/>
          <p:nvPr/>
        </p:nvSpPr>
        <p:spPr>
          <a:xfrm>
            <a:off x="3386668" y="3105834"/>
            <a:ext cx="5418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Proxy – Remote Calculator</a:t>
            </a:r>
          </a:p>
        </p:txBody>
      </p:sp>
    </p:spTree>
    <p:extLst>
      <p:ext uri="{BB962C8B-B14F-4D97-AF65-F5344CB8AC3E}">
        <p14:creationId xmlns:p14="http://schemas.microsoft.com/office/powerpoint/2010/main" val="15149537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EC05-E0FA-5DDB-654F-E0E848BD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55C5E-5380-DB68-BB21-6B0FD1AE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E92F5-52AD-E095-436F-266E44EE92B4}"/>
              </a:ext>
            </a:extLst>
          </p:cNvPr>
          <p:cNvSpPr txBox="1"/>
          <p:nvPr/>
        </p:nvSpPr>
        <p:spPr>
          <a:xfrm>
            <a:off x="535709" y="194055"/>
            <a:ext cx="2249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Proxy – Pro and Cons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89887-6CD3-3430-148F-043898059D8C}"/>
              </a:ext>
            </a:extLst>
          </p:cNvPr>
          <p:cNvSpPr txBox="1"/>
          <p:nvPr/>
        </p:nvSpPr>
        <p:spPr>
          <a:xfrm>
            <a:off x="423081" y="887104"/>
            <a:ext cx="112184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Advantages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is decoupled from creation/access details; it programs to `Subject` only.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Lazy initialization saves memory and startup time (virtual).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enforcement is centralized in one place, not scattered across the real object (protective).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Remote objects become transparent to the client (remote).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Cross-cutting concerns can be added in a single class without touching the real subject.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Disadvantages: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 indirection: small latency and memory overhead per call.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classes → larger codebase, more names to maintain.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Debugging is harder (extra stack frames, "who created this object?").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proxy that accumulates too many responsibilities becomes a god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Non-transparent proxies leak setup complexity to the client.</a:t>
            </a:r>
          </a:p>
        </p:txBody>
      </p:sp>
    </p:spTree>
    <p:extLst>
      <p:ext uri="{BB962C8B-B14F-4D97-AF65-F5344CB8AC3E}">
        <p14:creationId xmlns:p14="http://schemas.microsoft.com/office/powerpoint/2010/main" val="138135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5716E-081C-FC6C-6F1A-B21F873C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Design Patterns - Structural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0614FA-4ED6-88CE-4031-43C14D9A7871}"/>
              </a:ext>
            </a:extLst>
          </p:cNvPr>
          <p:cNvSpPr txBox="1"/>
          <p:nvPr/>
        </p:nvSpPr>
        <p:spPr>
          <a:xfrm>
            <a:off x="232831" y="352603"/>
            <a:ext cx="5766515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When to Use Structural Patterns</a:t>
            </a:r>
          </a:p>
          <a:p>
            <a:endParaRPr lang="en-US"/>
          </a:p>
          <a:p>
            <a:r>
              <a:rPr lang="en-US"/>
              <a:t>Use </a:t>
            </a:r>
            <a:r>
              <a:rPr lang="en-US" b="1"/>
              <a:t>Adapter</a:t>
            </a:r>
            <a:r>
              <a:rPr lang="en-US"/>
              <a:t> when integrating existing</a:t>
            </a:r>
            <a:br>
              <a:rPr lang="en-US"/>
            </a:br>
            <a:r>
              <a:rPr lang="en-US"/>
              <a:t>incompatible code</a:t>
            </a:r>
          </a:p>
          <a:p>
            <a:endParaRPr lang="en-US"/>
          </a:p>
          <a:p>
            <a:r>
              <a:rPr lang="en-US"/>
              <a:t>Use </a:t>
            </a:r>
            <a:r>
              <a:rPr lang="en-US" b="1"/>
              <a:t>Bridge</a:t>
            </a:r>
            <a:r>
              <a:rPr lang="en-US"/>
              <a:t> when both abstraction and</a:t>
            </a:r>
            <a:br>
              <a:rPr lang="en-US"/>
            </a:br>
            <a:r>
              <a:rPr lang="en-US"/>
              <a:t>implementation may change</a:t>
            </a:r>
          </a:p>
          <a:p>
            <a:endParaRPr lang="en-US"/>
          </a:p>
          <a:p>
            <a:r>
              <a:rPr lang="en-US"/>
              <a:t>Use </a:t>
            </a:r>
            <a:r>
              <a:rPr lang="en-US" b="1"/>
              <a:t>Composite</a:t>
            </a:r>
            <a:r>
              <a:rPr lang="en-US"/>
              <a:t> for part-whole hierarchies</a:t>
            </a:r>
            <a:br>
              <a:rPr lang="en-US"/>
            </a:br>
            <a:r>
              <a:rPr lang="en-US"/>
              <a:t>and tree structures</a:t>
            </a:r>
          </a:p>
          <a:p>
            <a:endParaRPr lang="en-US"/>
          </a:p>
          <a:p>
            <a:r>
              <a:rPr lang="en-US"/>
              <a:t>Use </a:t>
            </a:r>
            <a:r>
              <a:rPr lang="en-US" b="1"/>
              <a:t>Decorator</a:t>
            </a:r>
            <a:r>
              <a:rPr lang="en-US"/>
              <a:t> for optional features without</a:t>
            </a:r>
            <a:br>
              <a:rPr lang="en-US"/>
            </a:br>
            <a:r>
              <a:rPr lang="en-US"/>
              <a:t>subclass explosion</a:t>
            </a:r>
          </a:p>
          <a:p>
            <a:endParaRPr lang="en-US"/>
          </a:p>
          <a:p>
            <a:r>
              <a:rPr lang="en-US"/>
              <a:t>Use </a:t>
            </a:r>
            <a:r>
              <a:rPr lang="en-US" b="1"/>
              <a:t>Facade</a:t>
            </a:r>
            <a:r>
              <a:rPr lang="en-US"/>
              <a:t> to simplify complex interfaces</a:t>
            </a:r>
            <a:br>
              <a:rPr lang="en-US"/>
            </a:br>
            <a:r>
              <a:rPr lang="en-US"/>
              <a:t>for common operations</a:t>
            </a:r>
          </a:p>
          <a:p>
            <a:endParaRPr lang="en-US"/>
          </a:p>
          <a:p>
            <a:r>
              <a:rPr lang="en-US"/>
              <a:t>Use </a:t>
            </a:r>
            <a:r>
              <a:rPr lang="en-US" b="1"/>
              <a:t>Flyweight</a:t>
            </a:r>
            <a:r>
              <a:rPr lang="en-US"/>
              <a:t> when memory usage is</a:t>
            </a:r>
            <a:br>
              <a:rPr lang="en-US"/>
            </a:br>
            <a:r>
              <a:rPr lang="en-US"/>
              <a:t>critical with many similar objects</a:t>
            </a:r>
          </a:p>
          <a:p>
            <a:endParaRPr lang="en-US"/>
          </a:p>
          <a:p>
            <a:r>
              <a:rPr lang="en-US"/>
              <a:t>Use </a:t>
            </a:r>
            <a:r>
              <a:rPr lang="en-US" b="1"/>
              <a:t>Proxy</a:t>
            </a:r>
            <a:r>
              <a:rPr lang="en-US"/>
              <a:t> for controlled access, lazy loading, or caching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2F51D-EAF4-1630-703F-C42C709ADE9C}"/>
              </a:ext>
            </a:extLst>
          </p:cNvPr>
          <p:cNvSpPr txBox="1"/>
          <p:nvPr/>
        </p:nvSpPr>
        <p:spPr>
          <a:xfrm>
            <a:off x="6338657" y="352603"/>
            <a:ext cx="5620513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/>
              <a:t>Benefits of Structural Patterns</a:t>
            </a:r>
          </a:p>
          <a:p>
            <a:endParaRPr lang="en-US"/>
          </a:p>
          <a:p>
            <a:r>
              <a:rPr lang="en-US" b="1"/>
              <a:t>Simplify Code </a:t>
            </a:r>
            <a:r>
              <a:rPr lang="en-US"/>
              <a:t>- Organize and simplify complex relationships</a:t>
            </a:r>
          </a:p>
          <a:p>
            <a:r>
              <a:rPr lang="en-US" b="1"/>
              <a:t>Reduce Duplicate Code </a:t>
            </a:r>
            <a:r>
              <a:rPr lang="en-US"/>
              <a:t>- Reuse existing structures efficiently</a:t>
            </a:r>
          </a:p>
          <a:p>
            <a:r>
              <a:rPr lang="en-US" b="1"/>
              <a:t>Enhance Flexibility </a:t>
            </a:r>
            <a:r>
              <a:rPr lang="en-US"/>
              <a:t>- Add/change features without altering existing code</a:t>
            </a:r>
          </a:p>
          <a:p>
            <a:r>
              <a:rPr lang="en-US" b="1"/>
              <a:t>Improve Readability </a:t>
            </a:r>
            <a:r>
              <a:rPr lang="en-US"/>
              <a:t>- Clear structure makes code easier to understand</a:t>
            </a:r>
          </a:p>
          <a:p>
            <a:r>
              <a:rPr lang="en-US" b="1"/>
              <a:t>Optimize Resources </a:t>
            </a:r>
            <a:r>
              <a:rPr lang="en-US"/>
              <a:t>- Share data efficiently and reduce memory usage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D30D1-4760-60A6-DC3E-918E02A4B7FD}"/>
              </a:ext>
            </a:extLst>
          </p:cNvPr>
          <p:cNvSpPr txBox="1"/>
          <p:nvPr/>
        </p:nvSpPr>
        <p:spPr>
          <a:xfrm>
            <a:off x="6338657" y="3923714"/>
            <a:ext cx="5620512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/>
              <a:t>Common Pitfalls</a:t>
            </a:r>
          </a:p>
          <a:p>
            <a:endParaRPr lang="en-US"/>
          </a:p>
          <a:p>
            <a:r>
              <a:rPr lang="en-US" b="1"/>
              <a:t>Overengineering</a:t>
            </a:r>
            <a:r>
              <a:rPr lang="en-US"/>
              <a:t> - Using patterns unnecessarily adds complexity</a:t>
            </a:r>
          </a:p>
          <a:p>
            <a:r>
              <a:rPr lang="en-US" b="1"/>
              <a:t>Performance Overhead</a:t>
            </a:r>
            <a:r>
              <a:rPr lang="en-US"/>
              <a:t> - Extra layers can impact performance</a:t>
            </a:r>
          </a:p>
          <a:p>
            <a:r>
              <a:rPr lang="en-US" b="1"/>
              <a:t>Maintenance Complexity</a:t>
            </a:r>
            <a:r>
              <a:rPr lang="en-US"/>
              <a:t> - Too many patterns make code harder to debug</a:t>
            </a:r>
          </a:p>
        </p:txBody>
      </p:sp>
    </p:spTree>
    <p:extLst>
      <p:ext uri="{BB962C8B-B14F-4D97-AF65-F5344CB8AC3E}">
        <p14:creationId xmlns:p14="http://schemas.microsoft.com/office/powerpoint/2010/main" val="148847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8911</Words>
  <Application>Microsoft Macintosh PowerPoint</Application>
  <PresentationFormat>Widescreen</PresentationFormat>
  <Paragraphs>1263</Paragraphs>
  <Slides>58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56</cp:revision>
  <dcterms:created xsi:type="dcterms:W3CDTF">2025-02-19T20:33:39Z</dcterms:created>
  <dcterms:modified xsi:type="dcterms:W3CDTF">2026-10-07T18:24:28Z</dcterms:modified>
</cp:coreProperties>
</file>