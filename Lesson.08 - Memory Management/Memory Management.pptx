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3" r:id="rId3"/>
    <p:sldId id="296" r:id="rId4"/>
    <p:sldId id="283" r:id="rId5"/>
    <p:sldId id="290" r:id="rId6"/>
    <p:sldId id="291" r:id="rId7"/>
    <p:sldId id="292" r:id="rId8"/>
    <p:sldId id="297" r:id="rId9"/>
    <p:sldId id="293" r:id="rId10"/>
    <p:sldId id="294" r:id="rId11"/>
    <p:sldId id="298" r:id="rId12"/>
    <p:sldId id="295" r:id="rId13"/>
    <p:sldId id="29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/>
    <p:restoredTop sz="94660"/>
  </p:normalViewPr>
  <p:slideViewPr>
    <p:cSldViewPr snapToGrid="0">
      <p:cViewPr varScale="1">
        <p:scale>
          <a:sx n="136" d="100"/>
          <a:sy n="136" d="100"/>
        </p:scale>
        <p:origin x="24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5BD452-70C7-7D43-DE79-395EC2D5A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7222D-C06B-5CD4-B200-730FB65A8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2657-6240-B14B-9F48-F865CB79AC7C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6D15-E1AC-47B8-BF91-C30978D1B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59E4-6272-9520-00E8-FE3F63A8D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A7A-FF33-C64E-B529-8BCC138EF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3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121A-761B-2742-9D61-65348EACD743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59E5-EFBC-DB40-B048-B7FD703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4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a leak from the OS POV?</a:t>
            </a:r>
          </a:p>
        </p:txBody>
      </p:sp>
    </p:spTree>
    <p:extLst>
      <p:ext uri="{BB962C8B-B14F-4D97-AF65-F5344CB8AC3E}">
        <p14:creationId xmlns:p14="http://schemas.microsoft.com/office/powerpoint/2010/main" val="3641552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EC3B6-FA4C-2CC2-E0BB-F74E1ADE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DBEA7-9C8C-2178-6C80-F2D737BF2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D107A-BEDE-E4B4-4A34-1C34BABBF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a leak from the OS POV?</a:t>
            </a:r>
          </a:p>
        </p:txBody>
      </p:sp>
    </p:spTree>
    <p:extLst>
      <p:ext uri="{BB962C8B-B14F-4D97-AF65-F5344CB8AC3E}">
        <p14:creationId xmlns:p14="http://schemas.microsoft.com/office/powerpoint/2010/main" val="1915617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-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Sometimes could be worth wasting a bit of memory to push up performance</a:t>
            </a:r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/>
              <a:t>KNOW YOUR DATA!</a:t>
            </a:r>
            <a:br>
              <a:rPr lang="en-US"/>
            </a:br>
            <a:r>
              <a:rPr lang="en-US"/>
              <a:t>-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 short string optimization</a:t>
            </a:r>
          </a:p>
        </p:txBody>
      </p:sp>
    </p:spTree>
    <p:extLst>
      <p:ext uri="{BB962C8B-B14F-4D97-AF65-F5344CB8AC3E}">
        <p14:creationId xmlns:p14="http://schemas.microsoft.com/office/powerpoint/2010/main" val="876187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C6D0-5512-F16D-A0CB-B72D25DE2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2CC4-D335-C33A-9B0A-689A95B7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5E48-8338-AC1F-6E5F-D8999FEB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115C-B08C-0D43-88EB-796E5A2CF561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1100-D604-5C2D-7C49-74A286E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38D9-1B5A-E778-95C0-AF4682C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693-A74F-F8E3-AD6A-0332BA4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BD10-0BF7-1F3F-59C4-F701A755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3507-7FCB-4052-7D4E-E0E661B8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3B92-47DB-AF49-B437-412CD3FED8F2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F9F4-E7EF-D596-F08B-70C65EFF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335D-13AC-DE52-4FB3-F21D0F4A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6974-425E-2DAD-9A21-BA079617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BC8-2575-E2E6-B061-F7EE5B50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BA54-9635-D484-B680-4616CD98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87CA-9F5F-D149-95C3-6D384108962A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804-2107-34D8-E78B-2A7FFFB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FD9B-7CDC-60DE-0DC1-06904DC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72E-B1A4-D336-D790-D89C1E7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7E8D-C5B1-602E-EAC6-EB6FA3EE1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62D6-18E8-14F8-E378-8E10073C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66E2-2C5F-9236-3F60-A87A6B3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569D-5E8A-BD4F-8402-D148010AB9D7}" type="datetime1"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63519-F2FC-412C-3914-030E96B3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BC-C7BA-0E16-8652-D4FB52E8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EAA-6C94-CE7A-96FB-FF6B2F1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2EFD-CF2B-1D2E-7819-E2EBC8E1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80BC-743C-1D56-4519-FAAC1140E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74647-A3CD-CD27-25B6-C1CB380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464C-F134-5223-06A8-93C17D00F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3B48B-CF79-443F-E609-240A9AD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A2AF8-DCC9-4F45-8230-F414CFF5C64F}" type="datetime1">
              <a:t>12/2/25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D30F-6B06-D928-93A9-7BFCC03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9A56-6E9F-7FCB-C081-AB1C0B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FFED-3B7D-D363-F6D8-89AB1CD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9165-4CDC-A611-C121-3CA7DEA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91B0-BDF4-8241-9918-983E07689EDF}" type="datetime1"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37B45-F436-35A0-1A11-3847788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249D-E148-E80F-8FD8-12216ADD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29C19-6C7E-FBCF-C0D3-BC2825CF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C6A5-55D4-7347-923C-EBE967A4F662}" type="datetime1">
              <a:t>12/2/25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8B7D5-B148-1242-4C00-81D88102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65B3-A8E1-6528-1396-C3E42F7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6B0A-0FFE-C59A-0FDB-B712E2B3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6137-AB91-B024-3858-0625F2A8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72223-1D56-3876-37AB-AB827894A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145A-5ACE-4F2E-8C10-D81F5A6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E172-26A6-3044-ADD3-335174251367}" type="datetime1"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E9C-37C5-A4EB-2D87-B45D168B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A687-831D-6087-7C77-C236A47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5D35-BDA7-8A9B-5FE8-19ED22B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14BC-B1A6-7914-CA5E-3491D509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EAF5-4292-2E66-1BA9-931773EE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9A49-D6E3-429F-B82D-DD18B58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4F477-34E9-0440-B989-E35432EEC7D5}" type="datetime1"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D04-DB58-C9EB-75F0-97413C2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13049-D1B6-FDF7-C4FA-F1C43AC6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8EE-477E-ECFB-0E65-CD52E05B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C616-6082-E08E-4642-B87DE66B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89D1-5083-F77D-B918-E888FE2B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551C-409D-5D43-A4B5-B990603BCDF0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B412-8604-155E-9048-BCEAA5F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81FC-B75F-EB66-0310-834FD5E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BFC86-9762-DFC3-7CD6-D3F9D73D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56E57-9E5C-69B9-F8AE-49A68E29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D425-82B9-9E5C-85DE-5037538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2029-699B-0244-824D-E1509FDD8D27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33BA-4ED4-16BD-862C-CA2CC2E3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00BD-6373-F5B3-CF96-94569E9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0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CD59-EDAF-CA69-6ACB-CAD4CEB9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3310-4114-A479-F299-36FC9ECF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01-C88C-FFD9-4D05-DAEFB3B81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78AEA-AFE4-0E4C-AD2F-C54BAF6A75D1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AE9D-4006-22D3-9F53-03EFBB7E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9D29-9B98-65F3-7AC9-22F3C883F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6CC111-4FC3-7E6E-DA79-351238E3FC6C}"/>
              </a:ext>
            </a:extLst>
          </p:cNvPr>
          <p:cNvSpPr txBox="1"/>
          <p:nvPr/>
        </p:nvSpPr>
        <p:spPr>
          <a:xfrm>
            <a:off x="535709" y="1287983"/>
            <a:ext cx="444249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Memory Management</a:t>
            </a:r>
            <a:br>
              <a:rPr lang="en-US" dirty="0"/>
            </a:b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What is it and why do we care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Stack vs. Heap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Manual vs. automatic management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Reference counting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AC65D-2BF1-A1DC-E10D-231A3F2A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66554-06DA-C448-4970-80727A8BD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B88B0-1855-2B75-F573-938C6C9A3F46}"/>
              </a:ext>
            </a:extLst>
          </p:cNvPr>
          <p:cNvSpPr txBox="1"/>
          <p:nvPr/>
        </p:nvSpPr>
        <p:spPr>
          <a:xfrm>
            <a:off x="535709" y="304800"/>
            <a:ext cx="821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Topics</a:t>
            </a:r>
          </a:p>
        </p:txBody>
      </p:sp>
    </p:spTree>
    <p:extLst>
      <p:ext uri="{BB962C8B-B14F-4D97-AF65-F5344CB8AC3E}">
        <p14:creationId xmlns:p14="http://schemas.microsoft.com/office/powerpoint/2010/main" val="2953013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92D3-F30D-4DF3-492E-0C33E251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6D104-9EDC-D46B-637B-706E48A8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381AA-ACD9-DFF0-0194-EDFA4AA0F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94FC4-9AAE-0409-A05F-029F6B74CB3C}"/>
              </a:ext>
            </a:extLst>
          </p:cNvPr>
          <p:cNvSpPr txBox="1"/>
          <p:nvPr/>
        </p:nvSpPr>
        <p:spPr>
          <a:xfrm>
            <a:off x="535709" y="194055"/>
            <a:ext cx="237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as a resource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9E2262-B327-71D3-877B-63BA2114D7A4}"/>
              </a:ext>
            </a:extLst>
          </p:cNvPr>
          <p:cNvSpPr txBox="1"/>
          <p:nvPr/>
        </p:nvSpPr>
        <p:spPr>
          <a:xfrm>
            <a:off x="535709" y="1166842"/>
            <a:ext cx="108180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we see the memory as a resource, it’s the way we manage that resource.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From the OS point of view:</a:t>
            </a:r>
          </a:p>
          <a:p>
            <a:pPr marL="285750" indent="-285750">
              <a:buFontTx/>
              <a:buChar char="-"/>
            </a:pPr>
            <a:r>
              <a:rPr lang="en-US"/>
              <a:t>You need to provide portions of memory to programs on request, and free it when not used anymore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You need to abstract real memory from what the program sees, to provide isolation (virtual memory)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You need to implement techniques to extend the available memory (paging, swapping, ...)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From the program point of view:</a:t>
            </a:r>
          </a:p>
          <a:p>
            <a:pPr marL="285750" indent="-285750">
              <a:buFontTx/>
              <a:buChar char="-"/>
            </a:pPr>
            <a:r>
              <a:rPr lang="en-US"/>
              <a:t>We need to prevent leaks. A leak is a region of memory requested to the OS and not tracked anymore</a:t>
            </a:r>
            <a:br>
              <a:rPr lang="en-US"/>
            </a:br>
            <a:r>
              <a:rPr lang="en-US"/>
              <a:t>by the application.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We need to organize data to be quickly accessible by the CPU</a:t>
            </a:r>
          </a:p>
        </p:txBody>
      </p:sp>
    </p:spTree>
    <p:extLst>
      <p:ext uri="{BB962C8B-B14F-4D97-AF65-F5344CB8AC3E}">
        <p14:creationId xmlns:p14="http://schemas.microsoft.com/office/powerpoint/2010/main" val="374892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04EDA-7D47-2BE0-FC08-8C4181AE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62378-0FEB-DD6B-37CC-532A2E92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80CC7-E08A-D26E-A643-ED309520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FF6DAC-EC88-6FA3-E8DC-0E2833C951E5}"/>
              </a:ext>
            </a:extLst>
          </p:cNvPr>
          <p:cNvSpPr txBox="1"/>
          <p:nvPr/>
        </p:nvSpPr>
        <p:spPr>
          <a:xfrm>
            <a:off x="535709" y="194055"/>
            <a:ext cx="1655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vs. Heap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652E37-973B-E14D-937B-E5878D0DF819}"/>
              </a:ext>
            </a:extLst>
          </p:cNvPr>
          <p:cNvSpPr txBox="1"/>
          <p:nvPr/>
        </p:nvSpPr>
        <p:spPr>
          <a:xfrm>
            <a:off x="535709" y="889843"/>
            <a:ext cx="492917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The Stack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Linear, contiguous memory region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Automatically managed by the runtime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LIFO (Last-In-First-Out) allocation model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Each function call creates a new frame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Frame deallocated automatically on function</a:t>
            </a:r>
            <a:br>
              <a:rPr lang="en-US"/>
            </a:br>
            <a:r>
              <a:rPr lang="en-US"/>
              <a:t>return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Small, fixed size (typically 1-8 MB)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Fast access due to processor caching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Lifetime: scope-dependent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25917-C116-699D-5776-251D3A81665C}"/>
              </a:ext>
            </a:extLst>
          </p:cNvPr>
          <p:cNvSpPr txBox="1"/>
          <p:nvPr/>
        </p:nvSpPr>
        <p:spPr>
          <a:xfrm>
            <a:off x="6096000" y="889843"/>
            <a:ext cx="533056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The Heap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Dynamically allocated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Manually managed (C/C++) or garbage-collected</a:t>
            </a:r>
            <a:br>
              <a:rPr lang="en-US"/>
            </a:br>
            <a:r>
              <a:rPr lang="en-US"/>
              <a:t>(Java, JS, Python)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Fragmented allocation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Programmer controls allocation and deallocation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Large size (depends on available system RAM)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Slower access compared to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Lifetime: scope-independent</a:t>
            </a:r>
          </a:p>
        </p:txBody>
      </p:sp>
    </p:spTree>
    <p:extLst>
      <p:ext uri="{BB962C8B-B14F-4D97-AF65-F5344CB8AC3E}">
        <p14:creationId xmlns:p14="http://schemas.microsoft.com/office/powerpoint/2010/main" val="171123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9391-D2F9-BE40-CAE6-FF0860A66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44A50-4F8E-2DC8-4BDD-229BC8B6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ED02D-7168-E6B6-D2E5-A68BC1299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AC008B-1096-2FEC-9B63-979AD11C3BFC}"/>
              </a:ext>
            </a:extLst>
          </p:cNvPr>
          <p:cNvSpPr txBox="1"/>
          <p:nvPr/>
        </p:nvSpPr>
        <p:spPr>
          <a:xfrm>
            <a:off x="535709" y="194055"/>
            <a:ext cx="2714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Manual Allocation - Stack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8E1409A-38F5-4B14-B167-EA72E2A5A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567" y="1063117"/>
            <a:ext cx="5376379" cy="43807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0A3B75-63BE-16F4-60EE-19D600941EAF}"/>
              </a:ext>
            </a:extLst>
          </p:cNvPr>
          <p:cNvSpPr txBox="1"/>
          <p:nvPr/>
        </p:nvSpPr>
        <p:spPr>
          <a:xfrm>
            <a:off x="223723" y="3236821"/>
            <a:ext cx="514756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Variables are allocated when defined:</a:t>
            </a:r>
          </a:p>
          <a:p>
            <a:endParaRPr lang="en-US"/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int DrawLine(</a:t>
            </a:r>
            <a:r>
              <a:rPr 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x1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x2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k1;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alignas(8)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 k2;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360D8-3D17-29D0-42F5-0D5354918FD5}"/>
              </a:ext>
            </a:extLst>
          </p:cNvPr>
          <p:cNvSpPr txBox="1"/>
          <p:nvPr/>
        </p:nvSpPr>
        <p:spPr>
          <a:xfrm>
            <a:off x="223723" y="948289"/>
            <a:ext cx="566103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Few languages support stack (a.k.a. automatic storage)</a:t>
            </a:r>
            <a:br>
              <a:rPr lang="en-US"/>
            </a:br>
            <a:r>
              <a:rPr lang="en-US"/>
              <a:t>allocation: C/C++, Rust, Go*, Swift*.</a:t>
            </a:r>
          </a:p>
          <a:p>
            <a:endParaRPr lang="en-US"/>
          </a:p>
          <a:p>
            <a:r>
              <a:rPr lang="en-US"/>
              <a:t>C/C++ has a buffer allocation on stack via </a:t>
            </a:r>
            <a:r>
              <a:rPr lang="en-US" i="1"/>
              <a:t>alloca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 b="1"/>
              <a:t>Be aware of the memory data alignment!</a:t>
            </a:r>
          </a:p>
        </p:txBody>
      </p:sp>
    </p:spTree>
    <p:extLst>
      <p:ext uri="{BB962C8B-B14F-4D97-AF65-F5344CB8AC3E}">
        <p14:creationId xmlns:p14="http://schemas.microsoft.com/office/powerpoint/2010/main" val="146212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341CB-0294-AED2-A768-2E336976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94977-9064-1913-CD98-520995AE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19CAB-6CD4-0048-0951-CA69A717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488293-57FF-0274-E9BA-14CFF38FFD6A}"/>
              </a:ext>
            </a:extLst>
          </p:cNvPr>
          <p:cNvSpPr txBox="1"/>
          <p:nvPr/>
        </p:nvSpPr>
        <p:spPr>
          <a:xfrm>
            <a:off x="535709" y="194055"/>
            <a:ext cx="2714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Manual Allocation - Stack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0FD2C4-7521-B3C1-F045-BBF6A87B776C}"/>
              </a:ext>
            </a:extLst>
          </p:cNvPr>
          <p:cNvSpPr txBox="1"/>
          <p:nvPr/>
        </p:nvSpPr>
        <p:spPr>
          <a:xfrm>
            <a:off x="535709" y="988827"/>
            <a:ext cx="9258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C++ allows a really nice programming idiom to handle memory in a reliable way, using stack:</a:t>
            </a:r>
            <a:br>
              <a:rPr lang="en-US"/>
            </a:br>
            <a:r>
              <a:rPr lang="en-US"/>
              <a:t>RAII (Resource Acquisition Is Initialization)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51BBF-7266-2CC3-A2AC-47B12B91D586}"/>
              </a:ext>
            </a:extLst>
          </p:cNvPr>
          <p:cNvSpPr txBox="1"/>
          <p:nvPr/>
        </p:nvSpPr>
        <p:spPr>
          <a:xfrm>
            <a:off x="1278280" y="2111644"/>
            <a:ext cx="2252540" cy="2585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class MyClass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char *buf;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MyClass();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~MyClass();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538A70-4F36-7331-C7A1-D046233161AE}"/>
              </a:ext>
            </a:extLst>
          </p:cNvPr>
          <p:cNvSpPr txBox="1"/>
          <p:nvPr/>
        </p:nvSpPr>
        <p:spPr>
          <a:xfrm>
            <a:off x="4095478" y="2111643"/>
            <a:ext cx="3493264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MyClass::MyClass() :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buf(new char[10000]) {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MyClass::~MyClass()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delete buf;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1D8B1F-F3E2-1BCA-55AE-14641DAAD54D}"/>
              </a:ext>
            </a:extLst>
          </p:cNvPr>
          <p:cNvSpPr txBox="1"/>
          <p:nvPr/>
        </p:nvSpPr>
        <p:spPr>
          <a:xfrm>
            <a:off x="8153400" y="2111643"/>
            <a:ext cx="280397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void myFunc(....)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MyClass c;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c.buf[0] = ‘A’;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9D0AD-DE65-8932-71BE-C066012BD6D5}"/>
              </a:ext>
            </a:extLst>
          </p:cNvPr>
          <p:cNvSpPr txBox="1"/>
          <p:nvPr/>
        </p:nvSpPr>
        <p:spPr>
          <a:xfrm>
            <a:off x="535709" y="5373511"/>
            <a:ext cx="6813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RAII is an idiom that can guarantee a Basic (Weak) Exception Safety.</a:t>
            </a:r>
          </a:p>
        </p:txBody>
      </p:sp>
    </p:spTree>
    <p:extLst>
      <p:ext uri="{BB962C8B-B14F-4D97-AF65-F5344CB8AC3E}">
        <p14:creationId xmlns:p14="http://schemas.microsoft.com/office/powerpoint/2010/main" val="174192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25848-0058-EC57-1CA6-F297C158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66C13-D2A0-D54C-ADDA-FADCE53A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7F77E-E427-D6B5-927F-85E9E047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5BC6D-D86F-AE33-767E-E27CB6172146}"/>
              </a:ext>
            </a:extLst>
          </p:cNvPr>
          <p:cNvSpPr txBox="1"/>
          <p:nvPr/>
        </p:nvSpPr>
        <p:spPr>
          <a:xfrm>
            <a:off x="535709" y="194055"/>
            <a:ext cx="2691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Manual Allocation - Heap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A90C41-EBB1-A910-E993-89D9CCBC93F7}"/>
              </a:ext>
            </a:extLst>
          </p:cNvPr>
          <p:cNvSpPr txBox="1"/>
          <p:nvPr/>
        </p:nvSpPr>
        <p:spPr>
          <a:xfrm>
            <a:off x="223723" y="948289"/>
            <a:ext cx="114508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Almost all programming languages support heap allocation, either explicitly or implicitly.</a:t>
            </a:r>
          </a:p>
          <a:p>
            <a:endParaRPr lang="en-US"/>
          </a:p>
          <a:p>
            <a:r>
              <a:rPr lang="en-US"/>
              <a:t>When allocation is performed manually (ex., when using C/C++, via malloc, new, ...), continuous allocations/deallocations could cause fragmentation, thus slowdowns.</a:t>
            </a:r>
          </a:p>
          <a:p>
            <a:endParaRPr lang="en-US"/>
          </a:p>
          <a:p>
            <a:r>
              <a:rPr lang="en-US"/>
              <a:t>Countermeasures:</a:t>
            </a:r>
          </a:p>
          <a:p>
            <a:pPr marL="285750" indent="-285750">
              <a:buFontTx/>
              <a:buChar char="-"/>
            </a:pPr>
            <a:r>
              <a:rPr lang="en-US"/>
              <a:t>custom allocators that requests huge chunks of memory to the OS and split them in pools</a:t>
            </a:r>
          </a:p>
          <a:p>
            <a:pPr marL="285750" indent="-285750">
              <a:buFontTx/>
              <a:buChar char="-"/>
            </a:pPr>
            <a:r>
              <a:rPr lang="en-US"/>
              <a:t>write data structures that reserve space in advance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2966C5-6CC5-121E-77C1-D4E344DF8CC4}"/>
              </a:ext>
            </a:extLst>
          </p:cNvPr>
          <p:cNvGrpSpPr/>
          <p:nvPr/>
        </p:nvGrpSpPr>
        <p:grpSpPr>
          <a:xfrm>
            <a:off x="223723" y="3641515"/>
            <a:ext cx="4588115" cy="1384995"/>
            <a:chOff x="223723" y="3641515"/>
            <a:chExt cx="4588115" cy="138499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1B52792-9AFF-75D1-80B6-FEF987C6540D}"/>
                </a:ext>
              </a:extLst>
            </p:cNvPr>
            <p:cNvSpPr txBox="1"/>
            <p:nvPr/>
          </p:nvSpPr>
          <p:spPr>
            <a:xfrm>
              <a:off x="223723" y="3641515"/>
              <a:ext cx="4588115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int main() {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int *ptr = (int *) malloc(sizeof(int));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*ptr = 42;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free(ptr);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return 0;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2369E09-C192-CFED-A580-689DA95D6EA9}"/>
                </a:ext>
              </a:extLst>
            </p:cNvPr>
            <p:cNvSpPr txBox="1"/>
            <p:nvPr/>
          </p:nvSpPr>
          <p:spPr>
            <a:xfrm>
              <a:off x="2040298" y="4149346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A7C10D6-3854-550D-16B8-28D723253150}"/>
              </a:ext>
            </a:extLst>
          </p:cNvPr>
          <p:cNvGrpSpPr/>
          <p:nvPr/>
        </p:nvGrpSpPr>
        <p:grpSpPr>
          <a:xfrm>
            <a:off x="223723" y="5153917"/>
            <a:ext cx="2869696" cy="1169551"/>
            <a:chOff x="223723" y="5153917"/>
            <a:chExt cx="2869696" cy="11695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575E8E8-A926-E72C-C5F0-14539D02F5EA}"/>
                </a:ext>
              </a:extLst>
            </p:cNvPr>
            <p:cNvSpPr txBox="1"/>
            <p:nvPr/>
          </p:nvSpPr>
          <p:spPr>
            <a:xfrm>
              <a:off x="223723" y="5153917"/>
              <a:ext cx="2869696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int main() {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int *ptr = new int(42);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delete ptr;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return 0;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14695B-CDC7-B682-3F3C-E89AFB37131B}"/>
                </a:ext>
              </a:extLst>
            </p:cNvPr>
            <p:cNvSpPr txBox="1"/>
            <p:nvPr/>
          </p:nvSpPr>
          <p:spPr>
            <a:xfrm>
              <a:off x="1975873" y="5715193"/>
              <a:ext cx="5918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C++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9DF0CD-4492-9D5B-0402-90D4F4E770D9}"/>
              </a:ext>
            </a:extLst>
          </p:cNvPr>
          <p:cNvGrpSpPr/>
          <p:nvPr/>
        </p:nvGrpSpPr>
        <p:grpSpPr>
          <a:xfrm>
            <a:off x="5713308" y="3556832"/>
            <a:ext cx="4265911" cy="1460416"/>
            <a:chOff x="5713308" y="3556832"/>
            <a:chExt cx="4265911" cy="146041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5627D8F-9CC2-FF1B-75D9-33FE7D9F23C5}"/>
                </a:ext>
              </a:extLst>
            </p:cNvPr>
            <p:cNvSpPr txBox="1"/>
            <p:nvPr/>
          </p:nvSpPr>
          <p:spPr>
            <a:xfrm>
              <a:off x="5713308" y="3632253"/>
              <a:ext cx="4265911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unsafe {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let layout = Layout::new::&lt;i32&gt;();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let ptr = alloc(layout) as *mut i32;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*ptr = 42;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dealloc(ptr as *mut u8, layout);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B6F8E0-3C40-CD22-FB27-AFA375D9193F}"/>
                </a:ext>
              </a:extLst>
            </p:cNvPr>
            <p:cNvSpPr txBox="1"/>
            <p:nvPr/>
          </p:nvSpPr>
          <p:spPr>
            <a:xfrm>
              <a:off x="7168863" y="3556832"/>
              <a:ext cx="2368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Rust (manual, unsafe)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D0AA2BC-7744-9D49-7DBA-C722B3AF8971}"/>
              </a:ext>
            </a:extLst>
          </p:cNvPr>
          <p:cNvGrpSpPr/>
          <p:nvPr/>
        </p:nvGrpSpPr>
        <p:grpSpPr>
          <a:xfrm>
            <a:off x="5713308" y="5471355"/>
            <a:ext cx="4244182" cy="369332"/>
            <a:chOff x="5713308" y="5471355"/>
            <a:chExt cx="4244182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7A3B70-64CE-FD09-5562-64AE5A2A0387}"/>
                </a:ext>
              </a:extLst>
            </p:cNvPr>
            <p:cNvSpPr txBox="1"/>
            <p:nvPr/>
          </p:nvSpPr>
          <p:spPr>
            <a:xfrm>
              <a:off x="5713308" y="5532910"/>
              <a:ext cx="2440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let x = Box::new(42);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C4C6915-5877-2C3F-82D1-B1DF6582BFBD}"/>
                </a:ext>
              </a:extLst>
            </p:cNvPr>
            <p:cNvSpPr txBox="1"/>
            <p:nvPr/>
          </p:nvSpPr>
          <p:spPr>
            <a:xfrm>
              <a:off x="8115383" y="5471355"/>
              <a:ext cx="1842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Rust (automatic)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893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EA79B-5860-9DD7-461F-CA09FAC1A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041BB-A74F-3695-9046-063C80A9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1ACC3-B6E7-A128-165D-1D15F1CD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42238-912E-7100-A8C2-9B1D9599A617}"/>
              </a:ext>
            </a:extLst>
          </p:cNvPr>
          <p:cNvSpPr txBox="1"/>
          <p:nvPr/>
        </p:nvSpPr>
        <p:spPr>
          <a:xfrm>
            <a:off x="535709" y="194055"/>
            <a:ext cx="298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Automatic Allocation - Heap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3DE610-306E-7E75-7D8A-329B242B1E45}"/>
              </a:ext>
            </a:extLst>
          </p:cNvPr>
          <p:cNvSpPr txBox="1"/>
          <p:nvPr/>
        </p:nvSpPr>
        <p:spPr>
          <a:xfrm>
            <a:off x="223723" y="948289"/>
            <a:ext cx="1145082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All variables are allocated on the heap by the language support, garbage collection kicks in when those variables are not used anymore.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Advantages:</a:t>
            </a:r>
          </a:p>
          <a:p>
            <a:pPr marL="285750" indent="-285750">
              <a:buFontTx/>
              <a:buChar char="-"/>
            </a:pPr>
            <a:r>
              <a:rPr lang="en-US"/>
              <a:t>programmers don’t have to care anymore about allocations/deallocations</a:t>
            </a:r>
          </a:p>
          <a:p>
            <a:pPr marL="285750" indent="-285750">
              <a:buFontTx/>
              <a:buChar char="-"/>
            </a:pPr>
            <a:r>
              <a:rPr lang="en-US"/>
              <a:t>there are no dangling pointers, no access to memory that has been deallocated (=&gt; crash)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endParaRPr lang="en-US"/>
          </a:p>
          <a:p>
            <a:r>
              <a:rPr lang="en-US"/>
              <a:t>Disadvantages:</a:t>
            </a:r>
          </a:p>
          <a:p>
            <a:pPr marL="285750" indent="-285750">
              <a:buFontTx/>
              <a:buChar char="-"/>
            </a:pPr>
            <a:r>
              <a:rPr lang="en-US"/>
              <a:t>lower performance</a:t>
            </a:r>
          </a:p>
          <a:p>
            <a:pPr marL="285750" indent="-285750">
              <a:buFontTx/>
              <a:buChar char="-"/>
            </a:pPr>
            <a:r>
              <a:rPr lang="en-US"/>
              <a:t>deallocation out of programmer’s control (we don’t have a destruction stage)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How does the garbage collector know when it’s time to clean up? Two ways:</a:t>
            </a:r>
          </a:p>
          <a:p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Tracing: GC determines which objects are reachable and which are considered as “garbage”, and deallocates them with its own strategy</a:t>
            </a:r>
          </a:p>
          <a:p>
            <a:pPr marL="285750" indent="-285750">
              <a:buFontTx/>
              <a:buChar char="-"/>
            </a:pPr>
            <a:r>
              <a:rPr lang="en-US"/>
              <a:t>Reference counting: GC deallocate an object as soon as there are no more references to it</a:t>
            </a:r>
          </a:p>
        </p:txBody>
      </p:sp>
    </p:spTree>
    <p:extLst>
      <p:ext uri="{BB962C8B-B14F-4D97-AF65-F5344CB8AC3E}">
        <p14:creationId xmlns:p14="http://schemas.microsoft.com/office/powerpoint/2010/main" val="94772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8A05A-79AC-2A34-E7F8-1D2DC2EAF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4E6CE-6EC4-CE8F-AC96-F4C01928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1CA63-43AC-1E8F-CA08-F383021E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0CDEF2-9824-9BCB-509F-4F5891F71613}"/>
              </a:ext>
            </a:extLst>
          </p:cNvPr>
          <p:cNvSpPr txBox="1"/>
          <p:nvPr/>
        </p:nvSpPr>
        <p:spPr>
          <a:xfrm>
            <a:off x="535709" y="194055"/>
            <a:ext cx="328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Automatic Allocation – RAII-like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56F6F0-2D12-DAF6-50F7-ED9E8949EE0C}"/>
              </a:ext>
            </a:extLst>
          </p:cNvPr>
          <p:cNvSpPr txBox="1"/>
          <p:nvPr/>
        </p:nvSpPr>
        <p:spPr>
          <a:xfrm>
            <a:off x="500083" y="923559"/>
            <a:ext cx="11450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Some languages offer a RAII-like approach, like Java, Python &amp; Javascript (most recent 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3B1428-CE10-8377-E2EE-311BF28E323F}"/>
              </a:ext>
            </a:extLst>
          </p:cNvPr>
          <p:cNvSpPr txBox="1"/>
          <p:nvPr/>
        </p:nvSpPr>
        <p:spPr>
          <a:xfrm>
            <a:off x="535709" y="1470130"/>
            <a:ext cx="5856090" cy="470898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public class DatabaseConnection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implements AutoCloseable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private Connection conn;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DatabaseConnection(String url) throws SQLException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this.conn = DriverManager.getConnection(url);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Acquire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void query(String sql)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Use resource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close()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Release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try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if (conn != null)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conn.close();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 catch (SQLException 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e.printStackTrace();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44673-2194-CF39-FA48-340ECC6A92D1}"/>
              </a:ext>
            </a:extLst>
          </p:cNvPr>
          <p:cNvSpPr txBox="1"/>
          <p:nvPr/>
        </p:nvSpPr>
        <p:spPr>
          <a:xfrm>
            <a:off x="3709603" y="4603040"/>
            <a:ext cx="6506909" cy="15696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public void processDatabase()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try (DatabaseConnection db = new DatabaseConnection("jdbc:..."))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db.query("SELECT ...");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 // close() called automatically here, even on exception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catch (SQLException 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Exception still propagates, resource released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2E5853-15AF-9921-B8C0-CA9F604915CD}"/>
              </a:ext>
            </a:extLst>
          </p:cNvPr>
          <p:cNvSpPr txBox="1"/>
          <p:nvPr/>
        </p:nvSpPr>
        <p:spPr>
          <a:xfrm>
            <a:off x="7534315" y="1476541"/>
            <a:ext cx="4416594" cy="27084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class FileManager: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def __init__(self, filename, mode):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self.filename = filename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self.mode = mode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__enter__(self):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self.file = open(self.filename, self.mode)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return self.file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__exit__(self, exc_type, exc_value, traceback):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  self.file.close()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# using the custom context manager</a:t>
            </a:r>
          </a:p>
          <a:p>
            <a: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FileManager('example.txt', 'w') as file: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file.write('Hello, World!')</a:t>
            </a:r>
          </a:p>
        </p:txBody>
      </p:sp>
    </p:spTree>
    <p:extLst>
      <p:ext uri="{BB962C8B-B14F-4D97-AF65-F5344CB8AC3E}">
        <p14:creationId xmlns:p14="http://schemas.microsoft.com/office/powerpoint/2010/main" val="3489881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2DB43-178F-9C8C-884C-86EA96488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5115C-06C2-84FC-20A5-662E618B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A41FF-D412-F945-15BF-A33483065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126C52-E2F9-2A43-F97A-3E0F001251D4}"/>
              </a:ext>
            </a:extLst>
          </p:cNvPr>
          <p:cNvSpPr txBox="1"/>
          <p:nvPr/>
        </p:nvSpPr>
        <p:spPr>
          <a:xfrm>
            <a:off x="535709" y="194055"/>
            <a:ext cx="282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Strong vs. weak references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43CC70-AD3F-C859-303F-0724E872E268}"/>
              </a:ext>
            </a:extLst>
          </p:cNvPr>
          <p:cNvSpPr txBox="1"/>
          <p:nvPr/>
        </p:nvSpPr>
        <p:spPr>
          <a:xfrm>
            <a:off x="223723" y="948289"/>
            <a:ext cx="114508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GC can reclaim only objects that have no references pointing to them.</a:t>
            </a:r>
          </a:p>
          <a:p>
            <a:endParaRPr lang="en-US"/>
          </a:p>
          <a:p>
            <a:r>
              <a:rPr lang="en-US"/>
              <a:t>Ordinary references are called “strong”, that means, as long as they point to something, GC is not allowed to claim its space.</a:t>
            </a:r>
          </a:p>
          <a:p>
            <a:endParaRPr lang="en-US"/>
          </a:p>
          <a:p>
            <a:r>
              <a:rPr lang="en-US"/>
              <a:t>Strong references can lead to circular references, and so generate leaks.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9480DB7-6EB8-B733-AE1F-EE0CDC1837A1}"/>
              </a:ext>
            </a:extLst>
          </p:cNvPr>
          <p:cNvGrpSpPr/>
          <p:nvPr/>
        </p:nvGrpSpPr>
        <p:grpSpPr>
          <a:xfrm>
            <a:off x="6624954" y="3429000"/>
            <a:ext cx="4207731" cy="572714"/>
            <a:chOff x="3497931" y="3564484"/>
            <a:chExt cx="4207731" cy="572714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D47EECE-B279-89EE-DBA4-3D34758453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5504" y="3564484"/>
              <a:ext cx="572714" cy="57271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B3E0DB6-7F84-0271-1308-B1867FE77A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01193" y="3564484"/>
              <a:ext cx="572714" cy="57271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5" name="Curved Connector 14">
              <a:extLst>
                <a:ext uri="{FF2B5EF4-FFF2-40B4-BE49-F238E27FC236}">
                  <a16:creationId xmlns:a16="http://schemas.microsoft.com/office/drawing/2014/main" id="{9C034809-B386-39C0-3E7E-2AB14A14966E}"/>
                </a:ext>
              </a:extLst>
            </p:cNvPr>
            <p:cNvCxnSpPr>
              <a:cxnSpLocks/>
              <a:stCxn id="2" idx="0"/>
              <a:endCxn id="4" idx="1"/>
            </p:cNvCxnSpPr>
            <p:nvPr/>
          </p:nvCxnSpPr>
          <p:spPr>
            <a:xfrm rot="16200000" flipH="1">
              <a:off x="5446527" y="2609818"/>
              <a:ext cx="83872" cy="1993204"/>
            </a:xfrm>
            <a:prstGeom prst="curvedConnector3">
              <a:avLst>
                <a:gd name="adj1" fmla="val -27255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8B7F5FC3-8B0F-85E6-5B97-771BB36A65A8}"/>
                </a:ext>
              </a:extLst>
            </p:cNvPr>
            <p:cNvCxnSpPr>
              <a:stCxn id="4" idx="3"/>
              <a:endCxn id="2" idx="4"/>
            </p:cNvCxnSpPr>
            <p:nvPr/>
          </p:nvCxnSpPr>
          <p:spPr>
            <a:xfrm rot="5400000">
              <a:off x="5446527" y="3098660"/>
              <a:ext cx="83872" cy="1993204"/>
            </a:xfrm>
            <a:prstGeom prst="curvedConnector3">
              <a:avLst>
                <a:gd name="adj1" fmla="val 37255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0463DFA-BA13-2742-B74B-00F7E9D10427}"/>
                </a:ext>
              </a:extLst>
            </p:cNvPr>
            <p:cNvSpPr txBox="1"/>
            <p:nvPr/>
          </p:nvSpPr>
          <p:spPr>
            <a:xfrm>
              <a:off x="3497931" y="3666175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x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84D6284-7ABC-2403-A494-08903B5B18E1}"/>
                </a:ext>
              </a:extLst>
            </p:cNvPr>
            <p:cNvSpPr txBox="1"/>
            <p:nvPr/>
          </p:nvSpPr>
          <p:spPr>
            <a:xfrm>
              <a:off x="7416800" y="3666175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y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D485B8F-14D0-22AF-911B-D1ABD1BF0ABF}"/>
                </a:ext>
              </a:extLst>
            </p:cNvPr>
            <p:cNvCxnSpPr>
              <a:stCxn id="25" idx="3"/>
              <a:endCxn id="2" idx="2"/>
            </p:cNvCxnSpPr>
            <p:nvPr/>
          </p:nvCxnSpPr>
          <p:spPr>
            <a:xfrm>
              <a:off x="3785189" y="3850841"/>
              <a:ext cx="4203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CE76289-2199-F650-C8BC-47C9392612EB}"/>
                </a:ext>
              </a:extLst>
            </p:cNvPr>
            <p:cNvCxnSpPr>
              <a:stCxn id="26" idx="1"/>
              <a:endCxn id="4" idx="6"/>
            </p:cNvCxnSpPr>
            <p:nvPr/>
          </p:nvCxnSpPr>
          <p:spPr>
            <a:xfrm flipH="1">
              <a:off x="6973907" y="3850841"/>
              <a:ext cx="4428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6E95A45-046B-490B-917B-8F6C2D635BA4}"/>
              </a:ext>
            </a:extLst>
          </p:cNvPr>
          <p:cNvSpPr txBox="1"/>
          <p:nvPr/>
        </p:nvSpPr>
        <p:spPr>
          <a:xfrm>
            <a:off x="327372" y="3022860"/>
            <a:ext cx="2666114" cy="31393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constructor(b)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this.b = b;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class B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setA(a)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this.a = a;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FD8D48-4610-7278-BF9C-5F777DDFC8A2}"/>
              </a:ext>
            </a:extLst>
          </p:cNvPr>
          <p:cNvSpPr txBox="1"/>
          <p:nvPr/>
        </p:nvSpPr>
        <p:spPr>
          <a:xfrm>
            <a:off x="3365458" y="3445336"/>
            <a:ext cx="528542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const y = new B();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const x = new A(y);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y.setA(x);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x = undefined;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y = undefined;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// memory for A and B is still there!</a:t>
            </a:r>
          </a:p>
        </p:txBody>
      </p:sp>
    </p:spTree>
    <p:extLst>
      <p:ext uri="{BB962C8B-B14F-4D97-AF65-F5344CB8AC3E}">
        <p14:creationId xmlns:p14="http://schemas.microsoft.com/office/powerpoint/2010/main" val="3782191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4998-14F5-1866-4D9E-7F2B0530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BDBEE-CB53-0A81-B652-4841599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7A50D-9D0B-F818-E9C1-9E72FC563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D8FCDB-1B24-1632-65D3-5CC3E5457D60}"/>
              </a:ext>
            </a:extLst>
          </p:cNvPr>
          <p:cNvSpPr txBox="1"/>
          <p:nvPr/>
        </p:nvSpPr>
        <p:spPr>
          <a:xfrm>
            <a:off x="535709" y="194055"/>
            <a:ext cx="282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Strong vs. weak references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85306-167B-6822-D5FA-F37A5CEDD06B}"/>
              </a:ext>
            </a:extLst>
          </p:cNvPr>
          <p:cNvSpPr txBox="1"/>
          <p:nvPr/>
        </p:nvSpPr>
        <p:spPr>
          <a:xfrm>
            <a:off x="223723" y="948289"/>
            <a:ext cx="114508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Weak references to the rescue!</a:t>
            </a:r>
          </a:p>
          <a:p>
            <a:endParaRPr lang="en-US"/>
          </a:p>
          <a:p>
            <a:r>
              <a:rPr lang="en-US"/>
              <a:t>A weak reference is a reference that does not protect the referenced object from GC. The object is considered by the GC as “unreachable”, so GC does not take weak refs into account.</a:t>
            </a:r>
          </a:p>
          <a:p>
            <a:endParaRPr lang="en-US"/>
          </a:p>
          <a:p>
            <a:r>
              <a:rPr lang="en-US"/>
              <a:t>For reference counting, that means that a weak reference does not change the reference counter.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79AB9D-E564-2820-ABBE-94C7DFFDB9C7}"/>
              </a:ext>
            </a:extLst>
          </p:cNvPr>
          <p:cNvGrpSpPr/>
          <p:nvPr/>
        </p:nvGrpSpPr>
        <p:grpSpPr>
          <a:xfrm>
            <a:off x="6624954" y="3429000"/>
            <a:ext cx="4207731" cy="572714"/>
            <a:chOff x="3497931" y="3564484"/>
            <a:chExt cx="4207731" cy="572714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B883546-ED1E-C3D8-3A8C-65AFA96460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5504" y="3564484"/>
              <a:ext cx="572714" cy="57271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861C9A0-2455-F395-76CE-67D0A1F234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01193" y="3564484"/>
              <a:ext cx="572714" cy="57271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5" name="Curved Connector 14">
              <a:extLst>
                <a:ext uri="{FF2B5EF4-FFF2-40B4-BE49-F238E27FC236}">
                  <a16:creationId xmlns:a16="http://schemas.microsoft.com/office/drawing/2014/main" id="{8E3FD11D-7878-B266-FCF7-8C8EE40EF494}"/>
                </a:ext>
              </a:extLst>
            </p:cNvPr>
            <p:cNvCxnSpPr>
              <a:cxnSpLocks/>
              <a:stCxn id="35" idx="0"/>
              <a:endCxn id="4" idx="1"/>
            </p:cNvCxnSpPr>
            <p:nvPr/>
          </p:nvCxnSpPr>
          <p:spPr>
            <a:xfrm rot="16200000" flipH="1">
              <a:off x="5425511" y="2588803"/>
              <a:ext cx="83872" cy="2035235"/>
            </a:xfrm>
            <a:prstGeom prst="curvedConnector3">
              <a:avLst>
                <a:gd name="adj1" fmla="val -27255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82595A07-ACB7-AD95-E824-C2853F0F4717}"/>
                </a:ext>
              </a:extLst>
            </p:cNvPr>
            <p:cNvCxnSpPr>
              <a:stCxn id="4" idx="3"/>
              <a:endCxn id="2" idx="4"/>
            </p:cNvCxnSpPr>
            <p:nvPr/>
          </p:nvCxnSpPr>
          <p:spPr>
            <a:xfrm rot="5400000">
              <a:off x="5446527" y="3098660"/>
              <a:ext cx="83872" cy="1993204"/>
            </a:xfrm>
            <a:prstGeom prst="curvedConnector3">
              <a:avLst>
                <a:gd name="adj1" fmla="val 372558"/>
              </a:avLst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CA5821-7434-F297-4BD9-0946C7A6A8D7}"/>
                </a:ext>
              </a:extLst>
            </p:cNvPr>
            <p:cNvSpPr txBox="1"/>
            <p:nvPr/>
          </p:nvSpPr>
          <p:spPr>
            <a:xfrm>
              <a:off x="3497931" y="3666175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x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99A24A-F243-A0AB-BA81-E834A5833B4C}"/>
                </a:ext>
              </a:extLst>
            </p:cNvPr>
            <p:cNvSpPr txBox="1"/>
            <p:nvPr/>
          </p:nvSpPr>
          <p:spPr>
            <a:xfrm>
              <a:off x="7416800" y="3666175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y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336D3F-61CD-D816-6543-92D5A1829799}"/>
                </a:ext>
              </a:extLst>
            </p:cNvPr>
            <p:cNvCxnSpPr>
              <a:stCxn id="25" idx="3"/>
              <a:endCxn id="2" idx="2"/>
            </p:cNvCxnSpPr>
            <p:nvPr/>
          </p:nvCxnSpPr>
          <p:spPr>
            <a:xfrm>
              <a:off x="3785189" y="3850841"/>
              <a:ext cx="4203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D54899C-B4F2-667E-CDBB-5F7B10F137B9}"/>
                </a:ext>
              </a:extLst>
            </p:cNvPr>
            <p:cNvCxnSpPr>
              <a:stCxn id="26" idx="1"/>
              <a:endCxn id="4" idx="6"/>
            </p:cNvCxnSpPr>
            <p:nvPr/>
          </p:nvCxnSpPr>
          <p:spPr>
            <a:xfrm flipH="1">
              <a:off x="6973907" y="3850841"/>
              <a:ext cx="4428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E56EB07-6414-C5AE-9F9A-3D5AFF2FF658}"/>
              </a:ext>
            </a:extLst>
          </p:cNvPr>
          <p:cNvSpPr txBox="1"/>
          <p:nvPr/>
        </p:nvSpPr>
        <p:spPr>
          <a:xfrm>
            <a:off x="327372" y="3022860"/>
            <a:ext cx="3079689" cy="34163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constructor(b)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this.b = b;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class B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setA(a)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this.a =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WeakRef(a);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8278C4-71C1-0A4C-A0B7-728C3CA58C5A}"/>
              </a:ext>
            </a:extLst>
          </p:cNvPr>
          <p:cNvSpPr txBox="1"/>
          <p:nvPr/>
        </p:nvSpPr>
        <p:spPr>
          <a:xfrm>
            <a:off x="3693418" y="3429000"/>
            <a:ext cx="776687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const y = new B();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const x = new A(y);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y.setA(x);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x = undefined; // =&gt; A is removed, there’s no ref to it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y = undefined; // =&gt; B is removed, there’s no ref to it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// no leaks</a:t>
            </a:r>
          </a:p>
        </p:txBody>
      </p:sp>
    </p:spTree>
    <p:extLst>
      <p:ext uri="{BB962C8B-B14F-4D97-AF65-F5344CB8AC3E}">
        <p14:creationId xmlns:p14="http://schemas.microsoft.com/office/powerpoint/2010/main" val="800339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71D6A-8D5D-1F2C-B58A-741F1E87C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3010C-8FD3-2AB5-BFA9-C2377F7D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AC2D4-5C2A-9C5A-5549-EE503B0E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7B145-30BA-E26E-CB20-A56E036CBCD0}"/>
              </a:ext>
            </a:extLst>
          </p:cNvPr>
          <p:cNvSpPr txBox="1"/>
          <p:nvPr/>
        </p:nvSpPr>
        <p:spPr>
          <a:xfrm>
            <a:off x="437407" y="194055"/>
            <a:ext cx="3348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leaks: Observer pattern!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9C9F0-220D-CEDC-9F98-7A76F02A2E58}"/>
              </a:ext>
            </a:extLst>
          </p:cNvPr>
          <p:cNvSpPr txBox="1"/>
          <p:nvPr/>
        </p:nvSpPr>
        <p:spPr>
          <a:xfrm>
            <a:off x="676894" y="889843"/>
            <a:ext cx="1024831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public class EventPanel extends JPanel {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public EventPanel() {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Button btn = new Button("Click");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btn.addActionListener(new ActionListener()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@Override public void actionPerformed(ActionEvent e)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System.out.println("Clicked");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// Anonymous listener holds implicit reference to EventPanel (this)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// Even if EventPanel is disposed, listener keeps it alive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003E00-B304-DF51-4D52-38161E33654A}"/>
              </a:ext>
            </a:extLst>
          </p:cNvPr>
          <p:cNvSpPr txBox="1"/>
          <p:nvPr/>
        </p:nvSpPr>
        <p:spPr>
          <a:xfrm>
            <a:off x="676894" y="5949538"/>
            <a:ext cx="3560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 the listeners once done!!!</a:t>
            </a:r>
          </a:p>
        </p:txBody>
      </p:sp>
    </p:spTree>
    <p:extLst>
      <p:ext uri="{BB962C8B-B14F-4D97-AF65-F5344CB8AC3E}">
        <p14:creationId xmlns:p14="http://schemas.microsoft.com/office/powerpoint/2010/main" val="2962787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B4C20-34EC-4C37-1D1C-CA737AFB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4BF3D8-924E-CCA1-8433-DB4C348EF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45CF4-4BA1-6EA3-12A4-5561071B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343DC-C9CD-4425-2859-53558A02CB0C}"/>
              </a:ext>
            </a:extLst>
          </p:cNvPr>
          <p:cNvSpPr txBox="1"/>
          <p:nvPr/>
        </p:nvSpPr>
        <p:spPr>
          <a:xfrm>
            <a:off x="535709" y="194055"/>
            <a:ext cx="2118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 counting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ED4215-DF0C-C798-8BA3-DA01B64D6F85}"/>
              </a:ext>
            </a:extLst>
          </p:cNvPr>
          <p:cNvSpPr txBox="1"/>
          <p:nvPr/>
        </p:nvSpPr>
        <p:spPr>
          <a:xfrm>
            <a:off x="427118" y="916765"/>
            <a:ext cx="1053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Reference counting is a programming technique of storing the number of references, pointers, or handles</a:t>
            </a:r>
          </a:p>
          <a:p>
            <a:r>
              <a:rPr lang="en-US"/>
              <a:t>to a resource.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637F3AA-B8A6-D63D-D7FC-6B5ABF070689}"/>
              </a:ext>
            </a:extLst>
          </p:cNvPr>
          <p:cNvGrpSpPr/>
          <p:nvPr/>
        </p:nvGrpSpPr>
        <p:grpSpPr>
          <a:xfrm>
            <a:off x="7117907" y="2005009"/>
            <a:ext cx="4058093" cy="3784944"/>
            <a:chOff x="6316396" y="1978039"/>
            <a:chExt cx="4058093" cy="37849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D752F8-CDDB-02CF-0B18-55854B11D0EA}"/>
                </a:ext>
              </a:extLst>
            </p:cNvPr>
            <p:cNvSpPr/>
            <p:nvPr/>
          </p:nvSpPr>
          <p:spPr>
            <a:xfrm>
              <a:off x="8884618" y="1978039"/>
              <a:ext cx="1489871" cy="15957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Reference</a:t>
              </a: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Counter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C9C3656-D585-4993-6194-0A6852CD4688}"/>
                </a:ext>
              </a:extLst>
            </p:cNvPr>
            <p:cNvSpPr/>
            <p:nvPr/>
          </p:nvSpPr>
          <p:spPr>
            <a:xfrm>
              <a:off x="8884618" y="4167194"/>
              <a:ext cx="1489871" cy="15957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Resource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7BA6C1-99D8-2A25-C3DC-E76E9A11ADBA}"/>
                </a:ext>
              </a:extLst>
            </p:cNvPr>
            <p:cNvSpPr/>
            <p:nvPr/>
          </p:nvSpPr>
          <p:spPr>
            <a:xfrm>
              <a:off x="6316397" y="2452767"/>
              <a:ext cx="1489871" cy="6463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6189321-5A5B-6B23-622A-64F85966C991}"/>
                </a:ext>
              </a:extLst>
            </p:cNvPr>
            <p:cNvSpPr/>
            <p:nvPr/>
          </p:nvSpPr>
          <p:spPr>
            <a:xfrm>
              <a:off x="6316396" y="3556301"/>
              <a:ext cx="1489871" cy="6463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F065ED0-3793-7B3F-EF0D-9CD53173D994}"/>
                </a:ext>
              </a:extLst>
            </p:cNvPr>
            <p:cNvSpPr/>
            <p:nvPr/>
          </p:nvSpPr>
          <p:spPr>
            <a:xfrm>
              <a:off x="6316396" y="4659836"/>
              <a:ext cx="1489871" cy="6463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2774300-8422-5819-3E06-62363BE3BD6E}"/>
                </a:ext>
              </a:extLst>
            </p:cNvPr>
            <p:cNvCxnSpPr/>
            <p:nvPr/>
          </p:nvCxnSpPr>
          <p:spPr>
            <a:xfrm flipV="1">
              <a:off x="7540978" y="2280356"/>
              <a:ext cx="1614311" cy="49557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B7BEEFD-098F-579A-4B00-32D4704E66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0978" y="2311910"/>
              <a:ext cx="1608930" cy="156423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5E300EE-368D-08A7-8C32-9996C71644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5597" y="2308218"/>
              <a:ext cx="1614310" cy="273856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11956FD-F8E6-1D8B-89AF-856F425565A9}"/>
                </a:ext>
              </a:extLst>
            </p:cNvPr>
            <p:cNvCxnSpPr/>
            <p:nvPr/>
          </p:nvCxnSpPr>
          <p:spPr>
            <a:xfrm>
              <a:off x="7535597" y="2775932"/>
              <a:ext cx="1614310" cy="1883904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04F3C16-63D3-F270-7CEB-F56F86D7D396}"/>
                </a:ext>
              </a:extLst>
            </p:cNvPr>
            <p:cNvCxnSpPr>
              <a:cxnSpLocks/>
            </p:cNvCxnSpPr>
            <p:nvPr/>
          </p:nvCxnSpPr>
          <p:spPr>
            <a:xfrm>
              <a:off x="7538287" y="3864877"/>
              <a:ext cx="1611620" cy="79495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1430237-359A-8FF6-1DCB-DB10490497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286" y="4659835"/>
              <a:ext cx="1611621" cy="372362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1A5576C-75DF-080F-7D46-7C9DF37CAF2D}"/>
              </a:ext>
            </a:extLst>
          </p:cNvPr>
          <p:cNvSpPr txBox="1"/>
          <p:nvPr/>
        </p:nvSpPr>
        <p:spPr>
          <a:xfrm>
            <a:off x="427118" y="1721402"/>
            <a:ext cx="55822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reference counter is an entity shared among</a:t>
            </a:r>
          </a:p>
          <a:p>
            <a:r>
              <a:rPr lang="en-US"/>
              <a:t>all objects that access the same resource.</a:t>
            </a:r>
          </a:p>
          <a:p>
            <a:endParaRPr lang="en-US"/>
          </a:p>
          <a:p>
            <a:r>
              <a:rPr lang="en-US"/>
              <a:t>Once the reference counter reaches zero, the resource</a:t>
            </a:r>
          </a:p>
          <a:p>
            <a:r>
              <a:rPr lang="en-US"/>
              <a:t>is properly finalized.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940713-56C4-1E9E-EA5B-B600F505BFF0}"/>
              </a:ext>
            </a:extLst>
          </p:cNvPr>
          <p:cNvSpPr txBox="1"/>
          <p:nvPr/>
        </p:nvSpPr>
        <p:spPr>
          <a:xfrm>
            <a:off x="427118" y="3573562"/>
            <a:ext cx="60106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Reference counting implements a shared ownership,</a:t>
            </a:r>
          </a:p>
          <a:p>
            <a:r>
              <a:rPr lang="en-US"/>
              <a:t>where the resource is alive as long as there are consumers.</a:t>
            </a:r>
          </a:p>
          <a:p>
            <a:endParaRPr lang="en-US"/>
          </a:p>
          <a:p>
            <a:r>
              <a:rPr lang="en-US"/>
              <a:t>Another resource management is unique ownership,</a:t>
            </a:r>
          </a:p>
          <a:p>
            <a:r>
              <a:rPr lang="en-US"/>
              <a:t>where an assignment from a variable holding the reference</a:t>
            </a:r>
          </a:p>
          <a:p>
            <a:r>
              <a:rPr lang="en-US"/>
              <a:t>to another translates into a resource ownership transfer</a:t>
            </a:r>
          </a:p>
          <a:p>
            <a:r>
              <a:rPr lang="en-US"/>
              <a:t>(i.e. the first variable does not have access to the resource</a:t>
            </a:r>
          </a:p>
          <a:p>
            <a:r>
              <a:rPr lang="en-US"/>
              <a:t>anymore)</a:t>
            </a:r>
          </a:p>
        </p:txBody>
      </p:sp>
    </p:spTree>
    <p:extLst>
      <p:ext uri="{BB962C8B-B14F-4D97-AF65-F5344CB8AC3E}">
        <p14:creationId xmlns:p14="http://schemas.microsoft.com/office/powerpoint/2010/main" val="42213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2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04C75-62DD-1462-1900-E86C112F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0EAA1D-C56F-7944-8E97-0B0FA6CD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524A5-EDD0-CE54-4262-BD8BE8DE1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00299-30B6-961D-9CD9-8DEA6B1D5146}"/>
              </a:ext>
            </a:extLst>
          </p:cNvPr>
          <p:cNvSpPr txBox="1"/>
          <p:nvPr/>
        </p:nvSpPr>
        <p:spPr>
          <a:xfrm>
            <a:off x="535709" y="194055"/>
            <a:ext cx="163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takeaways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297E5-0132-61A9-888E-8640BADCDB01}"/>
              </a:ext>
            </a:extLst>
          </p:cNvPr>
          <p:cNvSpPr txBox="1"/>
          <p:nvPr/>
        </p:nvSpPr>
        <p:spPr>
          <a:xfrm>
            <a:off x="641023" y="1197204"/>
            <a:ext cx="769467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Reduce the scope of the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Make clear who owns what and enforce it, ownership must be explicit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Collection lifecycle: remove the items from a collection when not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a profiler if available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Java: VisualVM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Node.JS: pass “--prof” to the node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Python: profile/cProfile library</a:t>
            </a:r>
          </a:p>
        </p:txBody>
      </p:sp>
    </p:spTree>
    <p:extLst>
      <p:ext uri="{BB962C8B-B14F-4D97-AF65-F5344CB8AC3E}">
        <p14:creationId xmlns:p14="http://schemas.microsoft.com/office/powerpoint/2010/main" val="2476463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1783</TotalTime>
  <Words>1743</Words>
  <Application>Microsoft Macintosh PowerPoint</Application>
  <PresentationFormat>Widescreen</PresentationFormat>
  <Paragraphs>339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48</cp:revision>
  <dcterms:created xsi:type="dcterms:W3CDTF">2025-02-19T20:33:39Z</dcterms:created>
  <dcterms:modified xsi:type="dcterms:W3CDTF">2025-12-02T21:51:13Z</dcterms:modified>
</cp:coreProperties>
</file>